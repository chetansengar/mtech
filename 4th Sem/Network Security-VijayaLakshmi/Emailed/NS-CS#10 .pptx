
<file path=[Content_Types].xml><?xml version="1.0" encoding="utf-8"?>
<Types xmlns="http://schemas.openxmlformats.org/package/2006/content-types">
  <Override PartName="/ppt/slides/slide29.xml" ContentType="application/vnd.openxmlformats-officedocument.presentationml.slide+xml"/>
  <Override PartName="/ppt/slideLayouts/slideLayout39.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commentAuthors.xml" ContentType="application/vnd.openxmlformats-officedocument.presentationml.commentAuthors+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2"/>
  </p:notesMasterIdLst>
  <p:sldIdLst>
    <p:sldId id="279" r:id="rId3"/>
    <p:sldId id="319" r:id="rId4"/>
    <p:sldId id="556" r:id="rId5"/>
    <p:sldId id="507" r:id="rId6"/>
    <p:sldId id="508" r:id="rId7"/>
    <p:sldId id="509" r:id="rId8"/>
    <p:sldId id="510" r:id="rId9"/>
    <p:sldId id="511" r:id="rId10"/>
    <p:sldId id="512" r:id="rId11"/>
    <p:sldId id="513" r:id="rId12"/>
    <p:sldId id="514" r:id="rId13"/>
    <p:sldId id="515" r:id="rId14"/>
    <p:sldId id="516" r:id="rId15"/>
    <p:sldId id="517" r:id="rId16"/>
    <p:sldId id="518" r:id="rId17"/>
    <p:sldId id="519" r:id="rId18"/>
    <p:sldId id="557" r:id="rId19"/>
    <p:sldId id="520" r:id="rId20"/>
    <p:sldId id="521" r:id="rId21"/>
    <p:sldId id="522" r:id="rId22"/>
    <p:sldId id="523" r:id="rId23"/>
    <p:sldId id="524" r:id="rId24"/>
    <p:sldId id="550" r:id="rId25"/>
    <p:sldId id="551" r:id="rId26"/>
    <p:sldId id="552" r:id="rId27"/>
    <p:sldId id="535" r:id="rId28"/>
    <p:sldId id="536" r:id="rId29"/>
    <p:sldId id="537" r:id="rId30"/>
    <p:sldId id="538" r:id="rId31"/>
    <p:sldId id="539" r:id="rId32"/>
    <p:sldId id="540" r:id="rId33"/>
    <p:sldId id="541" r:id="rId34"/>
    <p:sldId id="542" r:id="rId35"/>
    <p:sldId id="543" r:id="rId36"/>
    <p:sldId id="553" r:id="rId37"/>
    <p:sldId id="554" r:id="rId38"/>
    <p:sldId id="555" r:id="rId39"/>
    <p:sldId id="549" r:id="rId40"/>
    <p:sldId id="34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ika Rathi" initials="SR" lastIdx="3" clrIdx="0">
    <p:extLst>
      <p:ext uri="{19B8F6BF-5375-455C-9EA6-DF929625EA0E}">
        <p15:presenceInfo xmlns="" xmlns:p15="http://schemas.microsoft.com/office/powerpoint/2012/main" userId="dce94339aef34e7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660"/>
  </p:normalViewPr>
  <p:slideViewPr>
    <p:cSldViewPr>
      <p:cViewPr varScale="1">
        <p:scale>
          <a:sx n="79" d="100"/>
          <a:sy n="79" d="100"/>
        </p:scale>
        <p:origin x="-1140"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9F20CD-4C6E-48E7-A710-74568B082D4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8EDB227D-25DA-418C-A9FC-CD1989844C97}">
      <dgm:prSet phldrT="[Text]"/>
      <dgm:spPr>
        <a:solidFill>
          <a:schemeClr val="accent2">
            <a:alpha val="90000"/>
          </a:schemeClr>
        </a:solidFill>
      </dgm:spPr>
      <dgm:t>
        <a:bodyPr/>
        <a:lstStyle/>
        <a:p>
          <a:r>
            <a:rPr lang="en-IN" dirty="0" smtClean="0"/>
            <a:t>Key distribution</a:t>
          </a:r>
          <a:endParaRPr lang="en-IN" dirty="0"/>
        </a:p>
      </dgm:t>
    </dgm:pt>
    <dgm:pt modelId="{20EC79E3-DD6F-4BC2-8FF1-3FAD3460DDA0}" type="parTrans" cxnId="{D38EAC72-9D80-454A-A463-3C165990BAF3}">
      <dgm:prSet/>
      <dgm:spPr/>
      <dgm:t>
        <a:bodyPr/>
        <a:lstStyle/>
        <a:p>
          <a:endParaRPr lang="en-IN"/>
        </a:p>
      </dgm:t>
    </dgm:pt>
    <dgm:pt modelId="{076BF190-DB32-4BF1-86FF-672ACE4B679E}" type="sibTrans" cxnId="{D38EAC72-9D80-454A-A463-3C165990BAF3}">
      <dgm:prSet/>
      <dgm:spPr/>
      <dgm:t>
        <a:bodyPr/>
        <a:lstStyle/>
        <a:p>
          <a:endParaRPr lang="en-IN"/>
        </a:p>
      </dgm:t>
    </dgm:pt>
    <dgm:pt modelId="{957F1214-C25B-45D7-886D-7266FD92671F}">
      <dgm:prSet phldrT="[Text]"/>
      <dgm:spPr>
        <a:solidFill>
          <a:srgbClr val="FF0000">
            <a:alpha val="90000"/>
          </a:srgbClr>
        </a:solidFill>
      </dgm:spPr>
      <dgm:t>
        <a:bodyPr/>
        <a:lstStyle/>
        <a:p>
          <a:r>
            <a:rPr lang="en-IN" b="1" dirty="0" smtClean="0"/>
            <a:t>Asymmetric /Public </a:t>
          </a:r>
          <a:r>
            <a:rPr lang="en-IN" b="1" dirty="0" smtClean="0"/>
            <a:t>key distribution</a:t>
          </a:r>
          <a:endParaRPr lang="en-IN" b="1" dirty="0"/>
        </a:p>
      </dgm:t>
    </dgm:pt>
    <dgm:pt modelId="{E1569B5B-CEF0-494F-A9A3-F79A0549C5DF}" type="parTrans" cxnId="{1551E05C-8A30-4B30-9824-C9DD272B6437}">
      <dgm:prSet/>
      <dgm:spPr/>
      <dgm:t>
        <a:bodyPr/>
        <a:lstStyle/>
        <a:p>
          <a:endParaRPr lang="en-IN"/>
        </a:p>
      </dgm:t>
    </dgm:pt>
    <dgm:pt modelId="{F61FB092-BC02-4973-BFD1-3F10F2B14DA1}" type="sibTrans" cxnId="{1551E05C-8A30-4B30-9824-C9DD272B6437}">
      <dgm:prSet/>
      <dgm:spPr/>
      <dgm:t>
        <a:bodyPr/>
        <a:lstStyle/>
        <a:p>
          <a:endParaRPr lang="en-IN"/>
        </a:p>
      </dgm:t>
    </dgm:pt>
    <dgm:pt modelId="{B66CBEC6-AB4F-4229-B01A-9EDD02726D9E}">
      <dgm:prSet phldrT="[Text]"/>
      <dgm:spPr>
        <a:solidFill>
          <a:srgbClr val="00B0F0">
            <a:alpha val="90000"/>
          </a:srgbClr>
        </a:solidFill>
      </dgm:spPr>
      <dgm:t>
        <a:bodyPr/>
        <a:lstStyle/>
        <a:p>
          <a:r>
            <a:rPr lang="en-IN" dirty="0" smtClean="0"/>
            <a:t>Public announcement</a:t>
          </a:r>
          <a:endParaRPr lang="en-IN" dirty="0"/>
        </a:p>
      </dgm:t>
    </dgm:pt>
    <dgm:pt modelId="{0F6B189E-6AD7-4D36-98F0-FDF93B924804}" type="parTrans" cxnId="{09DF12FF-E634-48F9-945A-C3EA00C8AD06}">
      <dgm:prSet/>
      <dgm:spPr/>
      <dgm:t>
        <a:bodyPr/>
        <a:lstStyle/>
        <a:p>
          <a:endParaRPr lang="en-IN"/>
        </a:p>
      </dgm:t>
    </dgm:pt>
    <dgm:pt modelId="{73CAEB46-37B4-4799-A81C-546472D08277}" type="sibTrans" cxnId="{09DF12FF-E634-48F9-945A-C3EA00C8AD06}">
      <dgm:prSet/>
      <dgm:spPr/>
      <dgm:t>
        <a:bodyPr/>
        <a:lstStyle/>
        <a:p>
          <a:endParaRPr lang="en-IN"/>
        </a:p>
      </dgm:t>
    </dgm:pt>
    <dgm:pt modelId="{C4758617-EFB6-40FB-BDAE-EFFC89F34528}">
      <dgm:prSet phldrT="[Text]"/>
      <dgm:spPr>
        <a:solidFill>
          <a:srgbClr val="00B0F0">
            <a:alpha val="90000"/>
          </a:srgbClr>
        </a:solidFill>
      </dgm:spPr>
      <dgm:t>
        <a:bodyPr/>
        <a:lstStyle/>
        <a:p>
          <a:r>
            <a:rPr lang="en-IN" dirty="0" smtClean="0"/>
            <a:t>Public available directory</a:t>
          </a:r>
          <a:endParaRPr lang="en-IN" dirty="0"/>
        </a:p>
      </dgm:t>
    </dgm:pt>
    <dgm:pt modelId="{A2BCBF3E-7B49-4EEF-8D53-387599D27B0C}" type="parTrans" cxnId="{18D07528-6D88-4656-8071-D421B9A38768}">
      <dgm:prSet/>
      <dgm:spPr/>
      <dgm:t>
        <a:bodyPr/>
        <a:lstStyle/>
        <a:p>
          <a:endParaRPr lang="en-IN"/>
        </a:p>
      </dgm:t>
    </dgm:pt>
    <dgm:pt modelId="{C5B28207-83F9-4C30-925F-E11F51A6E292}" type="sibTrans" cxnId="{18D07528-6D88-4656-8071-D421B9A38768}">
      <dgm:prSet/>
      <dgm:spPr/>
      <dgm:t>
        <a:bodyPr/>
        <a:lstStyle/>
        <a:p>
          <a:endParaRPr lang="en-IN"/>
        </a:p>
      </dgm:t>
    </dgm:pt>
    <dgm:pt modelId="{65E8D651-064B-4DBC-99C1-CB485450ACE4}">
      <dgm:prSet phldrT="[Text]"/>
      <dgm:spPr>
        <a:solidFill>
          <a:srgbClr val="FF0000">
            <a:alpha val="90000"/>
          </a:srgbClr>
        </a:solidFill>
      </dgm:spPr>
      <dgm:t>
        <a:bodyPr/>
        <a:lstStyle/>
        <a:p>
          <a:r>
            <a:rPr lang="en-IN" b="1" dirty="0" smtClean="0">
              <a:solidFill>
                <a:schemeClr val="tx1"/>
              </a:solidFill>
            </a:rPr>
            <a:t>Symmetric/Private </a:t>
          </a:r>
          <a:r>
            <a:rPr lang="en-IN" b="1" dirty="0" smtClean="0">
              <a:solidFill>
                <a:schemeClr val="tx1"/>
              </a:solidFill>
            </a:rPr>
            <a:t>key distribution</a:t>
          </a:r>
          <a:endParaRPr lang="en-IN" b="1" dirty="0">
            <a:solidFill>
              <a:schemeClr val="tx1"/>
            </a:solidFill>
          </a:endParaRPr>
        </a:p>
      </dgm:t>
    </dgm:pt>
    <dgm:pt modelId="{5E99E6CB-2759-4FA0-B325-367B19FEF07E}" type="parTrans" cxnId="{990C3320-0F32-4F27-95B3-F9E2D59AD039}">
      <dgm:prSet/>
      <dgm:spPr/>
      <dgm:t>
        <a:bodyPr/>
        <a:lstStyle/>
        <a:p>
          <a:endParaRPr lang="en-IN"/>
        </a:p>
      </dgm:t>
    </dgm:pt>
    <dgm:pt modelId="{FD661376-041B-4BF1-B289-819AE7F168A3}" type="sibTrans" cxnId="{990C3320-0F32-4F27-95B3-F9E2D59AD039}">
      <dgm:prSet/>
      <dgm:spPr/>
      <dgm:t>
        <a:bodyPr/>
        <a:lstStyle/>
        <a:p>
          <a:endParaRPr lang="en-IN"/>
        </a:p>
      </dgm:t>
    </dgm:pt>
    <dgm:pt modelId="{6FBFE73B-AF2F-4027-B8C2-01BFC4F4A2B3}">
      <dgm:prSet phldrT="[Text]"/>
      <dgm:spPr>
        <a:solidFill>
          <a:srgbClr val="00B050">
            <a:alpha val="90000"/>
          </a:srgbClr>
        </a:solidFill>
      </dgm:spPr>
      <dgm:t>
        <a:bodyPr/>
        <a:lstStyle/>
        <a:p>
          <a:r>
            <a:rPr lang="en-IN" dirty="0" smtClean="0"/>
            <a:t>Key distribution centre (KDC) </a:t>
          </a:r>
          <a:endParaRPr lang="en-IN" dirty="0"/>
        </a:p>
      </dgm:t>
    </dgm:pt>
    <dgm:pt modelId="{D96F0088-519F-4E7D-91E8-EF299750ECE5}" type="parTrans" cxnId="{1DD8E998-8657-42BE-AD57-14BD3947E56B}">
      <dgm:prSet/>
      <dgm:spPr/>
      <dgm:t>
        <a:bodyPr/>
        <a:lstStyle/>
        <a:p>
          <a:endParaRPr lang="en-IN"/>
        </a:p>
      </dgm:t>
    </dgm:pt>
    <dgm:pt modelId="{450ABFF0-39F1-41BC-A5EB-2FFDB5F67042}" type="sibTrans" cxnId="{1DD8E998-8657-42BE-AD57-14BD3947E56B}">
      <dgm:prSet/>
      <dgm:spPr/>
      <dgm:t>
        <a:bodyPr/>
        <a:lstStyle/>
        <a:p>
          <a:endParaRPr lang="en-IN"/>
        </a:p>
      </dgm:t>
    </dgm:pt>
    <dgm:pt modelId="{51013B28-1819-4BB2-8343-2AC4E7F68E93}">
      <dgm:prSet/>
      <dgm:spPr>
        <a:solidFill>
          <a:srgbClr val="00B0F0">
            <a:alpha val="90000"/>
          </a:srgbClr>
        </a:solidFill>
      </dgm:spPr>
      <dgm:t>
        <a:bodyPr/>
        <a:lstStyle/>
        <a:p>
          <a:r>
            <a:rPr lang="en-IN" dirty="0" smtClean="0"/>
            <a:t>Public key authority</a:t>
          </a:r>
          <a:endParaRPr lang="en-IN" dirty="0"/>
        </a:p>
      </dgm:t>
    </dgm:pt>
    <dgm:pt modelId="{E5968A0A-E92B-49F7-8AA8-0DA38B6A0CAD}" type="parTrans" cxnId="{DD4D9343-68FD-48D0-BB60-8D3225A57FA6}">
      <dgm:prSet/>
      <dgm:spPr/>
      <dgm:t>
        <a:bodyPr/>
        <a:lstStyle/>
        <a:p>
          <a:endParaRPr lang="en-IN"/>
        </a:p>
      </dgm:t>
    </dgm:pt>
    <dgm:pt modelId="{D6942322-13B4-440E-881A-60A0A7EAB110}" type="sibTrans" cxnId="{DD4D9343-68FD-48D0-BB60-8D3225A57FA6}">
      <dgm:prSet/>
      <dgm:spPr/>
      <dgm:t>
        <a:bodyPr/>
        <a:lstStyle/>
        <a:p>
          <a:endParaRPr lang="en-IN"/>
        </a:p>
      </dgm:t>
    </dgm:pt>
    <dgm:pt modelId="{61E7B107-214B-4841-ABDD-852E8A7D285D}">
      <dgm:prSet/>
      <dgm:spPr>
        <a:solidFill>
          <a:srgbClr val="00B0F0">
            <a:alpha val="90000"/>
          </a:srgbClr>
        </a:solidFill>
      </dgm:spPr>
      <dgm:t>
        <a:bodyPr/>
        <a:lstStyle/>
        <a:p>
          <a:r>
            <a:rPr lang="en-IN" dirty="0" smtClean="0"/>
            <a:t>Certificate authority</a:t>
          </a:r>
          <a:endParaRPr lang="en-IN" dirty="0"/>
        </a:p>
      </dgm:t>
    </dgm:pt>
    <dgm:pt modelId="{4AC64E3D-921B-4886-9721-8B1CFFE6D85B}" type="parTrans" cxnId="{92DCF7B4-8CC0-4150-9AF8-A25BAEBEFF42}">
      <dgm:prSet/>
      <dgm:spPr/>
      <dgm:t>
        <a:bodyPr/>
        <a:lstStyle/>
        <a:p>
          <a:endParaRPr lang="en-IN"/>
        </a:p>
      </dgm:t>
    </dgm:pt>
    <dgm:pt modelId="{0CEF0ABF-2901-46AD-BEAD-9A5ADAF9DC14}" type="sibTrans" cxnId="{92DCF7B4-8CC0-4150-9AF8-A25BAEBEFF42}">
      <dgm:prSet/>
      <dgm:spPr/>
      <dgm:t>
        <a:bodyPr/>
        <a:lstStyle/>
        <a:p>
          <a:endParaRPr lang="en-IN"/>
        </a:p>
      </dgm:t>
    </dgm:pt>
    <dgm:pt modelId="{1FB50877-A3AB-4B1B-9029-8D57442105B5}">
      <dgm:prSet/>
      <dgm:spPr>
        <a:solidFill>
          <a:srgbClr val="00B050">
            <a:alpha val="90000"/>
          </a:srgbClr>
        </a:solidFill>
      </dgm:spPr>
      <dgm:t>
        <a:bodyPr/>
        <a:lstStyle/>
        <a:p>
          <a:r>
            <a:rPr lang="en-IN" dirty="0" err="1" smtClean="0"/>
            <a:t>Diffie-hellman</a:t>
          </a:r>
          <a:r>
            <a:rPr lang="en-IN" dirty="0" smtClean="0"/>
            <a:t> exchange</a:t>
          </a:r>
          <a:endParaRPr lang="en-IN" dirty="0"/>
        </a:p>
      </dgm:t>
    </dgm:pt>
    <dgm:pt modelId="{1E2EAAB7-8776-43A4-A0A1-1945B17CFD25}" type="parTrans" cxnId="{7630A324-565B-4D1A-8709-7C6FDF38AD76}">
      <dgm:prSet/>
      <dgm:spPr/>
      <dgm:t>
        <a:bodyPr/>
        <a:lstStyle/>
        <a:p>
          <a:endParaRPr lang="en-IN"/>
        </a:p>
      </dgm:t>
    </dgm:pt>
    <dgm:pt modelId="{C2806DCD-14E4-4C30-82AE-BF73914BD26C}" type="sibTrans" cxnId="{7630A324-565B-4D1A-8709-7C6FDF38AD76}">
      <dgm:prSet/>
      <dgm:spPr/>
      <dgm:t>
        <a:bodyPr/>
        <a:lstStyle/>
        <a:p>
          <a:endParaRPr lang="en-IN"/>
        </a:p>
      </dgm:t>
    </dgm:pt>
    <dgm:pt modelId="{4D364993-E341-496B-87F9-503057603D29}" type="pres">
      <dgm:prSet presAssocID="{969F20CD-4C6E-48E7-A710-74568B082D41}" presName="hierChild1" presStyleCnt="0">
        <dgm:presLayoutVars>
          <dgm:chPref val="1"/>
          <dgm:dir/>
          <dgm:animOne val="branch"/>
          <dgm:animLvl val="lvl"/>
          <dgm:resizeHandles/>
        </dgm:presLayoutVars>
      </dgm:prSet>
      <dgm:spPr/>
      <dgm:t>
        <a:bodyPr/>
        <a:lstStyle/>
        <a:p>
          <a:endParaRPr lang="en-US"/>
        </a:p>
      </dgm:t>
    </dgm:pt>
    <dgm:pt modelId="{958AE809-01AA-4DF4-977C-D26C4F4C659A}" type="pres">
      <dgm:prSet presAssocID="{8EDB227D-25DA-418C-A9FC-CD1989844C97}" presName="hierRoot1" presStyleCnt="0"/>
      <dgm:spPr/>
    </dgm:pt>
    <dgm:pt modelId="{7CAD64F7-BF8B-4E85-90CC-9D3EE9B37297}" type="pres">
      <dgm:prSet presAssocID="{8EDB227D-25DA-418C-A9FC-CD1989844C97}" presName="composite" presStyleCnt="0"/>
      <dgm:spPr/>
    </dgm:pt>
    <dgm:pt modelId="{D96CA1BC-0E42-4AC5-BCB7-47AE291314EA}" type="pres">
      <dgm:prSet presAssocID="{8EDB227D-25DA-418C-A9FC-CD1989844C97}" presName="background" presStyleLbl="node0" presStyleIdx="0" presStyleCnt="1"/>
      <dgm:spPr/>
    </dgm:pt>
    <dgm:pt modelId="{8225F9F3-A5CC-42D1-B6F6-B841964C5350}" type="pres">
      <dgm:prSet presAssocID="{8EDB227D-25DA-418C-A9FC-CD1989844C97}" presName="text" presStyleLbl="fgAcc0" presStyleIdx="0" presStyleCnt="1">
        <dgm:presLayoutVars>
          <dgm:chPref val="3"/>
        </dgm:presLayoutVars>
      </dgm:prSet>
      <dgm:spPr/>
      <dgm:t>
        <a:bodyPr/>
        <a:lstStyle/>
        <a:p>
          <a:endParaRPr lang="en-US"/>
        </a:p>
      </dgm:t>
    </dgm:pt>
    <dgm:pt modelId="{00FA6FE6-6E9C-4E8E-9169-18629E570603}" type="pres">
      <dgm:prSet presAssocID="{8EDB227D-25DA-418C-A9FC-CD1989844C97}" presName="hierChild2" presStyleCnt="0"/>
      <dgm:spPr/>
    </dgm:pt>
    <dgm:pt modelId="{FCB8A1D4-27E1-4BCC-8BD9-285CBD0F2C03}" type="pres">
      <dgm:prSet presAssocID="{E1569B5B-CEF0-494F-A9A3-F79A0549C5DF}" presName="Name10" presStyleLbl="parChTrans1D2" presStyleIdx="0" presStyleCnt="2"/>
      <dgm:spPr/>
      <dgm:t>
        <a:bodyPr/>
        <a:lstStyle/>
        <a:p>
          <a:endParaRPr lang="en-US"/>
        </a:p>
      </dgm:t>
    </dgm:pt>
    <dgm:pt modelId="{92B4C715-DB8A-41BB-806E-65C17781DC73}" type="pres">
      <dgm:prSet presAssocID="{957F1214-C25B-45D7-886D-7266FD92671F}" presName="hierRoot2" presStyleCnt="0"/>
      <dgm:spPr/>
    </dgm:pt>
    <dgm:pt modelId="{1E9DC6A2-438F-4F87-8DA3-9871072FBAB4}" type="pres">
      <dgm:prSet presAssocID="{957F1214-C25B-45D7-886D-7266FD92671F}" presName="composite2" presStyleCnt="0"/>
      <dgm:spPr/>
    </dgm:pt>
    <dgm:pt modelId="{6CEC09C8-3571-4E01-8F5C-F0A5A2B579E1}" type="pres">
      <dgm:prSet presAssocID="{957F1214-C25B-45D7-886D-7266FD92671F}" presName="background2" presStyleLbl="node2" presStyleIdx="0" presStyleCnt="2"/>
      <dgm:spPr/>
    </dgm:pt>
    <dgm:pt modelId="{42145CFB-C613-403E-B946-6AEDC270CBF8}" type="pres">
      <dgm:prSet presAssocID="{957F1214-C25B-45D7-886D-7266FD92671F}" presName="text2" presStyleLbl="fgAcc2" presStyleIdx="0" presStyleCnt="2">
        <dgm:presLayoutVars>
          <dgm:chPref val="3"/>
        </dgm:presLayoutVars>
      </dgm:prSet>
      <dgm:spPr/>
      <dgm:t>
        <a:bodyPr/>
        <a:lstStyle/>
        <a:p>
          <a:endParaRPr lang="en-US"/>
        </a:p>
      </dgm:t>
    </dgm:pt>
    <dgm:pt modelId="{938CAD31-FCD4-4AF0-A181-0A114A3856EC}" type="pres">
      <dgm:prSet presAssocID="{957F1214-C25B-45D7-886D-7266FD92671F}" presName="hierChild3" presStyleCnt="0"/>
      <dgm:spPr/>
    </dgm:pt>
    <dgm:pt modelId="{8A0AC4D1-25B3-4B2E-9CFB-6496AEFF2088}" type="pres">
      <dgm:prSet presAssocID="{0F6B189E-6AD7-4D36-98F0-FDF93B924804}" presName="Name17" presStyleLbl="parChTrans1D3" presStyleIdx="0" presStyleCnt="6"/>
      <dgm:spPr/>
      <dgm:t>
        <a:bodyPr/>
        <a:lstStyle/>
        <a:p>
          <a:endParaRPr lang="en-US"/>
        </a:p>
      </dgm:t>
    </dgm:pt>
    <dgm:pt modelId="{81B94017-B421-49F7-A0CA-4A20CACE251A}" type="pres">
      <dgm:prSet presAssocID="{B66CBEC6-AB4F-4229-B01A-9EDD02726D9E}" presName="hierRoot3" presStyleCnt="0"/>
      <dgm:spPr/>
    </dgm:pt>
    <dgm:pt modelId="{73EFF495-5C3B-4650-B84D-F460D8015918}" type="pres">
      <dgm:prSet presAssocID="{B66CBEC6-AB4F-4229-B01A-9EDD02726D9E}" presName="composite3" presStyleCnt="0"/>
      <dgm:spPr/>
    </dgm:pt>
    <dgm:pt modelId="{F47F0821-4845-46ED-88F9-89644211E4EA}" type="pres">
      <dgm:prSet presAssocID="{B66CBEC6-AB4F-4229-B01A-9EDD02726D9E}" presName="background3" presStyleLbl="node3" presStyleIdx="0" presStyleCnt="6"/>
      <dgm:spPr/>
    </dgm:pt>
    <dgm:pt modelId="{04DD2F86-FC8D-4D39-B127-EB457B9B1B26}" type="pres">
      <dgm:prSet presAssocID="{B66CBEC6-AB4F-4229-B01A-9EDD02726D9E}" presName="text3" presStyleLbl="fgAcc3" presStyleIdx="0" presStyleCnt="6" custLinFactNeighborX="401" custLinFactNeighborY="1951">
        <dgm:presLayoutVars>
          <dgm:chPref val="3"/>
        </dgm:presLayoutVars>
      </dgm:prSet>
      <dgm:spPr/>
      <dgm:t>
        <a:bodyPr/>
        <a:lstStyle/>
        <a:p>
          <a:endParaRPr lang="en-IN"/>
        </a:p>
      </dgm:t>
    </dgm:pt>
    <dgm:pt modelId="{571EF8BB-1A73-4862-AE2F-FA4E2879A2B5}" type="pres">
      <dgm:prSet presAssocID="{B66CBEC6-AB4F-4229-B01A-9EDD02726D9E}" presName="hierChild4" presStyleCnt="0"/>
      <dgm:spPr/>
    </dgm:pt>
    <dgm:pt modelId="{3DCC3F0B-1861-4749-ADB5-67510AC854DA}" type="pres">
      <dgm:prSet presAssocID="{A2BCBF3E-7B49-4EEF-8D53-387599D27B0C}" presName="Name17" presStyleLbl="parChTrans1D3" presStyleIdx="1" presStyleCnt="6"/>
      <dgm:spPr/>
      <dgm:t>
        <a:bodyPr/>
        <a:lstStyle/>
        <a:p>
          <a:endParaRPr lang="en-US"/>
        </a:p>
      </dgm:t>
    </dgm:pt>
    <dgm:pt modelId="{92A128B7-4EC4-4D26-A89C-2AED9B5D8098}" type="pres">
      <dgm:prSet presAssocID="{C4758617-EFB6-40FB-BDAE-EFFC89F34528}" presName="hierRoot3" presStyleCnt="0"/>
      <dgm:spPr/>
    </dgm:pt>
    <dgm:pt modelId="{241EE54F-9D01-4A67-91B8-9B7AB75B8C6F}" type="pres">
      <dgm:prSet presAssocID="{C4758617-EFB6-40FB-BDAE-EFFC89F34528}" presName="composite3" presStyleCnt="0"/>
      <dgm:spPr/>
    </dgm:pt>
    <dgm:pt modelId="{F5914ADF-38CB-45FC-8395-64AD7432A0E8}" type="pres">
      <dgm:prSet presAssocID="{C4758617-EFB6-40FB-BDAE-EFFC89F34528}" presName="background3" presStyleLbl="node3" presStyleIdx="1" presStyleCnt="6"/>
      <dgm:spPr/>
    </dgm:pt>
    <dgm:pt modelId="{5B1AA9B6-0DB1-41FD-A296-3B443DAE600A}" type="pres">
      <dgm:prSet presAssocID="{C4758617-EFB6-40FB-BDAE-EFFC89F34528}" presName="text3" presStyleLbl="fgAcc3" presStyleIdx="1" presStyleCnt="6" custLinFactNeighborX="-188" custLinFactNeighborY="492">
        <dgm:presLayoutVars>
          <dgm:chPref val="3"/>
        </dgm:presLayoutVars>
      </dgm:prSet>
      <dgm:spPr/>
      <dgm:t>
        <a:bodyPr/>
        <a:lstStyle/>
        <a:p>
          <a:endParaRPr lang="en-US"/>
        </a:p>
      </dgm:t>
    </dgm:pt>
    <dgm:pt modelId="{A8D4D1F2-A795-47D2-AD31-AF78908A0572}" type="pres">
      <dgm:prSet presAssocID="{C4758617-EFB6-40FB-BDAE-EFFC89F34528}" presName="hierChild4" presStyleCnt="0"/>
      <dgm:spPr/>
    </dgm:pt>
    <dgm:pt modelId="{64937330-BD6A-41C4-90E5-96DE3E4C5588}" type="pres">
      <dgm:prSet presAssocID="{E5968A0A-E92B-49F7-8AA8-0DA38B6A0CAD}" presName="Name17" presStyleLbl="parChTrans1D3" presStyleIdx="2" presStyleCnt="6"/>
      <dgm:spPr/>
      <dgm:t>
        <a:bodyPr/>
        <a:lstStyle/>
        <a:p>
          <a:endParaRPr lang="en-US"/>
        </a:p>
      </dgm:t>
    </dgm:pt>
    <dgm:pt modelId="{8C6E473E-0646-4474-9477-09E8478005AB}" type="pres">
      <dgm:prSet presAssocID="{51013B28-1819-4BB2-8343-2AC4E7F68E93}" presName="hierRoot3" presStyleCnt="0"/>
      <dgm:spPr/>
    </dgm:pt>
    <dgm:pt modelId="{07C3C554-2BC9-4952-AA44-E7EB2213A251}" type="pres">
      <dgm:prSet presAssocID="{51013B28-1819-4BB2-8343-2AC4E7F68E93}" presName="composite3" presStyleCnt="0"/>
      <dgm:spPr/>
    </dgm:pt>
    <dgm:pt modelId="{4F91E4BA-0EEA-4EA0-958C-EC4385CCA1E2}" type="pres">
      <dgm:prSet presAssocID="{51013B28-1819-4BB2-8343-2AC4E7F68E93}" presName="background3" presStyleLbl="node3" presStyleIdx="2" presStyleCnt="6"/>
      <dgm:spPr/>
    </dgm:pt>
    <dgm:pt modelId="{05BCD179-EA22-4850-92CD-643A8F87BEA6}" type="pres">
      <dgm:prSet presAssocID="{51013B28-1819-4BB2-8343-2AC4E7F68E93}" presName="text3" presStyleLbl="fgAcc3" presStyleIdx="2" presStyleCnt="6" custLinFactNeighborX="401" custLinFactNeighborY="1951">
        <dgm:presLayoutVars>
          <dgm:chPref val="3"/>
        </dgm:presLayoutVars>
      </dgm:prSet>
      <dgm:spPr/>
      <dgm:t>
        <a:bodyPr/>
        <a:lstStyle/>
        <a:p>
          <a:endParaRPr lang="en-US"/>
        </a:p>
      </dgm:t>
    </dgm:pt>
    <dgm:pt modelId="{CE486116-91E7-48CD-AE5B-14AC8EB39A9B}" type="pres">
      <dgm:prSet presAssocID="{51013B28-1819-4BB2-8343-2AC4E7F68E93}" presName="hierChild4" presStyleCnt="0"/>
      <dgm:spPr/>
    </dgm:pt>
    <dgm:pt modelId="{461ACC69-AE9A-43E0-9866-CF0A92A85696}" type="pres">
      <dgm:prSet presAssocID="{4AC64E3D-921B-4886-9721-8B1CFFE6D85B}" presName="Name17" presStyleLbl="parChTrans1D3" presStyleIdx="3" presStyleCnt="6"/>
      <dgm:spPr/>
      <dgm:t>
        <a:bodyPr/>
        <a:lstStyle/>
        <a:p>
          <a:endParaRPr lang="en-US"/>
        </a:p>
      </dgm:t>
    </dgm:pt>
    <dgm:pt modelId="{8A8A1ECF-284F-4483-885A-58E06456E5FB}" type="pres">
      <dgm:prSet presAssocID="{61E7B107-214B-4841-ABDD-852E8A7D285D}" presName="hierRoot3" presStyleCnt="0"/>
      <dgm:spPr/>
    </dgm:pt>
    <dgm:pt modelId="{38EA6D0C-87A8-4E26-90A4-05B1613C5B48}" type="pres">
      <dgm:prSet presAssocID="{61E7B107-214B-4841-ABDD-852E8A7D285D}" presName="composite3" presStyleCnt="0"/>
      <dgm:spPr/>
    </dgm:pt>
    <dgm:pt modelId="{BD9EFC9E-2EA5-4469-BD51-27DE1F4C8C49}" type="pres">
      <dgm:prSet presAssocID="{61E7B107-214B-4841-ABDD-852E8A7D285D}" presName="background3" presStyleLbl="node3" presStyleIdx="3" presStyleCnt="6"/>
      <dgm:spPr/>
    </dgm:pt>
    <dgm:pt modelId="{47929FC7-2135-47EE-8E45-51AB8FF4FBB5}" type="pres">
      <dgm:prSet presAssocID="{61E7B107-214B-4841-ABDD-852E8A7D285D}" presName="text3" presStyleLbl="fgAcc3" presStyleIdx="3" presStyleCnt="6" custLinFactNeighborX="401" custLinFactNeighborY="1951">
        <dgm:presLayoutVars>
          <dgm:chPref val="3"/>
        </dgm:presLayoutVars>
      </dgm:prSet>
      <dgm:spPr/>
      <dgm:t>
        <a:bodyPr/>
        <a:lstStyle/>
        <a:p>
          <a:endParaRPr lang="en-IN"/>
        </a:p>
      </dgm:t>
    </dgm:pt>
    <dgm:pt modelId="{FF9E7E64-5844-4F4B-99AF-2F3A4C4245DF}" type="pres">
      <dgm:prSet presAssocID="{61E7B107-214B-4841-ABDD-852E8A7D285D}" presName="hierChild4" presStyleCnt="0"/>
      <dgm:spPr/>
    </dgm:pt>
    <dgm:pt modelId="{84E5C3AE-F8C3-4595-A8CD-B323E8780CF0}" type="pres">
      <dgm:prSet presAssocID="{5E99E6CB-2759-4FA0-B325-367B19FEF07E}" presName="Name10" presStyleLbl="parChTrans1D2" presStyleIdx="1" presStyleCnt="2"/>
      <dgm:spPr/>
      <dgm:t>
        <a:bodyPr/>
        <a:lstStyle/>
        <a:p>
          <a:endParaRPr lang="en-US"/>
        </a:p>
      </dgm:t>
    </dgm:pt>
    <dgm:pt modelId="{E24C2C17-5F75-4291-842C-46F2D18FE28A}" type="pres">
      <dgm:prSet presAssocID="{65E8D651-064B-4DBC-99C1-CB485450ACE4}" presName="hierRoot2" presStyleCnt="0"/>
      <dgm:spPr/>
    </dgm:pt>
    <dgm:pt modelId="{4031DC0B-7DBD-4137-8B7B-9082CD5B4B34}" type="pres">
      <dgm:prSet presAssocID="{65E8D651-064B-4DBC-99C1-CB485450ACE4}" presName="composite2" presStyleCnt="0"/>
      <dgm:spPr/>
    </dgm:pt>
    <dgm:pt modelId="{BCE01241-E3D3-4C84-9AAB-37847A668BBA}" type="pres">
      <dgm:prSet presAssocID="{65E8D651-064B-4DBC-99C1-CB485450ACE4}" presName="background2" presStyleLbl="node2" presStyleIdx="1" presStyleCnt="2"/>
      <dgm:spPr/>
    </dgm:pt>
    <dgm:pt modelId="{45E529C1-D935-4957-A56A-F6E4AD7865BA}" type="pres">
      <dgm:prSet presAssocID="{65E8D651-064B-4DBC-99C1-CB485450ACE4}" presName="text2" presStyleLbl="fgAcc2" presStyleIdx="1" presStyleCnt="2">
        <dgm:presLayoutVars>
          <dgm:chPref val="3"/>
        </dgm:presLayoutVars>
      </dgm:prSet>
      <dgm:spPr/>
      <dgm:t>
        <a:bodyPr/>
        <a:lstStyle/>
        <a:p>
          <a:endParaRPr lang="en-US"/>
        </a:p>
      </dgm:t>
    </dgm:pt>
    <dgm:pt modelId="{0103CEA4-74F6-4846-8435-6AAE51387A74}" type="pres">
      <dgm:prSet presAssocID="{65E8D651-064B-4DBC-99C1-CB485450ACE4}" presName="hierChild3" presStyleCnt="0"/>
      <dgm:spPr/>
    </dgm:pt>
    <dgm:pt modelId="{ED91E7EF-A75D-442B-AD2A-DE7BEE9FC8EC}" type="pres">
      <dgm:prSet presAssocID="{D96F0088-519F-4E7D-91E8-EF299750ECE5}" presName="Name17" presStyleLbl="parChTrans1D3" presStyleIdx="4" presStyleCnt="6"/>
      <dgm:spPr/>
      <dgm:t>
        <a:bodyPr/>
        <a:lstStyle/>
        <a:p>
          <a:endParaRPr lang="en-US"/>
        </a:p>
      </dgm:t>
    </dgm:pt>
    <dgm:pt modelId="{5976F040-71A9-4887-8D1D-84B02A548952}" type="pres">
      <dgm:prSet presAssocID="{6FBFE73B-AF2F-4027-B8C2-01BFC4F4A2B3}" presName="hierRoot3" presStyleCnt="0"/>
      <dgm:spPr/>
    </dgm:pt>
    <dgm:pt modelId="{B51F3F43-3C56-4AC5-B828-268A0AE4577D}" type="pres">
      <dgm:prSet presAssocID="{6FBFE73B-AF2F-4027-B8C2-01BFC4F4A2B3}" presName="composite3" presStyleCnt="0"/>
      <dgm:spPr/>
    </dgm:pt>
    <dgm:pt modelId="{26BB16F8-446D-4D46-9AAA-B8E0CE6950FD}" type="pres">
      <dgm:prSet presAssocID="{6FBFE73B-AF2F-4027-B8C2-01BFC4F4A2B3}" presName="background3" presStyleLbl="node3" presStyleIdx="4" presStyleCnt="6"/>
      <dgm:spPr/>
    </dgm:pt>
    <dgm:pt modelId="{9E767B82-B208-490A-8DB8-A207ECE25D5B}" type="pres">
      <dgm:prSet presAssocID="{6FBFE73B-AF2F-4027-B8C2-01BFC4F4A2B3}" presName="text3" presStyleLbl="fgAcc3" presStyleIdx="4" presStyleCnt="6">
        <dgm:presLayoutVars>
          <dgm:chPref val="3"/>
        </dgm:presLayoutVars>
      </dgm:prSet>
      <dgm:spPr/>
      <dgm:t>
        <a:bodyPr/>
        <a:lstStyle/>
        <a:p>
          <a:endParaRPr lang="en-IN"/>
        </a:p>
      </dgm:t>
    </dgm:pt>
    <dgm:pt modelId="{CEAF88FC-421E-4B6F-B04B-D25EDE5B4F86}" type="pres">
      <dgm:prSet presAssocID="{6FBFE73B-AF2F-4027-B8C2-01BFC4F4A2B3}" presName="hierChild4" presStyleCnt="0"/>
      <dgm:spPr/>
    </dgm:pt>
    <dgm:pt modelId="{116DE118-DD88-4A24-B4F4-9526A0856A0B}" type="pres">
      <dgm:prSet presAssocID="{1E2EAAB7-8776-43A4-A0A1-1945B17CFD25}" presName="Name17" presStyleLbl="parChTrans1D3" presStyleIdx="5" presStyleCnt="6"/>
      <dgm:spPr/>
      <dgm:t>
        <a:bodyPr/>
        <a:lstStyle/>
        <a:p>
          <a:endParaRPr lang="en-US"/>
        </a:p>
      </dgm:t>
    </dgm:pt>
    <dgm:pt modelId="{5F061D3E-4F40-4397-AFBA-638C74F81D8D}" type="pres">
      <dgm:prSet presAssocID="{1FB50877-A3AB-4B1B-9029-8D57442105B5}" presName="hierRoot3" presStyleCnt="0"/>
      <dgm:spPr/>
    </dgm:pt>
    <dgm:pt modelId="{7E8E17AA-D550-47AC-816D-D702D26BEB07}" type="pres">
      <dgm:prSet presAssocID="{1FB50877-A3AB-4B1B-9029-8D57442105B5}" presName="composite3" presStyleCnt="0"/>
      <dgm:spPr/>
    </dgm:pt>
    <dgm:pt modelId="{58A915A2-9028-47CD-B4D5-C08DF6D5BFF6}" type="pres">
      <dgm:prSet presAssocID="{1FB50877-A3AB-4B1B-9029-8D57442105B5}" presName="background3" presStyleLbl="node3" presStyleIdx="5" presStyleCnt="6"/>
      <dgm:spPr/>
    </dgm:pt>
    <dgm:pt modelId="{358A72B8-4991-4DEE-8032-870BE6D346E0}" type="pres">
      <dgm:prSet presAssocID="{1FB50877-A3AB-4B1B-9029-8D57442105B5}" presName="text3" presStyleLbl="fgAcc3" presStyleIdx="5" presStyleCnt="6">
        <dgm:presLayoutVars>
          <dgm:chPref val="3"/>
        </dgm:presLayoutVars>
      </dgm:prSet>
      <dgm:spPr/>
      <dgm:t>
        <a:bodyPr/>
        <a:lstStyle/>
        <a:p>
          <a:endParaRPr lang="en-US"/>
        </a:p>
      </dgm:t>
    </dgm:pt>
    <dgm:pt modelId="{4555532E-4FA8-4482-AD78-614C82455F22}" type="pres">
      <dgm:prSet presAssocID="{1FB50877-A3AB-4B1B-9029-8D57442105B5}" presName="hierChild4" presStyleCnt="0"/>
      <dgm:spPr/>
    </dgm:pt>
  </dgm:ptLst>
  <dgm:cxnLst>
    <dgm:cxn modelId="{A2646F55-8AF6-4814-A20C-57EC0F81543C}" type="presOf" srcId="{E5968A0A-E92B-49F7-8AA8-0DA38B6A0CAD}" destId="{64937330-BD6A-41C4-90E5-96DE3E4C5588}" srcOrd="0" destOrd="0" presId="urn:microsoft.com/office/officeart/2005/8/layout/hierarchy1"/>
    <dgm:cxn modelId="{7630A324-565B-4D1A-8709-7C6FDF38AD76}" srcId="{65E8D651-064B-4DBC-99C1-CB485450ACE4}" destId="{1FB50877-A3AB-4B1B-9029-8D57442105B5}" srcOrd="1" destOrd="0" parTransId="{1E2EAAB7-8776-43A4-A0A1-1945B17CFD25}" sibTransId="{C2806DCD-14E4-4C30-82AE-BF73914BD26C}"/>
    <dgm:cxn modelId="{0AEBC670-1B90-4B38-8537-BEBA7387400B}" type="presOf" srcId="{0F6B189E-6AD7-4D36-98F0-FDF93B924804}" destId="{8A0AC4D1-25B3-4B2E-9CFB-6496AEFF2088}" srcOrd="0" destOrd="0" presId="urn:microsoft.com/office/officeart/2005/8/layout/hierarchy1"/>
    <dgm:cxn modelId="{92DCF7B4-8CC0-4150-9AF8-A25BAEBEFF42}" srcId="{957F1214-C25B-45D7-886D-7266FD92671F}" destId="{61E7B107-214B-4841-ABDD-852E8A7D285D}" srcOrd="3" destOrd="0" parTransId="{4AC64E3D-921B-4886-9721-8B1CFFE6D85B}" sibTransId="{0CEF0ABF-2901-46AD-BEAD-9A5ADAF9DC14}"/>
    <dgm:cxn modelId="{FBD7B045-87DB-4863-8000-9465A0AB6769}" type="presOf" srcId="{C4758617-EFB6-40FB-BDAE-EFFC89F34528}" destId="{5B1AA9B6-0DB1-41FD-A296-3B443DAE600A}" srcOrd="0" destOrd="0" presId="urn:microsoft.com/office/officeart/2005/8/layout/hierarchy1"/>
    <dgm:cxn modelId="{27972CC8-59D7-45FF-A7ED-2C548A29B115}" type="presOf" srcId="{1FB50877-A3AB-4B1B-9029-8D57442105B5}" destId="{358A72B8-4991-4DEE-8032-870BE6D346E0}" srcOrd="0" destOrd="0" presId="urn:microsoft.com/office/officeart/2005/8/layout/hierarchy1"/>
    <dgm:cxn modelId="{5312209F-E445-43B3-8103-2FADA15AEF88}" type="presOf" srcId="{D96F0088-519F-4E7D-91E8-EF299750ECE5}" destId="{ED91E7EF-A75D-442B-AD2A-DE7BEE9FC8EC}" srcOrd="0" destOrd="0" presId="urn:microsoft.com/office/officeart/2005/8/layout/hierarchy1"/>
    <dgm:cxn modelId="{6F0548DC-AB24-4C54-89BB-36352EC25908}" type="presOf" srcId="{51013B28-1819-4BB2-8343-2AC4E7F68E93}" destId="{05BCD179-EA22-4850-92CD-643A8F87BEA6}" srcOrd="0" destOrd="0" presId="urn:microsoft.com/office/officeart/2005/8/layout/hierarchy1"/>
    <dgm:cxn modelId="{D38EAC72-9D80-454A-A463-3C165990BAF3}" srcId="{969F20CD-4C6E-48E7-A710-74568B082D41}" destId="{8EDB227D-25DA-418C-A9FC-CD1989844C97}" srcOrd="0" destOrd="0" parTransId="{20EC79E3-DD6F-4BC2-8FF1-3FAD3460DDA0}" sibTransId="{076BF190-DB32-4BF1-86FF-672ACE4B679E}"/>
    <dgm:cxn modelId="{D8CF02FE-E5E8-4CA5-B4D3-8F6DD159A039}" type="presOf" srcId="{B66CBEC6-AB4F-4229-B01A-9EDD02726D9E}" destId="{04DD2F86-FC8D-4D39-B127-EB457B9B1B26}" srcOrd="0" destOrd="0" presId="urn:microsoft.com/office/officeart/2005/8/layout/hierarchy1"/>
    <dgm:cxn modelId="{AC66450B-7F04-40A5-99F0-18512F25CA68}" type="presOf" srcId="{E1569B5B-CEF0-494F-A9A3-F79A0549C5DF}" destId="{FCB8A1D4-27E1-4BCC-8BD9-285CBD0F2C03}" srcOrd="0" destOrd="0" presId="urn:microsoft.com/office/officeart/2005/8/layout/hierarchy1"/>
    <dgm:cxn modelId="{F061FC04-B21A-47EC-A39D-079BD92C1613}" type="presOf" srcId="{6FBFE73B-AF2F-4027-B8C2-01BFC4F4A2B3}" destId="{9E767B82-B208-490A-8DB8-A207ECE25D5B}" srcOrd="0" destOrd="0" presId="urn:microsoft.com/office/officeart/2005/8/layout/hierarchy1"/>
    <dgm:cxn modelId="{990C3320-0F32-4F27-95B3-F9E2D59AD039}" srcId="{8EDB227D-25DA-418C-A9FC-CD1989844C97}" destId="{65E8D651-064B-4DBC-99C1-CB485450ACE4}" srcOrd="1" destOrd="0" parTransId="{5E99E6CB-2759-4FA0-B325-367B19FEF07E}" sibTransId="{FD661376-041B-4BF1-B289-819AE7F168A3}"/>
    <dgm:cxn modelId="{1551E05C-8A30-4B30-9824-C9DD272B6437}" srcId="{8EDB227D-25DA-418C-A9FC-CD1989844C97}" destId="{957F1214-C25B-45D7-886D-7266FD92671F}" srcOrd="0" destOrd="0" parTransId="{E1569B5B-CEF0-494F-A9A3-F79A0549C5DF}" sibTransId="{F61FB092-BC02-4973-BFD1-3F10F2B14DA1}"/>
    <dgm:cxn modelId="{25FF193E-4951-4AA4-81DF-1917D4ACA441}" type="presOf" srcId="{65E8D651-064B-4DBC-99C1-CB485450ACE4}" destId="{45E529C1-D935-4957-A56A-F6E4AD7865BA}" srcOrd="0" destOrd="0" presId="urn:microsoft.com/office/officeart/2005/8/layout/hierarchy1"/>
    <dgm:cxn modelId="{3EDC81F9-11BD-4B38-9048-608CB5B8B357}" type="presOf" srcId="{A2BCBF3E-7B49-4EEF-8D53-387599D27B0C}" destId="{3DCC3F0B-1861-4749-ADB5-67510AC854DA}" srcOrd="0" destOrd="0" presId="urn:microsoft.com/office/officeart/2005/8/layout/hierarchy1"/>
    <dgm:cxn modelId="{D5CBF09A-E0AD-4B8A-AD66-349DDC6D3940}" type="presOf" srcId="{969F20CD-4C6E-48E7-A710-74568B082D41}" destId="{4D364993-E341-496B-87F9-503057603D29}" srcOrd="0" destOrd="0" presId="urn:microsoft.com/office/officeart/2005/8/layout/hierarchy1"/>
    <dgm:cxn modelId="{07B25553-1990-4D47-B858-E71FDF4634BE}" type="presOf" srcId="{5E99E6CB-2759-4FA0-B325-367B19FEF07E}" destId="{84E5C3AE-F8C3-4595-A8CD-B323E8780CF0}" srcOrd="0" destOrd="0" presId="urn:microsoft.com/office/officeart/2005/8/layout/hierarchy1"/>
    <dgm:cxn modelId="{30FBF6F8-2DDD-416C-AD5B-B45612BB4A6C}" type="presOf" srcId="{8EDB227D-25DA-418C-A9FC-CD1989844C97}" destId="{8225F9F3-A5CC-42D1-B6F6-B841964C5350}" srcOrd="0" destOrd="0" presId="urn:microsoft.com/office/officeart/2005/8/layout/hierarchy1"/>
    <dgm:cxn modelId="{6723A2AD-CC5B-48C5-B8DF-B1BABDAFB03A}" type="presOf" srcId="{4AC64E3D-921B-4886-9721-8B1CFFE6D85B}" destId="{461ACC69-AE9A-43E0-9866-CF0A92A85696}" srcOrd="0" destOrd="0" presId="urn:microsoft.com/office/officeart/2005/8/layout/hierarchy1"/>
    <dgm:cxn modelId="{1DD8E998-8657-42BE-AD57-14BD3947E56B}" srcId="{65E8D651-064B-4DBC-99C1-CB485450ACE4}" destId="{6FBFE73B-AF2F-4027-B8C2-01BFC4F4A2B3}" srcOrd="0" destOrd="0" parTransId="{D96F0088-519F-4E7D-91E8-EF299750ECE5}" sibTransId="{450ABFF0-39F1-41BC-A5EB-2FFDB5F67042}"/>
    <dgm:cxn modelId="{0FAD8325-A664-409F-AC0F-A244A9EFCD78}" type="presOf" srcId="{61E7B107-214B-4841-ABDD-852E8A7D285D}" destId="{47929FC7-2135-47EE-8E45-51AB8FF4FBB5}" srcOrd="0" destOrd="0" presId="urn:microsoft.com/office/officeart/2005/8/layout/hierarchy1"/>
    <dgm:cxn modelId="{18D07528-6D88-4656-8071-D421B9A38768}" srcId="{957F1214-C25B-45D7-886D-7266FD92671F}" destId="{C4758617-EFB6-40FB-BDAE-EFFC89F34528}" srcOrd="1" destOrd="0" parTransId="{A2BCBF3E-7B49-4EEF-8D53-387599D27B0C}" sibTransId="{C5B28207-83F9-4C30-925F-E11F51A6E292}"/>
    <dgm:cxn modelId="{DD4D9343-68FD-48D0-BB60-8D3225A57FA6}" srcId="{957F1214-C25B-45D7-886D-7266FD92671F}" destId="{51013B28-1819-4BB2-8343-2AC4E7F68E93}" srcOrd="2" destOrd="0" parTransId="{E5968A0A-E92B-49F7-8AA8-0DA38B6A0CAD}" sibTransId="{D6942322-13B4-440E-881A-60A0A7EAB110}"/>
    <dgm:cxn modelId="{46FA57F0-C244-4A97-95D5-21914F3AA21F}" type="presOf" srcId="{957F1214-C25B-45D7-886D-7266FD92671F}" destId="{42145CFB-C613-403E-B946-6AEDC270CBF8}" srcOrd="0" destOrd="0" presId="urn:microsoft.com/office/officeart/2005/8/layout/hierarchy1"/>
    <dgm:cxn modelId="{D6738F4E-5742-4C30-B53C-CBEC3B792B52}" type="presOf" srcId="{1E2EAAB7-8776-43A4-A0A1-1945B17CFD25}" destId="{116DE118-DD88-4A24-B4F4-9526A0856A0B}" srcOrd="0" destOrd="0" presId="urn:microsoft.com/office/officeart/2005/8/layout/hierarchy1"/>
    <dgm:cxn modelId="{09DF12FF-E634-48F9-945A-C3EA00C8AD06}" srcId="{957F1214-C25B-45D7-886D-7266FD92671F}" destId="{B66CBEC6-AB4F-4229-B01A-9EDD02726D9E}" srcOrd="0" destOrd="0" parTransId="{0F6B189E-6AD7-4D36-98F0-FDF93B924804}" sibTransId="{73CAEB46-37B4-4799-A81C-546472D08277}"/>
    <dgm:cxn modelId="{A66B0237-BF46-4CF2-8240-9BA99AE88240}" type="presParOf" srcId="{4D364993-E341-496B-87F9-503057603D29}" destId="{958AE809-01AA-4DF4-977C-D26C4F4C659A}" srcOrd="0" destOrd="0" presId="urn:microsoft.com/office/officeart/2005/8/layout/hierarchy1"/>
    <dgm:cxn modelId="{9478A681-3EED-4627-BAA0-CE0020E27A77}" type="presParOf" srcId="{958AE809-01AA-4DF4-977C-D26C4F4C659A}" destId="{7CAD64F7-BF8B-4E85-90CC-9D3EE9B37297}" srcOrd="0" destOrd="0" presId="urn:microsoft.com/office/officeart/2005/8/layout/hierarchy1"/>
    <dgm:cxn modelId="{020F293D-9E5E-4919-9E38-D13BFECC4642}" type="presParOf" srcId="{7CAD64F7-BF8B-4E85-90CC-9D3EE9B37297}" destId="{D96CA1BC-0E42-4AC5-BCB7-47AE291314EA}" srcOrd="0" destOrd="0" presId="urn:microsoft.com/office/officeart/2005/8/layout/hierarchy1"/>
    <dgm:cxn modelId="{E5F3C0CE-B26D-415F-953D-0496BEAD48D1}" type="presParOf" srcId="{7CAD64F7-BF8B-4E85-90CC-9D3EE9B37297}" destId="{8225F9F3-A5CC-42D1-B6F6-B841964C5350}" srcOrd="1" destOrd="0" presId="urn:microsoft.com/office/officeart/2005/8/layout/hierarchy1"/>
    <dgm:cxn modelId="{D36D5CA8-A47E-4582-998F-276BD032DF97}" type="presParOf" srcId="{958AE809-01AA-4DF4-977C-D26C4F4C659A}" destId="{00FA6FE6-6E9C-4E8E-9169-18629E570603}" srcOrd="1" destOrd="0" presId="urn:microsoft.com/office/officeart/2005/8/layout/hierarchy1"/>
    <dgm:cxn modelId="{167AABF8-9919-464F-AEF0-25D06513318F}" type="presParOf" srcId="{00FA6FE6-6E9C-4E8E-9169-18629E570603}" destId="{FCB8A1D4-27E1-4BCC-8BD9-285CBD0F2C03}" srcOrd="0" destOrd="0" presId="urn:microsoft.com/office/officeart/2005/8/layout/hierarchy1"/>
    <dgm:cxn modelId="{7612801E-FADF-4273-9194-B6CB55B55DDF}" type="presParOf" srcId="{00FA6FE6-6E9C-4E8E-9169-18629E570603}" destId="{92B4C715-DB8A-41BB-806E-65C17781DC73}" srcOrd="1" destOrd="0" presId="urn:microsoft.com/office/officeart/2005/8/layout/hierarchy1"/>
    <dgm:cxn modelId="{74E82542-3555-4E59-BFC4-FE4F61708B8C}" type="presParOf" srcId="{92B4C715-DB8A-41BB-806E-65C17781DC73}" destId="{1E9DC6A2-438F-4F87-8DA3-9871072FBAB4}" srcOrd="0" destOrd="0" presId="urn:microsoft.com/office/officeart/2005/8/layout/hierarchy1"/>
    <dgm:cxn modelId="{EB197896-F95D-4A77-9CD6-3E861A195D8F}" type="presParOf" srcId="{1E9DC6A2-438F-4F87-8DA3-9871072FBAB4}" destId="{6CEC09C8-3571-4E01-8F5C-F0A5A2B579E1}" srcOrd="0" destOrd="0" presId="urn:microsoft.com/office/officeart/2005/8/layout/hierarchy1"/>
    <dgm:cxn modelId="{DB549F10-57BA-4C78-8000-D55AAE18F940}" type="presParOf" srcId="{1E9DC6A2-438F-4F87-8DA3-9871072FBAB4}" destId="{42145CFB-C613-403E-B946-6AEDC270CBF8}" srcOrd="1" destOrd="0" presId="urn:microsoft.com/office/officeart/2005/8/layout/hierarchy1"/>
    <dgm:cxn modelId="{EFC49E36-C2FF-4766-9E77-853FD8B24258}" type="presParOf" srcId="{92B4C715-DB8A-41BB-806E-65C17781DC73}" destId="{938CAD31-FCD4-4AF0-A181-0A114A3856EC}" srcOrd="1" destOrd="0" presId="urn:microsoft.com/office/officeart/2005/8/layout/hierarchy1"/>
    <dgm:cxn modelId="{04C3AD27-8DC5-4F93-911E-F822AE3E531D}" type="presParOf" srcId="{938CAD31-FCD4-4AF0-A181-0A114A3856EC}" destId="{8A0AC4D1-25B3-4B2E-9CFB-6496AEFF2088}" srcOrd="0" destOrd="0" presId="urn:microsoft.com/office/officeart/2005/8/layout/hierarchy1"/>
    <dgm:cxn modelId="{8C5E05F7-B93B-4C7F-B5D4-803F1F4BF262}" type="presParOf" srcId="{938CAD31-FCD4-4AF0-A181-0A114A3856EC}" destId="{81B94017-B421-49F7-A0CA-4A20CACE251A}" srcOrd="1" destOrd="0" presId="urn:microsoft.com/office/officeart/2005/8/layout/hierarchy1"/>
    <dgm:cxn modelId="{5EFA78C6-7A3D-411F-8071-C55D76FB3292}" type="presParOf" srcId="{81B94017-B421-49F7-A0CA-4A20CACE251A}" destId="{73EFF495-5C3B-4650-B84D-F460D8015918}" srcOrd="0" destOrd="0" presId="urn:microsoft.com/office/officeart/2005/8/layout/hierarchy1"/>
    <dgm:cxn modelId="{471FE644-2FDF-4B2C-AA89-53420892A84D}" type="presParOf" srcId="{73EFF495-5C3B-4650-B84D-F460D8015918}" destId="{F47F0821-4845-46ED-88F9-89644211E4EA}" srcOrd="0" destOrd="0" presId="urn:microsoft.com/office/officeart/2005/8/layout/hierarchy1"/>
    <dgm:cxn modelId="{A4F9EA0D-3883-40D4-A252-C919CFEED95A}" type="presParOf" srcId="{73EFF495-5C3B-4650-B84D-F460D8015918}" destId="{04DD2F86-FC8D-4D39-B127-EB457B9B1B26}" srcOrd="1" destOrd="0" presId="urn:microsoft.com/office/officeart/2005/8/layout/hierarchy1"/>
    <dgm:cxn modelId="{AA8255D0-8CA7-4AE9-87F6-2CC256E58F26}" type="presParOf" srcId="{81B94017-B421-49F7-A0CA-4A20CACE251A}" destId="{571EF8BB-1A73-4862-AE2F-FA4E2879A2B5}" srcOrd="1" destOrd="0" presId="urn:microsoft.com/office/officeart/2005/8/layout/hierarchy1"/>
    <dgm:cxn modelId="{662F9151-89B4-426A-9D3D-CA3C291F29EE}" type="presParOf" srcId="{938CAD31-FCD4-4AF0-A181-0A114A3856EC}" destId="{3DCC3F0B-1861-4749-ADB5-67510AC854DA}" srcOrd="2" destOrd="0" presId="urn:microsoft.com/office/officeart/2005/8/layout/hierarchy1"/>
    <dgm:cxn modelId="{B30BE9C2-917F-476C-B776-86CFE0ED9E03}" type="presParOf" srcId="{938CAD31-FCD4-4AF0-A181-0A114A3856EC}" destId="{92A128B7-4EC4-4D26-A89C-2AED9B5D8098}" srcOrd="3" destOrd="0" presId="urn:microsoft.com/office/officeart/2005/8/layout/hierarchy1"/>
    <dgm:cxn modelId="{6282E5B2-0945-43F3-9EE4-EF9C170D4CCB}" type="presParOf" srcId="{92A128B7-4EC4-4D26-A89C-2AED9B5D8098}" destId="{241EE54F-9D01-4A67-91B8-9B7AB75B8C6F}" srcOrd="0" destOrd="0" presId="urn:microsoft.com/office/officeart/2005/8/layout/hierarchy1"/>
    <dgm:cxn modelId="{520EE2AD-E055-4980-A68E-807E2CD6BC8C}" type="presParOf" srcId="{241EE54F-9D01-4A67-91B8-9B7AB75B8C6F}" destId="{F5914ADF-38CB-45FC-8395-64AD7432A0E8}" srcOrd="0" destOrd="0" presId="urn:microsoft.com/office/officeart/2005/8/layout/hierarchy1"/>
    <dgm:cxn modelId="{77FD1C32-62A7-4886-95C8-7EEFD113D904}" type="presParOf" srcId="{241EE54F-9D01-4A67-91B8-9B7AB75B8C6F}" destId="{5B1AA9B6-0DB1-41FD-A296-3B443DAE600A}" srcOrd="1" destOrd="0" presId="urn:microsoft.com/office/officeart/2005/8/layout/hierarchy1"/>
    <dgm:cxn modelId="{974A8BF4-21EE-41C7-A673-28CBDDD74D16}" type="presParOf" srcId="{92A128B7-4EC4-4D26-A89C-2AED9B5D8098}" destId="{A8D4D1F2-A795-47D2-AD31-AF78908A0572}" srcOrd="1" destOrd="0" presId="urn:microsoft.com/office/officeart/2005/8/layout/hierarchy1"/>
    <dgm:cxn modelId="{494A90B6-EED9-44D6-9210-9E42CD8411E5}" type="presParOf" srcId="{938CAD31-FCD4-4AF0-A181-0A114A3856EC}" destId="{64937330-BD6A-41C4-90E5-96DE3E4C5588}" srcOrd="4" destOrd="0" presId="urn:microsoft.com/office/officeart/2005/8/layout/hierarchy1"/>
    <dgm:cxn modelId="{66849F57-3D8A-4E8C-9B64-8296AFB91BED}" type="presParOf" srcId="{938CAD31-FCD4-4AF0-A181-0A114A3856EC}" destId="{8C6E473E-0646-4474-9477-09E8478005AB}" srcOrd="5" destOrd="0" presId="urn:microsoft.com/office/officeart/2005/8/layout/hierarchy1"/>
    <dgm:cxn modelId="{4CB7E9A9-6E48-4D3E-A5B9-EB9FA5F8CF08}" type="presParOf" srcId="{8C6E473E-0646-4474-9477-09E8478005AB}" destId="{07C3C554-2BC9-4952-AA44-E7EB2213A251}" srcOrd="0" destOrd="0" presId="urn:microsoft.com/office/officeart/2005/8/layout/hierarchy1"/>
    <dgm:cxn modelId="{76BF44C7-B9B8-4A0C-8394-947793279BCA}" type="presParOf" srcId="{07C3C554-2BC9-4952-AA44-E7EB2213A251}" destId="{4F91E4BA-0EEA-4EA0-958C-EC4385CCA1E2}" srcOrd="0" destOrd="0" presId="urn:microsoft.com/office/officeart/2005/8/layout/hierarchy1"/>
    <dgm:cxn modelId="{AAC4B62F-C77E-471F-AE32-0A4B99E59C0A}" type="presParOf" srcId="{07C3C554-2BC9-4952-AA44-E7EB2213A251}" destId="{05BCD179-EA22-4850-92CD-643A8F87BEA6}" srcOrd="1" destOrd="0" presId="urn:microsoft.com/office/officeart/2005/8/layout/hierarchy1"/>
    <dgm:cxn modelId="{E41EEAA1-3DE2-40EC-9C11-80DD984E891B}" type="presParOf" srcId="{8C6E473E-0646-4474-9477-09E8478005AB}" destId="{CE486116-91E7-48CD-AE5B-14AC8EB39A9B}" srcOrd="1" destOrd="0" presId="urn:microsoft.com/office/officeart/2005/8/layout/hierarchy1"/>
    <dgm:cxn modelId="{41213F88-5D7C-456D-BC8F-BEF50EDDD28F}" type="presParOf" srcId="{938CAD31-FCD4-4AF0-A181-0A114A3856EC}" destId="{461ACC69-AE9A-43E0-9866-CF0A92A85696}" srcOrd="6" destOrd="0" presId="urn:microsoft.com/office/officeart/2005/8/layout/hierarchy1"/>
    <dgm:cxn modelId="{16090914-14C4-4FFC-A6A3-AAFE0F403FE1}" type="presParOf" srcId="{938CAD31-FCD4-4AF0-A181-0A114A3856EC}" destId="{8A8A1ECF-284F-4483-885A-58E06456E5FB}" srcOrd="7" destOrd="0" presId="urn:microsoft.com/office/officeart/2005/8/layout/hierarchy1"/>
    <dgm:cxn modelId="{7632B3C4-52D8-498D-A56C-7E75EFC5E253}" type="presParOf" srcId="{8A8A1ECF-284F-4483-885A-58E06456E5FB}" destId="{38EA6D0C-87A8-4E26-90A4-05B1613C5B48}" srcOrd="0" destOrd="0" presId="urn:microsoft.com/office/officeart/2005/8/layout/hierarchy1"/>
    <dgm:cxn modelId="{71D189DE-9F82-43EB-AD06-15A702C5A82A}" type="presParOf" srcId="{38EA6D0C-87A8-4E26-90A4-05B1613C5B48}" destId="{BD9EFC9E-2EA5-4469-BD51-27DE1F4C8C49}" srcOrd="0" destOrd="0" presId="urn:microsoft.com/office/officeart/2005/8/layout/hierarchy1"/>
    <dgm:cxn modelId="{3A7C6452-E352-403D-A995-D7679DC8B298}" type="presParOf" srcId="{38EA6D0C-87A8-4E26-90A4-05B1613C5B48}" destId="{47929FC7-2135-47EE-8E45-51AB8FF4FBB5}" srcOrd="1" destOrd="0" presId="urn:microsoft.com/office/officeart/2005/8/layout/hierarchy1"/>
    <dgm:cxn modelId="{7AA4D303-BC88-46E4-A95F-6370F8E39944}" type="presParOf" srcId="{8A8A1ECF-284F-4483-885A-58E06456E5FB}" destId="{FF9E7E64-5844-4F4B-99AF-2F3A4C4245DF}" srcOrd="1" destOrd="0" presId="urn:microsoft.com/office/officeart/2005/8/layout/hierarchy1"/>
    <dgm:cxn modelId="{063781CD-4375-4A0F-8BF2-E9E571C3F8CB}" type="presParOf" srcId="{00FA6FE6-6E9C-4E8E-9169-18629E570603}" destId="{84E5C3AE-F8C3-4595-A8CD-B323E8780CF0}" srcOrd="2" destOrd="0" presId="urn:microsoft.com/office/officeart/2005/8/layout/hierarchy1"/>
    <dgm:cxn modelId="{80710062-2E48-4DB5-89C8-458B69F8ED74}" type="presParOf" srcId="{00FA6FE6-6E9C-4E8E-9169-18629E570603}" destId="{E24C2C17-5F75-4291-842C-46F2D18FE28A}" srcOrd="3" destOrd="0" presId="urn:microsoft.com/office/officeart/2005/8/layout/hierarchy1"/>
    <dgm:cxn modelId="{FECAD4D0-31D8-4E45-8045-5CF4ECF551AF}" type="presParOf" srcId="{E24C2C17-5F75-4291-842C-46F2D18FE28A}" destId="{4031DC0B-7DBD-4137-8B7B-9082CD5B4B34}" srcOrd="0" destOrd="0" presId="urn:microsoft.com/office/officeart/2005/8/layout/hierarchy1"/>
    <dgm:cxn modelId="{5F4A553F-5AC6-4A69-B8F7-AC0BAFFF648A}" type="presParOf" srcId="{4031DC0B-7DBD-4137-8B7B-9082CD5B4B34}" destId="{BCE01241-E3D3-4C84-9AAB-37847A668BBA}" srcOrd="0" destOrd="0" presId="urn:microsoft.com/office/officeart/2005/8/layout/hierarchy1"/>
    <dgm:cxn modelId="{65FCEA24-DBF7-47C4-A213-4AA9079A494C}" type="presParOf" srcId="{4031DC0B-7DBD-4137-8B7B-9082CD5B4B34}" destId="{45E529C1-D935-4957-A56A-F6E4AD7865BA}" srcOrd="1" destOrd="0" presId="urn:microsoft.com/office/officeart/2005/8/layout/hierarchy1"/>
    <dgm:cxn modelId="{BAE7A972-497D-4D26-AE1B-EC5A7C568D71}" type="presParOf" srcId="{E24C2C17-5F75-4291-842C-46F2D18FE28A}" destId="{0103CEA4-74F6-4846-8435-6AAE51387A74}" srcOrd="1" destOrd="0" presId="urn:microsoft.com/office/officeart/2005/8/layout/hierarchy1"/>
    <dgm:cxn modelId="{8B1AA2D3-304A-4543-8761-3170748D907A}" type="presParOf" srcId="{0103CEA4-74F6-4846-8435-6AAE51387A74}" destId="{ED91E7EF-A75D-442B-AD2A-DE7BEE9FC8EC}" srcOrd="0" destOrd="0" presId="urn:microsoft.com/office/officeart/2005/8/layout/hierarchy1"/>
    <dgm:cxn modelId="{63701EEE-DAEC-4161-9640-01207042E575}" type="presParOf" srcId="{0103CEA4-74F6-4846-8435-6AAE51387A74}" destId="{5976F040-71A9-4887-8D1D-84B02A548952}" srcOrd="1" destOrd="0" presId="urn:microsoft.com/office/officeart/2005/8/layout/hierarchy1"/>
    <dgm:cxn modelId="{57CFE3B1-77A1-46BD-8DBB-BE5CAA51B8F6}" type="presParOf" srcId="{5976F040-71A9-4887-8D1D-84B02A548952}" destId="{B51F3F43-3C56-4AC5-B828-268A0AE4577D}" srcOrd="0" destOrd="0" presId="urn:microsoft.com/office/officeart/2005/8/layout/hierarchy1"/>
    <dgm:cxn modelId="{75EC0C05-1D51-4124-8537-89AFF41B73DC}" type="presParOf" srcId="{B51F3F43-3C56-4AC5-B828-268A0AE4577D}" destId="{26BB16F8-446D-4D46-9AAA-B8E0CE6950FD}" srcOrd="0" destOrd="0" presId="urn:microsoft.com/office/officeart/2005/8/layout/hierarchy1"/>
    <dgm:cxn modelId="{5B26C85E-080F-4A91-AE14-FA730718D640}" type="presParOf" srcId="{B51F3F43-3C56-4AC5-B828-268A0AE4577D}" destId="{9E767B82-B208-490A-8DB8-A207ECE25D5B}" srcOrd="1" destOrd="0" presId="urn:microsoft.com/office/officeart/2005/8/layout/hierarchy1"/>
    <dgm:cxn modelId="{B45FDC53-DBC9-4766-B813-C77E34B6DE47}" type="presParOf" srcId="{5976F040-71A9-4887-8D1D-84B02A548952}" destId="{CEAF88FC-421E-4B6F-B04B-D25EDE5B4F86}" srcOrd="1" destOrd="0" presId="urn:microsoft.com/office/officeart/2005/8/layout/hierarchy1"/>
    <dgm:cxn modelId="{5201F4B1-8FC7-4786-AFFA-0FD551566354}" type="presParOf" srcId="{0103CEA4-74F6-4846-8435-6AAE51387A74}" destId="{116DE118-DD88-4A24-B4F4-9526A0856A0B}" srcOrd="2" destOrd="0" presId="urn:microsoft.com/office/officeart/2005/8/layout/hierarchy1"/>
    <dgm:cxn modelId="{BB6320D7-BD75-4DFD-BEA8-25367605706E}" type="presParOf" srcId="{0103CEA4-74F6-4846-8435-6AAE51387A74}" destId="{5F061D3E-4F40-4397-AFBA-638C74F81D8D}" srcOrd="3" destOrd="0" presId="urn:microsoft.com/office/officeart/2005/8/layout/hierarchy1"/>
    <dgm:cxn modelId="{C4F30975-715C-444A-8E49-E39385910676}" type="presParOf" srcId="{5F061D3E-4F40-4397-AFBA-638C74F81D8D}" destId="{7E8E17AA-D550-47AC-816D-D702D26BEB07}" srcOrd="0" destOrd="0" presId="urn:microsoft.com/office/officeart/2005/8/layout/hierarchy1"/>
    <dgm:cxn modelId="{1C59684F-BFE4-4F38-AAA0-A64905D7646A}" type="presParOf" srcId="{7E8E17AA-D550-47AC-816D-D702D26BEB07}" destId="{58A915A2-9028-47CD-B4D5-C08DF6D5BFF6}" srcOrd="0" destOrd="0" presId="urn:microsoft.com/office/officeart/2005/8/layout/hierarchy1"/>
    <dgm:cxn modelId="{2E150A34-080A-4EF7-A55B-9E5B8977E213}" type="presParOf" srcId="{7E8E17AA-D550-47AC-816D-D702D26BEB07}" destId="{358A72B8-4991-4DEE-8032-870BE6D346E0}" srcOrd="1" destOrd="0" presId="urn:microsoft.com/office/officeart/2005/8/layout/hierarchy1"/>
    <dgm:cxn modelId="{8A00765B-1DAC-4EEE-B2E9-FD6DCA5C3604}" type="presParOf" srcId="{5F061D3E-4F40-4397-AFBA-638C74F81D8D}" destId="{4555532E-4FA8-4482-AD78-614C82455F22}" srcOrd="1" destOrd="0" presId="urn:microsoft.com/office/officeart/2005/8/layout/hierarchy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DE118-DD88-4A24-B4F4-9526A0856A0B}">
      <dsp:nvSpPr>
        <dsp:cNvPr id="0" name=""/>
        <dsp:cNvSpPr/>
      </dsp:nvSpPr>
      <dsp:spPr>
        <a:xfrm>
          <a:off x="6836233" y="2620128"/>
          <a:ext cx="696180" cy="331318"/>
        </a:xfrm>
        <a:custGeom>
          <a:avLst/>
          <a:gdLst/>
          <a:ahLst/>
          <a:cxnLst/>
          <a:rect l="0" t="0" r="0" b="0"/>
          <a:pathLst>
            <a:path>
              <a:moveTo>
                <a:pt x="0" y="0"/>
              </a:moveTo>
              <a:lnTo>
                <a:pt x="0" y="225784"/>
              </a:lnTo>
              <a:lnTo>
                <a:pt x="696180" y="225784"/>
              </a:lnTo>
              <a:lnTo>
                <a:pt x="696180" y="33131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91E7EF-A75D-442B-AD2A-DE7BEE9FC8EC}">
      <dsp:nvSpPr>
        <dsp:cNvPr id="0" name=""/>
        <dsp:cNvSpPr/>
      </dsp:nvSpPr>
      <dsp:spPr>
        <a:xfrm>
          <a:off x="6140053" y="2620128"/>
          <a:ext cx="696180" cy="331318"/>
        </a:xfrm>
        <a:custGeom>
          <a:avLst/>
          <a:gdLst/>
          <a:ahLst/>
          <a:cxnLst/>
          <a:rect l="0" t="0" r="0" b="0"/>
          <a:pathLst>
            <a:path>
              <a:moveTo>
                <a:pt x="696180" y="0"/>
              </a:moveTo>
              <a:lnTo>
                <a:pt x="696180" y="225784"/>
              </a:lnTo>
              <a:lnTo>
                <a:pt x="0" y="225784"/>
              </a:lnTo>
              <a:lnTo>
                <a:pt x="0" y="33131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E5C3AE-F8C3-4595-A8CD-B323E8780CF0}">
      <dsp:nvSpPr>
        <dsp:cNvPr id="0" name=""/>
        <dsp:cNvSpPr/>
      </dsp:nvSpPr>
      <dsp:spPr>
        <a:xfrm>
          <a:off x="4747691" y="1565414"/>
          <a:ext cx="2088542" cy="331318"/>
        </a:xfrm>
        <a:custGeom>
          <a:avLst/>
          <a:gdLst/>
          <a:ahLst/>
          <a:cxnLst/>
          <a:rect l="0" t="0" r="0" b="0"/>
          <a:pathLst>
            <a:path>
              <a:moveTo>
                <a:pt x="0" y="0"/>
              </a:moveTo>
              <a:lnTo>
                <a:pt x="0" y="225784"/>
              </a:lnTo>
              <a:lnTo>
                <a:pt x="2088542" y="225784"/>
              </a:lnTo>
              <a:lnTo>
                <a:pt x="2088542" y="3313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1ACC69-AE9A-43E0-9866-CF0A92A85696}">
      <dsp:nvSpPr>
        <dsp:cNvPr id="0" name=""/>
        <dsp:cNvSpPr/>
      </dsp:nvSpPr>
      <dsp:spPr>
        <a:xfrm>
          <a:off x="2659149" y="2620128"/>
          <a:ext cx="2093110" cy="345432"/>
        </a:xfrm>
        <a:custGeom>
          <a:avLst/>
          <a:gdLst/>
          <a:ahLst/>
          <a:cxnLst/>
          <a:rect l="0" t="0" r="0" b="0"/>
          <a:pathLst>
            <a:path>
              <a:moveTo>
                <a:pt x="0" y="0"/>
              </a:moveTo>
              <a:lnTo>
                <a:pt x="0" y="239897"/>
              </a:lnTo>
              <a:lnTo>
                <a:pt x="2093110" y="239897"/>
              </a:lnTo>
              <a:lnTo>
                <a:pt x="2093110" y="3454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937330-BD6A-41C4-90E5-96DE3E4C5588}">
      <dsp:nvSpPr>
        <dsp:cNvPr id="0" name=""/>
        <dsp:cNvSpPr/>
      </dsp:nvSpPr>
      <dsp:spPr>
        <a:xfrm>
          <a:off x="2659149" y="2620128"/>
          <a:ext cx="700748" cy="345432"/>
        </a:xfrm>
        <a:custGeom>
          <a:avLst/>
          <a:gdLst/>
          <a:ahLst/>
          <a:cxnLst/>
          <a:rect l="0" t="0" r="0" b="0"/>
          <a:pathLst>
            <a:path>
              <a:moveTo>
                <a:pt x="0" y="0"/>
              </a:moveTo>
              <a:lnTo>
                <a:pt x="0" y="239897"/>
              </a:lnTo>
              <a:lnTo>
                <a:pt x="700748" y="239897"/>
              </a:lnTo>
              <a:lnTo>
                <a:pt x="700748" y="3454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CC3F0B-1861-4749-ADB5-67510AC854DA}">
      <dsp:nvSpPr>
        <dsp:cNvPr id="0" name=""/>
        <dsp:cNvSpPr/>
      </dsp:nvSpPr>
      <dsp:spPr>
        <a:xfrm>
          <a:off x="1960826" y="2620128"/>
          <a:ext cx="698322" cy="334877"/>
        </a:xfrm>
        <a:custGeom>
          <a:avLst/>
          <a:gdLst/>
          <a:ahLst/>
          <a:cxnLst/>
          <a:rect l="0" t="0" r="0" b="0"/>
          <a:pathLst>
            <a:path>
              <a:moveTo>
                <a:pt x="698322" y="0"/>
              </a:moveTo>
              <a:lnTo>
                <a:pt x="698322" y="229343"/>
              </a:lnTo>
              <a:lnTo>
                <a:pt x="0" y="229343"/>
              </a:lnTo>
              <a:lnTo>
                <a:pt x="0" y="33487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0AC4D1-25B3-4B2E-9CFB-6496AEFF2088}">
      <dsp:nvSpPr>
        <dsp:cNvPr id="0" name=""/>
        <dsp:cNvSpPr/>
      </dsp:nvSpPr>
      <dsp:spPr>
        <a:xfrm>
          <a:off x="575175" y="2620128"/>
          <a:ext cx="2083974" cy="345432"/>
        </a:xfrm>
        <a:custGeom>
          <a:avLst/>
          <a:gdLst/>
          <a:ahLst/>
          <a:cxnLst/>
          <a:rect l="0" t="0" r="0" b="0"/>
          <a:pathLst>
            <a:path>
              <a:moveTo>
                <a:pt x="2083974" y="0"/>
              </a:moveTo>
              <a:lnTo>
                <a:pt x="2083974" y="239897"/>
              </a:lnTo>
              <a:lnTo>
                <a:pt x="0" y="239897"/>
              </a:lnTo>
              <a:lnTo>
                <a:pt x="0" y="3454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B8A1D4-27E1-4BCC-8BD9-285CBD0F2C03}">
      <dsp:nvSpPr>
        <dsp:cNvPr id="0" name=""/>
        <dsp:cNvSpPr/>
      </dsp:nvSpPr>
      <dsp:spPr>
        <a:xfrm>
          <a:off x="2659149" y="1565414"/>
          <a:ext cx="2088542" cy="331318"/>
        </a:xfrm>
        <a:custGeom>
          <a:avLst/>
          <a:gdLst/>
          <a:ahLst/>
          <a:cxnLst/>
          <a:rect l="0" t="0" r="0" b="0"/>
          <a:pathLst>
            <a:path>
              <a:moveTo>
                <a:pt x="2088542" y="0"/>
              </a:moveTo>
              <a:lnTo>
                <a:pt x="2088542" y="225784"/>
              </a:lnTo>
              <a:lnTo>
                <a:pt x="0" y="225784"/>
              </a:lnTo>
              <a:lnTo>
                <a:pt x="0" y="3313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6CA1BC-0E42-4AC5-BCB7-47AE291314EA}">
      <dsp:nvSpPr>
        <dsp:cNvPr id="0" name=""/>
        <dsp:cNvSpPr/>
      </dsp:nvSpPr>
      <dsp:spPr>
        <a:xfrm>
          <a:off x="4178089" y="842019"/>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25F9F3-A5CC-42D1-B6F6-B841964C5350}">
      <dsp:nvSpPr>
        <dsp:cNvPr id="0" name=""/>
        <dsp:cNvSpPr/>
      </dsp:nvSpPr>
      <dsp:spPr>
        <a:xfrm>
          <a:off x="4304667" y="962269"/>
          <a:ext cx="1139204" cy="723395"/>
        </a:xfrm>
        <a:prstGeom prst="roundRect">
          <a:avLst>
            <a:gd name="adj" fmla="val 10000"/>
          </a:avLst>
        </a:prstGeom>
        <a:solidFill>
          <a:schemeClr val="accent2">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t>Key distribution</a:t>
          </a:r>
          <a:endParaRPr lang="en-IN" sz="1200" kern="1200" dirty="0"/>
        </a:p>
      </dsp:txBody>
      <dsp:txXfrm>
        <a:off x="4325855" y="983457"/>
        <a:ext cx="1096828" cy="681019"/>
      </dsp:txXfrm>
    </dsp:sp>
    <dsp:sp modelId="{6CEC09C8-3571-4E01-8F5C-F0A5A2B579E1}">
      <dsp:nvSpPr>
        <dsp:cNvPr id="0" name=""/>
        <dsp:cNvSpPr/>
      </dsp:nvSpPr>
      <dsp:spPr>
        <a:xfrm>
          <a:off x="2089546" y="1896733"/>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145CFB-C613-403E-B946-6AEDC270CBF8}">
      <dsp:nvSpPr>
        <dsp:cNvPr id="0" name=""/>
        <dsp:cNvSpPr/>
      </dsp:nvSpPr>
      <dsp:spPr>
        <a:xfrm>
          <a:off x="2216125" y="2016983"/>
          <a:ext cx="1139204" cy="723395"/>
        </a:xfrm>
        <a:prstGeom prst="roundRect">
          <a:avLst>
            <a:gd name="adj" fmla="val 10000"/>
          </a:avLst>
        </a:prstGeom>
        <a:solidFill>
          <a:srgbClr val="FF000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t>Public key distribution</a:t>
          </a:r>
          <a:endParaRPr lang="en-IN" sz="1200" kern="1200" dirty="0"/>
        </a:p>
      </dsp:txBody>
      <dsp:txXfrm>
        <a:off x="2237313" y="2038171"/>
        <a:ext cx="1096828" cy="681019"/>
      </dsp:txXfrm>
    </dsp:sp>
    <dsp:sp modelId="{F47F0821-4845-46ED-88F9-89644211E4EA}">
      <dsp:nvSpPr>
        <dsp:cNvPr id="0" name=""/>
        <dsp:cNvSpPr/>
      </dsp:nvSpPr>
      <dsp:spPr>
        <a:xfrm>
          <a:off x="5572" y="2965561"/>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DD2F86-FC8D-4D39-B127-EB457B9B1B26}">
      <dsp:nvSpPr>
        <dsp:cNvPr id="0" name=""/>
        <dsp:cNvSpPr/>
      </dsp:nvSpPr>
      <dsp:spPr>
        <a:xfrm>
          <a:off x="132151" y="3085810"/>
          <a:ext cx="1139204" cy="723395"/>
        </a:xfrm>
        <a:prstGeom prst="roundRect">
          <a:avLst>
            <a:gd name="adj" fmla="val 10000"/>
          </a:avLst>
        </a:prstGeom>
        <a:solidFill>
          <a:srgbClr val="00B0F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t>Public announcement</a:t>
          </a:r>
          <a:endParaRPr lang="en-IN" sz="1200" kern="1200" dirty="0"/>
        </a:p>
      </dsp:txBody>
      <dsp:txXfrm>
        <a:off x="153339" y="3106998"/>
        <a:ext cx="1096828" cy="681019"/>
      </dsp:txXfrm>
    </dsp:sp>
    <dsp:sp modelId="{F5914ADF-38CB-45FC-8395-64AD7432A0E8}">
      <dsp:nvSpPr>
        <dsp:cNvPr id="0" name=""/>
        <dsp:cNvSpPr/>
      </dsp:nvSpPr>
      <dsp:spPr>
        <a:xfrm>
          <a:off x="1391224" y="2955006"/>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1AA9B6-0DB1-41FD-A296-3B443DAE600A}">
      <dsp:nvSpPr>
        <dsp:cNvPr id="0" name=""/>
        <dsp:cNvSpPr/>
      </dsp:nvSpPr>
      <dsp:spPr>
        <a:xfrm>
          <a:off x="1517802" y="3075256"/>
          <a:ext cx="1139204" cy="723395"/>
        </a:xfrm>
        <a:prstGeom prst="roundRect">
          <a:avLst>
            <a:gd name="adj" fmla="val 10000"/>
          </a:avLst>
        </a:prstGeom>
        <a:solidFill>
          <a:srgbClr val="00B0F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t>Public available directory</a:t>
          </a:r>
          <a:endParaRPr lang="en-IN" sz="1200" kern="1200" dirty="0"/>
        </a:p>
      </dsp:txBody>
      <dsp:txXfrm>
        <a:off x="1538990" y="3096444"/>
        <a:ext cx="1096828" cy="681019"/>
      </dsp:txXfrm>
    </dsp:sp>
    <dsp:sp modelId="{4F91E4BA-0EEA-4EA0-958C-EC4385CCA1E2}">
      <dsp:nvSpPr>
        <dsp:cNvPr id="0" name=""/>
        <dsp:cNvSpPr/>
      </dsp:nvSpPr>
      <dsp:spPr>
        <a:xfrm>
          <a:off x="2790295" y="2965561"/>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BCD179-EA22-4850-92CD-643A8F87BEA6}">
      <dsp:nvSpPr>
        <dsp:cNvPr id="0" name=""/>
        <dsp:cNvSpPr/>
      </dsp:nvSpPr>
      <dsp:spPr>
        <a:xfrm>
          <a:off x="2916874" y="3085810"/>
          <a:ext cx="1139204" cy="723395"/>
        </a:xfrm>
        <a:prstGeom prst="roundRect">
          <a:avLst>
            <a:gd name="adj" fmla="val 10000"/>
          </a:avLst>
        </a:prstGeom>
        <a:solidFill>
          <a:srgbClr val="00B0F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t>Public key authority</a:t>
          </a:r>
          <a:endParaRPr lang="en-IN" sz="1200" kern="1200" dirty="0"/>
        </a:p>
      </dsp:txBody>
      <dsp:txXfrm>
        <a:off x="2938062" y="3106998"/>
        <a:ext cx="1096828" cy="681019"/>
      </dsp:txXfrm>
    </dsp:sp>
    <dsp:sp modelId="{BD9EFC9E-2EA5-4469-BD51-27DE1F4C8C49}">
      <dsp:nvSpPr>
        <dsp:cNvPr id="0" name=""/>
        <dsp:cNvSpPr/>
      </dsp:nvSpPr>
      <dsp:spPr>
        <a:xfrm>
          <a:off x="4182657" y="2965561"/>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929FC7-2135-47EE-8E45-51AB8FF4FBB5}">
      <dsp:nvSpPr>
        <dsp:cNvPr id="0" name=""/>
        <dsp:cNvSpPr/>
      </dsp:nvSpPr>
      <dsp:spPr>
        <a:xfrm>
          <a:off x="4309235" y="3085810"/>
          <a:ext cx="1139204" cy="723395"/>
        </a:xfrm>
        <a:prstGeom prst="roundRect">
          <a:avLst>
            <a:gd name="adj" fmla="val 10000"/>
          </a:avLst>
        </a:prstGeom>
        <a:solidFill>
          <a:srgbClr val="00B0F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t>Certificate authority</a:t>
          </a:r>
          <a:endParaRPr lang="en-IN" sz="1200" kern="1200" dirty="0"/>
        </a:p>
      </dsp:txBody>
      <dsp:txXfrm>
        <a:off x="4330423" y="3106998"/>
        <a:ext cx="1096828" cy="681019"/>
      </dsp:txXfrm>
    </dsp:sp>
    <dsp:sp modelId="{BCE01241-E3D3-4C84-9AAB-37847A668BBA}">
      <dsp:nvSpPr>
        <dsp:cNvPr id="0" name=""/>
        <dsp:cNvSpPr/>
      </dsp:nvSpPr>
      <dsp:spPr>
        <a:xfrm>
          <a:off x="6266631" y="1896733"/>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E529C1-D935-4957-A56A-F6E4AD7865BA}">
      <dsp:nvSpPr>
        <dsp:cNvPr id="0" name=""/>
        <dsp:cNvSpPr/>
      </dsp:nvSpPr>
      <dsp:spPr>
        <a:xfrm>
          <a:off x="6393209" y="2016983"/>
          <a:ext cx="1139204" cy="723395"/>
        </a:xfrm>
        <a:prstGeom prst="roundRect">
          <a:avLst>
            <a:gd name="adj" fmla="val 10000"/>
          </a:avLst>
        </a:prstGeom>
        <a:solidFill>
          <a:srgbClr val="FF000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solidFill>
                <a:schemeClr val="tx1"/>
              </a:solidFill>
            </a:rPr>
            <a:t>Private key distribution</a:t>
          </a:r>
          <a:endParaRPr lang="en-IN" sz="1200" kern="1200" dirty="0">
            <a:solidFill>
              <a:schemeClr val="tx1"/>
            </a:solidFill>
          </a:endParaRPr>
        </a:p>
      </dsp:txBody>
      <dsp:txXfrm>
        <a:off x="6414397" y="2038171"/>
        <a:ext cx="1096828" cy="681019"/>
      </dsp:txXfrm>
    </dsp:sp>
    <dsp:sp modelId="{26BB16F8-446D-4D46-9AAA-B8E0CE6950FD}">
      <dsp:nvSpPr>
        <dsp:cNvPr id="0" name=""/>
        <dsp:cNvSpPr/>
      </dsp:nvSpPr>
      <dsp:spPr>
        <a:xfrm>
          <a:off x="5570450" y="2951447"/>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767B82-B208-490A-8DB8-A207ECE25D5B}">
      <dsp:nvSpPr>
        <dsp:cNvPr id="0" name=""/>
        <dsp:cNvSpPr/>
      </dsp:nvSpPr>
      <dsp:spPr>
        <a:xfrm>
          <a:off x="5697029" y="3071697"/>
          <a:ext cx="1139204" cy="723395"/>
        </a:xfrm>
        <a:prstGeom prst="roundRect">
          <a:avLst>
            <a:gd name="adj" fmla="val 10000"/>
          </a:avLst>
        </a:prstGeom>
        <a:solidFill>
          <a:srgbClr val="00B05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t>Key distribution centre (KDC) </a:t>
          </a:r>
          <a:endParaRPr lang="en-IN" sz="1200" kern="1200" dirty="0"/>
        </a:p>
      </dsp:txBody>
      <dsp:txXfrm>
        <a:off x="5718217" y="3092885"/>
        <a:ext cx="1096828" cy="681019"/>
      </dsp:txXfrm>
    </dsp:sp>
    <dsp:sp modelId="{58A915A2-9028-47CD-B4D5-C08DF6D5BFF6}">
      <dsp:nvSpPr>
        <dsp:cNvPr id="0" name=""/>
        <dsp:cNvSpPr/>
      </dsp:nvSpPr>
      <dsp:spPr>
        <a:xfrm>
          <a:off x="6962812" y="2951447"/>
          <a:ext cx="1139204" cy="7233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8A72B8-4991-4DEE-8032-870BE6D346E0}">
      <dsp:nvSpPr>
        <dsp:cNvPr id="0" name=""/>
        <dsp:cNvSpPr/>
      </dsp:nvSpPr>
      <dsp:spPr>
        <a:xfrm>
          <a:off x="7089390" y="3071697"/>
          <a:ext cx="1139204" cy="723395"/>
        </a:xfrm>
        <a:prstGeom prst="roundRect">
          <a:avLst>
            <a:gd name="adj" fmla="val 10000"/>
          </a:avLst>
        </a:prstGeom>
        <a:solidFill>
          <a:srgbClr val="00B05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err="1" smtClean="0"/>
            <a:t>Diffie-hellman</a:t>
          </a:r>
          <a:r>
            <a:rPr lang="en-IN" sz="1200" kern="1200" dirty="0" smtClean="0"/>
            <a:t> </a:t>
          </a:r>
          <a:r>
            <a:rPr lang="en-IN" sz="1200" kern="1200" dirty="0" smtClean="0"/>
            <a:t>exchange</a:t>
          </a:r>
          <a:endParaRPr lang="en-IN" sz="1200" kern="1200" dirty="0"/>
        </a:p>
      </dsp:txBody>
      <dsp:txXfrm>
        <a:off x="7110578" y="3092885"/>
        <a:ext cx="1096828" cy="68101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22-07-2018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 xmlns:p14="http://schemas.microsoft.com/office/powerpoint/2010/main"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1</a:t>
            </a:fld>
            <a:endParaRPr lang="en-IN"/>
          </a:p>
        </p:txBody>
      </p:sp>
    </p:spTree>
    <p:extLst>
      <p:ext uri="{BB962C8B-B14F-4D97-AF65-F5344CB8AC3E}">
        <p14:creationId xmlns="" xmlns:p14="http://schemas.microsoft.com/office/powerpoint/2010/main" val="3228869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FB1F9F8-2F33-48A0-B6E1-CBD34DA86FA7}" type="datetime1">
              <a:rPr lang="en-IN" smtClean="0"/>
              <a:pPr/>
              <a:t>22-07-2018</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38AF320-491D-4762-9CEF-3E1E34D8F95D}" type="datetime1">
              <a:rPr lang="en-IN" smtClean="0"/>
              <a:pPr/>
              <a:t>22-07-2018</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82208E44-E056-4529-AB17-D5D4ED060997}" type="datetime1">
              <a:rPr lang="en-IN" smtClean="0"/>
              <a:pPr/>
              <a:t>22-07-2018</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919CFB88-53D3-4CA9-98AE-144A38B513BC}" type="datetime1">
              <a:rPr lang="en-IN" smtClean="0"/>
              <a:pPr/>
              <a:t>22-07-2018</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6D0D0566-7D22-4575-A4D4-6F2EADBD37EA}" type="datetime1">
              <a:rPr lang="en-IN" smtClean="0"/>
              <a:pPr/>
              <a:t>22-07-2018</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A8F8992E-3A7A-498B-BA4F-ED4E9E99F9C5}" type="datetime1">
              <a:rPr lang="en-IN" smtClean="0"/>
              <a:pPr/>
              <a:t>22-07-2018</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64542FCF-AAF1-43F7-BF4B-ACFF6C5E1F9E}" type="datetime1">
              <a:rPr lang="en-IN" smtClean="0"/>
              <a:pPr/>
              <a:t>22-07-2018</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C22291EF-5C9A-4DA0-9BCB-C3A40F654C61}" type="datetime1">
              <a:rPr lang="en-IN" smtClean="0"/>
              <a:pPr/>
              <a:t>22-07-2018</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F9511ED-0BE1-4F2B-B63D-1D3DD25330C5}" type="datetime1">
              <a:rPr lang="en-IN" smtClean="0"/>
              <a:pPr/>
              <a:t>22-07-2018</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5D982D4-3B7D-49CC-89D2-CE37596BBCA6}" type="datetime1">
              <a:rPr lang="en-IN" smtClean="0"/>
              <a:pPr/>
              <a:t>22-07-2018</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893096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37615650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800522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2489876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2560639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3578265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30392138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5389284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2067781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571370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032750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0390602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3973467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39817560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551269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5148722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32044338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40379716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6061490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23738049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9091068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4094995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4202556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32694179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22162179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1136243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2.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38"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0F2899A1-5BFA-4D14-B690-5DD6CFCAE8DC}" type="datetime1">
              <a:rPr lang="en-IN" smtClean="0">
                <a:solidFill>
                  <a:prstClr val="black">
                    <a:tint val="75000"/>
                  </a:prstClr>
                </a:solidFill>
              </a:rPr>
              <a:pPr/>
              <a:t>22-07-2018</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&lt;Course Code&gt;</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5.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7.xml"/><Relationship Id="rId5" Type="http://schemas.openxmlformats.org/officeDocument/2006/relationships/image" Target="../media/image11.jpe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9.xml"/><Relationship Id="rId5" Type="http://schemas.openxmlformats.org/officeDocument/2006/relationships/image" Target="../media/image12.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Layout" Target="../slideLayouts/slideLayout20.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hyperlink" Target="https://www.itu.int/rec/T-REC-X.509" TargetMode="Externa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hyperlink" Target="https://ist.mit.edu/athena" TargetMode="Externa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7.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7.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8.xml"/><Relationship Id="rId6" Type="http://schemas.openxmlformats.org/officeDocument/2006/relationships/image" Target="../media/image33.png"/><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30.xml"/><Relationship Id="rId6" Type="http://schemas.openxmlformats.org/officeDocument/2006/relationships/image" Target="../media/image33.png"/><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31.xml"/><Relationship Id="rId6" Type="http://schemas.openxmlformats.org/officeDocument/2006/relationships/image" Target="../media/image33.png"/><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32.xml"/><Relationship Id="rId6" Type="http://schemas.openxmlformats.org/officeDocument/2006/relationships/image" Target="../media/image3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0.jpeg"/><Relationship Id="rId1" Type="http://schemas.openxmlformats.org/officeDocument/2006/relationships/slideLayout" Target="../slideLayouts/slideLayout33.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34.xml"/><Relationship Id="rId5" Type="http://schemas.openxmlformats.org/officeDocument/2006/relationships/image" Target="../media/image10.jpeg"/><Relationship Id="rId4" Type="http://schemas.openxmlformats.org/officeDocument/2006/relationships/image" Target="../media/image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6.png"/><Relationship Id="rId1" Type="http://schemas.openxmlformats.org/officeDocument/2006/relationships/slideLayout" Target="../slideLayouts/slideLayout36.xml"/><Relationship Id="rId5" Type="http://schemas.openxmlformats.org/officeDocument/2006/relationships/image" Target="../media/image10.jpeg"/><Relationship Id="rId4" Type="http://schemas.openxmlformats.org/officeDocument/2006/relationships/image" Target="../media/image6.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79712" y="3501008"/>
            <a:ext cx="6696744" cy="1832992"/>
          </a:xfrm>
        </p:spPr>
        <p:txBody>
          <a:bodyPr/>
          <a:lstStyle/>
          <a:p>
            <a:r>
              <a:rPr lang="en-US" sz="3600" dirty="0" smtClean="0"/>
              <a:t>Course Name : </a:t>
            </a:r>
            <a:br>
              <a:rPr lang="en-US" sz="3600" dirty="0" smtClean="0"/>
            </a:br>
            <a:r>
              <a:rPr lang="en-US" sz="3600" dirty="0" smtClean="0"/>
              <a:t>Network Security</a:t>
            </a:r>
            <a:endParaRPr lang="en-US" sz="3600" dirty="0"/>
          </a:p>
        </p:txBody>
      </p:sp>
      <p:sp>
        <p:nvSpPr>
          <p:cNvPr id="6" name="Content Placeholder 5"/>
          <p:cNvSpPr>
            <a:spLocks noGrp="1"/>
          </p:cNvSpPr>
          <p:nvPr>
            <p:ph sz="quarter" idx="13"/>
          </p:nvPr>
        </p:nvSpPr>
        <p:spPr>
          <a:xfrm>
            <a:off x="2267744" y="5410200"/>
            <a:ext cx="6266656" cy="533400"/>
          </a:xfrm>
        </p:spPr>
        <p:txBody>
          <a:bodyPr/>
          <a:lstStyle/>
          <a:p>
            <a:r>
              <a:rPr lang="en-US" dirty="0" smtClean="0"/>
              <a:t>Vijayalakshmi Anand</a:t>
            </a:r>
          </a:p>
        </p:txBody>
      </p:sp>
    </p:spTree>
    <p:extLst>
      <p:ext uri="{BB962C8B-B14F-4D97-AF65-F5344CB8AC3E}">
        <p14:creationId xmlns=""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4664"/>
            <a:ext cx="6336704" cy="850106"/>
          </a:xfrm>
        </p:spPr>
        <p:txBody>
          <a:bodyPr>
            <a:normAutofit/>
          </a:bodyPr>
          <a:lstStyle/>
          <a:p>
            <a:r>
              <a:rPr lang="en-IN" dirty="0" smtClean="0"/>
              <a:t>Session#10 </a:t>
            </a:r>
            <a:endParaRPr lang="en-IN" dirty="0"/>
          </a:p>
        </p:txBody>
      </p:sp>
      <p:sp>
        <p:nvSpPr>
          <p:cNvPr id="3" name="Content Placeholder 2"/>
          <p:cNvSpPr>
            <a:spLocks noGrp="1"/>
          </p:cNvSpPr>
          <p:nvPr>
            <p:ph idx="1"/>
          </p:nvPr>
        </p:nvSpPr>
        <p:spPr>
          <a:xfrm>
            <a:off x="457200" y="1484784"/>
            <a:ext cx="8229600" cy="5040560"/>
          </a:xfrm>
        </p:spPr>
        <p:txBody>
          <a:bodyPr>
            <a:normAutofit/>
          </a:bodyPr>
          <a:lstStyle/>
          <a:p>
            <a:pPr>
              <a:buFont typeface="Wingdings" pitchFamily="2" charset="2"/>
              <a:buChar char="q"/>
            </a:pPr>
            <a:r>
              <a:rPr lang="en-IN" dirty="0" smtClean="0"/>
              <a:t>Key Management</a:t>
            </a:r>
          </a:p>
          <a:p>
            <a:pPr lvl="1">
              <a:buFont typeface="Wingdings" pitchFamily="2" charset="2"/>
              <a:buChar char="q"/>
            </a:pPr>
            <a:r>
              <a:rPr lang="en-IN" dirty="0" smtClean="0"/>
              <a:t>Symmetric key distribution</a:t>
            </a:r>
          </a:p>
          <a:p>
            <a:pPr lvl="1">
              <a:buFont typeface="Wingdings" pitchFamily="2" charset="2"/>
              <a:buChar char="q"/>
            </a:pPr>
            <a:r>
              <a:rPr lang="en-IN" dirty="0" smtClean="0"/>
              <a:t>Asymmetric key distribution (Public key)</a:t>
            </a:r>
          </a:p>
          <a:p>
            <a:pPr lvl="2">
              <a:buFont typeface="Wingdings" pitchFamily="2" charset="2"/>
              <a:buChar char="q"/>
            </a:pPr>
            <a:r>
              <a:rPr lang="en-IN" dirty="0" smtClean="0"/>
              <a:t>Public announcement</a:t>
            </a:r>
          </a:p>
          <a:p>
            <a:pPr lvl="2">
              <a:buFont typeface="Wingdings" pitchFamily="2" charset="2"/>
              <a:buChar char="q"/>
            </a:pPr>
            <a:r>
              <a:rPr lang="en-IN" dirty="0" smtClean="0"/>
              <a:t>Public available directory </a:t>
            </a:r>
          </a:p>
          <a:p>
            <a:pPr lvl="2">
              <a:buFont typeface="Wingdings" pitchFamily="2" charset="2"/>
              <a:buChar char="q"/>
            </a:pPr>
            <a:r>
              <a:rPr lang="en-IN" dirty="0" smtClean="0"/>
              <a:t>Public key authority</a:t>
            </a:r>
          </a:p>
          <a:p>
            <a:pPr lvl="2">
              <a:buFont typeface="Wingdings" pitchFamily="2" charset="2"/>
              <a:buChar char="q"/>
            </a:pPr>
            <a:r>
              <a:rPr lang="en-IN" dirty="0" smtClean="0"/>
              <a:t>Public key certificates</a:t>
            </a:r>
          </a:p>
          <a:p>
            <a:pPr>
              <a:buFont typeface="Wingdings" pitchFamily="2" charset="2"/>
              <a:buChar char="q"/>
            </a:pPr>
            <a:r>
              <a:rPr lang="en-IN" dirty="0" smtClean="0"/>
              <a:t>Kerberos</a:t>
            </a:r>
          </a:p>
          <a:p>
            <a:pPr>
              <a:buFont typeface="Wingdings" pitchFamily="2" charset="2"/>
              <a:buChar char="q"/>
            </a:pPr>
            <a:r>
              <a:rPr lang="en-IN" dirty="0" smtClean="0"/>
              <a:t>Digital Signature</a:t>
            </a:r>
            <a:endParaRPr lang="en-IN" dirty="0"/>
          </a:p>
          <a:p>
            <a:pPr>
              <a:buFont typeface="Wingdings" pitchFamily="2" charset="2"/>
              <a:buChar char="q"/>
            </a:pPr>
            <a:endParaRPr lang="en-IN" dirty="0" smtClean="0"/>
          </a:p>
          <a:p>
            <a:pPr>
              <a:buFont typeface="Wingdings" pitchFamily="2" charset="2"/>
              <a:buChar char="q"/>
            </a:pPr>
            <a:endParaRPr lang="en-IN" dirty="0"/>
          </a:p>
          <a:p>
            <a:pPr>
              <a:buFont typeface="Wingdings" pitchFamily="2" charset="2"/>
              <a:buChar char="q"/>
            </a:pPr>
            <a:endParaRPr lang="en-IN" dirty="0" smtClean="0"/>
          </a:p>
          <a:p>
            <a:pPr>
              <a:buFont typeface="Wingdings" pitchFamily="2" charset="2"/>
              <a:buChar char="q"/>
            </a:pPr>
            <a:endParaRPr lang="en-IN" dirty="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en-IN" dirty="0"/>
          </a:p>
          <a:p>
            <a:pPr>
              <a:buFont typeface="Wingdings" pitchFamily="2" charset="2"/>
              <a:buChar char="q"/>
            </a:pPr>
            <a:endParaRPr lang="en-IN" dirty="0" smtClean="0"/>
          </a:p>
          <a:p>
            <a:pPr>
              <a:buFont typeface="Wingdings" pitchFamily="2" charset="2"/>
              <a:buChar char="q"/>
            </a:pPr>
            <a:endParaRPr lang="en-IN" dirty="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de-DE" dirty="0"/>
          </a:p>
          <a:p>
            <a:pPr>
              <a:buFont typeface="Wingdings" pitchFamily="2" charset="2"/>
              <a:buChar char="q"/>
            </a:pPr>
            <a:endParaRPr lang="en-IN" dirty="0" smtClean="0"/>
          </a:p>
        </p:txBody>
      </p:sp>
    </p:spTree>
    <p:extLst>
      <p:ext uri="{BB962C8B-B14F-4D97-AF65-F5344CB8AC3E}">
        <p14:creationId xmlns="" xmlns:p14="http://schemas.microsoft.com/office/powerpoint/2010/main" val="35567563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Key management</a:t>
            </a:r>
            <a:endParaRPr lang="en-IN" dirty="0"/>
          </a:p>
        </p:txBody>
      </p:sp>
      <p:graphicFrame>
        <p:nvGraphicFramePr>
          <p:cNvPr id="7" name="Content Placeholder 6"/>
          <p:cNvGraphicFramePr>
            <a:graphicFrameLocks noGrp="1"/>
          </p:cNvGraphicFramePr>
          <p:nvPr>
            <p:ph idx="1"/>
            <p:extLst>
              <p:ext uri="{D42A27DB-BD31-4B8C-83A1-F6EECF244321}">
                <p14:modId xmlns="" xmlns:p14="http://schemas.microsoft.com/office/powerpoint/2010/main" val="3043847225"/>
              </p:ext>
            </p:extLst>
          </p:nvPr>
        </p:nvGraphicFramePr>
        <p:xfrm>
          <a:off x="457200" y="1600200"/>
          <a:ext cx="8229600" cy="4637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31081509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28800"/>
            <a:ext cx="8229600" cy="5040559"/>
          </a:xfrm>
        </p:spPr>
        <p:txBody>
          <a:bodyPr vert="horz" lIns="91440" tIns="45720" rIns="91440" bIns="45720" rtlCol="0">
            <a:normAutofit/>
          </a:bodyPr>
          <a:lstStyle/>
          <a:p>
            <a:pPr>
              <a:buClrTx/>
              <a:buChar char="•"/>
            </a:pPr>
            <a:r>
              <a:rPr lang="en-US" sz="3200" dirty="0" smtClean="0">
                <a:cs typeface="+mn-cs"/>
              </a:rPr>
              <a:t>Symmetric </a:t>
            </a:r>
            <a:r>
              <a:rPr lang="en-US" sz="3200" dirty="0">
                <a:cs typeface="+mn-cs"/>
              </a:rPr>
              <a:t>schemes require both parties to share a common secret key</a:t>
            </a:r>
          </a:p>
          <a:p>
            <a:pPr>
              <a:buClrTx/>
              <a:buChar char="•"/>
            </a:pPr>
            <a:r>
              <a:rPr lang="en-AU" sz="3200" dirty="0" smtClean="0">
                <a:cs typeface="+mn-cs"/>
              </a:rPr>
              <a:t>Issue </a:t>
            </a:r>
            <a:r>
              <a:rPr lang="en-AU" sz="3200" dirty="0">
                <a:cs typeface="+mn-cs"/>
              </a:rPr>
              <a:t>is how to securely distribute this key</a:t>
            </a:r>
          </a:p>
          <a:p>
            <a:pPr>
              <a:buClrTx/>
              <a:buChar char="•"/>
            </a:pPr>
            <a:r>
              <a:rPr lang="en-AU" sz="3200" dirty="0" smtClean="0">
                <a:cs typeface="+mn-cs"/>
              </a:rPr>
              <a:t>While </a:t>
            </a:r>
            <a:r>
              <a:rPr lang="en-AU" sz="3200" dirty="0">
                <a:cs typeface="+mn-cs"/>
              </a:rPr>
              <a:t>protecting it from others</a:t>
            </a:r>
          </a:p>
          <a:p>
            <a:pPr>
              <a:buClrTx/>
              <a:buChar char="•"/>
            </a:pPr>
            <a:r>
              <a:rPr lang="en-AU" sz="3200" dirty="0" smtClean="0">
                <a:cs typeface="+mn-cs"/>
              </a:rPr>
              <a:t>Frequent </a:t>
            </a:r>
            <a:r>
              <a:rPr lang="en-AU" sz="3200" dirty="0">
                <a:cs typeface="+mn-cs"/>
              </a:rPr>
              <a:t>key changes can be desirable</a:t>
            </a:r>
          </a:p>
          <a:p>
            <a:pPr>
              <a:buClrTx/>
              <a:buChar char="•"/>
            </a:pPr>
            <a:r>
              <a:rPr lang="en-AU" sz="3200" dirty="0" smtClean="0">
                <a:cs typeface="+mn-cs"/>
              </a:rPr>
              <a:t>Often </a:t>
            </a:r>
            <a:r>
              <a:rPr lang="en-AU" sz="3200" dirty="0">
                <a:cs typeface="+mn-cs"/>
              </a:rPr>
              <a:t>secure system failure due to a break in the key distribution scheme </a:t>
            </a:r>
          </a:p>
        </p:txBody>
      </p:sp>
      <p:sp>
        <p:nvSpPr>
          <p:cNvPr id="3" name="Content Placeholder 2"/>
          <p:cNvSpPr>
            <a:spLocks noGrp="1"/>
          </p:cNvSpPr>
          <p:nvPr>
            <p:ph sz="quarter" idx="10"/>
          </p:nvPr>
        </p:nvSpPr>
        <p:spPr>
          <a:xfrm>
            <a:off x="304800" y="260648"/>
            <a:ext cx="6324600" cy="900336"/>
          </a:xfrm>
        </p:spPr>
        <p:txBody>
          <a:bodyPr/>
          <a:lstStyle/>
          <a:p>
            <a:r>
              <a:rPr lang="en-IN" dirty="0" smtClean="0"/>
              <a:t>Symmetric Key  Distribution</a:t>
            </a:r>
          </a:p>
        </p:txBody>
      </p:sp>
    </p:spTree>
    <p:extLst>
      <p:ext uri="{BB962C8B-B14F-4D97-AF65-F5344CB8AC3E}">
        <p14:creationId xmlns="" xmlns:p14="http://schemas.microsoft.com/office/powerpoint/2010/main" val="47342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lrTx/>
              <a:buChar char="•"/>
            </a:pPr>
            <a:r>
              <a:rPr lang="en-US" sz="3200" dirty="0" smtClean="0">
                <a:cs typeface="+mn-cs"/>
              </a:rPr>
              <a:t>Given </a:t>
            </a:r>
            <a:r>
              <a:rPr lang="en-US" sz="3200" dirty="0">
                <a:cs typeface="+mn-cs"/>
              </a:rPr>
              <a:t>parties A and B have various key distribution alternatives:</a:t>
            </a:r>
          </a:p>
          <a:p>
            <a:pPr lvl="1"/>
            <a:r>
              <a:rPr lang="en-US" dirty="0"/>
              <a:t>A can select key and physically deliver to B</a:t>
            </a:r>
          </a:p>
          <a:p>
            <a:pPr lvl="1"/>
            <a:r>
              <a:rPr lang="en-US" dirty="0"/>
              <a:t>third party can select &amp; deliver key to A &amp; B</a:t>
            </a:r>
          </a:p>
          <a:p>
            <a:pPr lvl="1"/>
            <a:r>
              <a:rPr lang="en-US" dirty="0"/>
              <a:t>if A &amp; B have communicated previously can use previous key to encrypt a new key</a:t>
            </a:r>
          </a:p>
          <a:p>
            <a:pPr lvl="1"/>
            <a:r>
              <a:rPr lang="en-US" dirty="0" smtClean="0"/>
              <a:t>If </a:t>
            </a:r>
            <a:r>
              <a:rPr lang="en-US" dirty="0"/>
              <a:t>A &amp; B have secure communications with a third party C, C can relay key between A &amp; B</a:t>
            </a:r>
          </a:p>
          <a:p>
            <a:pPr>
              <a:buClrTx/>
              <a:buChar char="•"/>
            </a:pPr>
            <a:endParaRPr lang="en-IN" sz="3200" dirty="0">
              <a:cs typeface="+mn-cs"/>
            </a:endParaRPr>
          </a:p>
        </p:txBody>
      </p:sp>
      <p:sp>
        <p:nvSpPr>
          <p:cNvPr id="3" name="Content Placeholder 2"/>
          <p:cNvSpPr>
            <a:spLocks noGrp="1"/>
          </p:cNvSpPr>
          <p:nvPr>
            <p:ph sz="quarter" idx="10"/>
          </p:nvPr>
        </p:nvSpPr>
        <p:spPr>
          <a:xfrm>
            <a:off x="304800" y="260648"/>
            <a:ext cx="6324600" cy="972344"/>
          </a:xfrm>
        </p:spPr>
        <p:txBody>
          <a:bodyPr vert="horz" lIns="91440" tIns="45720" rIns="91440" bIns="45720" rtlCol="0" anchor="ctr" anchorCtr="0">
            <a:normAutofit/>
          </a:bodyPr>
          <a:lstStyle/>
          <a:p>
            <a:r>
              <a:rPr lang="en-IN" dirty="0"/>
              <a:t>Symmetric Key  Distribution Contd..</a:t>
            </a:r>
          </a:p>
        </p:txBody>
      </p:sp>
    </p:spTree>
    <p:extLst>
      <p:ext uri="{BB962C8B-B14F-4D97-AF65-F5344CB8AC3E}">
        <p14:creationId xmlns="" xmlns:p14="http://schemas.microsoft.com/office/powerpoint/2010/main" val="29829147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251520" y="230803"/>
            <a:ext cx="6324600" cy="893941"/>
          </a:xfrm>
        </p:spPr>
        <p:txBody>
          <a:bodyPr vert="horz" lIns="91440" tIns="45720" rIns="91440" bIns="45720" rtlCol="0" anchor="ctr" anchorCtr="0">
            <a:normAutofit fontScale="77500" lnSpcReduction="20000"/>
          </a:bodyPr>
          <a:lstStyle/>
          <a:p>
            <a:r>
              <a:rPr lang="en-IN" dirty="0"/>
              <a:t>Key Distribution Scenario </a:t>
            </a:r>
            <a:r>
              <a:rPr lang="en-IN" dirty="0" smtClean="0"/>
              <a:t>With </a:t>
            </a:r>
            <a:r>
              <a:rPr lang="en-IN" dirty="0"/>
              <a:t>KDC in the loop</a:t>
            </a:r>
          </a:p>
        </p:txBody>
      </p:sp>
      <p:sp>
        <p:nvSpPr>
          <p:cNvPr id="4" name="Slide Number Placeholder 3"/>
          <p:cNvSpPr>
            <a:spLocks noGrp="1"/>
          </p:cNvSpPr>
          <p:nvPr>
            <p:ph type="sldNum" sz="quarter" idx="12"/>
          </p:nvPr>
        </p:nvSpPr>
        <p:spPr/>
        <p:txBody>
          <a:bodyPr/>
          <a:lstStyle/>
          <a:p>
            <a:fld id="{04252BD6-4F37-4D57-B6B7-636C2217F7DD}" type="slidenum">
              <a:rPr lang="en-US" smtClean="0"/>
              <a:pPr/>
              <a:t>6</a:t>
            </a:fld>
            <a:endParaRPr lang="en-US" dirty="0"/>
          </a:p>
        </p:txBody>
      </p:sp>
      <p:grpSp>
        <p:nvGrpSpPr>
          <p:cNvPr id="2" name="Group 35"/>
          <p:cNvGrpSpPr/>
          <p:nvPr/>
        </p:nvGrpSpPr>
        <p:grpSpPr>
          <a:xfrm>
            <a:off x="3851920" y="1475492"/>
            <a:ext cx="5250270" cy="5049852"/>
            <a:chOff x="3851920" y="1340768"/>
            <a:chExt cx="5250270" cy="5184576"/>
          </a:xfrm>
        </p:grpSpPr>
        <p:grpSp>
          <p:nvGrpSpPr>
            <p:cNvPr id="11" name="Group 32"/>
            <p:cNvGrpSpPr/>
            <p:nvPr/>
          </p:nvGrpSpPr>
          <p:grpSpPr>
            <a:xfrm>
              <a:off x="3851920" y="1340768"/>
              <a:ext cx="2121079" cy="646331"/>
              <a:chOff x="3851920" y="1340768"/>
              <a:chExt cx="2121079" cy="646331"/>
            </a:xfrm>
          </p:grpSpPr>
          <p:pic>
            <p:nvPicPr>
              <p:cNvPr id="5" name="Picture 2" descr="http://cliparts.co/cliparts/6ir/op7/6irop7RrT.jpg"/>
              <p:cNvPicPr>
                <a:picLocks noChangeAspect="1" noChangeArrowheads="1"/>
              </p:cNvPicPr>
              <p:nvPr/>
            </p:nvPicPr>
            <p:blipFill>
              <a:blip r:embed="rId2" cstate="print"/>
              <a:srcRect/>
              <a:stretch>
                <a:fillRect/>
              </a:stretch>
            </p:blipFill>
            <p:spPr bwMode="auto">
              <a:xfrm>
                <a:off x="3851920" y="1340768"/>
                <a:ext cx="720080" cy="635365"/>
              </a:xfrm>
              <a:prstGeom prst="rect">
                <a:avLst/>
              </a:prstGeom>
              <a:noFill/>
            </p:spPr>
          </p:pic>
          <p:pic>
            <p:nvPicPr>
              <p:cNvPr id="6" name="Picture 16" descr="http://www.clipartbest.com/cliparts/acq/z4k/acqz4kBxi.jpeg"/>
              <p:cNvPicPr>
                <a:picLocks noChangeAspect="1" noChangeArrowheads="1"/>
              </p:cNvPicPr>
              <p:nvPr/>
            </p:nvPicPr>
            <p:blipFill>
              <a:blip r:embed="rId3" cstate="print"/>
              <a:srcRect/>
              <a:stretch>
                <a:fillRect/>
              </a:stretch>
            </p:blipFill>
            <p:spPr bwMode="auto">
              <a:xfrm>
                <a:off x="4592632" y="1412776"/>
                <a:ext cx="516271" cy="490084"/>
              </a:xfrm>
              <a:prstGeom prst="rect">
                <a:avLst/>
              </a:prstGeom>
              <a:noFill/>
            </p:spPr>
          </p:pic>
          <p:sp>
            <p:nvSpPr>
              <p:cNvPr id="7" name="TextBox 6"/>
              <p:cNvSpPr txBox="1"/>
              <p:nvPr/>
            </p:nvSpPr>
            <p:spPr>
              <a:xfrm>
                <a:off x="5000799" y="1340768"/>
                <a:ext cx="972200" cy="646331"/>
              </a:xfrm>
              <a:prstGeom prst="rect">
                <a:avLst/>
              </a:prstGeom>
              <a:noFill/>
            </p:spPr>
            <p:txBody>
              <a:bodyPr wrap="square" rtlCol="0">
                <a:spAutoFit/>
              </a:bodyPr>
              <a:lstStyle/>
              <a:p>
                <a:r>
                  <a:rPr lang="en-IN" b="1" dirty="0" smtClean="0"/>
                  <a:t>Initiator</a:t>
                </a:r>
              </a:p>
              <a:p>
                <a:pPr algn="ctr"/>
                <a:r>
                  <a:rPr lang="en-IN" b="1" dirty="0" smtClean="0"/>
                  <a:t>A</a:t>
                </a:r>
                <a:endParaRPr lang="en-IN" b="1" dirty="0"/>
              </a:p>
            </p:txBody>
          </p:sp>
        </p:grpSp>
        <p:grpSp>
          <p:nvGrpSpPr>
            <p:cNvPr id="16" name="Group 34"/>
            <p:cNvGrpSpPr/>
            <p:nvPr/>
          </p:nvGrpSpPr>
          <p:grpSpPr>
            <a:xfrm>
              <a:off x="7746721" y="1340768"/>
              <a:ext cx="1355469" cy="635365"/>
              <a:chOff x="7746721" y="1340768"/>
              <a:chExt cx="1355469" cy="635365"/>
            </a:xfrm>
          </p:grpSpPr>
          <p:pic>
            <p:nvPicPr>
              <p:cNvPr id="8" name="Picture 18" descr="http://vector.me/files/images/1/6/162062/female_user_icon_clip_art.jpg"/>
              <p:cNvPicPr>
                <a:picLocks noChangeAspect="1" noChangeArrowheads="1"/>
              </p:cNvPicPr>
              <p:nvPr/>
            </p:nvPicPr>
            <p:blipFill>
              <a:blip r:embed="rId4" cstate="print"/>
              <a:srcRect/>
              <a:stretch>
                <a:fillRect/>
              </a:stretch>
            </p:blipFill>
            <p:spPr bwMode="auto">
              <a:xfrm>
                <a:off x="8637295" y="1412776"/>
                <a:ext cx="464895" cy="466081"/>
              </a:xfrm>
              <a:prstGeom prst="rect">
                <a:avLst/>
              </a:prstGeom>
              <a:noFill/>
            </p:spPr>
          </p:pic>
          <p:pic>
            <p:nvPicPr>
              <p:cNvPr id="9" name="Picture 2" descr="http://cliparts.co/cliparts/6ir/op7/6irop7RrT.jpg"/>
              <p:cNvPicPr>
                <a:picLocks noChangeAspect="1" noChangeArrowheads="1"/>
              </p:cNvPicPr>
              <p:nvPr/>
            </p:nvPicPr>
            <p:blipFill>
              <a:blip r:embed="rId2" cstate="print"/>
              <a:srcRect/>
              <a:stretch>
                <a:fillRect/>
              </a:stretch>
            </p:blipFill>
            <p:spPr bwMode="auto">
              <a:xfrm>
                <a:off x="7917215" y="1340768"/>
                <a:ext cx="720080" cy="635365"/>
              </a:xfrm>
              <a:prstGeom prst="rect">
                <a:avLst/>
              </a:prstGeom>
              <a:noFill/>
            </p:spPr>
          </p:pic>
          <p:sp>
            <p:nvSpPr>
              <p:cNvPr id="10" name="TextBox 9"/>
              <p:cNvSpPr txBox="1"/>
              <p:nvPr/>
            </p:nvSpPr>
            <p:spPr>
              <a:xfrm>
                <a:off x="7746721" y="1475492"/>
                <a:ext cx="314510" cy="369332"/>
              </a:xfrm>
              <a:prstGeom prst="rect">
                <a:avLst/>
              </a:prstGeom>
              <a:noFill/>
            </p:spPr>
            <p:txBody>
              <a:bodyPr wrap="none" rtlCol="0">
                <a:spAutoFit/>
              </a:bodyPr>
              <a:lstStyle/>
              <a:p>
                <a:r>
                  <a:rPr lang="en-IN" b="1" dirty="0" smtClean="0"/>
                  <a:t>B</a:t>
                </a:r>
                <a:endParaRPr lang="en-IN" b="1" dirty="0"/>
              </a:p>
            </p:txBody>
          </p:sp>
        </p:grpSp>
        <p:cxnSp>
          <p:nvCxnSpPr>
            <p:cNvPr id="12" name="Straight Connector 11"/>
            <p:cNvCxnSpPr/>
            <p:nvPr/>
          </p:nvCxnSpPr>
          <p:spPr>
            <a:xfrm>
              <a:off x="4211960" y="1988840"/>
              <a:ext cx="0" cy="4536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349263" y="1916832"/>
              <a:ext cx="39161" cy="46085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477055" y="1988840"/>
              <a:ext cx="0" cy="4536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33"/>
            <p:cNvGrpSpPr/>
            <p:nvPr/>
          </p:nvGrpSpPr>
          <p:grpSpPr>
            <a:xfrm>
              <a:off x="6261031" y="1340768"/>
              <a:ext cx="1191289" cy="643137"/>
              <a:chOff x="6261031" y="1340768"/>
              <a:chExt cx="1191289" cy="643137"/>
            </a:xfrm>
          </p:grpSpPr>
          <p:pic>
            <p:nvPicPr>
              <p:cNvPr id="1026" name="Picture 2" descr="https://cdn0.iconfinder.com/data/icons/Hosting_Icons/128/data-center-px-png.png"/>
              <p:cNvPicPr>
                <a:picLocks noChangeAspect="1" noChangeArrowheads="1"/>
              </p:cNvPicPr>
              <p:nvPr/>
            </p:nvPicPr>
            <p:blipFill>
              <a:blip r:embed="rId5" cstate="print"/>
              <a:srcRect/>
              <a:stretch>
                <a:fillRect/>
              </a:stretch>
            </p:blipFill>
            <p:spPr bwMode="auto">
              <a:xfrm>
                <a:off x="6261031" y="1340768"/>
                <a:ext cx="643136" cy="643137"/>
              </a:xfrm>
              <a:prstGeom prst="rect">
                <a:avLst/>
              </a:prstGeom>
              <a:noFill/>
            </p:spPr>
          </p:pic>
          <p:sp>
            <p:nvSpPr>
              <p:cNvPr id="15" name="TextBox 14"/>
              <p:cNvSpPr txBox="1"/>
              <p:nvPr/>
            </p:nvSpPr>
            <p:spPr>
              <a:xfrm>
                <a:off x="6876256" y="1412776"/>
                <a:ext cx="576064" cy="369332"/>
              </a:xfrm>
              <a:prstGeom prst="rect">
                <a:avLst/>
              </a:prstGeom>
              <a:noFill/>
            </p:spPr>
            <p:txBody>
              <a:bodyPr wrap="square" rtlCol="0">
                <a:spAutoFit/>
              </a:bodyPr>
              <a:lstStyle/>
              <a:p>
                <a:r>
                  <a:rPr lang="en-IN" b="1" dirty="0" smtClean="0"/>
                  <a:t>KDC</a:t>
                </a:r>
                <a:endParaRPr lang="en-IN" b="1" dirty="0"/>
              </a:p>
            </p:txBody>
          </p:sp>
        </p:grpSp>
      </p:grpSp>
      <p:grpSp>
        <p:nvGrpSpPr>
          <p:cNvPr id="18" name="Group 36"/>
          <p:cNvGrpSpPr/>
          <p:nvPr/>
        </p:nvGrpSpPr>
        <p:grpSpPr>
          <a:xfrm>
            <a:off x="4244807" y="2060848"/>
            <a:ext cx="2232248" cy="432048"/>
            <a:chOff x="4244807" y="2060848"/>
            <a:chExt cx="2232248" cy="432048"/>
          </a:xfrm>
        </p:grpSpPr>
        <p:cxnSp>
          <p:nvCxnSpPr>
            <p:cNvPr id="20" name="Straight Arrow Connector 19"/>
            <p:cNvCxnSpPr/>
            <p:nvPr/>
          </p:nvCxnSpPr>
          <p:spPr>
            <a:xfrm>
              <a:off x="4244807" y="2420888"/>
              <a:ext cx="223224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604847"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0000"/>
                  </a:solidFill>
                </a:rPr>
                <a:t>ID</a:t>
              </a:r>
              <a:r>
                <a:rPr lang="en-IN" sz="1400" b="1" baseline="-25000" dirty="0" smtClean="0">
                  <a:solidFill>
                    <a:srgbClr val="FF0000"/>
                  </a:solidFill>
                </a:rPr>
                <a:t>A</a:t>
              </a:r>
              <a:r>
                <a:rPr lang="en-IN" sz="1400" b="1" dirty="0" smtClean="0">
                  <a:solidFill>
                    <a:srgbClr val="FF0000"/>
                  </a:solidFill>
                </a:rPr>
                <a:t> || ID</a:t>
              </a:r>
              <a:r>
                <a:rPr lang="en-IN" sz="1400" b="1" baseline="-25000" dirty="0" smtClean="0">
                  <a:solidFill>
                    <a:srgbClr val="FF0000"/>
                  </a:solidFill>
                </a:rPr>
                <a:t>B</a:t>
              </a:r>
              <a:r>
                <a:rPr lang="en-IN" sz="1400" b="1" dirty="0" smtClean="0">
                  <a:solidFill>
                    <a:srgbClr val="FF0000"/>
                  </a:solidFill>
                </a:rPr>
                <a:t> || N</a:t>
              </a:r>
              <a:r>
                <a:rPr lang="en-IN" sz="1400" b="1" baseline="-25000" dirty="0" smtClean="0">
                  <a:solidFill>
                    <a:srgbClr val="FF0000"/>
                  </a:solidFill>
                </a:rPr>
                <a:t>A</a:t>
              </a:r>
              <a:endParaRPr lang="en-IN" sz="1400" b="1" baseline="-25000" dirty="0">
                <a:solidFill>
                  <a:srgbClr val="FF0000"/>
                </a:solidFill>
              </a:endParaRPr>
            </a:p>
          </p:txBody>
        </p:sp>
      </p:grpSp>
      <p:sp>
        <p:nvSpPr>
          <p:cNvPr id="22" name="TextBox 21"/>
          <p:cNvSpPr txBox="1"/>
          <p:nvPr/>
        </p:nvSpPr>
        <p:spPr>
          <a:xfrm>
            <a:off x="135831" y="1475492"/>
            <a:ext cx="3851920" cy="5417763"/>
          </a:xfrm>
          <a:prstGeom prst="rect">
            <a:avLst/>
          </a:prstGeom>
        </p:spPr>
        <p:txBody>
          <a:bodyPr vert="horz" lIns="91440" tIns="45720" rIns="91440" bIns="45720" rtlCol="0">
            <a:normAutofit fontScale="47500" lnSpcReduction="20000"/>
          </a:bodyPr>
          <a:lstStyle>
            <a:lvl1pPr marL="342900" marR="0" indent="-342900" fontAlgn="auto">
              <a:lnSpc>
                <a:spcPct val="100000"/>
              </a:lnSpc>
              <a:spcBef>
                <a:spcPct val="20000"/>
              </a:spcBef>
              <a:spcAft>
                <a:spcPts val="0"/>
              </a:spcAft>
              <a:buClrTx/>
              <a:buSzTx/>
              <a:buFont typeface="Arial" pitchFamily="34" charset="0"/>
              <a:buChar char="•"/>
              <a:tabLst/>
              <a:defRPr sz="3200"/>
            </a:lvl1pPr>
            <a:lvl2pPr marL="742950" marR="0" indent="-285750" fontAlgn="auto">
              <a:lnSpc>
                <a:spcPct val="100000"/>
              </a:lnSpc>
              <a:spcBef>
                <a:spcPct val="20000"/>
              </a:spcBef>
              <a:spcAft>
                <a:spcPts val="0"/>
              </a:spcAft>
              <a:buClrTx/>
              <a:buSzTx/>
              <a:buFont typeface="Arial" pitchFamily="34" charset="0"/>
              <a:buChar char="–"/>
              <a:tabLst/>
              <a:defRPr sz="2800">
                <a:cs typeface="Arial" pitchFamily="34" charset="0"/>
              </a:defRPr>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a:t>Users A and B have master keys KA and KB respectively shared with only KDC.</a:t>
            </a:r>
          </a:p>
          <a:p>
            <a:r>
              <a:rPr lang="en-IN" dirty="0"/>
              <a:t>User A wants to establish the connection with B and contacts KDC with its own ID, B’s ID and its nonce NA.</a:t>
            </a:r>
          </a:p>
          <a:p>
            <a:r>
              <a:rPr lang="en-IN" dirty="0"/>
              <a:t>KDC responds with a message having two data items:</a:t>
            </a:r>
          </a:p>
          <a:p>
            <a:pPr lvl="1"/>
            <a:r>
              <a:rPr lang="en-IN" dirty="0"/>
              <a:t>One time session key KS and the original A’s message encrypted with A’s master key (KA) known only to A and KDC.</a:t>
            </a:r>
          </a:p>
          <a:p>
            <a:pPr lvl="1"/>
            <a:r>
              <a:rPr lang="en-IN" dirty="0"/>
              <a:t>Same session key KS and A’s ID encrypted with B’s master key (KB) known only to B and KDC.</a:t>
            </a:r>
          </a:p>
          <a:p>
            <a:r>
              <a:rPr lang="en-IN" dirty="0"/>
              <a:t>A stores the session key KS and forwards the second data item to B. Session Key KS is delivered to both the parties.</a:t>
            </a:r>
          </a:p>
          <a:p>
            <a:r>
              <a:rPr lang="en-IN" dirty="0"/>
              <a:t>Using the new session key, B sends its encrypted nonce NB to A.</a:t>
            </a:r>
          </a:p>
          <a:p>
            <a:r>
              <a:rPr lang="en-IN" dirty="0"/>
              <a:t>After receiving NB, A performs some function on NB and sends it to B encrypted with KS.</a:t>
            </a:r>
          </a:p>
        </p:txBody>
      </p:sp>
      <p:grpSp>
        <p:nvGrpSpPr>
          <p:cNvPr id="19" name="Group 37"/>
          <p:cNvGrpSpPr/>
          <p:nvPr/>
        </p:nvGrpSpPr>
        <p:grpSpPr>
          <a:xfrm>
            <a:off x="4172799" y="2924944"/>
            <a:ext cx="2775465" cy="432048"/>
            <a:chOff x="4172799" y="2852936"/>
            <a:chExt cx="2775465" cy="432048"/>
          </a:xfrm>
        </p:grpSpPr>
        <p:cxnSp>
          <p:nvCxnSpPr>
            <p:cNvPr id="23" name="Straight Arrow Connector 22"/>
            <p:cNvCxnSpPr/>
            <p:nvPr/>
          </p:nvCxnSpPr>
          <p:spPr>
            <a:xfrm>
              <a:off x="4244807" y="3284984"/>
              <a:ext cx="2232248" cy="0"/>
            </a:xfrm>
            <a:prstGeom prst="straightConnector1">
              <a:avLst/>
            </a:prstGeom>
            <a:ln w="254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172799" y="2852936"/>
              <a:ext cx="2775465"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r>
                <a:rPr lang="en-IN" sz="1400" b="1" dirty="0" smtClean="0">
                  <a:solidFill>
                    <a:srgbClr val="0070C0"/>
                  </a:solidFill>
                </a:rPr>
                <a:t>E (K</a:t>
              </a:r>
              <a:r>
                <a:rPr lang="en-IN" sz="1400" b="1" baseline="-25000" dirty="0" smtClean="0">
                  <a:solidFill>
                    <a:srgbClr val="0070C0"/>
                  </a:solidFill>
                </a:rPr>
                <a:t>A</a:t>
              </a:r>
              <a:r>
                <a:rPr lang="en-IN" sz="1400" b="1" dirty="0" smtClean="0">
                  <a:solidFill>
                    <a:srgbClr val="0070C0"/>
                  </a:solidFill>
                </a:rPr>
                <a:t>, [K</a:t>
              </a:r>
              <a:r>
                <a:rPr lang="en-IN" sz="1400" b="1" baseline="-25000" dirty="0" smtClean="0">
                  <a:solidFill>
                    <a:srgbClr val="0070C0"/>
                  </a:solidFill>
                </a:rPr>
                <a:t>S</a:t>
              </a:r>
              <a:r>
                <a:rPr lang="en-IN" sz="1400" b="1" dirty="0" smtClean="0">
                  <a:solidFill>
                    <a:srgbClr val="0070C0"/>
                  </a:solidFill>
                </a:rPr>
                <a:t> || ID</a:t>
              </a:r>
              <a:r>
                <a:rPr lang="en-IN" sz="1400" b="1" baseline="-25000" dirty="0" smtClean="0">
                  <a:solidFill>
                    <a:srgbClr val="0070C0"/>
                  </a:solidFill>
                </a:rPr>
                <a:t>A</a:t>
              </a:r>
              <a:r>
                <a:rPr lang="en-IN" sz="1400" b="1" dirty="0" smtClean="0">
                  <a:solidFill>
                    <a:srgbClr val="0070C0"/>
                  </a:solidFill>
                </a:rPr>
                <a:t> || ID</a:t>
              </a:r>
              <a:r>
                <a:rPr lang="en-IN" sz="1400" b="1" baseline="-25000" dirty="0" smtClean="0">
                  <a:solidFill>
                    <a:srgbClr val="0070C0"/>
                  </a:solidFill>
                </a:rPr>
                <a:t>B</a:t>
              </a:r>
              <a:r>
                <a:rPr lang="en-IN" sz="1400" b="1" dirty="0" smtClean="0">
                  <a:solidFill>
                    <a:srgbClr val="0070C0"/>
                  </a:solidFill>
                </a:rPr>
                <a:t> || N</a:t>
              </a:r>
              <a:r>
                <a:rPr lang="en-IN" sz="1400" b="1" baseline="-25000" dirty="0" smtClean="0">
                  <a:solidFill>
                    <a:srgbClr val="0070C0"/>
                  </a:solidFill>
                </a:rPr>
                <a:t>A</a:t>
              </a:r>
              <a:r>
                <a:rPr lang="en-IN" sz="1400" b="1" dirty="0" smtClean="0">
                  <a:solidFill>
                    <a:srgbClr val="0070C0"/>
                  </a:solidFill>
                </a:rPr>
                <a:t>])</a:t>
              </a:r>
            </a:p>
            <a:p>
              <a:pPr marL="400050" indent="-400050"/>
              <a:r>
                <a:rPr lang="en-IN" sz="1400" b="1" dirty="0" smtClean="0">
                  <a:solidFill>
                    <a:srgbClr val="0070C0"/>
                  </a:solidFill>
                </a:rPr>
                <a:t>E (K</a:t>
              </a:r>
              <a:r>
                <a:rPr lang="en-IN" sz="1400" b="1" baseline="-25000" dirty="0" smtClean="0">
                  <a:solidFill>
                    <a:srgbClr val="0070C0"/>
                  </a:solidFill>
                </a:rPr>
                <a:t>B</a:t>
              </a:r>
              <a:r>
                <a:rPr lang="en-IN" sz="1400" b="1" dirty="0" smtClean="0">
                  <a:solidFill>
                    <a:srgbClr val="0070C0"/>
                  </a:solidFill>
                </a:rPr>
                <a:t>, [K</a:t>
              </a:r>
              <a:r>
                <a:rPr lang="en-IN" sz="1400" b="1" baseline="-25000" dirty="0" smtClean="0">
                  <a:solidFill>
                    <a:srgbClr val="0070C0"/>
                  </a:solidFill>
                </a:rPr>
                <a:t>S</a:t>
              </a:r>
              <a:r>
                <a:rPr lang="en-IN" sz="1400" b="1" dirty="0" smtClean="0">
                  <a:solidFill>
                    <a:srgbClr val="0070C0"/>
                  </a:solidFill>
                </a:rPr>
                <a:t> || ID</a:t>
              </a:r>
              <a:r>
                <a:rPr lang="en-IN" sz="1400" b="1" baseline="-25000" dirty="0" smtClean="0">
                  <a:solidFill>
                    <a:srgbClr val="0070C0"/>
                  </a:solidFill>
                </a:rPr>
                <a:t>A</a:t>
              </a:r>
              <a:r>
                <a:rPr lang="en-IN" sz="1400" b="1" dirty="0" smtClean="0">
                  <a:solidFill>
                    <a:srgbClr val="0070C0"/>
                  </a:solidFill>
                </a:rPr>
                <a:t>])</a:t>
              </a:r>
            </a:p>
            <a:p>
              <a:pPr algn="ctr"/>
              <a:endParaRPr lang="en-IN" sz="1400" b="1" dirty="0">
                <a:solidFill>
                  <a:srgbClr val="0070C0"/>
                </a:solidFill>
              </a:endParaRPr>
            </a:p>
          </p:txBody>
        </p:sp>
      </p:grpSp>
      <p:grpSp>
        <p:nvGrpSpPr>
          <p:cNvPr id="27" name="Group 38"/>
          <p:cNvGrpSpPr/>
          <p:nvPr/>
        </p:nvGrpSpPr>
        <p:grpSpPr>
          <a:xfrm>
            <a:off x="4211960" y="3717032"/>
            <a:ext cx="4176464" cy="432048"/>
            <a:chOff x="4211960" y="3573016"/>
            <a:chExt cx="4176464" cy="432048"/>
          </a:xfrm>
        </p:grpSpPr>
        <p:cxnSp>
          <p:nvCxnSpPr>
            <p:cNvPr id="25" name="Straight Arrow Connector 24"/>
            <p:cNvCxnSpPr/>
            <p:nvPr/>
          </p:nvCxnSpPr>
          <p:spPr>
            <a:xfrm>
              <a:off x="4211960" y="3933056"/>
              <a:ext cx="4176464" cy="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572000" y="3573016"/>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C00000"/>
                  </a:solidFill>
                </a:rPr>
                <a:t>E (K</a:t>
              </a:r>
              <a:r>
                <a:rPr lang="en-IN" sz="1400" b="1" baseline="-25000" dirty="0" smtClean="0">
                  <a:solidFill>
                    <a:srgbClr val="C00000"/>
                  </a:solidFill>
                </a:rPr>
                <a:t>B</a:t>
              </a:r>
              <a:r>
                <a:rPr lang="en-IN" sz="1400" b="1" dirty="0" smtClean="0">
                  <a:solidFill>
                    <a:srgbClr val="C00000"/>
                  </a:solidFill>
                </a:rPr>
                <a:t>, [K</a:t>
              </a:r>
              <a:r>
                <a:rPr lang="en-IN" sz="1400" b="1" baseline="-25000" dirty="0" smtClean="0">
                  <a:solidFill>
                    <a:srgbClr val="C00000"/>
                  </a:solidFill>
                </a:rPr>
                <a:t>S</a:t>
              </a:r>
              <a:r>
                <a:rPr lang="en-IN" sz="1400" b="1" dirty="0" smtClean="0">
                  <a:solidFill>
                    <a:srgbClr val="C00000"/>
                  </a:solidFill>
                </a:rPr>
                <a:t> || ID</a:t>
              </a:r>
              <a:r>
                <a:rPr lang="en-IN" sz="1400" b="1" baseline="-25000" dirty="0" smtClean="0">
                  <a:solidFill>
                    <a:srgbClr val="C00000"/>
                  </a:solidFill>
                </a:rPr>
                <a:t>A</a:t>
              </a:r>
              <a:r>
                <a:rPr lang="en-IN" sz="1400" b="1" dirty="0" smtClean="0">
                  <a:solidFill>
                    <a:srgbClr val="C00000"/>
                  </a:solidFill>
                </a:rPr>
                <a:t>])</a:t>
              </a:r>
            </a:p>
          </p:txBody>
        </p:sp>
      </p:grpSp>
      <p:grpSp>
        <p:nvGrpSpPr>
          <p:cNvPr id="33" name="Group 39"/>
          <p:cNvGrpSpPr/>
          <p:nvPr/>
        </p:nvGrpSpPr>
        <p:grpSpPr>
          <a:xfrm>
            <a:off x="4211960" y="4437112"/>
            <a:ext cx="4176464" cy="432048"/>
            <a:chOff x="4211960" y="4581128"/>
            <a:chExt cx="4176464" cy="432048"/>
          </a:xfrm>
        </p:grpSpPr>
        <p:cxnSp>
          <p:nvCxnSpPr>
            <p:cNvPr id="28" name="Straight Arrow Connector 27"/>
            <p:cNvCxnSpPr/>
            <p:nvPr/>
          </p:nvCxnSpPr>
          <p:spPr>
            <a:xfrm>
              <a:off x="4211960" y="4941168"/>
              <a:ext cx="4176464" cy="0"/>
            </a:xfrm>
            <a:prstGeom prst="straightConnector1">
              <a:avLst/>
            </a:prstGeom>
            <a:ln w="25400">
              <a:solidFill>
                <a:srgbClr val="00B05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644008" y="458112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00B050"/>
                  </a:solidFill>
                </a:rPr>
                <a:t>E (K</a:t>
              </a:r>
              <a:r>
                <a:rPr lang="en-IN" sz="1400" b="1" baseline="-25000" dirty="0" smtClean="0">
                  <a:solidFill>
                    <a:srgbClr val="00B050"/>
                  </a:solidFill>
                </a:rPr>
                <a:t>S</a:t>
              </a:r>
              <a:r>
                <a:rPr lang="en-IN" sz="1400" b="1" dirty="0" smtClean="0">
                  <a:solidFill>
                    <a:srgbClr val="00B050"/>
                  </a:solidFill>
                </a:rPr>
                <a:t>, N</a:t>
              </a:r>
              <a:r>
                <a:rPr lang="en-IN" sz="1400" b="1" baseline="-25000" dirty="0" smtClean="0">
                  <a:solidFill>
                    <a:srgbClr val="00B050"/>
                  </a:solidFill>
                </a:rPr>
                <a:t>B</a:t>
              </a:r>
              <a:r>
                <a:rPr lang="en-IN" sz="1400" b="1" dirty="0" smtClean="0">
                  <a:solidFill>
                    <a:srgbClr val="00B050"/>
                  </a:solidFill>
                </a:rPr>
                <a:t>)</a:t>
              </a:r>
            </a:p>
          </p:txBody>
        </p:sp>
      </p:grpSp>
      <p:grpSp>
        <p:nvGrpSpPr>
          <p:cNvPr id="34" name="Group 40"/>
          <p:cNvGrpSpPr/>
          <p:nvPr/>
        </p:nvGrpSpPr>
        <p:grpSpPr>
          <a:xfrm>
            <a:off x="4211960" y="5229200"/>
            <a:ext cx="4176464" cy="1152128"/>
            <a:chOff x="4211960" y="5229200"/>
            <a:chExt cx="4176464" cy="1152128"/>
          </a:xfrm>
        </p:grpSpPr>
        <p:cxnSp>
          <p:nvCxnSpPr>
            <p:cNvPr id="30" name="Straight Arrow Connector 29"/>
            <p:cNvCxnSpPr/>
            <p:nvPr/>
          </p:nvCxnSpPr>
          <p:spPr>
            <a:xfrm>
              <a:off x="4211960" y="5589240"/>
              <a:ext cx="4176464" cy="0"/>
            </a:xfrm>
            <a:prstGeom prst="straightConnector1">
              <a:avLst/>
            </a:prstGeom>
            <a:ln w="254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4572000" y="5229200"/>
              <a:ext cx="1728192"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C000"/>
                  </a:solidFill>
                </a:rPr>
                <a:t>E (K</a:t>
              </a:r>
              <a:r>
                <a:rPr lang="en-IN" sz="1400" b="1" baseline="-25000" dirty="0" smtClean="0">
                  <a:solidFill>
                    <a:srgbClr val="FFC000"/>
                  </a:solidFill>
                </a:rPr>
                <a:t>S</a:t>
              </a:r>
              <a:r>
                <a:rPr lang="en-IN" sz="1400" b="1" dirty="0" smtClean="0">
                  <a:solidFill>
                    <a:srgbClr val="FFC000"/>
                  </a:solidFill>
                </a:rPr>
                <a:t>, function (N</a:t>
              </a:r>
              <a:r>
                <a:rPr lang="en-IN" sz="1400" b="1" baseline="-25000" dirty="0" smtClean="0">
                  <a:solidFill>
                    <a:srgbClr val="FFC000"/>
                  </a:solidFill>
                </a:rPr>
                <a:t>B</a:t>
              </a:r>
              <a:r>
                <a:rPr lang="en-IN" sz="1400" b="1" dirty="0" smtClean="0">
                  <a:solidFill>
                    <a:srgbClr val="FFC000"/>
                  </a:solidFill>
                </a:rPr>
                <a:t>))</a:t>
              </a:r>
            </a:p>
          </p:txBody>
        </p:sp>
        <p:sp>
          <p:nvSpPr>
            <p:cNvPr id="32" name="Rounded Rectangular Callout 31"/>
            <p:cNvSpPr/>
            <p:nvPr/>
          </p:nvSpPr>
          <p:spPr>
            <a:xfrm>
              <a:off x="4788024" y="5949280"/>
              <a:ext cx="2448272" cy="432048"/>
            </a:xfrm>
            <a:prstGeom prst="wedgeRoundRectCallout">
              <a:avLst>
                <a:gd name="adj1" fmla="val -24178"/>
                <a:gd name="adj2" fmla="val -145984"/>
                <a:gd name="adj3" fmla="val 16667"/>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i="1" dirty="0" smtClean="0">
                  <a:solidFill>
                    <a:schemeClr val="tx1"/>
                  </a:solidFill>
                </a:rPr>
                <a:t>This function could be as simple as adding1 to N</a:t>
              </a:r>
              <a:r>
                <a:rPr lang="en-IN" sz="1200" b="1" i="1" baseline="-25000" dirty="0" smtClean="0">
                  <a:solidFill>
                    <a:schemeClr val="tx1"/>
                  </a:solidFill>
                </a:rPr>
                <a:t>B</a:t>
              </a:r>
              <a:r>
                <a:rPr lang="en-IN" sz="1200" b="1" i="1" dirty="0" smtClean="0">
                  <a:solidFill>
                    <a:schemeClr val="tx1"/>
                  </a:solidFill>
                </a:rPr>
                <a:t>.</a:t>
              </a:r>
              <a:endParaRPr lang="en-IN" sz="1200" b="1" i="1" dirty="0">
                <a:solidFill>
                  <a:schemeClr val="tx1"/>
                </a:solidFill>
              </a:endParaRPr>
            </a:p>
          </p:txBody>
        </p:sp>
      </p:grpSp>
    </p:spTree>
    <p:extLst>
      <p:ext uri="{BB962C8B-B14F-4D97-AF65-F5344CB8AC3E}">
        <p14:creationId xmlns="" xmlns:p14="http://schemas.microsoft.com/office/powerpoint/2010/main" val="301559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4784"/>
            <a:ext cx="8229600" cy="5112568"/>
          </a:xfrm>
        </p:spPr>
        <p:txBody>
          <a:bodyPr vert="horz" lIns="91440" tIns="45720" rIns="91440" bIns="45720" rtlCol="0">
            <a:normAutofit fontScale="55000" lnSpcReduction="20000"/>
          </a:bodyPr>
          <a:lstStyle/>
          <a:p>
            <a:pPr>
              <a:buClrTx/>
              <a:buChar char="•"/>
            </a:pPr>
            <a:r>
              <a:rPr lang="en-IN" sz="3200" dirty="0">
                <a:cs typeface="+mn-cs"/>
              </a:rPr>
              <a:t>Do you see any vulnerability because initiator did not encrypt the very first message?</a:t>
            </a:r>
          </a:p>
          <a:p>
            <a:pPr>
              <a:buClrTx/>
              <a:buChar char="•"/>
            </a:pPr>
            <a:r>
              <a:rPr lang="en-IN" sz="3200" dirty="0">
                <a:cs typeface="+mn-cs"/>
              </a:rPr>
              <a:t>Why initiator A included a its own id and B’s id  in its original first message to KDC?</a:t>
            </a:r>
          </a:p>
          <a:p>
            <a:pPr>
              <a:buClrTx/>
              <a:buChar char="•"/>
            </a:pPr>
            <a:r>
              <a:rPr lang="en-IN" sz="3200" dirty="0">
                <a:cs typeface="+mn-cs"/>
              </a:rPr>
              <a:t>Why initiator A included a nonce NA in its original first message to KDC?</a:t>
            </a:r>
          </a:p>
          <a:p>
            <a:pPr>
              <a:buClrTx/>
              <a:buChar char="•"/>
            </a:pPr>
            <a:r>
              <a:rPr lang="en-IN" sz="3200" dirty="0">
                <a:cs typeface="+mn-cs"/>
              </a:rPr>
              <a:t>Why KDC replied with the session key Ks in the first data element encrypted in A’s master key?</a:t>
            </a:r>
          </a:p>
          <a:p>
            <a:pPr>
              <a:buClrTx/>
              <a:buChar char="•"/>
            </a:pPr>
            <a:r>
              <a:rPr lang="en-IN" sz="3200" dirty="0">
                <a:cs typeface="+mn-cs"/>
              </a:rPr>
              <a:t>Why KDC included A’s original message in its response to A in the first data item?</a:t>
            </a:r>
          </a:p>
          <a:p>
            <a:pPr>
              <a:buClrTx/>
              <a:buChar char="•"/>
            </a:pPr>
            <a:r>
              <a:rPr lang="en-IN" sz="3200" dirty="0">
                <a:cs typeface="+mn-cs"/>
              </a:rPr>
              <a:t>Why KDC prepared second data item encrypted with B’s master key?</a:t>
            </a:r>
          </a:p>
          <a:p>
            <a:pPr>
              <a:buClrTx/>
              <a:buChar char="•"/>
            </a:pPr>
            <a:r>
              <a:rPr lang="en-IN" sz="3200" dirty="0">
                <a:cs typeface="+mn-cs"/>
              </a:rPr>
              <a:t>Why KDC included A’s identity in the data item that was encrypted with B’s master key?</a:t>
            </a:r>
          </a:p>
          <a:p>
            <a:pPr>
              <a:buClrTx/>
              <a:buChar char="•"/>
            </a:pPr>
            <a:r>
              <a:rPr lang="en-IN" sz="3200" dirty="0">
                <a:cs typeface="+mn-cs"/>
              </a:rPr>
              <a:t>Why B also sent it nonce NB only to A and not to KDC?</a:t>
            </a:r>
          </a:p>
          <a:p>
            <a:pPr>
              <a:buClrTx/>
              <a:buChar char="•"/>
            </a:pPr>
            <a:r>
              <a:rPr lang="en-IN" sz="3200" dirty="0">
                <a:cs typeface="+mn-cs"/>
              </a:rPr>
              <a:t>Why A performed some function on NB and sent it back to B?</a:t>
            </a:r>
          </a:p>
          <a:p>
            <a:pPr>
              <a:buClrTx/>
              <a:buChar char="•"/>
            </a:pPr>
            <a:r>
              <a:rPr lang="en-IN" sz="3200" dirty="0">
                <a:cs typeface="+mn-cs"/>
              </a:rPr>
              <a:t>Why A and B used session key KS for the last two messages?</a:t>
            </a:r>
          </a:p>
          <a:p>
            <a:pPr>
              <a:buClrTx/>
              <a:buChar char="•"/>
            </a:pPr>
            <a:r>
              <a:rPr lang="en-IN" sz="3200" dirty="0">
                <a:cs typeface="+mn-cs"/>
              </a:rPr>
              <a:t>Could A and B use their respective master keys (KA and KB) for the last two messages for encryption?</a:t>
            </a:r>
          </a:p>
          <a:p>
            <a:pPr>
              <a:buClrTx/>
              <a:buChar char="•"/>
            </a:pPr>
            <a:r>
              <a:rPr lang="en-IN" sz="3200" dirty="0">
                <a:cs typeface="+mn-cs"/>
              </a:rPr>
              <a:t>A and B are authenticated with KDC as they shared master keys (KA and KB) with KDC. Are A and B authenticating each other? If this is an issue, was it being taken care of? How?</a:t>
            </a:r>
          </a:p>
        </p:txBody>
      </p:sp>
      <p:sp>
        <p:nvSpPr>
          <p:cNvPr id="3" name="Content Placeholder 2"/>
          <p:cNvSpPr>
            <a:spLocks noGrp="1"/>
          </p:cNvSpPr>
          <p:nvPr>
            <p:ph sz="quarter" idx="10"/>
          </p:nvPr>
        </p:nvSpPr>
        <p:spPr>
          <a:xfrm>
            <a:off x="304800" y="260648"/>
            <a:ext cx="6324600" cy="720080"/>
          </a:xfrm>
        </p:spPr>
        <p:txBody>
          <a:bodyPr/>
          <a:lstStyle/>
          <a:p>
            <a:r>
              <a:rPr lang="en-IN" dirty="0" smtClean="0"/>
              <a:t>Review Questions!</a:t>
            </a:r>
            <a:endParaRPr lang="en-IN" dirty="0"/>
          </a:p>
        </p:txBody>
      </p:sp>
    </p:spTree>
    <p:extLst>
      <p:ext uri="{BB962C8B-B14F-4D97-AF65-F5344CB8AC3E}">
        <p14:creationId xmlns="" xmlns:p14="http://schemas.microsoft.com/office/powerpoint/2010/main" val="16149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2583235"/>
          </a:xfrm>
        </p:spPr>
        <p:txBody>
          <a:bodyPr vert="horz" lIns="91440" tIns="45720" rIns="91440" bIns="45720" rtlCol="0">
            <a:normAutofit fontScale="70000" lnSpcReduction="20000"/>
          </a:bodyPr>
          <a:lstStyle/>
          <a:p>
            <a:pPr>
              <a:buClrTx/>
              <a:buChar char="•"/>
            </a:pPr>
            <a:r>
              <a:rPr lang="en-IN" sz="3200" dirty="0">
                <a:cs typeface="+mn-cs"/>
              </a:rPr>
              <a:t>Any participant can send his or her Public Key (PU) to any other participant or broadcast the key to the community at </a:t>
            </a:r>
            <a:r>
              <a:rPr lang="en-IN" sz="3200" dirty="0" smtClean="0">
                <a:cs typeface="+mn-cs"/>
              </a:rPr>
              <a:t>large</a:t>
            </a:r>
            <a:endParaRPr lang="en-IN" sz="3200" dirty="0">
              <a:cs typeface="+mn-cs"/>
            </a:endParaRPr>
          </a:p>
          <a:p>
            <a:pPr>
              <a:buClrTx/>
              <a:buChar char="•"/>
            </a:pPr>
            <a:endParaRPr lang="en-IN" sz="3200" dirty="0">
              <a:cs typeface="+mn-cs"/>
            </a:endParaRPr>
          </a:p>
          <a:p>
            <a:pPr>
              <a:buClrTx/>
              <a:buChar char="•"/>
            </a:pPr>
            <a:r>
              <a:rPr lang="en-IN" sz="3200" b="1" u="sng" dirty="0">
                <a:cs typeface="+mn-cs"/>
              </a:rPr>
              <a:t>Drawback: </a:t>
            </a:r>
            <a:r>
              <a:rPr lang="en-IN" sz="3200" dirty="0">
                <a:cs typeface="+mn-cs"/>
              </a:rPr>
              <a:t>Anyone can forge such a public announcement. E.g. some user could pretend to be user A and send a public key to another  participant or broadcast such a public key. Until such time as user A discovers the forgery and alerts other participants, the forger is able to read all encrypted messages intended for </a:t>
            </a:r>
            <a:r>
              <a:rPr lang="en-IN" sz="3200" dirty="0" smtClean="0">
                <a:cs typeface="+mn-cs"/>
              </a:rPr>
              <a:t>A</a:t>
            </a:r>
            <a:endParaRPr lang="en-IN" sz="3200" dirty="0">
              <a:cs typeface="+mn-cs"/>
            </a:endParaRPr>
          </a:p>
        </p:txBody>
      </p:sp>
      <p:sp>
        <p:nvSpPr>
          <p:cNvPr id="3" name="Content Placeholder 2"/>
          <p:cNvSpPr>
            <a:spLocks noGrp="1"/>
          </p:cNvSpPr>
          <p:nvPr>
            <p:ph sz="quarter" idx="10"/>
          </p:nvPr>
        </p:nvSpPr>
        <p:spPr>
          <a:xfrm>
            <a:off x="304800" y="325450"/>
            <a:ext cx="6324600" cy="792088"/>
          </a:xfrm>
        </p:spPr>
        <p:txBody>
          <a:bodyPr vert="horz" lIns="91440" tIns="45720" rIns="91440" bIns="45720" rtlCol="0" anchor="ctr" anchorCtr="0">
            <a:normAutofit fontScale="77500" lnSpcReduction="20000"/>
          </a:bodyPr>
          <a:lstStyle/>
          <a:p>
            <a:r>
              <a:rPr lang="en-IN" dirty="0"/>
              <a:t>Distribution of Public </a:t>
            </a:r>
            <a:r>
              <a:rPr lang="en-IN" dirty="0" smtClean="0"/>
              <a:t>Keys Public </a:t>
            </a:r>
            <a:r>
              <a:rPr lang="en-IN" dirty="0"/>
              <a:t>Announcement</a:t>
            </a:r>
          </a:p>
        </p:txBody>
      </p:sp>
      <p:grpSp>
        <p:nvGrpSpPr>
          <p:cNvPr id="5" name="Group 22"/>
          <p:cNvGrpSpPr/>
          <p:nvPr/>
        </p:nvGrpSpPr>
        <p:grpSpPr>
          <a:xfrm>
            <a:off x="2123728" y="4201343"/>
            <a:ext cx="4464496" cy="1891953"/>
            <a:chOff x="1619672" y="4221088"/>
            <a:chExt cx="4464496" cy="1891953"/>
          </a:xfrm>
        </p:grpSpPr>
        <p:grpSp>
          <p:nvGrpSpPr>
            <p:cNvPr id="9" name="Group 17"/>
            <p:cNvGrpSpPr/>
            <p:nvPr/>
          </p:nvGrpSpPr>
          <p:grpSpPr>
            <a:xfrm>
              <a:off x="1619672" y="4869160"/>
              <a:ext cx="1837471" cy="635365"/>
              <a:chOff x="1403648" y="5013176"/>
              <a:chExt cx="1837471" cy="635365"/>
            </a:xfrm>
          </p:grpSpPr>
          <p:pic>
            <p:nvPicPr>
              <p:cNvPr id="6" name="Picture 4" descr="http://image.shutterstock.com/display_pic_with_logo/134128/134128,1244606246,1/stock-photo-skeleton-key-symbol-31783060.jpg"/>
              <p:cNvPicPr>
                <a:picLocks noChangeAspect="1" noChangeArrowheads="1"/>
              </p:cNvPicPr>
              <p:nvPr/>
            </p:nvPicPr>
            <p:blipFill>
              <a:blip r:embed="rId2" cstate="print"/>
              <a:srcRect b="21237"/>
              <a:stretch>
                <a:fillRect/>
              </a:stretch>
            </p:blipFill>
            <p:spPr bwMode="auto">
              <a:xfrm>
                <a:off x="2699792" y="5157192"/>
                <a:ext cx="541327" cy="360040"/>
              </a:xfrm>
              <a:prstGeom prst="rect">
                <a:avLst/>
              </a:prstGeom>
              <a:noFill/>
            </p:spPr>
          </p:pic>
          <p:pic>
            <p:nvPicPr>
              <p:cNvPr id="7" name="Picture 18" descr="http://vector.me/files/images/1/6/162062/female_user_icon_clip_art.jpg"/>
              <p:cNvPicPr>
                <a:picLocks noChangeAspect="1" noChangeArrowheads="1"/>
              </p:cNvPicPr>
              <p:nvPr/>
            </p:nvPicPr>
            <p:blipFill>
              <a:blip r:embed="rId3" cstate="print"/>
              <a:srcRect/>
              <a:stretch>
                <a:fillRect/>
              </a:stretch>
            </p:blipFill>
            <p:spPr bwMode="auto">
              <a:xfrm>
                <a:off x="2123728" y="5085184"/>
                <a:ext cx="464895" cy="466081"/>
              </a:xfrm>
              <a:prstGeom prst="rect">
                <a:avLst/>
              </a:prstGeom>
              <a:noFill/>
            </p:spPr>
          </p:pic>
          <p:pic>
            <p:nvPicPr>
              <p:cNvPr id="8" name="Picture 2" descr="http://cliparts.co/cliparts/6ir/op7/6irop7RrT.jpg"/>
              <p:cNvPicPr>
                <a:picLocks noChangeAspect="1" noChangeArrowheads="1"/>
              </p:cNvPicPr>
              <p:nvPr/>
            </p:nvPicPr>
            <p:blipFill>
              <a:blip r:embed="rId4" cstate="print"/>
              <a:srcRect/>
              <a:stretch>
                <a:fillRect/>
              </a:stretch>
            </p:blipFill>
            <p:spPr bwMode="auto">
              <a:xfrm>
                <a:off x="1403648" y="5013176"/>
                <a:ext cx="720080" cy="635365"/>
              </a:xfrm>
              <a:prstGeom prst="rect">
                <a:avLst/>
              </a:prstGeom>
              <a:noFill/>
            </p:spPr>
          </p:pic>
        </p:grpSp>
        <p:cxnSp>
          <p:nvCxnSpPr>
            <p:cNvPr id="10" name="Straight Connector 9"/>
            <p:cNvCxnSpPr/>
            <p:nvPr/>
          </p:nvCxnSpPr>
          <p:spPr>
            <a:xfrm flipV="1">
              <a:off x="3563888" y="4437112"/>
              <a:ext cx="1224136" cy="792088"/>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563888" y="5229200"/>
              <a:ext cx="144016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563888" y="5229200"/>
              <a:ext cx="1296144" cy="72008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004048" y="4221088"/>
              <a:ext cx="1080120" cy="307777"/>
            </a:xfrm>
            <a:prstGeom prst="rect">
              <a:avLst/>
            </a:prstGeom>
            <a:noFill/>
          </p:spPr>
          <p:txBody>
            <a:bodyPr wrap="square" rtlCol="0">
              <a:spAutoFit/>
            </a:bodyPr>
            <a:lstStyle/>
            <a:p>
              <a:r>
                <a:rPr lang="en-IN" sz="1400" b="1" i="1" dirty="0" err="1" smtClean="0"/>
                <a:t>PU</a:t>
              </a:r>
              <a:r>
                <a:rPr lang="en-IN" sz="1400" b="1" i="1" baseline="-25000" dirty="0" err="1" smtClean="0"/>
                <a:t>Alice</a:t>
              </a:r>
              <a:endParaRPr lang="en-IN" sz="1400" b="1" i="1" baseline="-25000" dirty="0"/>
            </a:p>
          </p:txBody>
        </p:sp>
        <p:sp>
          <p:nvSpPr>
            <p:cNvPr id="20" name="TextBox 19"/>
            <p:cNvSpPr txBox="1"/>
            <p:nvPr/>
          </p:nvSpPr>
          <p:spPr>
            <a:xfrm>
              <a:off x="5004048" y="5013176"/>
              <a:ext cx="1080120" cy="307777"/>
            </a:xfrm>
            <a:prstGeom prst="rect">
              <a:avLst/>
            </a:prstGeom>
            <a:noFill/>
          </p:spPr>
          <p:txBody>
            <a:bodyPr wrap="square" rtlCol="0">
              <a:spAutoFit/>
            </a:bodyPr>
            <a:lstStyle/>
            <a:p>
              <a:r>
                <a:rPr lang="en-IN" sz="1400" b="1" i="1" dirty="0" err="1" smtClean="0"/>
                <a:t>PU</a:t>
              </a:r>
              <a:r>
                <a:rPr lang="en-IN" sz="1400" b="1" i="1" baseline="-25000" dirty="0" err="1" smtClean="0"/>
                <a:t>Alice</a:t>
              </a:r>
              <a:endParaRPr lang="en-IN" sz="1400" b="1" i="1" baseline="-25000" dirty="0"/>
            </a:p>
          </p:txBody>
        </p:sp>
        <p:sp>
          <p:nvSpPr>
            <p:cNvPr id="21" name="TextBox 20"/>
            <p:cNvSpPr txBox="1"/>
            <p:nvPr/>
          </p:nvSpPr>
          <p:spPr>
            <a:xfrm>
              <a:off x="5004048" y="5805264"/>
              <a:ext cx="1080120" cy="307777"/>
            </a:xfrm>
            <a:prstGeom prst="rect">
              <a:avLst/>
            </a:prstGeom>
            <a:noFill/>
          </p:spPr>
          <p:txBody>
            <a:bodyPr wrap="square" rtlCol="0">
              <a:spAutoFit/>
            </a:bodyPr>
            <a:lstStyle/>
            <a:p>
              <a:r>
                <a:rPr lang="en-IN" sz="1400" b="1" i="1" dirty="0" err="1" smtClean="0"/>
                <a:t>PU</a:t>
              </a:r>
              <a:r>
                <a:rPr lang="en-IN" sz="1400" b="1" i="1" baseline="-25000" dirty="0" err="1" smtClean="0"/>
                <a:t>Alice</a:t>
              </a:r>
              <a:endParaRPr lang="en-IN" sz="1400" b="1" i="1" baseline="-25000" dirty="0"/>
            </a:p>
          </p:txBody>
        </p:sp>
        <p:sp>
          <p:nvSpPr>
            <p:cNvPr id="22" name="TextBox 21"/>
            <p:cNvSpPr txBox="1"/>
            <p:nvPr/>
          </p:nvSpPr>
          <p:spPr>
            <a:xfrm>
              <a:off x="1835696" y="5517232"/>
              <a:ext cx="1728192" cy="307777"/>
            </a:xfrm>
            <a:prstGeom prst="rect">
              <a:avLst/>
            </a:prstGeom>
            <a:noFill/>
          </p:spPr>
          <p:txBody>
            <a:bodyPr wrap="square" rtlCol="0">
              <a:spAutoFit/>
            </a:bodyPr>
            <a:lstStyle/>
            <a:p>
              <a:pPr algn="ctr"/>
              <a:r>
                <a:rPr lang="en-IN" sz="1400" b="1" i="1" dirty="0" smtClean="0"/>
                <a:t>Alice’s Public Key</a:t>
              </a:r>
              <a:endParaRPr lang="en-IN" sz="1400" b="1" i="1" baseline="-25000" dirty="0"/>
            </a:p>
          </p:txBody>
        </p:sp>
      </p:grpSp>
    </p:spTree>
    <p:extLst>
      <p:ext uri="{BB962C8B-B14F-4D97-AF65-F5344CB8AC3E}">
        <p14:creationId xmlns="" xmlns:p14="http://schemas.microsoft.com/office/powerpoint/2010/main" val="30952947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5949" y="1480018"/>
            <a:ext cx="4987280" cy="5031507"/>
          </a:xfrm>
        </p:spPr>
        <p:txBody>
          <a:bodyPr vert="horz" lIns="91440" tIns="45720" rIns="91440" bIns="45720" rtlCol="0">
            <a:normAutofit fontScale="55000" lnSpcReduction="20000"/>
          </a:bodyPr>
          <a:lstStyle/>
          <a:p>
            <a:pPr>
              <a:buClrTx/>
              <a:buChar char="•"/>
            </a:pPr>
            <a:r>
              <a:rPr lang="en-IN" sz="3200" dirty="0">
                <a:cs typeface="+mn-cs"/>
              </a:rPr>
              <a:t>A trusted organization or authority maintains a directory with a {Name, Public Key} entry for each participant.</a:t>
            </a:r>
          </a:p>
          <a:p>
            <a:pPr>
              <a:buClrTx/>
              <a:buChar char="•"/>
            </a:pPr>
            <a:r>
              <a:rPr lang="en-IN" sz="3200" dirty="0">
                <a:cs typeface="+mn-cs"/>
              </a:rPr>
              <a:t>Each participant registers a public key with the directory authority. Registration would have to be in person or by some form of secure authenticated communication.</a:t>
            </a:r>
          </a:p>
          <a:p>
            <a:pPr>
              <a:buClrTx/>
              <a:buChar char="•"/>
            </a:pPr>
            <a:r>
              <a:rPr lang="en-IN" sz="3200" dirty="0">
                <a:cs typeface="+mn-cs"/>
              </a:rPr>
              <a:t>A participant may replace the existing key with a new one at any time, either because of the desire to replace a public key that has already been used for a large amount of data, or because the corresponding private key has been compromised in some way.</a:t>
            </a:r>
          </a:p>
          <a:p>
            <a:pPr>
              <a:buClrTx/>
              <a:buChar char="•"/>
            </a:pPr>
            <a:r>
              <a:rPr lang="en-IN" sz="3200" dirty="0">
                <a:cs typeface="+mn-cs"/>
              </a:rPr>
              <a:t>Participants could also access the directory electronically. For this purpose, secure, authenticated communication from the authority to the participant is mandatory.</a:t>
            </a:r>
          </a:p>
          <a:p>
            <a:pPr>
              <a:buClrTx/>
              <a:buChar char="•"/>
            </a:pPr>
            <a:r>
              <a:rPr lang="en-IN" sz="3200" dirty="0">
                <a:cs typeface="+mn-cs"/>
              </a:rPr>
              <a:t>Safer than public announcement </a:t>
            </a:r>
            <a:r>
              <a:rPr lang="en-IN" sz="3200" b="1" dirty="0">
                <a:cs typeface="+mn-cs"/>
              </a:rPr>
              <a:t>but confidentiality and integrity of the directory is crucial</a:t>
            </a:r>
            <a:r>
              <a:rPr lang="en-IN" sz="3200" dirty="0">
                <a:cs typeface="+mn-cs"/>
              </a:rPr>
              <a:t>.</a:t>
            </a:r>
          </a:p>
        </p:txBody>
      </p:sp>
      <p:sp>
        <p:nvSpPr>
          <p:cNvPr id="3" name="Content Placeholder 2"/>
          <p:cNvSpPr>
            <a:spLocks noGrp="1"/>
          </p:cNvSpPr>
          <p:nvPr>
            <p:ph sz="quarter" idx="10"/>
          </p:nvPr>
        </p:nvSpPr>
        <p:spPr>
          <a:xfrm>
            <a:off x="230821" y="197696"/>
            <a:ext cx="6324600" cy="972105"/>
          </a:xfrm>
        </p:spPr>
        <p:txBody>
          <a:bodyPr vert="horz" lIns="91440" tIns="45720" rIns="91440" bIns="45720" rtlCol="0" anchor="ctr" anchorCtr="0">
            <a:normAutofit fontScale="70000" lnSpcReduction="20000"/>
          </a:bodyPr>
          <a:lstStyle/>
          <a:p>
            <a:r>
              <a:rPr lang="en-IN" dirty="0"/>
              <a:t>Distribution of Public </a:t>
            </a:r>
            <a:r>
              <a:rPr lang="en-IN" dirty="0" smtClean="0"/>
              <a:t>Keys Publicly </a:t>
            </a:r>
            <a:r>
              <a:rPr lang="en-IN" dirty="0"/>
              <a:t>Available Directory</a:t>
            </a:r>
          </a:p>
        </p:txBody>
      </p:sp>
      <p:grpSp>
        <p:nvGrpSpPr>
          <p:cNvPr id="11" name="Group 31"/>
          <p:cNvGrpSpPr/>
          <p:nvPr/>
        </p:nvGrpSpPr>
        <p:grpSpPr>
          <a:xfrm>
            <a:off x="5580112" y="2915652"/>
            <a:ext cx="3312368" cy="1809492"/>
            <a:chOff x="5652120" y="1988840"/>
            <a:chExt cx="3312368" cy="1809492"/>
          </a:xfrm>
        </p:grpSpPr>
        <p:grpSp>
          <p:nvGrpSpPr>
            <p:cNvPr id="13" name="Group 17"/>
            <p:cNvGrpSpPr/>
            <p:nvPr/>
          </p:nvGrpSpPr>
          <p:grpSpPr>
            <a:xfrm>
              <a:off x="5652120" y="1988840"/>
              <a:ext cx="2160240" cy="1809492"/>
              <a:chOff x="5940152" y="1988840"/>
              <a:chExt cx="2160240" cy="1809492"/>
            </a:xfrm>
          </p:grpSpPr>
          <p:grpSp>
            <p:nvGrpSpPr>
              <p:cNvPr id="14" name="Group 12"/>
              <p:cNvGrpSpPr/>
              <p:nvPr/>
            </p:nvGrpSpPr>
            <p:grpSpPr>
              <a:xfrm>
                <a:off x="5940152" y="1988840"/>
                <a:ext cx="1008112" cy="1809492"/>
                <a:chOff x="5940152" y="1988840"/>
                <a:chExt cx="1008112" cy="1809492"/>
              </a:xfrm>
              <a:solidFill>
                <a:srgbClr val="FFFF00"/>
              </a:solidFill>
            </p:grpSpPr>
            <p:sp>
              <p:nvSpPr>
                <p:cNvPr id="5" name="TextBox 4"/>
                <p:cNvSpPr txBox="1"/>
                <p:nvPr/>
              </p:nvSpPr>
              <p:spPr>
                <a:xfrm>
                  <a:off x="5940152" y="1988840"/>
                  <a:ext cx="1008112" cy="369332"/>
                </a:xfrm>
                <a:prstGeom prst="rect">
                  <a:avLst/>
                </a:prstGeom>
                <a:grpFill/>
                <a:ln>
                  <a:solidFill>
                    <a:schemeClr val="tx1"/>
                  </a:solidFill>
                </a:ln>
              </p:spPr>
              <p:txBody>
                <a:bodyPr wrap="square" rtlCol="0">
                  <a:spAutoFit/>
                </a:bodyPr>
                <a:lstStyle/>
                <a:p>
                  <a:pPr algn="ctr"/>
                  <a:r>
                    <a:rPr lang="en-IN" b="1" dirty="0" err="1" smtClean="0"/>
                    <a:t>Vagish</a:t>
                  </a:r>
                  <a:endParaRPr lang="en-IN" b="1" dirty="0"/>
                </a:p>
              </p:txBody>
            </p:sp>
            <p:sp>
              <p:nvSpPr>
                <p:cNvPr id="6" name="TextBox 5"/>
                <p:cNvSpPr txBox="1"/>
                <p:nvPr/>
              </p:nvSpPr>
              <p:spPr>
                <a:xfrm>
                  <a:off x="5940152" y="2358172"/>
                  <a:ext cx="1008112" cy="369332"/>
                </a:xfrm>
                <a:prstGeom prst="rect">
                  <a:avLst/>
                </a:prstGeom>
                <a:grpFill/>
                <a:ln>
                  <a:solidFill>
                    <a:schemeClr val="tx1"/>
                  </a:solidFill>
                </a:ln>
              </p:spPr>
              <p:txBody>
                <a:bodyPr wrap="square" rtlCol="0">
                  <a:spAutoFit/>
                </a:bodyPr>
                <a:lstStyle/>
                <a:p>
                  <a:pPr algn="ctr"/>
                  <a:r>
                    <a:rPr lang="en-IN" b="1" dirty="0" smtClean="0"/>
                    <a:t>Krishna</a:t>
                  </a:r>
                  <a:endParaRPr lang="en-IN" b="1" dirty="0"/>
                </a:p>
              </p:txBody>
            </p:sp>
            <p:sp>
              <p:nvSpPr>
                <p:cNvPr id="7" name="TextBox 6"/>
                <p:cNvSpPr txBox="1"/>
                <p:nvPr/>
              </p:nvSpPr>
              <p:spPr>
                <a:xfrm>
                  <a:off x="5940152" y="3429000"/>
                  <a:ext cx="1008112" cy="369332"/>
                </a:xfrm>
                <a:prstGeom prst="rect">
                  <a:avLst/>
                </a:prstGeom>
                <a:grpFill/>
                <a:ln>
                  <a:solidFill>
                    <a:schemeClr val="tx1"/>
                  </a:solidFill>
                </a:ln>
              </p:spPr>
              <p:txBody>
                <a:bodyPr wrap="square" rtlCol="0">
                  <a:spAutoFit/>
                </a:bodyPr>
                <a:lstStyle/>
                <a:p>
                  <a:pPr algn="ctr"/>
                  <a:r>
                    <a:rPr lang="en-IN" b="1" dirty="0" smtClean="0"/>
                    <a:t>Mahesh</a:t>
                  </a:r>
                  <a:endParaRPr lang="en-IN" b="1" dirty="0"/>
                </a:p>
              </p:txBody>
            </p:sp>
          </p:grpSp>
          <p:sp>
            <p:nvSpPr>
              <p:cNvPr id="8" name="TextBox 7"/>
              <p:cNvSpPr txBox="1"/>
              <p:nvPr/>
            </p:nvSpPr>
            <p:spPr>
              <a:xfrm>
                <a:off x="6948264" y="1988840"/>
                <a:ext cx="1152128" cy="369332"/>
              </a:xfrm>
              <a:prstGeom prst="rect">
                <a:avLst/>
              </a:prstGeom>
              <a:noFill/>
              <a:ln>
                <a:solidFill>
                  <a:schemeClr val="tx1"/>
                </a:solidFill>
              </a:ln>
            </p:spPr>
            <p:txBody>
              <a:bodyPr wrap="square" rtlCol="0">
                <a:spAutoFit/>
              </a:bodyPr>
              <a:lstStyle/>
              <a:p>
                <a:pPr algn="ctr"/>
                <a:r>
                  <a:rPr lang="en-IN" b="1" i="1" dirty="0" err="1" smtClean="0">
                    <a:latin typeface="Courier New" pitchFamily="49" charset="0"/>
                    <a:cs typeface="Courier New" pitchFamily="49" charset="0"/>
                  </a:rPr>
                  <a:t>PU</a:t>
                </a:r>
                <a:r>
                  <a:rPr lang="en-IN" b="1" i="1" baseline="-25000" dirty="0" err="1" smtClean="0">
                    <a:latin typeface="Courier New" pitchFamily="49" charset="0"/>
                    <a:cs typeface="Courier New" pitchFamily="49" charset="0"/>
                  </a:rPr>
                  <a:t>Vagish</a:t>
                </a:r>
                <a:endParaRPr lang="en-IN" b="1" i="1" baseline="-25000" dirty="0">
                  <a:latin typeface="Courier New" pitchFamily="49" charset="0"/>
                  <a:cs typeface="Courier New" pitchFamily="49" charset="0"/>
                </a:endParaRPr>
              </a:p>
            </p:txBody>
          </p:sp>
          <p:sp>
            <p:nvSpPr>
              <p:cNvPr id="9" name="TextBox 8"/>
              <p:cNvSpPr txBox="1"/>
              <p:nvPr/>
            </p:nvSpPr>
            <p:spPr>
              <a:xfrm>
                <a:off x="6948264" y="2358172"/>
                <a:ext cx="1152128" cy="369332"/>
              </a:xfrm>
              <a:prstGeom prst="rect">
                <a:avLst/>
              </a:prstGeom>
              <a:noFill/>
              <a:ln>
                <a:solidFill>
                  <a:schemeClr val="tx1"/>
                </a:solidFill>
              </a:ln>
            </p:spPr>
            <p:txBody>
              <a:bodyPr wrap="square" rtlCol="0">
                <a:spAutoFit/>
              </a:bodyPr>
              <a:lstStyle/>
              <a:p>
                <a:pPr algn="ctr"/>
                <a:r>
                  <a:rPr lang="en-IN" b="1" i="1" dirty="0" err="1" smtClean="0">
                    <a:latin typeface="Courier New" pitchFamily="49" charset="0"/>
                    <a:cs typeface="Courier New" pitchFamily="49" charset="0"/>
                  </a:rPr>
                  <a:t>PU</a:t>
                </a:r>
                <a:r>
                  <a:rPr lang="en-IN" b="1" i="1" baseline="-25000" dirty="0" err="1" smtClean="0">
                    <a:latin typeface="Courier New" pitchFamily="49" charset="0"/>
                    <a:cs typeface="Courier New" pitchFamily="49" charset="0"/>
                  </a:rPr>
                  <a:t>Krishna</a:t>
                </a:r>
                <a:endParaRPr lang="en-IN" b="1" i="1" baseline="-25000" dirty="0">
                  <a:latin typeface="Courier New" pitchFamily="49" charset="0"/>
                  <a:cs typeface="Courier New" pitchFamily="49" charset="0"/>
                </a:endParaRPr>
              </a:p>
            </p:txBody>
          </p:sp>
          <p:sp>
            <p:nvSpPr>
              <p:cNvPr id="10" name="TextBox 9"/>
              <p:cNvSpPr txBox="1"/>
              <p:nvPr/>
            </p:nvSpPr>
            <p:spPr>
              <a:xfrm>
                <a:off x="6948264" y="3429000"/>
                <a:ext cx="1152128" cy="369332"/>
              </a:xfrm>
              <a:prstGeom prst="rect">
                <a:avLst/>
              </a:prstGeom>
              <a:noFill/>
              <a:ln>
                <a:solidFill>
                  <a:schemeClr val="tx1"/>
                </a:solidFill>
              </a:ln>
            </p:spPr>
            <p:txBody>
              <a:bodyPr wrap="square" rtlCol="0">
                <a:spAutoFit/>
              </a:bodyPr>
              <a:lstStyle/>
              <a:p>
                <a:pPr algn="ctr"/>
                <a:r>
                  <a:rPr lang="en-IN" b="1" i="1" dirty="0" err="1" smtClean="0">
                    <a:latin typeface="Courier New" pitchFamily="49" charset="0"/>
                    <a:cs typeface="Courier New" pitchFamily="49" charset="0"/>
                  </a:rPr>
                  <a:t>PU</a:t>
                </a:r>
                <a:r>
                  <a:rPr lang="en-IN" b="1" i="1" baseline="-25000" dirty="0" err="1" smtClean="0">
                    <a:latin typeface="Courier New" pitchFamily="49" charset="0"/>
                    <a:cs typeface="Courier New" pitchFamily="49" charset="0"/>
                  </a:rPr>
                  <a:t>Mahesh</a:t>
                </a:r>
                <a:endParaRPr lang="en-IN" b="1" i="1" baseline="-25000" dirty="0">
                  <a:latin typeface="Courier New" pitchFamily="49" charset="0"/>
                  <a:cs typeface="Courier New" pitchFamily="49" charset="0"/>
                </a:endParaRPr>
              </a:p>
            </p:txBody>
          </p:sp>
          <p:cxnSp>
            <p:nvCxnSpPr>
              <p:cNvPr id="12" name="Straight Connector 11"/>
              <p:cNvCxnSpPr/>
              <p:nvPr/>
            </p:nvCxnSpPr>
            <p:spPr>
              <a:xfrm>
                <a:off x="6948264" y="2790220"/>
                <a:ext cx="0" cy="51334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40152" y="2708920"/>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100392" y="2708920"/>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Flowchart: Magnetic Disk 16"/>
            <p:cNvSpPr/>
            <p:nvPr/>
          </p:nvSpPr>
          <p:spPr>
            <a:xfrm>
              <a:off x="8244408" y="2636912"/>
              <a:ext cx="720080" cy="504056"/>
            </a:xfrm>
            <a:prstGeom prst="flowChartMagneticDisk">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smtClean="0">
                  <a:solidFill>
                    <a:schemeClr val="tx1"/>
                  </a:solidFill>
                </a:rPr>
                <a:t>Directory</a:t>
              </a:r>
              <a:endParaRPr lang="en-IN" sz="1000" b="1" dirty="0">
                <a:solidFill>
                  <a:schemeClr val="tx1"/>
                </a:solidFill>
              </a:endParaRPr>
            </a:p>
          </p:txBody>
        </p:sp>
        <p:cxnSp>
          <p:nvCxnSpPr>
            <p:cNvPr id="19" name="Straight Connector 18"/>
            <p:cNvCxnSpPr/>
            <p:nvPr/>
          </p:nvCxnSpPr>
          <p:spPr>
            <a:xfrm>
              <a:off x="7812360" y="2060848"/>
              <a:ext cx="360040" cy="72008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7812360" y="3068960"/>
              <a:ext cx="360040" cy="72008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 xmlns:p14="http://schemas.microsoft.com/office/powerpoint/2010/main" val="416480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152455" y="170521"/>
            <a:ext cx="6324600" cy="900336"/>
          </a:xfrm>
        </p:spPr>
        <p:txBody>
          <a:bodyPr vert="horz" lIns="91440" tIns="45720" rIns="91440" bIns="45720" rtlCol="0" anchor="ctr" anchorCtr="0">
            <a:normAutofit fontScale="77500" lnSpcReduction="20000"/>
          </a:bodyPr>
          <a:lstStyle/>
          <a:p>
            <a:r>
              <a:rPr lang="en-IN" dirty="0"/>
              <a:t>Distribution of Public </a:t>
            </a:r>
            <a:r>
              <a:rPr lang="en-IN" dirty="0" smtClean="0"/>
              <a:t>Keys Public </a:t>
            </a:r>
            <a:r>
              <a:rPr lang="en-IN" dirty="0"/>
              <a:t>Key Authority</a:t>
            </a:r>
          </a:p>
        </p:txBody>
      </p:sp>
      <p:sp>
        <p:nvSpPr>
          <p:cNvPr id="4" name="Slide Number Placeholder 3"/>
          <p:cNvSpPr>
            <a:spLocks noGrp="1"/>
          </p:cNvSpPr>
          <p:nvPr>
            <p:ph type="sldNum" sz="quarter" idx="12"/>
          </p:nvPr>
        </p:nvSpPr>
        <p:spPr/>
        <p:txBody>
          <a:bodyPr/>
          <a:lstStyle/>
          <a:p>
            <a:fld id="{04252BD6-4F37-4D57-B6B7-636C2217F7DD}" type="slidenum">
              <a:rPr lang="en-US" smtClean="0"/>
              <a:pPr/>
              <a:t>10</a:t>
            </a:fld>
            <a:endParaRPr lang="en-US" dirty="0"/>
          </a:p>
        </p:txBody>
      </p:sp>
      <p:grpSp>
        <p:nvGrpSpPr>
          <p:cNvPr id="2" name="Group 21"/>
          <p:cNvGrpSpPr/>
          <p:nvPr/>
        </p:nvGrpSpPr>
        <p:grpSpPr>
          <a:xfrm>
            <a:off x="4244807" y="2060848"/>
            <a:ext cx="2232248" cy="432048"/>
            <a:chOff x="4244807" y="2060848"/>
            <a:chExt cx="2232248" cy="432048"/>
          </a:xfrm>
        </p:grpSpPr>
        <p:cxnSp>
          <p:nvCxnSpPr>
            <p:cNvPr id="23" name="Straight Arrow Connector 22"/>
            <p:cNvCxnSpPr/>
            <p:nvPr/>
          </p:nvCxnSpPr>
          <p:spPr>
            <a:xfrm>
              <a:off x="4244807" y="2420888"/>
              <a:ext cx="223224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604847"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err="1" smtClean="0">
                  <a:solidFill>
                    <a:srgbClr val="FF0000"/>
                  </a:solidFill>
                </a:rPr>
                <a:t>Request</a:t>
              </a:r>
              <a:r>
                <a:rPr lang="en-IN" sz="1400" b="1" baseline="-25000" dirty="0" err="1" smtClean="0">
                  <a:solidFill>
                    <a:srgbClr val="FF0000"/>
                  </a:solidFill>
                </a:rPr>
                <a:t>A</a:t>
              </a:r>
              <a:r>
                <a:rPr lang="en-IN" sz="1400" b="1" dirty="0" smtClean="0">
                  <a:solidFill>
                    <a:srgbClr val="FF0000"/>
                  </a:solidFill>
                </a:rPr>
                <a:t> || T</a:t>
              </a:r>
              <a:r>
                <a:rPr lang="en-IN" sz="1400" b="1" baseline="-25000" dirty="0" smtClean="0">
                  <a:solidFill>
                    <a:srgbClr val="FF0000"/>
                  </a:solidFill>
                </a:rPr>
                <a:t>A</a:t>
              </a:r>
              <a:endParaRPr lang="en-IN" sz="1400" b="1" baseline="-25000" dirty="0">
                <a:solidFill>
                  <a:srgbClr val="FF0000"/>
                </a:solidFill>
              </a:endParaRPr>
            </a:p>
          </p:txBody>
        </p:sp>
      </p:grpSp>
      <p:grpSp>
        <p:nvGrpSpPr>
          <p:cNvPr id="5" name="Group 24"/>
          <p:cNvGrpSpPr/>
          <p:nvPr/>
        </p:nvGrpSpPr>
        <p:grpSpPr>
          <a:xfrm>
            <a:off x="4211960" y="2780928"/>
            <a:ext cx="2808312" cy="432048"/>
            <a:chOff x="4283968" y="2708920"/>
            <a:chExt cx="2808312" cy="432048"/>
          </a:xfrm>
        </p:grpSpPr>
        <p:cxnSp>
          <p:nvCxnSpPr>
            <p:cNvPr id="26" name="Straight Arrow Connector 25"/>
            <p:cNvCxnSpPr/>
            <p:nvPr/>
          </p:nvCxnSpPr>
          <p:spPr>
            <a:xfrm>
              <a:off x="4283968" y="2996952"/>
              <a:ext cx="2232248" cy="0"/>
            </a:xfrm>
            <a:prstGeom prst="straightConnector1">
              <a:avLst/>
            </a:prstGeom>
            <a:ln w="254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316815" y="2708920"/>
              <a:ext cx="2775465"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r>
                <a:rPr lang="en-IN" sz="1400" b="1" dirty="0" smtClean="0">
                  <a:solidFill>
                    <a:srgbClr val="0070C0"/>
                  </a:solidFill>
                </a:rPr>
                <a:t>E (PR</a:t>
              </a:r>
              <a:r>
                <a:rPr lang="en-IN" sz="1400" b="1" baseline="-25000" dirty="0" smtClean="0">
                  <a:solidFill>
                    <a:srgbClr val="0070C0"/>
                  </a:solidFill>
                </a:rPr>
                <a:t>PKA</a:t>
              </a:r>
              <a:r>
                <a:rPr lang="en-IN" sz="1400" b="1" dirty="0" smtClean="0">
                  <a:solidFill>
                    <a:srgbClr val="0070C0"/>
                  </a:solidFill>
                </a:rPr>
                <a:t>, [PU</a:t>
              </a:r>
              <a:r>
                <a:rPr lang="en-IN" sz="1400" b="1" baseline="-25000" dirty="0" smtClean="0">
                  <a:solidFill>
                    <a:srgbClr val="0070C0"/>
                  </a:solidFill>
                </a:rPr>
                <a:t>B</a:t>
              </a:r>
              <a:r>
                <a:rPr lang="en-IN" sz="1400" b="1" dirty="0" smtClean="0">
                  <a:solidFill>
                    <a:srgbClr val="0070C0"/>
                  </a:solidFill>
                </a:rPr>
                <a:t> || </a:t>
              </a:r>
              <a:r>
                <a:rPr lang="en-IN" sz="1400" b="1" dirty="0" err="1" smtClean="0">
                  <a:solidFill>
                    <a:srgbClr val="0070C0"/>
                  </a:solidFill>
                </a:rPr>
                <a:t>Request</a:t>
              </a:r>
              <a:r>
                <a:rPr lang="en-IN" sz="1400" b="1" baseline="-25000" dirty="0" err="1" smtClean="0">
                  <a:solidFill>
                    <a:srgbClr val="0070C0"/>
                  </a:solidFill>
                </a:rPr>
                <a:t>A</a:t>
              </a:r>
              <a:r>
                <a:rPr lang="en-IN" sz="1400" b="1" dirty="0" smtClean="0">
                  <a:solidFill>
                    <a:srgbClr val="0070C0"/>
                  </a:solidFill>
                </a:rPr>
                <a:t> ||  T</a:t>
              </a:r>
              <a:r>
                <a:rPr lang="en-IN" sz="1400" b="1" baseline="-25000" dirty="0" smtClean="0">
                  <a:solidFill>
                    <a:srgbClr val="0070C0"/>
                  </a:solidFill>
                </a:rPr>
                <a:t>A</a:t>
              </a:r>
              <a:r>
                <a:rPr lang="en-IN" sz="1400" b="1" dirty="0" smtClean="0">
                  <a:solidFill>
                    <a:srgbClr val="0070C0"/>
                  </a:solidFill>
                </a:rPr>
                <a:t>])</a:t>
              </a:r>
            </a:p>
            <a:p>
              <a:pPr algn="ctr"/>
              <a:endParaRPr lang="en-IN" sz="1400" b="1" dirty="0">
                <a:solidFill>
                  <a:srgbClr val="0070C0"/>
                </a:solidFill>
              </a:endParaRPr>
            </a:p>
          </p:txBody>
        </p:sp>
      </p:grpSp>
      <p:grpSp>
        <p:nvGrpSpPr>
          <p:cNvPr id="6" name="Group 27"/>
          <p:cNvGrpSpPr/>
          <p:nvPr/>
        </p:nvGrpSpPr>
        <p:grpSpPr>
          <a:xfrm>
            <a:off x="4211960" y="3429000"/>
            <a:ext cx="4176464" cy="432048"/>
            <a:chOff x="4211960" y="3573016"/>
            <a:chExt cx="4176464" cy="432048"/>
          </a:xfrm>
        </p:grpSpPr>
        <p:cxnSp>
          <p:nvCxnSpPr>
            <p:cNvPr id="29" name="Straight Arrow Connector 28"/>
            <p:cNvCxnSpPr/>
            <p:nvPr/>
          </p:nvCxnSpPr>
          <p:spPr>
            <a:xfrm>
              <a:off x="4211960" y="3933056"/>
              <a:ext cx="4176464" cy="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4572000" y="3573016"/>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C00000"/>
                  </a:solidFill>
                </a:rPr>
                <a:t>E (PU</a:t>
              </a:r>
              <a:r>
                <a:rPr lang="en-IN" sz="1400" b="1" baseline="-25000" dirty="0" smtClean="0">
                  <a:solidFill>
                    <a:srgbClr val="C00000"/>
                  </a:solidFill>
                </a:rPr>
                <a:t>B</a:t>
              </a:r>
              <a:r>
                <a:rPr lang="en-IN" sz="1400" b="1" dirty="0" smtClean="0">
                  <a:solidFill>
                    <a:srgbClr val="C00000"/>
                  </a:solidFill>
                </a:rPr>
                <a:t>, [ID</a:t>
              </a:r>
              <a:r>
                <a:rPr lang="en-IN" sz="1400" b="1" baseline="-25000" dirty="0" smtClean="0">
                  <a:solidFill>
                    <a:srgbClr val="C00000"/>
                  </a:solidFill>
                </a:rPr>
                <a:t>A</a:t>
              </a:r>
              <a:r>
                <a:rPr lang="en-IN" sz="1400" b="1" dirty="0" smtClean="0">
                  <a:solidFill>
                    <a:srgbClr val="C00000"/>
                  </a:solidFill>
                </a:rPr>
                <a:t> || N</a:t>
              </a:r>
              <a:r>
                <a:rPr lang="en-IN" sz="1400" b="1" baseline="-25000" dirty="0" smtClean="0">
                  <a:solidFill>
                    <a:srgbClr val="C00000"/>
                  </a:solidFill>
                </a:rPr>
                <a:t>A</a:t>
              </a:r>
              <a:r>
                <a:rPr lang="en-IN" sz="1400" b="1" dirty="0" smtClean="0">
                  <a:solidFill>
                    <a:srgbClr val="C00000"/>
                  </a:solidFill>
                </a:rPr>
                <a:t>])</a:t>
              </a:r>
            </a:p>
          </p:txBody>
        </p:sp>
      </p:grpSp>
      <p:grpSp>
        <p:nvGrpSpPr>
          <p:cNvPr id="7" name="Group 30"/>
          <p:cNvGrpSpPr/>
          <p:nvPr/>
        </p:nvGrpSpPr>
        <p:grpSpPr>
          <a:xfrm>
            <a:off x="6444208" y="4077072"/>
            <a:ext cx="1944216" cy="432048"/>
            <a:chOff x="6444208" y="4509120"/>
            <a:chExt cx="1944216" cy="432048"/>
          </a:xfrm>
        </p:grpSpPr>
        <p:cxnSp>
          <p:nvCxnSpPr>
            <p:cNvPr id="32" name="Straight Arrow Connector 31"/>
            <p:cNvCxnSpPr/>
            <p:nvPr/>
          </p:nvCxnSpPr>
          <p:spPr>
            <a:xfrm>
              <a:off x="6444208" y="4941168"/>
              <a:ext cx="1944216" cy="0"/>
            </a:xfrm>
            <a:prstGeom prst="straightConnector1">
              <a:avLst/>
            </a:prstGeom>
            <a:ln w="25400">
              <a:solidFill>
                <a:srgbClr val="00B05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6660232" y="4509120"/>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err="1" smtClean="0">
                  <a:solidFill>
                    <a:srgbClr val="00B050"/>
                  </a:solidFill>
                </a:rPr>
                <a:t>Request</a:t>
              </a:r>
              <a:r>
                <a:rPr lang="en-IN" sz="1400" b="1" baseline="-25000" dirty="0" err="1" smtClean="0">
                  <a:solidFill>
                    <a:srgbClr val="00B050"/>
                  </a:solidFill>
                </a:rPr>
                <a:t>B</a:t>
              </a:r>
              <a:r>
                <a:rPr lang="en-IN" sz="1400" b="1" dirty="0" smtClean="0">
                  <a:solidFill>
                    <a:srgbClr val="00B050"/>
                  </a:solidFill>
                </a:rPr>
                <a:t> || T</a:t>
              </a:r>
              <a:r>
                <a:rPr lang="en-IN" sz="1400" b="1" baseline="-25000" dirty="0" smtClean="0">
                  <a:solidFill>
                    <a:srgbClr val="00B050"/>
                  </a:solidFill>
                </a:rPr>
                <a:t>B</a:t>
              </a:r>
            </a:p>
          </p:txBody>
        </p:sp>
      </p:grpSp>
      <p:grpSp>
        <p:nvGrpSpPr>
          <p:cNvPr id="11" name="Group 33"/>
          <p:cNvGrpSpPr/>
          <p:nvPr/>
        </p:nvGrpSpPr>
        <p:grpSpPr>
          <a:xfrm>
            <a:off x="4211960" y="5085184"/>
            <a:ext cx="4176464" cy="432048"/>
            <a:chOff x="4211960" y="5085184"/>
            <a:chExt cx="4176464" cy="432048"/>
          </a:xfrm>
        </p:grpSpPr>
        <p:cxnSp>
          <p:nvCxnSpPr>
            <p:cNvPr id="35" name="Straight Arrow Connector 34"/>
            <p:cNvCxnSpPr/>
            <p:nvPr/>
          </p:nvCxnSpPr>
          <p:spPr>
            <a:xfrm>
              <a:off x="4211960" y="5445224"/>
              <a:ext cx="4176464" cy="0"/>
            </a:xfrm>
            <a:prstGeom prst="straightConnector1">
              <a:avLst/>
            </a:prstGeom>
            <a:ln w="25400">
              <a:solidFill>
                <a:srgbClr val="FFC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4572000" y="5085184"/>
              <a:ext cx="1728192"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C000"/>
                  </a:solidFill>
                </a:rPr>
                <a:t>E (PU</a:t>
              </a:r>
              <a:r>
                <a:rPr lang="en-IN" sz="1400" b="1" baseline="-25000" dirty="0" smtClean="0">
                  <a:solidFill>
                    <a:srgbClr val="FFC000"/>
                  </a:solidFill>
                </a:rPr>
                <a:t>A</a:t>
              </a:r>
              <a:r>
                <a:rPr lang="en-IN" sz="1400" b="1" dirty="0" smtClean="0">
                  <a:solidFill>
                    <a:srgbClr val="FFC000"/>
                  </a:solidFill>
                </a:rPr>
                <a:t>, [N</a:t>
              </a:r>
              <a:r>
                <a:rPr lang="en-IN" sz="1400" b="1" baseline="-25000" dirty="0" smtClean="0">
                  <a:solidFill>
                    <a:srgbClr val="FFC000"/>
                  </a:solidFill>
                </a:rPr>
                <a:t>A </a:t>
              </a:r>
              <a:r>
                <a:rPr lang="en-IN" sz="1400" b="1" dirty="0" smtClean="0">
                  <a:solidFill>
                    <a:srgbClr val="FFC000"/>
                  </a:solidFill>
                </a:rPr>
                <a:t> || N</a:t>
              </a:r>
              <a:r>
                <a:rPr lang="en-IN" sz="1400" b="1" baseline="-25000" dirty="0" smtClean="0">
                  <a:solidFill>
                    <a:srgbClr val="FFC000"/>
                  </a:solidFill>
                </a:rPr>
                <a:t>B</a:t>
              </a:r>
              <a:r>
                <a:rPr lang="en-IN" sz="1400" b="1" dirty="0" smtClean="0">
                  <a:solidFill>
                    <a:srgbClr val="FFC000"/>
                  </a:solidFill>
                </a:rPr>
                <a:t>])</a:t>
              </a:r>
            </a:p>
          </p:txBody>
        </p:sp>
      </p:grpSp>
      <p:sp>
        <p:nvSpPr>
          <p:cNvPr id="38" name="TextBox 37"/>
          <p:cNvSpPr txBox="1"/>
          <p:nvPr/>
        </p:nvSpPr>
        <p:spPr>
          <a:xfrm>
            <a:off x="156062" y="1642380"/>
            <a:ext cx="3923928" cy="5328592"/>
          </a:xfrm>
          <a:prstGeom prst="rect">
            <a:avLst/>
          </a:prstGeom>
        </p:spPr>
        <p:txBody>
          <a:bodyPr vert="horz" lIns="91440" tIns="45720" rIns="91440" bIns="45720" rtlCol="0">
            <a:normAutofit fontScale="47500" lnSpcReduction="20000"/>
          </a:bodyPr>
          <a:lstStyle>
            <a:lvl1pPr marL="342900" marR="0" indent="-342900" fontAlgn="auto">
              <a:lnSpc>
                <a:spcPct val="100000"/>
              </a:lnSpc>
              <a:spcBef>
                <a:spcPct val="20000"/>
              </a:spcBef>
              <a:spcAft>
                <a:spcPts val="0"/>
              </a:spcAft>
              <a:buClrTx/>
              <a:buSzTx/>
              <a:buFont typeface="Arial" pitchFamily="34" charset="0"/>
              <a:buChar char="•"/>
              <a:tabLst/>
              <a:defRPr sz="3200"/>
            </a:lvl1pPr>
            <a:lvl2pPr marL="742950" marR="0" indent="-285750" fontAlgn="auto">
              <a:lnSpc>
                <a:spcPct val="100000"/>
              </a:lnSpc>
              <a:spcBef>
                <a:spcPct val="20000"/>
              </a:spcBef>
              <a:spcAft>
                <a:spcPts val="0"/>
              </a:spcAft>
              <a:buClrTx/>
              <a:buSzTx/>
              <a:buFont typeface="Arial" pitchFamily="34" charset="0"/>
              <a:buChar char="–"/>
              <a:tabLst/>
              <a:defRPr sz="2800">
                <a:cs typeface="Arial" pitchFamily="34" charset="0"/>
              </a:defRPr>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a:t>Initiator A requests the Public-Key Authority (PKA) the public key of B. The message is time stamped TA.</a:t>
            </a:r>
          </a:p>
          <a:p>
            <a:r>
              <a:rPr lang="en-IN" dirty="0"/>
              <a:t>PKA sends an encrypted response with its private key. The message contains the public key of B (PUB) and the original request and time stamp sent by A.</a:t>
            </a:r>
          </a:p>
          <a:p>
            <a:r>
              <a:rPr lang="en-IN" dirty="0"/>
              <a:t>A saves B’s public key and sends an encrypted message with B’s public key (PUB). The message contains A’s identity (IDA) and a nonce generated by A (NA).</a:t>
            </a:r>
          </a:p>
          <a:p>
            <a:r>
              <a:rPr lang="en-IN" dirty="0"/>
              <a:t>B also gets the public key of A (PUA) in the same manner from PKA.</a:t>
            </a:r>
          </a:p>
          <a:p>
            <a:r>
              <a:rPr lang="en-IN" dirty="0"/>
              <a:t>At this point of time, both A and B have each other’s public keys.</a:t>
            </a:r>
          </a:p>
          <a:p>
            <a:r>
              <a:rPr lang="en-IN" dirty="0"/>
              <a:t>B sends an encrypted message with the public key of A. The message contains the nonce generated by A and a new nonce generated by B.</a:t>
            </a:r>
          </a:p>
          <a:p>
            <a:r>
              <a:rPr lang="en-IN" dirty="0"/>
              <a:t>A responds with the nonce generated by B encrypted with the public key of B.</a:t>
            </a:r>
          </a:p>
        </p:txBody>
      </p:sp>
      <p:grpSp>
        <p:nvGrpSpPr>
          <p:cNvPr id="12" name="Group 39"/>
          <p:cNvGrpSpPr/>
          <p:nvPr/>
        </p:nvGrpSpPr>
        <p:grpSpPr>
          <a:xfrm>
            <a:off x="6405047" y="4653136"/>
            <a:ext cx="2775465" cy="432048"/>
            <a:chOff x="5141750" y="2636912"/>
            <a:chExt cx="2775465" cy="432048"/>
          </a:xfrm>
        </p:grpSpPr>
        <p:cxnSp>
          <p:nvCxnSpPr>
            <p:cNvPr id="41" name="Straight Arrow Connector 40"/>
            <p:cNvCxnSpPr/>
            <p:nvPr/>
          </p:nvCxnSpPr>
          <p:spPr>
            <a:xfrm flipH="1">
              <a:off x="5180911" y="2996952"/>
              <a:ext cx="2016224" cy="0"/>
            </a:xfrm>
            <a:prstGeom prst="straightConnector1">
              <a:avLst/>
            </a:prstGeom>
            <a:ln w="25400">
              <a:solidFill>
                <a:srgbClr val="00206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5141750" y="2636912"/>
              <a:ext cx="2775465"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r>
                <a:rPr lang="en-IN" sz="1400" b="1" dirty="0" smtClean="0">
                  <a:solidFill>
                    <a:srgbClr val="002060"/>
                  </a:solidFill>
                </a:rPr>
                <a:t>E (PR</a:t>
              </a:r>
              <a:r>
                <a:rPr lang="en-IN" sz="1400" b="1" baseline="-25000" dirty="0" smtClean="0">
                  <a:solidFill>
                    <a:srgbClr val="002060"/>
                  </a:solidFill>
                </a:rPr>
                <a:t>PKA</a:t>
              </a:r>
              <a:r>
                <a:rPr lang="en-IN" sz="1400" b="1" dirty="0" smtClean="0">
                  <a:solidFill>
                    <a:srgbClr val="002060"/>
                  </a:solidFill>
                </a:rPr>
                <a:t>, [PU</a:t>
              </a:r>
              <a:r>
                <a:rPr lang="en-IN" sz="1400" b="1" baseline="-25000" dirty="0" smtClean="0">
                  <a:solidFill>
                    <a:srgbClr val="002060"/>
                  </a:solidFill>
                </a:rPr>
                <a:t>A</a:t>
              </a:r>
              <a:r>
                <a:rPr lang="en-IN" sz="1400" b="1" dirty="0" smtClean="0">
                  <a:solidFill>
                    <a:srgbClr val="002060"/>
                  </a:solidFill>
                </a:rPr>
                <a:t> || </a:t>
              </a:r>
              <a:r>
                <a:rPr lang="en-IN" sz="1400" b="1" dirty="0" err="1" smtClean="0">
                  <a:solidFill>
                    <a:srgbClr val="002060"/>
                  </a:solidFill>
                </a:rPr>
                <a:t>Request</a:t>
              </a:r>
              <a:r>
                <a:rPr lang="en-IN" sz="1400" b="1" baseline="-25000" dirty="0" err="1" smtClean="0">
                  <a:solidFill>
                    <a:srgbClr val="002060"/>
                  </a:solidFill>
                </a:rPr>
                <a:t>B</a:t>
              </a:r>
              <a:r>
                <a:rPr lang="en-IN" sz="1400" b="1" dirty="0" smtClean="0">
                  <a:solidFill>
                    <a:srgbClr val="002060"/>
                  </a:solidFill>
                </a:rPr>
                <a:t> || T</a:t>
              </a:r>
              <a:r>
                <a:rPr lang="en-IN" sz="1400" b="1" baseline="-25000" dirty="0" smtClean="0">
                  <a:solidFill>
                    <a:srgbClr val="002060"/>
                  </a:solidFill>
                </a:rPr>
                <a:t>B</a:t>
              </a:r>
              <a:r>
                <a:rPr lang="en-IN" sz="1400" b="1" dirty="0" smtClean="0">
                  <a:solidFill>
                    <a:srgbClr val="002060"/>
                  </a:solidFill>
                </a:rPr>
                <a:t>])</a:t>
              </a:r>
            </a:p>
            <a:p>
              <a:pPr algn="ctr"/>
              <a:endParaRPr lang="en-IN" sz="1400" b="1" dirty="0">
                <a:solidFill>
                  <a:srgbClr val="0070C0"/>
                </a:solidFill>
              </a:endParaRPr>
            </a:p>
          </p:txBody>
        </p:sp>
      </p:grpSp>
      <p:grpSp>
        <p:nvGrpSpPr>
          <p:cNvPr id="20" name="Group 47"/>
          <p:cNvGrpSpPr/>
          <p:nvPr/>
        </p:nvGrpSpPr>
        <p:grpSpPr>
          <a:xfrm>
            <a:off x="4211960" y="5661248"/>
            <a:ext cx="4176464" cy="432048"/>
            <a:chOff x="4211960" y="5085184"/>
            <a:chExt cx="4176464" cy="432048"/>
          </a:xfrm>
        </p:grpSpPr>
        <p:cxnSp>
          <p:nvCxnSpPr>
            <p:cNvPr id="49" name="Straight Arrow Connector 48"/>
            <p:cNvCxnSpPr/>
            <p:nvPr/>
          </p:nvCxnSpPr>
          <p:spPr>
            <a:xfrm>
              <a:off x="4211960" y="5445224"/>
              <a:ext cx="4176464" cy="0"/>
            </a:xfrm>
            <a:prstGeom prst="straightConnector1">
              <a:avLst/>
            </a:prstGeom>
            <a:ln w="25400">
              <a:solidFill>
                <a:srgbClr val="7030A0"/>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4572000" y="5085184"/>
              <a:ext cx="1728192"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7030A0"/>
                  </a:solidFill>
                </a:rPr>
                <a:t>E (PU</a:t>
              </a:r>
              <a:r>
                <a:rPr lang="en-IN" sz="1400" b="1" baseline="-25000" dirty="0" smtClean="0">
                  <a:solidFill>
                    <a:srgbClr val="7030A0"/>
                  </a:solidFill>
                </a:rPr>
                <a:t>B</a:t>
              </a:r>
              <a:r>
                <a:rPr lang="en-IN" sz="1400" b="1" dirty="0" smtClean="0">
                  <a:solidFill>
                    <a:srgbClr val="7030A0"/>
                  </a:solidFill>
                </a:rPr>
                <a:t>, N</a:t>
              </a:r>
              <a:r>
                <a:rPr lang="en-IN" sz="1400" b="1" baseline="-25000" dirty="0" smtClean="0">
                  <a:solidFill>
                    <a:srgbClr val="7030A0"/>
                  </a:solidFill>
                </a:rPr>
                <a:t>B</a:t>
              </a:r>
              <a:r>
                <a:rPr lang="en-IN" sz="1400" b="1" dirty="0" smtClean="0">
                  <a:solidFill>
                    <a:srgbClr val="7030A0"/>
                  </a:solidFill>
                </a:rPr>
                <a:t>)</a:t>
              </a:r>
            </a:p>
          </p:txBody>
        </p:sp>
      </p:grpSp>
      <p:grpSp>
        <p:nvGrpSpPr>
          <p:cNvPr id="21" name="Group 51"/>
          <p:cNvGrpSpPr/>
          <p:nvPr/>
        </p:nvGrpSpPr>
        <p:grpSpPr>
          <a:xfrm>
            <a:off x="3851920" y="1340768"/>
            <a:ext cx="5250270" cy="5184576"/>
            <a:chOff x="3851920" y="1340768"/>
            <a:chExt cx="5250270" cy="5184576"/>
          </a:xfrm>
        </p:grpSpPr>
        <p:grpSp>
          <p:nvGrpSpPr>
            <p:cNvPr id="22" name="Group 4"/>
            <p:cNvGrpSpPr/>
            <p:nvPr/>
          </p:nvGrpSpPr>
          <p:grpSpPr>
            <a:xfrm>
              <a:off x="3851920" y="1340768"/>
              <a:ext cx="5250270" cy="5184576"/>
              <a:chOff x="3851920" y="1340768"/>
              <a:chExt cx="5250270" cy="5184576"/>
            </a:xfrm>
          </p:grpSpPr>
          <p:grpSp>
            <p:nvGrpSpPr>
              <p:cNvPr id="25" name="Group 32"/>
              <p:cNvGrpSpPr/>
              <p:nvPr/>
            </p:nvGrpSpPr>
            <p:grpSpPr>
              <a:xfrm>
                <a:off x="3851920" y="1340768"/>
                <a:ext cx="2121079" cy="635365"/>
                <a:chOff x="3851920" y="1340768"/>
                <a:chExt cx="2121079" cy="635365"/>
              </a:xfrm>
            </p:grpSpPr>
            <p:pic>
              <p:nvPicPr>
                <p:cNvPr id="17" name="Picture 2" descr="http://cliparts.co/cliparts/6ir/op7/6irop7RrT.jpg"/>
                <p:cNvPicPr>
                  <a:picLocks noChangeAspect="1" noChangeArrowheads="1"/>
                </p:cNvPicPr>
                <p:nvPr/>
              </p:nvPicPr>
              <p:blipFill>
                <a:blip r:embed="rId2" cstate="print"/>
                <a:srcRect/>
                <a:stretch>
                  <a:fillRect/>
                </a:stretch>
              </p:blipFill>
              <p:spPr bwMode="auto">
                <a:xfrm>
                  <a:off x="3851920" y="1340768"/>
                  <a:ext cx="720080" cy="635365"/>
                </a:xfrm>
                <a:prstGeom prst="rect">
                  <a:avLst/>
                </a:prstGeom>
                <a:noFill/>
              </p:spPr>
            </p:pic>
            <p:pic>
              <p:nvPicPr>
                <p:cNvPr id="18" name="Picture 16" descr="http://www.clipartbest.com/cliparts/acq/z4k/acqz4kBxi.jpeg"/>
                <p:cNvPicPr>
                  <a:picLocks noChangeAspect="1" noChangeArrowheads="1"/>
                </p:cNvPicPr>
                <p:nvPr/>
              </p:nvPicPr>
              <p:blipFill>
                <a:blip r:embed="rId3" cstate="print"/>
                <a:srcRect/>
                <a:stretch>
                  <a:fillRect/>
                </a:stretch>
              </p:blipFill>
              <p:spPr bwMode="auto">
                <a:xfrm>
                  <a:off x="4592632" y="1412776"/>
                  <a:ext cx="516271" cy="490084"/>
                </a:xfrm>
                <a:prstGeom prst="rect">
                  <a:avLst/>
                </a:prstGeom>
                <a:noFill/>
              </p:spPr>
            </p:pic>
            <p:sp>
              <p:nvSpPr>
                <p:cNvPr id="19" name="TextBox 18"/>
                <p:cNvSpPr txBox="1"/>
                <p:nvPr/>
              </p:nvSpPr>
              <p:spPr>
                <a:xfrm>
                  <a:off x="5000799" y="1340768"/>
                  <a:ext cx="972200" cy="523220"/>
                </a:xfrm>
                <a:prstGeom prst="rect">
                  <a:avLst/>
                </a:prstGeom>
                <a:noFill/>
              </p:spPr>
              <p:txBody>
                <a:bodyPr wrap="square" rtlCol="0">
                  <a:spAutoFit/>
                </a:bodyPr>
                <a:lstStyle/>
                <a:p>
                  <a:pPr algn="ctr"/>
                  <a:r>
                    <a:rPr lang="en-IN" sz="1400" b="1" dirty="0" smtClean="0"/>
                    <a:t>Initiator</a:t>
                  </a:r>
                </a:p>
                <a:p>
                  <a:pPr algn="ctr"/>
                  <a:r>
                    <a:rPr lang="en-IN" sz="1400" b="1" dirty="0" smtClean="0"/>
                    <a:t>A</a:t>
                  </a:r>
                  <a:endParaRPr lang="en-IN" sz="1400" b="1" dirty="0"/>
                </a:p>
              </p:txBody>
            </p:sp>
          </p:grpSp>
          <p:grpSp>
            <p:nvGrpSpPr>
              <p:cNvPr id="28" name="Group 34"/>
              <p:cNvGrpSpPr/>
              <p:nvPr/>
            </p:nvGrpSpPr>
            <p:grpSpPr>
              <a:xfrm>
                <a:off x="7740352" y="1340768"/>
                <a:ext cx="1361838" cy="635365"/>
                <a:chOff x="7740352" y="1340768"/>
                <a:chExt cx="1361838" cy="635365"/>
              </a:xfrm>
            </p:grpSpPr>
            <p:pic>
              <p:nvPicPr>
                <p:cNvPr id="14" name="Picture 18" descr="http://vector.me/files/images/1/6/162062/female_user_icon_clip_art.jpg"/>
                <p:cNvPicPr>
                  <a:picLocks noChangeAspect="1" noChangeArrowheads="1"/>
                </p:cNvPicPr>
                <p:nvPr/>
              </p:nvPicPr>
              <p:blipFill>
                <a:blip r:embed="rId4" cstate="print"/>
                <a:srcRect/>
                <a:stretch>
                  <a:fillRect/>
                </a:stretch>
              </p:blipFill>
              <p:spPr bwMode="auto">
                <a:xfrm>
                  <a:off x="8637295" y="1412776"/>
                  <a:ext cx="464895" cy="466081"/>
                </a:xfrm>
                <a:prstGeom prst="rect">
                  <a:avLst/>
                </a:prstGeom>
                <a:noFill/>
              </p:spPr>
            </p:pic>
            <p:pic>
              <p:nvPicPr>
                <p:cNvPr id="15" name="Picture 2" descr="http://cliparts.co/cliparts/6ir/op7/6irop7RrT.jpg"/>
                <p:cNvPicPr>
                  <a:picLocks noChangeAspect="1" noChangeArrowheads="1"/>
                </p:cNvPicPr>
                <p:nvPr/>
              </p:nvPicPr>
              <p:blipFill>
                <a:blip r:embed="rId2" cstate="print"/>
                <a:srcRect/>
                <a:stretch>
                  <a:fillRect/>
                </a:stretch>
              </p:blipFill>
              <p:spPr bwMode="auto">
                <a:xfrm>
                  <a:off x="7917215" y="1340768"/>
                  <a:ext cx="720080" cy="635365"/>
                </a:xfrm>
                <a:prstGeom prst="rect">
                  <a:avLst/>
                </a:prstGeom>
                <a:noFill/>
              </p:spPr>
            </p:pic>
            <p:sp>
              <p:nvSpPr>
                <p:cNvPr id="16" name="TextBox 15"/>
                <p:cNvSpPr txBox="1"/>
                <p:nvPr/>
              </p:nvSpPr>
              <p:spPr>
                <a:xfrm>
                  <a:off x="7740352" y="1556792"/>
                  <a:ext cx="285656" cy="307777"/>
                </a:xfrm>
                <a:prstGeom prst="rect">
                  <a:avLst/>
                </a:prstGeom>
                <a:noFill/>
              </p:spPr>
              <p:txBody>
                <a:bodyPr wrap="none" rtlCol="0">
                  <a:spAutoFit/>
                </a:bodyPr>
                <a:lstStyle/>
                <a:p>
                  <a:r>
                    <a:rPr lang="en-IN" sz="1400" b="1" dirty="0" smtClean="0"/>
                    <a:t>B</a:t>
                  </a:r>
                  <a:endParaRPr lang="en-IN" sz="1400" b="1" dirty="0"/>
                </a:p>
              </p:txBody>
            </p:sp>
          </p:grpSp>
          <p:cxnSp>
            <p:nvCxnSpPr>
              <p:cNvPr id="8" name="Straight Connector 7"/>
              <p:cNvCxnSpPr/>
              <p:nvPr/>
            </p:nvCxnSpPr>
            <p:spPr>
              <a:xfrm>
                <a:off x="4211960" y="1988840"/>
                <a:ext cx="0" cy="4536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388424" y="1916832"/>
                <a:ext cx="39161" cy="46085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444208" y="1988840"/>
                <a:ext cx="0" cy="4536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732240" y="1340768"/>
                <a:ext cx="1080120" cy="738664"/>
              </a:xfrm>
              <a:prstGeom prst="rect">
                <a:avLst/>
              </a:prstGeom>
              <a:noFill/>
            </p:spPr>
            <p:txBody>
              <a:bodyPr wrap="square" rtlCol="0">
                <a:spAutoFit/>
              </a:bodyPr>
              <a:lstStyle/>
              <a:p>
                <a:pPr algn="ctr"/>
                <a:r>
                  <a:rPr lang="en-IN" sz="1400" b="1" dirty="0" smtClean="0"/>
                  <a:t>Public-Key Authority</a:t>
                </a:r>
              </a:p>
              <a:p>
                <a:pPr algn="ctr"/>
                <a:r>
                  <a:rPr lang="en-IN" sz="1400" b="1" dirty="0" smtClean="0"/>
                  <a:t>(PKA)</a:t>
                </a:r>
                <a:endParaRPr lang="en-IN" sz="1400" b="1" dirty="0"/>
              </a:p>
            </p:txBody>
          </p:sp>
        </p:grpSp>
        <p:pic>
          <p:nvPicPr>
            <p:cNvPr id="51" name="Picture 4" descr="http://l.rgbimg.com/cache1vvfLh/users/x/xy/xymonau/600/ok86agU.jpg"/>
            <p:cNvPicPr>
              <a:picLocks noChangeAspect="1" noChangeArrowheads="1"/>
            </p:cNvPicPr>
            <p:nvPr/>
          </p:nvPicPr>
          <p:blipFill>
            <a:blip r:embed="rId5" cstate="print"/>
            <a:srcRect/>
            <a:stretch>
              <a:fillRect/>
            </a:stretch>
          </p:blipFill>
          <p:spPr bwMode="auto">
            <a:xfrm>
              <a:off x="6049941" y="1412776"/>
              <a:ext cx="754307" cy="484014"/>
            </a:xfrm>
            <a:prstGeom prst="rect">
              <a:avLst/>
            </a:prstGeom>
            <a:noFill/>
          </p:spPr>
        </p:pic>
      </p:grpSp>
    </p:spTree>
    <p:extLst>
      <p:ext uri="{BB962C8B-B14F-4D97-AF65-F5344CB8AC3E}">
        <p14:creationId xmlns="" xmlns:p14="http://schemas.microsoft.com/office/powerpoint/2010/main" val="95783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8">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8">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28279"/>
            <a:ext cx="8229600" cy="5031507"/>
          </a:xfrm>
        </p:spPr>
        <p:txBody>
          <a:bodyPr vert="horz" lIns="91440" tIns="45720" rIns="91440" bIns="45720" rtlCol="0">
            <a:normAutofit fontScale="70000" lnSpcReduction="20000"/>
          </a:bodyPr>
          <a:lstStyle/>
          <a:p>
            <a:pPr>
              <a:buClrTx/>
              <a:buChar char="•"/>
            </a:pPr>
            <a:r>
              <a:rPr lang="en-IN" sz="3200" dirty="0">
                <a:cs typeface="+mn-cs"/>
              </a:rPr>
              <a:t>Certificates can be used by participants to exchange keys without contacting a public-key authority, in a way that is as reliable as if the keys were obtained directly from a public-key authority.</a:t>
            </a:r>
          </a:p>
          <a:p>
            <a:pPr>
              <a:buClrTx/>
              <a:buChar char="•"/>
            </a:pPr>
            <a:r>
              <a:rPr lang="en-IN" sz="3200" dirty="0">
                <a:cs typeface="+mn-cs"/>
              </a:rPr>
              <a:t>A certificate consists of a public key, an identifier of the key owner, and the whole block signed by a trusted third party.</a:t>
            </a:r>
          </a:p>
          <a:p>
            <a:pPr>
              <a:buClrTx/>
              <a:buChar char="•"/>
            </a:pPr>
            <a:r>
              <a:rPr lang="en-IN" sz="3200" dirty="0">
                <a:cs typeface="+mn-cs"/>
              </a:rPr>
              <a:t>A user can present his or her public key to the authority in a secure manner and obtain a certificate. </a:t>
            </a:r>
          </a:p>
          <a:p>
            <a:pPr>
              <a:buClrTx/>
              <a:buChar char="•"/>
            </a:pPr>
            <a:r>
              <a:rPr lang="en-IN" sz="3200" dirty="0">
                <a:cs typeface="+mn-cs"/>
              </a:rPr>
              <a:t>The user can then publish the certificate. Anyone needing this user’s public key can obtain the certificate and verify that it is valid by way of the attached trusted signature.</a:t>
            </a:r>
          </a:p>
          <a:p>
            <a:pPr>
              <a:buClrTx/>
              <a:buChar char="•"/>
            </a:pPr>
            <a:r>
              <a:rPr lang="en-IN" sz="3200" dirty="0">
                <a:cs typeface="+mn-cs"/>
              </a:rPr>
              <a:t>Requirements of Public-Key Certificate:</a:t>
            </a:r>
          </a:p>
          <a:p>
            <a:pPr lvl="1"/>
            <a:r>
              <a:rPr lang="en-IN" b="1" dirty="0"/>
              <a:t>Any participant can read a certificate to determine the name and public key of the certificate’s owner.</a:t>
            </a:r>
          </a:p>
          <a:p>
            <a:pPr lvl="1"/>
            <a:r>
              <a:rPr lang="en-IN" b="1" dirty="0"/>
              <a:t>Any participant can verify that the certificate originated from the certificate authority and is not counterfeit.</a:t>
            </a:r>
          </a:p>
          <a:p>
            <a:pPr lvl="1"/>
            <a:r>
              <a:rPr lang="en-IN" b="1" dirty="0"/>
              <a:t>Only the certificate authority can create and update certificates.</a:t>
            </a:r>
          </a:p>
          <a:p>
            <a:pPr lvl="1"/>
            <a:r>
              <a:rPr lang="en-IN" b="1" dirty="0"/>
              <a:t>Any participant can verify the currency (freshness) of the certificate.</a:t>
            </a:r>
          </a:p>
        </p:txBody>
      </p:sp>
      <p:sp>
        <p:nvSpPr>
          <p:cNvPr id="3" name="Content Placeholder 2"/>
          <p:cNvSpPr>
            <a:spLocks noGrp="1"/>
          </p:cNvSpPr>
          <p:nvPr>
            <p:ph sz="quarter" idx="10"/>
          </p:nvPr>
        </p:nvSpPr>
        <p:spPr>
          <a:xfrm>
            <a:off x="304800" y="188640"/>
            <a:ext cx="6324600" cy="900336"/>
          </a:xfrm>
        </p:spPr>
        <p:txBody>
          <a:bodyPr vert="horz" lIns="91440" tIns="45720" rIns="91440" bIns="45720" rtlCol="0" anchor="ctr" anchorCtr="0">
            <a:normAutofit fontScale="77500" lnSpcReduction="20000"/>
          </a:bodyPr>
          <a:lstStyle/>
          <a:p>
            <a:r>
              <a:rPr lang="en-IN" dirty="0"/>
              <a:t>Distribution of Public </a:t>
            </a:r>
            <a:r>
              <a:rPr lang="en-IN" dirty="0" smtClean="0"/>
              <a:t>Keys Public-Key </a:t>
            </a:r>
            <a:r>
              <a:rPr lang="en-IN" dirty="0"/>
              <a:t>Certificates</a:t>
            </a:r>
          </a:p>
        </p:txBody>
      </p:sp>
      <p:sp>
        <p:nvSpPr>
          <p:cNvPr id="4" name="Slide Number Placeholder 3"/>
          <p:cNvSpPr>
            <a:spLocks noGrp="1"/>
          </p:cNvSpPr>
          <p:nvPr>
            <p:ph type="sldNum" sz="quarter" idx="12"/>
          </p:nvPr>
        </p:nvSpPr>
        <p:spPr/>
        <p:txBody>
          <a:bodyPr/>
          <a:lstStyle/>
          <a:p>
            <a:fld id="{04252BD6-4F37-4D57-B6B7-636C2217F7DD}" type="slidenum">
              <a:rPr lang="en-US" smtClean="0"/>
              <a:pPr/>
              <a:t>11</a:t>
            </a:fld>
            <a:endParaRPr lang="en-US" dirty="0"/>
          </a:p>
        </p:txBody>
      </p:sp>
    </p:spTree>
    <p:extLst>
      <p:ext uri="{BB962C8B-B14F-4D97-AF65-F5344CB8AC3E}">
        <p14:creationId xmlns="" xmlns:p14="http://schemas.microsoft.com/office/powerpoint/2010/main" val="34776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274723" y="188815"/>
            <a:ext cx="6324600" cy="863745"/>
          </a:xfrm>
        </p:spPr>
        <p:txBody>
          <a:bodyPr vert="horz" lIns="91440" tIns="45720" rIns="91440" bIns="45720" rtlCol="0" anchor="ctr" anchorCtr="0">
            <a:normAutofit fontScale="77500" lnSpcReduction="20000"/>
          </a:bodyPr>
          <a:lstStyle/>
          <a:p>
            <a:r>
              <a:rPr lang="en-IN" dirty="0"/>
              <a:t>Exchange of Public-Key </a:t>
            </a:r>
            <a:r>
              <a:rPr lang="en-IN" dirty="0" smtClean="0"/>
              <a:t>Certificates Basic </a:t>
            </a:r>
            <a:r>
              <a:rPr lang="en-IN" dirty="0"/>
              <a:t>Idea</a:t>
            </a:r>
          </a:p>
        </p:txBody>
      </p:sp>
      <p:sp>
        <p:nvSpPr>
          <p:cNvPr id="21" name="TextBox 20"/>
          <p:cNvSpPr txBox="1"/>
          <p:nvPr/>
        </p:nvSpPr>
        <p:spPr>
          <a:xfrm>
            <a:off x="18256" y="1571957"/>
            <a:ext cx="3995936" cy="5154245"/>
          </a:xfrm>
          <a:prstGeom prst="rect">
            <a:avLst/>
          </a:prstGeom>
        </p:spPr>
        <p:txBody>
          <a:bodyPr vert="horz" lIns="91440" tIns="45720" rIns="91440" bIns="45720" rtlCol="0">
            <a:normAutofit fontScale="55000" lnSpcReduction="20000"/>
          </a:bodyPr>
          <a:lstStyle>
            <a:lvl1pPr marL="342900" marR="0" indent="-342900" fontAlgn="auto">
              <a:lnSpc>
                <a:spcPct val="100000"/>
              </a:lnSpc>
              <a:spcBef>
                <a:spcPct val="20000"/>
              </a:spcBef>
              <a:spcAft>
                <a:spcPts val="0"/>
              </a:spcAft>
              <a:buClrTx/>
              <a:buSzTx/>
              <a:buFont typeface="Arial" pitchFamily="34" charset="0"/>
              <a:buChar char="•"/>
              <a:tabLst/>
              <a:defRPr sz="3200"/>
            </a:lvl1pPr>
            <a:lvl2pPr marL="742950" marR="0" lvl="1" indent="-285750" fontAlgn="auto">
              <a:lnSpc>
                <a:spcPct val="100000"/>
              </a:lnSpc>
              <a:spcBef>
                <a:spcPct val="20000"/>
              </a:spcBef>
              <a:spcAft>
                <a:spcPts val="0"/>
              </a:spcAft>
              <a:buClrTx/>
              <a:buSzTx/>
              <a:buFont typeface="Arial" pitchFamily="34" charset="0"/>
              <a:buChar char="–"/>
              <a:tabLst/>
              <a:defRPr sz="2800">
                <a:cs typeface="Arial" pitchFamily="34" charset="0"/>
              </a:defRPr>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a:t>A applies to the Certificate Authority (CA), supplying its public key (PUA) and requesting a certificate.</a:t>
            </a:r>
          </a:p>
          <a:p>
            <a:r>
              <a:rPr lang="en-IN" dirty="0"/>
              <a:t>Certificate Authority (CA) prepares a certificate CA for A which is an encrypted message of the following using its private key (PRCA):</a:t>
            </a:r>
          </a:p>
          <a:p>
            <a:pPr lvl="1"/>
            <a:r>
              <a:rPr lang="en-IN" dirty="0"/>
              <a:t>Time stamp (TA)</a:t>
            </a:r>
          </a:p>
          <a:p>
            <a:pPr lvl="1"/>
            <a:r>
              <a:rPr lang="en-IN" dirty="0"/>
              <a:t>ID of A (IDA) as known to CA.</a:t>
            </a:r>
          </a:p>
          <a:p>
            <a:pPr lvl="1"/>
            <a:r>
              <a:rPr lang="en-IN" dirty="0"/>
              <a:t>Public Key of A (PUA) supplied by A.</a:t>
            </a:r>
          </a:p>
          <a:p>
            <a:pPr lvl="1"/>
            <a:r>
              <a:rPr lang="en-IN" dirty="0"/>
              <a:t>B also receives its certificate from CA in the same manner.</a:t>
            </a:r>
          </a:p>
          <a:p>
            <a:pPr lvl="1"/>
            <a:r>
              <a:rPr lang="en-IN" dirty="0"/>
              <a:t>A and B now can exchange their certificates directly without CA in between.</a:t>
            </a:r>
          </a:p>
          <a:p>
            <a:pPr lvl="1"/>
            <a:r>
              <a:rPr lang="en-IN" dirty="0"/>
              <a:t>B can decrypt the certificate of A using the public key of CA and retrieve TA, IDA and PUA. In the same manner, A can also decrypt the certificate of B.</a:t>
            </a:r>
          </a:p>
          <a:p>
            <a:pPr lvl="1"/>
            <a:r>
              <a:rPr lang="en-IN" dirty="0"/>
              <a:t>If time stamp (T) is old the certificate must be considered expired.</a:t>
            </a:r>
          </a:p>
        </p:txBody>
      </p:sp>
      <p:grpSp>
        <p:nvGrpSpPr>
          <p:cNvPr id="2" name="Group 21"/>
          <p:cNvGrpSpPr/>
          <p:nvPr/>
        </p:nvGrpSpPr>
        <p:grpSpPr>
          <a:xfrm>
            <a:off x="4244807" y="2060848"/>
            <a:ext cx="2271409" cy="432048"/>
            <a:chOff x="4244807" y="2060848"/>
            <a:chExt cx="2271409" cy="432048"/>
          </a:xfrm>
        </p:grpSpPr>
        <p:cxnSp>
          <p:nvCxnSpPr>
            <p:cNvPr id="23" name="Straight Arrow Connector 22"/>
            <p:cNvCxnSpPr/>
            <p:nvPr/>
          </p:nvCxnSpPr>
          <p:spPr>
            <a:xfrm>
              <a:off x="4244807" y="2420888"/>
              <a:ext cx="2271409"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604847"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0000"/>
                  </a:solidFill>
                </a:rPr>
                <a:t>PU</a:t>
              </a:r>
              <a:r>
                <a:rPr lang="en-IN" sz="1400" b="1" baseline="-25000" dirty="0" smtClean="0">
                  <a:solidFill>
                    <a:srgbClr val="FF0000"/>
                  </a:solidFill>
                </a:rPr>
                <a:t>A</a:t>
              </a:r>
              <a:endParaRPr lang="en-IN" sz="1400" b="1" baseline="-25000" dirty="0">
                <a:solidFill>
                  <a:srgbClr val="FF0000"/>
                </a:solidFill>
              </a:endParaRPr>
            </a:p>
          </p:txBody>
        </p:sp>
      </p:grpSp>
      <p:grpSp>
        <p:nvGrpSpPr>
          <p:cNvPr id="5" name="Group 25"/>
          <p:cNvGrpSpPr/>
          <p:nvPr/>
        </p:nvGrpSpPr>
        <p:grpSpPr>
          <a:xfrm>
            <a:off x="3995936" y="2708920"/>
            <a:ext cx="2775465" cy="432048"/>
            <a:chOff x="4067944" y="2636912"/>
            <a:chExt cx="2775465" cy="432048"/>
          </a:xfrm>
        </p:grpSpPr>
        <p:cxnSp>
          <p:nvCxnSpPr>
            <p:cNvPr id="27" name="Straight Arrow Connector 26"/>
            <p:cNvCxnSpPr/>
            <p:nvPr/>
          </p:nvCxnSpPr>
          <p:spPr>
            <a:xfrm>
              <a:off x="4283968" y="2996952"/>
              <a:ext cx="2304256" cy="0"/>
            </a:xfrm>
            <a:prstGeom prst="straightConnector1">
              <a:avLst/>
            </a:prstGeom>
            <a:ln w="254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067944" y="2636912"/>
              <a:ext cx="2775465"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0070C0"/>
                  </a:solidFill>
                </a:rPr>
                <a:t>C</a:t>
              </a:r>
              <a:r>
                <a:rPr lang="en-IN" sz="1400" b="1" baseline="-25000" dirty="0" smtClean="0">
                  <a:solidFill>
                    <a:srgbClr val="0070C0"/>
                  </a:solidFill>
                </a:rPr>
                <a:t>A</a:t>
              </a:r>
              <a:r>
                <a:rPr lang="en-IN" sz="1400" b="1" dirty="0" smtClean="0">
                  <a:solidFill>
                    <a:srgbClr val="0070C0"/>
                  </a:solidFill>
                </a:rPr>
                <a:t> = E (PR</a:t>
              </a:r>
              <a:r>
                <a:rPr lang="en-IN" sz="1400" b="1" baseline="-25000" dirty="0" smtClean="0">
                  <a:solidFill>
                    <a:srgbClr val="0070C0"/>
                  </a:solidFill>
                </a:rPr>
                <a:t>CA</a:t>
              </a:r>
              <a:r>
                <a:rPr lang="en-IN" sz="1400" b="1" dirty="0" smtClean="0">
                  <a:solidFill>
                    <a:srgbClr val="0070C0"/>
                  </a:solidFill>
                </a:rPr>
                <a:t>, [T</a:t>
              </a:r>
              <a:r>
                <a:rPr lang="en-IN" sz="1400" b="1" baseline="-25000" dirty="0" smtClean="0">
                  <a:solidFill>
                    <a:srgbClr val="0070C0"/>
                  </a:solidFill>
                </a:rPr>
                <a:t>A</a:t>
              </a:r>
              <a:r>
                <a:rPr lang="en-IN" sz="1400" b="1" dirty="0" smtClean="0">
                  <a:solidFill>
                    <a:srgbClr val="0070C0"/>
                  </a:solidFill>
                </a:rPr>
                <a:t> || ID</a:t>
              </a:r>
              <a:r>
                <a:rPr lang="en-IN" sz="1400" b="1" baseline="-25000" dirty="0" smtClean="0">
                  <a:solidFill>
                    <a:srgbClr val="0070C0"/>
                  </a:solidFill>
                </a:rPr>
                <a:t>A</a:t>
              </a:r>
              <a:r>
                <a:rPr lang="en-IN" sz="1400" b="1" dirty="0" smtClean="0">
                  <a:solidFill>
                    <a:srgbClr val="0070C0"/>
                  </a:solidFill>
                </a:rPr>
                <a:t> || PU</a:t>
              </a:r>
              <a:r>
                <a:rPr lang="en-IN" sz="1400" b="1" baseline="-25000" dirty="0" smtClean="0">
                  <a:solidFill>
                    <a:srgbClr val="0070C0"/>
                  </a:solidFill>
                </a:rPr>
                <a:t>A</a:t>
              </a:r>
              <a:r>
                <a:rPr lang="en-IN" sz="1400" b="1" dirty="0" smtClean="0">
                  <a:solidFill>
                    <a:srgbClr val="0070C0"/>
                  </a:solidFill>
                </a:rPr>
                <a:t>])</a:t>
              </a:r>
              <a:endParaRPr lang="en-IN" sz="1400" b="1" dirty="0">
                <a:solidFill>
                  <a:srgbClr val="0070C0"/>
                </a:solidFill>
              </a:endParaRPr>
            </a:p>
          </p:txBody>
        </p:sp>
      </p:grpSp>
      <p:grpSp>
        <p:nvGrpSpPr>
          <p:cNvPr id="6" name="Group 33"/>
          <p:cNvGrpSpPr/>
          <p:nvPr/>
        </p:nvGrpSpPr>
        <p:grpSpPr>
          <a:xfrm>
            <a:off x="6516216" y="3284984"/>
            <a:ext cx="2016224" cy="432048"/>
            <a:chOff x="6516216" y="4509120"/>
            <a:chExt cx="2016224" cy="432048"/>
          </a:xfrm>
        </p:grpSpPr>
        <p:cxnSp>
          <p:nvCxnSpPr>
            <p:cNvPr id="35" name="Straight Arrow Connector 34"/>
            <p:cNvCxnSpPr/>
            <p:nvPr/>
          </p:nvCxnSpPr>
          <p:spPr>
            <a:xfrm>
              <a:off x="6516216" y="4941168"/>
              <a:ext cx="2016224" cy="0"/>
            </a:xfrm>
            <a:prstGeom prst="straightConnector1">
              <a:avLst/>
            </a:prstGeom>
            <a:ln w="25400">
              <a:solidFill>
                <a:srgbClr val="00B05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6660232" y="4509120"/>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00B050"/>
                  </a:solidFill>
                </a:rPr>
                <a:t>PU</a:t>
              </a:r>
              <a:r>
                <a:rPr lang="en-IN" sz="1400" b="1" baseline="-25000" dirty="0" smtClean="0">
                  <a:solidFill>
                    <a:srgbClr val="00B050"/>
                  </a:solidFill>
                </a:rPr>
                <a:t>B</a:t>
              </a:r>
            </a:p>
          </p:txBody>
        </p:sp>
      </p:grpSp>
      <p:grpSp>
        <p:nvGrpSpPr>
          <p:cNvPr id="7" name="Group 49"/>
          <p:cNvGrpSpPr/>
          <p:nvPr/>
        </p:nvGrpSpPr>
        <p:grpSpPr>
          <a:xfrm>
            <a:off x="5972999" y="3933056"/>
            <a:ext cx="2775465" cy="502627"/>
            <a:chOff x="5972999" y="3933056"/>
            <a:chExt cx="2775465" cy="502627"/>
          </a:xfrm>
        </p:grpSpPr>
        <p:cxnSp>
          <p:nvCxnSpPr>
            <p:cNvPr id="37" name="Straight Arrow Connector 36"/>
            <p:cNvCxnSpPr/>
            <p:nvPr/>
          </p:nvCxnSpPr>
          <p:spPr>
            <a:xfrm flipH="1">
              <a:off x="6529864" y="4435683"/>
              <a:ext cx="2016224" cy="0"/>
            </a:xfrm>
            <a:prstGeom prst="straightConnector1">
              <a:avLst/>
            </a:prstGeom>
            <a:ln w="25400">
              <a:solidFill>
                <a:srgbClr val="7030A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5972999" y="3933056"/>
              <a:ext cx="2775465"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7030A0"/>
                  </a:solidFill>
                </a:rPr>
                <a:t>C</a:t>
              </a:r>
              <a:r>
                <a:rPr lang="en-IN" sz="1400" b="1" baseline="-25000" dirty="0" smtClean="0">
                  <a:solidFill>
                    <a:srgbClr val="7030A0"/>
                  </a:solidFill>
                </a:rPr>
                <a:t>B</a:t>
              </a:r>
              <a:r>
                <a:rPr lang="en-IN" sz="1400" b="1" dirty="0" smtClean="0">
                  <a:solidFill>
                    <a:srgbClr val="7030A0"/>
                  </a:solidFill>
                </a:rPr>
                <a:t> = E (PR</a:t>
              </a:r>
              <a:r>
                <a:rPr lang="en-IN" sz="1400" b="1" baseline="-25000" dirty="0" smtClean="0">
                  <a:solidFill>
                    <a:srgbClr val="7030A0"/>
                  </a:solidFill>
                </a:rPr>
                <a:t>CA</a:t>
              </a:r>
              <a:r>
                <a:rPr lang="en-IN" sz="1400" b="1" dirty="0" smtClean="0">
                  <a:solidFill>
                    <a:srgbClr val="7030A0"/>
                  </a:solidFill>
                </a:rPr>
                <a:t>, [T</a:t>
              </a:r>
              <a:r>
                <a:rPr lang="en-IN" sz="1400" b="1" baseline="-25000" dirty="0" smtClean="0">
                  <a:solidFill>
                    <a:srgbClr val="7030A0"/>
                  </a:solidFill>
                </a:rPr>
                <a:t>B</a:t>
              </a:r>
              <a:r>
                <a:rPr lang="en-IN" sz="1400" b="1" dirty="0" smtClean="0">
                  <a:solidFill>
                    <a:srgbClr val="7030A0"/>
                  </a:solidFill>
                </a:rPr>
                <a:t> || ID</a:t>
              </a:r>
              <a:r>
                <a:rPr lang="en-IN" sz="1400" b="1" baseline="-25000" dirty="0" smtClean="0">
                  <a:solidFill>
                    <a:srgbClr val="7030A0"/>
                  </a:solidFill>
                </a:rPr>
                <a:t>B</a:t>
              </a:r>
              <a:r>
                <a:rPr lang="en-IN" sz="1400" b="1" dirty="0" smtClean="0">
                  <a:solidFill>
                    <a:srgbClr val="7030A0"/>
                  </a:solidFill>
                </a:rPr>
                <a:t> || PU</a:t>
              </a:r>
              <a:r>
                <a:rPr lang="en-IN" sz="1400" b="1" baseline="-25000" dirty="0" smtClean="0">
                  <a:solidFill>
                    <a:srgbClr val="7030A0"/>
                  </a:solidFill>
                </a:rPr>
                <a:t>B</a:t>
              </a:r>
              <a:r>
                <a:rPr lang="en-IN" sz="1400" b="1" dirty="0" smtClean="0">
                  <a:solidFill>
                    <a:srgbClr val="7030A0"/>
                  </a:solidFill>
                </a:rPr>
                <a:t>])</a:t>
              </a:r>
              <a:endParaRPr lang="en-IN" sz="1400" b="1" dirty="0">
                <a:solidFill>
                  <a:srgbClr val="7030A0"/>
                </a:solidFill>
              </a:endParaRPr>
            </a:p>
          </p:txBody>
        </p:sp>
      </p:grpSp>
      <p:grpSp>
        <p:nvGrpSpPr>
          <p:cNvPr id="8" name="Group 40"/>
          <p:cNvGrpSpPr/>
          <p:nvPr/>
        </p:nvGrpSpPr>
        <p:grpSpPr>
          <a:xfrm>
            <a:off x="4211960" y="4581128"/>
            <a:ext cx="4320480" cy="432048"/>
            <a:chOff x="4244807" y="2060848"/>
            <a:chExt cx="4320480" cy="432048"/>
          </a:xfrm>
        </p:grpSpPr>
        <p:cxnSp>
          <p:nvCxnSpPr>
            <p:cNvPr id="42" name="Straight Arrow Connector 41"/>
            <p:cNvCxnSpPr/>
            <p:nvPr/>
          </p:nvCxnSpPr>
          <p:spPr>
            <a:xfrm>
              <a:off x="4244807" y="2420888"/>
              <a:ext cx="4320480" cy="0"/>
            </a:xfrm>
            <a:prstGeom prst="straightConnector1">
              <a:avLst/>
            </a:prstGeom>
            <a:ln w="254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4604847"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C000"/>
                  </a:solidFill>
                </a:rPr>
                <a:t>C</a:t>
              </a:r>
              <a:r>
                <a:rPr lang="en-IN" sz="1400" b="1" baseline="-25000" dirty="0" smtClean="0">
                  <a:solidFill>
                    <a:srgbClr val="FFC000"/>
                  </a:solidFill>
                </a:rPr>
                <a:t>A</a:t>
              </a:r>
              <a:endParaRPr lang="en-IN" sz="1400" b="1" baseline="-25000" dirty="0">
                <a:solidFill>
                  <a:srgbClr val="FFC000"/>
                </a:solidFill>
              </a:endParaRPr>
            </a:p>
          </p:txBody>
        </p:sp>
      </p:grpSp>
      <p:grpSp>
        <p:nvGrpSpPr>
          <p:cNvPr id="9" name="Group 44"/>
          <p:cNvGrpSpPr/>
          <p:nvPr/>
        </p:nvGrpSpPr>
        <p:grpSpPr>
          <a:xfrm>
            <a:off x="4211960" y="5085184"/>
            <a:ext cx="4320480" cy="432048"/>
            <a:chOff x="4211960" y="4509120"/>
            <a:chExt cx="4320480" cy="432048"/>
          </a:xfrm>
        </p:grpSpPr>
        <p:cxnSp>
          <p:nvCxnSpPr>
            <p:cNvPr id="46" name="Straight Arrow Connector 45"/>
            <p:cNvCxnSpPr/>
            <p:nvPr/>
          </p:nvCxnSpPr>
          <p:spPr>
            <a:xfrm>
              <a:off x="4211960" y="4941168"/>
              <a:ext cx="4320480" cy="0"/>
            </a:xfrm>
            <a:prstGeom prst="straightConnector1">
              <a:avLst/>
            </a:prstGeom>
            <a:ln w="25400">
              <a:solidFill>
                <a:srgbClr val="C0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6660232" y="4509120"/>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C00000"/>
                  </a:solidFill>
                </a:rPr>
                <a:t>C</a:t>
              </a:r>
              <a:r>
                <a:rPr lang="en-IN" sz="1400" b="1" baseline="-25000" dirty="0" smtClean="0">
                  <a:solidFill>
                    <a:srgbClr val="C00000"/>
                  </a:solidFill>
                </a:rPr>
                <a:t>B</a:t>
              </a:r>
            </a:p>
          </p:txBody>
        </p:sp>
      </p:grpSp>
      <p:grpSp>
        <p:nvGrpSpPr>
          <p:cNvPr id="19" name="Group 47"/>
          <p:cNvGrpSpPr/>
          <p:nvPr/>
        </p:nvGrpSpPr>
        <p:grpSpPr>
          <a:xfrm>
            <a:off x="3851920" y="1340768"/>
            <a:ext cx="5250270" cy="5184576"/>
            <a:chOff x="3851920" y="1340768"/>
            <a:chExt cx="5250270" cy="5184576"/>
          </a:xfrm>
        </p:grpSpPr>
        <p:grpSp>
          <p:nvGrpSpPr>
            <p:cNvPr id="22" name="Group 48"/>
            <p:cNvGrpSpPr/>
            <p:nvPr/>
          </p:nvGrpSpPr>
          <p:grpSpPr>
            <a:xfrm>
              <a:off x="3851920" y="1340768"/>
              <a:ext cx="5250270" cy="5184576"/>
              <a:chOff x="3851920" y="1340768"/>
              <a:chExt cx="5250270" cy="5184576"/>
            </a:xfrm>
          </p:grpSpPr>
          <p:grpSp>
            <p:nvGrpSpPr>
              <p:cNvPr id="25" name="Group 4"/>
              <p:cNvGrpSpPr/>
              <p:nvPr/>
            </p:nvGrpSpPr>
            <p:grpSpPr>
              <a:xfrm>
                <a:off x="3851920" y="1340768"/>
                <a:ext cx="5250270" cy="5184576"/>
                <a:chOff x="3851920" y="1340768"/>
                <a:chExt cx="5250270" cy="5184576"/>
              </a:xfrm>
            </p:grpSpPr>
            <p:grpSp>
              <p:nvGrpSpPr>
                <p:cNvPr id="26" name="Group 32"/>
                <p:cNvGrpSpPr/>
                <p:nvPr/>
              </p:nvGrpSpPr>
              <p:grpSpPr>
                <a:xfrm>
                  <a:off x="3851920" y="1340768"/>
                  <a:ext cx="1256983" cy="635365"/>
                  <a:chOff x="3851920" y="1340768"/>
                  <a:chExt cx="1256983" cy="635365"/>
                </a:xfrm>
              </p:grpSpPr>
              <p:pic>
                <p:nvPicPr>
                  <p:cNvPr id="17" name="Picture 2" descr="http://cliparts.co/cliparts/6ir/op7/6irop7RrT.jpg"/>
                  <p:cNvPicPr>
                    <a:picLocks noChangeAspect="1" noChangeArrowheads="1"/>
                  </p:cNvPicPr>
                  <p:nvPr/>
                </p:nvPicPr>
                <p:blipFill>
                  <a:blip r:embed="rId2" cstate="print"/>
                  <a:srcRect/>
                  <a:stretch>
                    <a:fillRect/>
                  </a:stretch>
                </p:blipFill>
                <p:spPr bwMode="auto">
                  <a:xfrm>
                    <a:off x="3851920" y="1340768"/>
                    <a:ext cx="720080" cy="635365"/>
                  </a:xfrm>
                  <a:prstGeom prst="rect">
                    <a:avLst/>
                  </a:prstGeom>
                  <a:noFill/>
                </p:spPr>
              </p:pic>
              <p:pic>
                <p:nvPicPr>
                  <p:cNvPr id="18" name="Picture 16" descr="http://www.clipartbest.com/cliparts/acq/z4k/acqz4kBxi.jpeg"/>
                  <p:cNvPicPr>
                    <a:picLocks noChangeAspect="1" noChangeArrowheads="1"/>
                  </p:cNvPicPr>
                  <p:nvPr/>
                </p:nvPicPr>
                <p:blipFill>
                  <a:blip r:embed="rId3" cstate="print"/>
                  <a:srcRect/>
                  <a:stretch>
                    <a:fillRect/>
                  </a:stretch>
                </p:blipFill>
                <p:spPr bwMode="auto">
                  <a:xfrm>
                    <a:off x="4592632" y="1412776"/>
                    <a:ext cx="516271" cy="490084"/>
                  </a:xfrm>
                  <a:prstGeom prst="rect">
                    <a:avLst/>
                  </a:prstGeom>
                  <a:noFill/>
                </p:spPr>
              </p:pic>
            </p:grpSp>
            <p:grpSp>
              <p:nvGrpSpPr>
                <p:cNvPr id="29" name="Group 34"/>
                <p:cNvGrpSpPr/>
                <p:nvPr/>
              </p:nvGrpSpPr>
              <p:grpSpPr>
                <a:xfrm>
                  <a:off x="7917215" y="1340768"/>
                  <a:ext cx="1184975" cy="883841"/>
                  <a:chOff x="7917215" y="1340768"/>
                  <a:chExt cx="1184975" cy="883841"/>
                </a:xfrm>
              </p:grpSpPr>
              <p:pic>
                <p:nvPicPr>
                  <p:cNvPr id="14" name="Picture 18" descr="http://vector.me/files/images/1/6/162062/female_user_icon_clip_art.jpg"/>
                  <p:cNvPicPr>
                    <a:picLocks noChangeAspect="1" noChangeArrowheads="1"/>
                  </p:cNvPicPr>
                  <p:nvPr/>
                </p:nvPicPr>
                <p:blipFill>
                  <a:blip r:embed="rId4" cstate="print"/>
                  <a:srcRect/>
                  <a:stretch>
                    <a:fillRect/>
                  </a:stretch>
                </p:blipFill>
                <p:spPr bwMode="auto">
                  <a:xfrm>
                    <a:off x="8637295" y="1412776"/>
                    <a:ext cx="464895" cy="466081"/>
                  </a:xfrm>
                  <a:prstGeom prst="rect">
                    <a:avLst/>
                  </a:prstGeom>
                  <a:noFill/>
                </p:spPr>
              </p:pic>
              <p:pic>
                <p:nvPicPr>
                  <p:cNvPr id="15" name="Picture 2" descr="http://cliparts.co/cliparts/6ir/op7/6irop7RrT.jpg"/>
                  <p:cNvPicPr>
                    <a:picLocks noChangeAspect="1" noChangeArrowheads="1"/>
                  </p:cNvPicPr>
                  <p:nvPr/>
                </p:nvPicPr>
                <p:blipFill>
                  <a:blip r:embed="rId2" cstate="print"/>
                  <a:srcRect/>
                  <a:stretch>
                    <a:fillRect/>
                  </a:stretch>
                </p:blipFill>
                <p:spPr bwMode="auto">
                  <a:xfrm>
                    <a:off x="7917215" y="1340768"/>
                    <a:ext cx="720080" cy="635365"/>
                  </a:xfrm>
                  <a:prstGeom prst="rect">
                    <a:avLst/>
                  </a:prstGeom>
                  <a:noFill/>
                </p:spPr>
              </p:pic>
              <p:sp>
                <p:nvSpPr>
                  <p:cNvPr id="16" name="TextBox 15"/>
                  <p:cNvSpPr txBox="1"/>
                  <p:nvPr/>
                </p:nvSpPr>
                <p:spPr>
                  <a:xfrm>
                    <a:off x="8676456" y="1916832"/>
                    <a:ext cx="285656" cy="307777"/>
                  </a:xfrm>
                  <a:prstGeom prst="rect">
                    <a:avLst/>
                  </a:prstGeom>
                  <a:noFill/>
                </p:spPr>
                <p:txBody>
                  <a:bodyPr wrap="none" rtlCol="0">
                    <a:spAutoFit/>
                  </a:bodyPr>
                  <a:lstStyle/>
                  <a:p>
                    <a:r>
                      <a:rPr lang="en-IN" sz="1400" b="1" dirty="0" smtClean="0"/>
                      <a:t>B</a:t>
                    </a:r>
                    <a:endParaRPr lang="en-IN" sz="1400" b="1" dirty="0"/>
                  </a:p>
                </p:txBody>
              </p:sp>
            </p:grpSp>
            <p:cxnSp>
              <p:nvCxnSpPr>
                <p:cNvPr id="10" name="Straight Connector 9"/>
                <p:cNvCxnSpPr/>
                <p:nvPr/>
              </p:nvCxnSpPr>
              <p:spPr>
                <a:xfrm>
                  <a:off x="4211960" y="1988840"/>
                  <a:ext cx="0" cy="4536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493279" y="1916832"/>
                  <a:ext cx="39161" cy="46085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516216" y="1988840"/>
                  <a:ext cx="0" cy="45365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732240" y="1412776"/>
                  <a:ext cx="1080120" cy="738664"/>
                </a:xfrm>
                <a:prstGeom prst="rect">
                  <a:avLst/>
                </a:prstGeom>
                <a:noFill/>
              </p:spPr>
              <p:txBody>
                <a:bodyPr wrap="square" rtlCol="0">
                  <a:spAutoFit/>
                </a:bodyPr>
                <a:lstStyle/>
                <a:p>
                  <a:pPr algn="ctr"/>
                  <a:r>
                    <a:rPr lang="en-IN" sz="1400" b="1" dirty="0" smtClean="0"/>
                    <a:t>Certificate</a:t>
                  </a:r>
                </a:p>
                <a:p>
                  <a:pPr algn="ctr"/>
                  <a:r>
                    <a:rPr lang="en-IN" sz="1400" b="1" dirty="0" smtClean="0"/>
                    <a:t>Authority</a:t>
                  </a:r>
                </a:p>
                <a:p>
                  <a:pPr algn="ctr"/>
                  <a:r>
                    <a:rPr lang="en-IN" sz="1400" b="1" dirty="0" smtClean="0"/>
                    <a:t>(CA)</a:t>
                  </a:r>
                  <a:endParaRPr lang="en-IN" sz="1400" b="1" dirty="0"/>
                </a:p>
              </p:txBody>
            </p:sp>
          </p:grpSp>
          <p:sp>
            <p:nvSpPr>
              <p:cNvPr id="20" name="TextBox 19"/>
              <p:cNvSpPr txBox="1"/>
              <p:nvPr/>
            </p:nvSpPr>
            <p:spPr>
              <a:xfrm>
                <a:off x="4716016" y="1916832"/>
                <a:ext cx="293670" cy="307777"/>
              </a:xfrm>
              <a:prstGeom prst="rect">
                <a:avLst/>
              </a:prstGeom>
              <a:noFill/>
            </p:spPr>
            <p:txBody>
              <a:bodyPr wrap="none" rtlCol="0">
                <a:spAutoFit/>
              </a:bodyPr>
              <a:lstStyle/>
              <a:p>
                <a:r>
                  <a:rPr lang="en-IN" sz="1400" b="1" dirty="0" smtClean="0"/>
                  <a:t>A</a:t>
                </a:r>
                <a:endParaRPr lang="en-IN" sz="1400" b="1" dirty="0"/>
              </a:p>
            </p:txBody>
          </p:sp>
        </p:grpSp>
        <p:pic>
          <p:nvPicPr>
            <p:cNvPr id="3078" name="Picture 6" descr="http://www.istockphoto.com/file_thumbview_approve/1735738/2/istockphoto_1735738-awards-and-ribbons.jpg"/>
            <p:cNvPicPr>
              <a:picLocks noChangeAspect="1" noChangeArrowheads="1"/>
            </p:cNvPicPr>
            <p:nvPr/>
          </p:nvPicPr>
          <p:blipFill>
            <a:blip r:embed="rId5" cstate="print"/>
            <a:srcRect/>
            <a:stretch>
              <a:fillRect/>
            </a:stretch>
          </p:blipFill>
          <p:spPr bwMode="auto">
            <a:xfrm>
              <a:off x="6084168" y="1362508"/>
              <a:ext cx="742603" cy="842356"/>
            </a:xfrm>
            <a:prstGeom prst="rect">
              <a:avLst/>
            </a:prstGeom>
            <a:noFill/>
            <a:ln>
              <a:solidFill>
                <a:srgbClr val="FF0000"/>
              </a:solidFill>
            </a:ln>
          </p:spPr>
        </p:pic>
      </p:grpSp>
    </p:spTree>
    <p:extLst>
      <p:ext uri="{BB962C8B-B14F-4D97-AF65-F5344CB8AC3E}">
        <p14:creationId xmlns="" xmlns:p14="http://schemas.microsoft.com/office/powerpoint/2010/main" val="72548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197296" y="140087"/>
            <a:ext cx="6283424" cy="1033319"/>
          </a:xfrm>
        </p:spPr>
        <p:txBody>
          <a:bodyPr vert="horz" lIns="91440" tIns="45720" rIns="91440" bIns="45720" rtlCol="0" anchor="ctr" anchorCtr="0">
            <a:normAutofit/>
          </a:bodyPr>
          <a:lstStyle/>
          <a:p>
            <a:r>
              <a:rPr lang="en-IN" dirty="0"/>
              <a:t>Public Key </a:t>
            </a:r>
            <a:r>
              <a:rPr lang="en-IN" dirty="0" smtClean="0"/>
              <a:t>Certificates Basic </a:t>
            </a:r>
            <a:r>
              <a:rPr lang="en-IN" dirty="0"/>
              <a:t>Concept – Establishing CA’s Authenticity </a:t>
            </a:r>
          </a:p>
        </p:txBody>
      </p:sp>
      <p:grpSp>
        <p:nvGrpSpPr>
          <p:cNvPr id="2" name="Group 8"/>
          <p:cNvGrpSpPr/>
          <p:nvPr/>
        </p:nvGrpSpPr>
        <p:grpSpPr>
          <a:xfrm>
            <a:off x="2232248" y="1628800"/>
            <a:ext cx="2016224" cy="1098704"/>
            <a:chOff x="827584" y="1979548"/>
            <a:chExt cx="2016224" cy="1098704"/>
          </a:xfrm>
        </p:grpSpPr>
        <p:sp>
          <p:nvSpPr>
            <p:cNvPr id="5" name="TextBox 4"/>
            <p:cNvSpPr txBox="1"/>
            <p:nvPr/>
          </p:nvSpPr>
          <p:spPr>
            <a:xfrm>
              <a:off x="827584" y="1979548"/>
              <a:ext cx="2016224" cy="369332"/>
            </a:xfrm>
            <a:prstGeom prst="rect">
              <a:avLst/>
            </a:prstGeom>
            <a:solidFill>
              <a:srgbClr val="FFC000"/>
            </a:solidFill>
            <a:ln>
              <a:solidFill>
                <a:schemeClr val="tx1"/>
              </a:solidFill>
            </a:ln>
          </p:spPr>
          <p:txBody>
            <a:bodyPr wrap="square" rtlCol="0">
              <a:spAutoFit/>
            </a:bodyPr>
            <a:lstStyle/>
            <a:p>
              <a:r>
                <a:rPr lang="en-IN" b="1" dirty="0" smtClean="0"/>
                <a:t>User’s ID</a:t>
              </a:r>
              <a:endParaRPr lang="en-IN" b="1" dirty="0"/>
            </a:p>
          </p:txBody>
        </p:sp>
        <p:sp>
          <p:nvSpPr>
            <p:cNvPr id="6" name="TextBox 5"/>
            <p:cNvSpPr txBox="1"/>
            <p:nvPr/>
          </p:nvSpPr>
          <p:spPr>
            <a:xfrm>
              <a:off x="827584" y="2339588"/>
              <a:ext cx="2016224" cy="369332"/>
            </a:xfrm>
            <a:prstGeom prst="rect">
              <a:avLst/>
            </a:prstGeom>
            <a:solidFill>
              <a:srgbClr val="00B050"/>
            </a:solidFill>
            <a:ln>
              <a:solidFill>
                <a:schemeClr val="tx1"/>
              </a:solidFill>
            </a:ln>
          </p:spPr>
          <p:txBody>
            <a:bodyPr wrap="square" rtlCol="0">
              <a:spAutoFit/>
            </a:bodyPr>
            <a:lstStyle/>
            <a:p>
              <a:r>
                <a:rPr lang="en-IN" b="1" dirty="0" smtClean="0"/>
                <a:t>User’s PU</a:t>
              </a:r>
              <a:endParaRPr lang="en-IN" b="1" dirty="0"/>
            </a:p>
          </p:txBody>
        </p:sp>
        <p:sp>
          <p:nvSpPr>
            <p:cNvPr id="7" name="TextBox 6"/>
            <p:cNvSpPr txBox="1"/>
            <p:nvPr/>
          </p:nvSpPr>
          <p:spPr>
            <a:xfrm>
              <a:off x="827584" y="2708920"/>
              <a:ext cx="2016224" cy="369332"/>
            </a:xfrm>
            <a:prstGeom prst="rect">
              <a:avLst/>
            </a:prstGeom>
            <a:solidFill>
              <a:srgbClr val="00B0F0"/>
            </a:solidFill>
            <a:ln>
              <a:solidFill>
                <a:schemeClr val="tx1"/>
              </a:solidFill>
            </a:ln>
          </p:spPr>
          <p:txBody>
            <a:bodyPr wrap="square" rtlCol="0">
              <a:spAutoFit/>
            </a:bodyPr>
            <a:lstStyle/>
            <a:p>
              <a:r>
                <a:rPr lang="en-IN" b="1" dirty="0" smtClean="0"/>
                <a:t>CA Information</a:t>
              </a:r>
              <a:endParaRPr lang="en-IN" b="1" dirty="0"/>
            </a:p>
          </p:txBody>
        </p:sp>
        <p:pic>
          <p:nvPicPr>
            <p:cNvPr id="8" name="Picture 4" descr="http://image.shutterstock.com/display_pic_with_logo/134128/134128,1244606246,1/stock-photo-skeleton-key-symbol-31783060.jpg"/>
            <p:cNvPicPr>
              <a:picLocks noChangeAspect="1" noChangeArrowheads="1"/>
            </p:cNvPicPr>
            <p:nvPr/>
          </p:nvPicPr>
          <p:blipFill>
            <a:blip r:embed="rId2" cstate="print"/>
            <a:srcRect b="21237"/>
            <a:stretch>
              <a:fillRect/>
            </a:stretch>
          </p:blipFill>
          <p:spPr bwMode="auto">
            <a:xfrm>
              <a:off x="2123728" y="2420888"/>
              <a:ext cx="397311" cy="192246"/>
            </a:xfrm>
            <a:prstGeom prst="rect">
              <a:avLst/>
            </a:prstGeom>
            <a:noFill/>
          </p:spPr>
        </p:pic>
      </p:grpSp>
      <p:grpSp>
        <p:nvGrpSpPr>
          <p:cNvPr id="9" name="Group 90"/>
          <p:cNvGrpSpPr/>
          <p:nvPr/>
        </p:nvGrpSpPr>
        <p:grpSpPr>
          <a:xfrm>
            <a:off x="648072" y="2708920"/>
            <a:ext cx="3600400" cy="2880320"/>
            <a:chOff x="251520" y="2852936"/>
            <a:chExt cx="3600400" cy="2880320"/>
          </a:xfrm>
        </p:grpSpPr>
        <p:cxnSp>
          <p:nvCxnSpPr>
            <p:cNvPr id="34" name="Straight Arrow Connector 33"/>
            <p:cNvCxnSpPr/>
            <p:nvPr/>
          </p:nvCxnSpPr>
          <p:spPr>
            <a:xfrm>
              <a:off x="755576" y="4005064"/>
              <a:ext cx="7932" cy="432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0" name="Group 86"/>
            <p:cNvGrpSpPr/>
            <p:nvPr/>
          </p:nvGrpSpPr>
          <p:grpSpPr>
            <a:xfrm>
              <a:off x="251520" y="2852936"/>
              <a:ext cx="3600400" cy="2880320"/>
              <a:chOff x="251520" y="2852936"/>
              <a:chExt cx="3600400" cy="2880320"/>
            </a:xfrm>
          </p:grpSpPr>
          <p:sp>
            <p:nvSpPr>
              <p:cNvPr id="26" name="TextBox 25"/>
              <p:cNvSpPr txBox="1"/>
              <p:nvPr/>
            </p:nvSpPr>
            <p:spPr>
              <a:xfrm>
                <a:off x="1835696" y="2852936"/>
                <a:ext cx="2016224" cy="369332"/>
              </a:xfrm>
              <a:prstGeom prst="rect">
                <a:avLst/>
              </a:prstGeom>
              <a:blipFill>
                <a:blip r:embed="rId3" cstate="print"/>
                <a:tile tx="0" ty="0" sx="100000" sy="100000" flip="none" algn="tl"/>
              </a:blipFill>
              <a:ln>
                <a:solidFill>
                  <a:schemeClr val="tx1"/>
                </a:solidFill>
              </a:ln>
            </p:spPr>
            <p:txBody>
              <a:bodyPr wrap="square" rtlCol="0">
                <a:spAutoFit/>
              </a:bodyPr>
              <a:lstStyle/>
              <a:p>
                <a:r>
                  <a:rPr lang="en-IN" b="1" dirty="0" smtClean="0"/>
                  <a:t>Signed Certificate</a:t>
                </a:r>
              </a:p>
            </p:txBody>
          </p:sp>
          <p:grpSp>
            <p:nvGrpSpPr>
              <p:cNvPr id="11" name="Group 32"/>
              <p:cNvGrpSpPr/>
              <p:nvPr/>
            </p:nvGrpSpPr>
            <p:grpSpPr>
              <a:xfrm>
                <a:off x="251520" y="4437112"/>
                <a:ext cx="1224136" cy="1296144"/>
                <a:chOff x="251520" y="4437112"/>
                <a:chExt cx="1224136" cy="1296144"/>
              </a:xfrm>
            </p:grpSpPr>
            <p:grpSp>
              <p:nvGrpSpPr>
                <p:cNvPr id="12" name="Group 30"/>
                <p:cNvGrpSpPr/>
                <p:nvPr/>
              </p:nvGrpSpPr>
              <p:grpSpPr>
                <a:xfrm>
                  <a:off x="251520" y="4437112"/>
                  <a:ext cx="1224136" cy="1296144"/>
                  <a:chOff x="6444208" y="2992332"/>
                  <a:chExt cx="1224136" cy="1296144"/>
                </a:xfrm>
              </p:grpSpPr>
              <p:sp>
                <p:nvSpPr>
                  <p:cNvPr id="27" name="TextBox 7"/>
                  <p:cNvSpPr txBox="1"/>
                  <p:nvPr/>
                </p:nvSpPr>
                <p:spPr>
                  <a:xfrm>
                    <a:off x="6588224" y="4011477"/>
                    <a:ext cx="936104" cy="276999"/>
                  </a:xfrm>
                  <a:prstGeom prst="rect">
                    <a:avLst/>
                  </a:prstGeom>
                  <a:noFill/>
                </p:spPr>
                <p:txBody>
                  <a:bodyPr wrap="square" rtlCol="0">
                    <a:spAutoFit/>
                  </a:bodyPr>
                  <a:lstStyle/>
                  <a:p>
                    <a:r>
                      <a:rPr lang="en-IN" sz="1200" b="1" dirty="0" smtClean="0"/>
                      <a:t>Encryption</a:t>
                    </a:r>
                  </a:p>
                </p:txBody>
              </p:sp>
              <p:sp>
                <p:nvSpPr>
                  <p:cNvPr id="28" name="TextBox 27"/>
                  <p:cNvSpPr txBox="1"/>
                  <p:nvPr/>
                </p:nvSpPr>
                <p:spPr>
                  <a:xfrm>
                    <a:off x="6444208" y="3224009"/>
                    <a:ext cx="1224136" cy="276999"/>
                  </a:xfrm>
                  <a:prstGeom prst="rect">
                    <a:avLst/>
                  </a:prstGeom>
                  <a:noFill/>
                </p:spPr>
                <p:txBody>
                  <a:bodyPr wrap="square" rtlCol="0">
                    <a:spAutoFit/>
                  </a:bodyPr>
                  <a:lstStyle/>
                  <a:p>
                    <a:pPr algn="ctr"/>
                    <a:r>
                      <a:rPr lang="en-IN" sz="1200" b="1" dirty="0" smtClean="0">
                        <a:solidFill>
                          <a:srgbClr val="FF0000"/>
                        </a:solidFill>
                      </a:rPr>
                      <a:t>CA’s PR</a:t>
                    </a:r>
                  </a:p>
                </p:txBody>
              </p:sp>
              <p:pic>
                <p:nvPicPr>
                  <p:cNvPr id="29" name="Picture 4" descr="http://hartfordinformer.com/wp-content/uploads/2012/09/red-key-460x236.jpg"/>
                  <p:cNvPicPr>
                    <a:picLocks noChangeAspect="1" noChangeArrowheads="1"/>
                  </p:cNvPicPr>
                  <p:nvPr/>
                </p:nvPicPr>
                <p:blipFill>
                  <a:blip r:embed="rId4" cstate="print"/>
                  <a:srcRect/>
                  <a:stretch>
                    <a:fillRect/>
                  </a:stretch>
                </p:blipFill>
                <p:spPr bwMode="auto">
                  <a:xfrm flipH="1">
                    <a:off x="6732240" y="2992332"/>
                    <a:ext cx="591928" cy="303685"/>
                  </a:xfrm>
                  <a:prstGeom prst="rect">
                    <a:avLst/>
                  </a:prstGeom>
                  <a:noFill/>
                </p:spPr>
              </p:pic>
              <p:pic>
                <p:nvPicPr>
                  <p:cNvPr id="30" name="Picture 2" descr="https://pixabay.com/static/uploads/photo/2014/09/30/15/15/gears-467261_640.png"/>
                  <p:cNvPicPr>
                    <a:picLocks noChangeAspect="1" noChangeArrowheads="1"/>
                  </p:cNvPicPr>
                  <p:nvPr/>
                </p:nvPicPr>
                <p:blipFill>
                  <a:blip r:embed="rId5" cstate="print"/>
                  <a:srcRect/>
                  <a:stretch>
                    <a:fillRect/>
                  </a:stretch>
                </p:blipFill>
                <p:spPr bwMode="auto">
                  <a:xfrm flipH="1">
                    <a:off x="6758186" y="3584049"/>
                    <a:ext cx="478110" cy="430957"/>
                  </a:xfrm>
                  <a:prstGeom prst="rect">
                    <a:avLst/>
                  </a:prstGeom>
                  <a:noFill/>
                </p:spPr>
              </p:pic>
            </p:grpSp>
            <p:sp>
              <p:nvSpPr>
                <p:cNvPr id="32" name="Rectangle 31"/>
                <p:cNvSpPr/>
                <p:nvPr/>
              </p:nvSpPr>
              <p:spPr>
                <a:xfrm>
                  <a:off x="251520" y="4437112"/>
                  <a:ext cx="1152128" cy="12961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7" name="Shape 36"/>
              <p:cNvCxnSpPr>
                <a:stCxn id="32" idx="3"/>
              </p:cNvCxnSpPr>
              <p:nvPr/>
            </p:nvCxnSpPr>
            <p:spPr>
              <a:xfrm flipV="1">
                <a:off x="1403648" y="3212976"/>
                <a:ext cx="1080120" cy="1872208"/>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13" name="Group 85"/>
          <p:cNvGrpSpPr/>
          <p:nvPr/>
        </p:nvGrpSpPr>
        <p:grpSpPr>
          <a:xfrm>
            <a:off x="504056" y="1628800"/>
            <a:ext cx="1656184" cy="2210762"/>
            <a:chOff x="107504" y="1772816"/>
            <a:chExt cx="1656184" cy="2210762"/>
          </a:xfrm>
        </p:grpSpPr>
        <p:sp>
          <p:nvSpPr>
            <p:cNvPr id="15" name="Trapezoid 14"/>
            <p:cNvSpPr/>
            <p:nvPr/>
          </p:nvSpPr>
          <p:spPr>
            <a:xfrm flipV="1">
              <a:off x="251520" y="2708920"/>
              <a:ext cx="1008112" cy="576064"/>
            </a:xfrm>
            <a:prstGeom prst="trapezoid">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algn="ctr"/>
              <a:r>
                <a:rPr lang="en-IN" sz="1400" b="1" dirty="0" smtClean="0">
                  <a:solidFill>
                    <a:schemeClr val="tx1"/>
                  </a:solidFill>
                </a:rPr>
                <a:t>Hash</a:t>
              </a:r>
              <a:endParaRPr lang="en-IN" sz="1400" b="1" dirty="0">
                <a:solidFill>
                  <a:schemeClr val="tx1"/>
                </a:solidFill>
              </a:endParaRPr>
            </a:p>
          </p:txBody>
        </p:sp>
        <p:cxnSp>
          <p:nvCxnSpPr>
            <p:cNvPr id="20" name="Shape 19"/>
            <p:cNvCxnSpPr>
              <a:endCxn id="15" idx="2"/>
            </p:cNvCxnSpPr>
            <p:nvPr/>
          </p:nvCxnSpPr>
          <p:spPr>
            <a:xfrm rot="10800000" flipV="1">
              <a:off x="755576" y="2276872"/>
              <a:ext cx="720080" cy="432048"/>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07504" y="3645024"/>
              <a:ext cx="1296144" cy="338554"/>
            </a:xfrm>
            <a:prstGeom prst="rect">
              <a:avLst/>
            </a:prstGeom>
            <a:solidFill>
              <a:srgbClr val="7030A0"/>
            </a:solidFill>
            <a:ln>
              <a:solidFill>
                <a:schemeClr val="tx1"/>
              </a:solidFill>
            </a:ln>
          </p:spPr>
          <p:txBody>
            <a:bodyPr wrap="square" rtlCol="0">
              <a:spAutoFit/>
            </a:bodyPr>
            <a:lstStyle/>
            <a:p>
              <a:pPr algn="ctr"/>
              <a:r>
                <a:rPr lang="en-IN" sz="1600" b="1" dirty="0" smtClean="0">
                  <a:solidFill>
                    <a:schemeClr val="bg1"/>
                  </a:solidFill>
                </a:rPr>
                <a:t>Hash Code</a:t>
              </a:r>
              <a:endParaRPr lang="en-IN" sz="1600" b="1" dirty="0">
                <a:solidFill>
                  <a:schemeClr val="bg1"/>
                </a:solidFill>
              </a:endParaRPr>
            </a:p>
          </p:txBody>
        </p:sp>
        <p:cxnSp>
          <p:nvCxnSpPr>
            <p:cNvPr id="23" name="Straight Arrow Connector 22"/>
            <p:cNvCxnSpPr>
              <a:stCxn id="15" idx="0"/>
              <a:endCxn id="21" idx="0"/>
            </p:cNvCxnSpPr>
            <p:nvPr/>
          </p:nvCxnSpPr>
          <p:spPr>
            <a:xfrm>
              <a:off x="755576" y="3284984"/>
              <a:ext cx="0" cy="36004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4" name="Group 44"/>
            <p:cNvGrpSpPr/>
            <p:nvPr/>
          </p:nvGrpSpPr>
          <p:grpSpPr>
            <a:xfrm>
              <a:off x="1475656" y="1772816"/>
              <a:ext cx="288032" cy="1080120"/>
              <a:chOff x="1475656" y="1772816"/>
              <a:chExt cx="288032" cy="1080120"/>
            </a:xfrm>
          </p:grpSpPr>
          <p:grpSp>
            <p:nvGrpSpPr>
              <p:cNvPr id="16" name="Group 41"/>
              <p:cNvGrpSpPr/>
              <p:nvPr/>
            </p:nvGrpSpPr>
            <p:grpSpPr>
              <a:xfrm>
                <a:off x="1475656" y="1772816"/>
                <a:ext cx="288032" cy="1080120"/>
                <a:chOff x="1547664" y="1772816"/>
                <a:chExt cx="288032" cy="1080120"/>
              </a:xfrm>
            </p:grpSpPr>
            <p:cxnSp>
              <p:nvCxnSpPr>
                <p:cNvPr id="39" name="Straight Connector 38"/>
                <p:cNvCxnSpPr/>
                <p:nvPr/>
              </p:nvCxnSpPr>
              <p:spPr>
                <a:xfrm flipH="1">
                  <a:off x="1547664" y="1772816"/>
                  <a:ext cx="2880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547664" y="1772816"/>
                  <a:ext cx="0" cy="10801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p:cNvCxnSpPr/>
              <p:nvPr/>
            </p:nvCxnSpPr>
            <p:spPr>
              <a:xfrm flipH="1">
                <a:off x="1475656" y="2852936"/>
                <a:ext cx="2880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7" name="Group 88"/>
          <p:cNvGrpSpPr/>
          <p:nvPr/>
        </p:nvGrpSpPr>
        <p:grpSpPr>
          <a:xfrm>
            <a:off x="4320480" y="1628800"/>
            <a:ext cx="3312368" cy="2210762"/>
            <a:chOff x="3923928" y="1772816"/>
            <a:chExt cx="3312368" cy="2210762"/>
          </a:xfrm>
        </p:grpSpPr>
        <p:grpSp>
          <p:nvGrpSpPr>
            <p:cNvPr id="18" name="Group 59"/>
            <p:cNvGrpSpPr/>
            <p:nvPr/>
          </p:nvGrpSpPr>
          <p:grpSpPr>
            <a:xfrm>
              <a:off x="3923928" y="1772816"/>
              <a:ext cx="288032" cy="1080120"/>
              <a:chOff x="1475656" y="1772816"/>
              <a:chExt cx="288032" cy="1080120"/>
            </a:xfrm>
            <a:scene3d>
              <a:camera prst="orthographicFront">
                <a:rot lat="0" lon="0" rev="10800000"/>
              </a:camera>
              <a:lightRig rig="threePt" dir="t"/>
            </a:scene3d>
          </p:grpSpPr>
          <p:grpSp>
            <p:nvGrpSpPr>
              <p:cNvPr id="19" name="Group 41"/>
              <p:cNvGrpSpPr/>
              <p:nvPr/>
            </p:nvGrpSpPr>
            <p:grpSpPr>
              <a:xfrm>
                <a:off x="1475656" y="1772816"/>
                <a:ext cx="288032" cy="1080120"/>
                <a:chOff x="1547664" y="1772816"/>
                <a:chExt cx="288032" cy="1080120"/>
              </a:xfrm>
            </p:grpSpPr>
            <p:cxnSp>
              <p:nvCxnSpPr>
                <p:cNvPr id="63" name="Straight Connector 62"/>
                <p:cNvCxnSpPr/>
                <p:nvPr/>
              </p:nvCxnSpPr>
              <p:spPr>
                <a:xfrm flipH="1">
                  <a:off x="1547664" y="1772816"/>
                  <a:ext cx="2880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547664" y="1772816"/>
                  <a:ext cx="0" cy="10801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2" name="Straight Connector 61"/>
              <p:cNvCxnSpPr/>
              <p:nvPr/>
            </p:nvCxnSpPr>
            <p:spPr>
              <a:xfrm flipH="1">
                <a:off x="1475656" y="2852936"/>
                <a:ext cx="2880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5" name="Trapezoid 64"/>
            <p:cNvSpPr/>
            <p:nvPr/>
          </p:nvSpPr>
          <p:spPr>
            <a:xfrm flipV="1">
              <a:off x="4644008" y="2708920"/>
              <a:ext cx="1008112" cy="576064"/>
            </a:xfrm>
            <a:prstGeom prst="trapezoid">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algn="ctr"/>
              <a:r>
                <a:rPr lang="en-IN" sz="1400" b="1" dirty="0" smtClean="0">
                  <a:solidFill>
                    <a:schemeClr val="tx1"/>
                  </a:solidFill>
                </a:rPr>
                <a:t>Hash</a:t>
              </a:r>
              <a:endParaRPr lang="en-IN" sz="1400" b="1" dirty="0">
                <a:solidFill>
                  <a:schemeClr val="tx1"/>
                </a:solidFill>
              </a:endParaRPr>
            </a:p>
          </p:txBody>
        </p:sp>
        <p:cxnSp>
          <p:nvCxnSpPr>
            <p:cNvPr id="66" name="Shape 65"/>
            <p:cNvCxnSpPr/>
            <p:nvPr/>
          </p:nvCxnSpPr>
          <p:spPr>
            <a:xfrm>
              <a:off x="4211960" y="2276872"/>
              <a:ext cx="936104" cy="432048"/>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5940152" y="3645024"/>
              <a:ext cx="1296144" cy="338554"/>
            </a:xfrm>
            <a:prstGeom prst="rect">
              <a:avLst/>
            </a:prstGeom>
            <a:solidFill>
              <a:srgbClr val="5A0650"/>
            </a:solidFill>
            <a:ln>
              <a:solidFill>
                <a:schemeClr val="tx1"/>
              </a:solidFill>
            </a:ln>
          </p:spPr>
          <p:txBody>
            <a:bodyPr wrap="square" rtlCol="0">
              <a:spAutoFit/>
            </a:bodyPr>
            <a:lstStyle/>
            <a:p>
              <a:pPr algn="ctr"/>
              <a:r>
                <a:rPr lang="en-IN" sz="1600" b="1" dirty="0" smtClean="0">
                  <a:solidFill>
                    <a:schemeClr val="bg1"/>
                  </a:solidFill>
                </a:rPr>
                <a:t>Hash Code</a:t>
              </a:r>
              <a:endParaRPr lang="en-IN" sz="1600" b="1" dirty="0">
                <a:solidFill>
                  <a:schemeClr val="bg1"/>
                </a:solidFill>
              </a:endParaRPr>
            </a:p>
          </p:txBody>
        </p:sp>
        <p:cxnSp>
          <p:nvCxnSpPr>
            <p:cNvPr id="73" name="Shape 72"/>
            <p:cNvCxnSpPr>
              <a:stCxn id="65" idx="0"/>
              <a:endCxn id="69" idx="1"/>
            </p:cNvCxnSpPr>
            <p:nvPr/>
          </p:nvCxnSpPr>
          <p:spPr>
            <a:xfrm rot="16200000" flipH="1">
              <a:off x="5279450" y="3153598"/>
              <a:ext cx="529317" cy="792088"/>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2" name="Group 87"/>
          <p:cNvGrpSpPr/>
          <p:nvPr/>
        </p:nvGrpSpPr>
        <p:grpSpPr>
          <a:xfrm>
            <a:off x="3672408" y="3068960"/>
            <a:ext cx="3960440" cy="2520280"/>
            <a:chOff x="3275856" y="3212976"/>
            <a:chExt cx="3960440" cy="2520280"/>
          </a:xfrm>
        </p:grpSpPr>
        <p:grpSp>
          <p:nvGrpSpPr>
            <p:cNvPr id="24" name="Group 55"/>
            <p:cNvGrpSpPr/>
            <p:nvPr/>
          </p:nvGrpSpPr>
          <p:grpSpPr>
            <a:xfrm>
              <a:off x="4067944" y="4437112"/>
              <a:ext cx="1224136" cy="1296144"/>
              <a:chOff x="4427984" y="4437112"/>
              <a:chExt cx="1224136" cy="1296144"/>
            </a:xfrm>
          </p:grpSpPr>
          <p:sp>
            <p:nvSpPr>
              <p:cNvPr id="50" name="TextBox 7"/>
              <p:cNvSpPr txBox="1"/>
              <p:nvPr/>
            </p:nvSpPr>
            <p:spPr>
              <a:xfrm>
                <a:off x="4572000" y="5456257"/>
                <a:ext cx="936104" cy="276999"/>
              </a:xfrm>
              <a:prstGeom prst="rect">
                <a:avLst/>
              </a:prstGeom>
              <a:noFill/>
            </p:spPr>
            <p:txBody>
              <a:bodyPr wrap="square" rtlCol="0">
                <a:spAutoFit/>
              </a:bodyPr>
              <a:lstStyle/>
              <a:p>
                <a:r>
                  <a:rPr lang="en-IN" sz="1200" b="1" dirty="0" smtClean="0"/>
                  <a:t>Decryption</a:t>
                </a:r>
              </a:p>
            </p:txBody>
          </p:sp>
          <p:sp>
            <p:nvSpPr>
              <p:cNvPr id="51" name="TextBox 50"/>
              <p:cNvSpPr txBox="1"/>
              <p:nvPr/>
            </p:nvSpPr>
            <p:spPr>
              <a:xfrm>
                <a:off x="4427984" y="4705399"/>
                <a:ext cx="1224136" cy="307777"/>
              </a:xfrm>
              <a:prstGeom prst="rect">
                <a:avLst/>
              </a:prstGeom>
              <a:noFill/>
            </p:spPr>
            <p:txBody>
              <a:bodyPr wrap="square" rtlCol="0">
                <a:spAutoFit/>
              </a:bodyPr>
              <a:lstStyle/>
              <a:p>
                <a:pPr algn="ctr"/>
                <a:r>
                  <a:rPr lang="en-IN" sz="1200" b="1" dirty="0" smtClean="0"/>
                  <a:t>CA’s PU</a:t>
                </a:r>
              </a:p>
            </p:txBody>
          </p:sp>
          <p:sp>
            <p:nvSpPr>
              <p:cNvPr id="49" name="Rectangle 48"/>
              <p:cNvSpPr/>
              <p:nvPr/>
            </p:nvSpPr>
            <p:spPr>
              <a:xfrm>
                <a:off x="4427984" y="4437112"/>
                <a:ext cx="1152128" cy="12961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4" name="Picture 4" descr="http://image.shutterstock.com/display_pic_with_logo/134128/134128,1244606246,1/stock-photo-skeleton-key-symbol-31783060.jpg"/>
              <p:cNvPicPr>
                <a:picLocks noChangeAspect="1" noChangeArrowheads="1"/>
              </p:cNvPicPr>
              <p:nvPr/>
            </p:nvPicPr>
            <p:blipFill>
              <a:blip r:embed="rId2" cstate="print"/>
              <a:srcRect b="21237"/>
              <a:stretch>
                <a:fillRect/>
              </a:stretch>
            </p:blipFill>
            <p:spPr bwMode="auto">
              <a:xfrm>
                <a:off x="4788024" y="4450194"/>
                <a:ext cx="413393" cy="274950"/>
              </a:xfrm>
              <a:prstGeom prst="rect">
                <a:avLst/>
              </a:prstGeom>
              <a:noFill/>
            </p:spPr>
          </p:pic>
          <p:pic>
            <p:nvPicPr>
              <p:cNvPr id="55" name="Picture 2" descr="https://pixabay.com/static/uploads/photo/2014/09/30/15/15/gears-467261_640.png"/>
              <p:cNvPicPr>
                <a:picLocks noChangeAspect="1" noChangeArrowheads="1"/>
              </p:cNvPicPr>
              <p:nvPr/>
            </p:nvPicPr>
            <p:blipFill>
              <a:blip r:embed="rId5" cstate="print"/>
              <a:srcRect/>
              <a:stretch>
                <a:fillRect/>
              </a:stretch>
            </p:blipFill>
            <p:spPr bwMode="auto">
              <a:xfrm>
                <a:off x="4788024" y="5086275"/>
                <a:ext cx="478110" cy="430957"/>
              </a:xfrm>
              <a:prstGeom prst="rect">
                <a:avLst/>
              </a:prstGeom>
              <a:noFill/>
            </p:spPr>
          </p:pic>
        </p:grpSp>
        <p:cxnSp>
          <p:nvCxnSpPr>
            <p:cNvPr id="58" name="Shape 57"/>
            <p:cNvCxnSpPr/>
            <p:nvPr/>
          </p:nvCxnSpPr>
          <p:spPr>
            <a:xfrm rot="10800000">
              <a:off x="3275856" y="3212976"/>
              <a:ext cx="792088" cy="1872208"/>
            </a:xfrm>
            <a:prstGeom prst="bentConnector2">
              <a:avLst/>
            </a:prstGeom>
            <a:ln w="2540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5940152" y="4941168"/>
              <a:ext cx="1296144" cy="338554"/>
            </a:xfrm>
            <a:prstGeom prst="rect">
              <a:avLst/>
            </a:prstGeom>
            <a:solidFill>
              <a:srgbClr val="7030A0"/>
            </a:solidFill>
            <a:ln>
              <a:solidFill>
                <a:schemeClr val="tx1"/>
              </a:solidFill>
            </a:ln>
          </p:spPr>
          <p:txBody>
            <a:bodyPr wrap="square" rtlCol="0">
              <a:spAutoFit/>
            </a:bodyPr>
            <a:lstStyle/>
            <a:p>
              <a:pPr algn="ctr"/>
              <a:r>
                <a:rPr lang="en-IN" sz="1600" b="1" dirty="0" smtClean="0">
                  <a:solidFill>
                    <a:schemeClr val="bg1"/>
                  </a:solidFill>
                </a:rPr>
                <a:t>Hash Code</a:t>
              </a:r>
              <a:endParaRPr lang="en-IN" sz="1600" b="1" dirty="0">
                <a:solidFill>
                  <a:schemeClr val="bg1"/>
                </a:solidFill>
              </a:endParaRPr>
            </a:p>
          </p:txBody>
        </p:sp>
        <p:cxnSp>
          <p:nvCxnSpPr>
            <p:cNvPr id="76" name="Straight Arrow Connector 75"/>
            <p:cNvCxnSpPr/>
            <p:nvPr/>
          </p:nvCxnSpPr>
          <p:spPr>
            <a:xfrm>
              <a:off x="5220072" y="5157192"/>
              <a:ext cx="7200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5" name="Group 99"/>
          <p:cNvGrpSpPr/>
          <p:nvPr/>
        </p:nvGrpSpPr>
        <p:grpSpPr>
          <a:xfrm>
            <a:off x="504056" y="5805264"/>
            <a:ext cx="7416824" cy="369332"/>
            <a:chOff x="107504" y="5949280"/>
            <a:chExt cx="7416824" cy="369332"/>
          </a:xfrm>
        </p:grpSpPr>
        <p:sp>
          <p:nvSpPr>
            <p:cNvPr id="92" name="TextBox 91"/>
            <p:cNvSpPr txBox="1"/>
            <p:nvPr/>
          </p:nvSpPr>
          <p:spPr>
            <a:xfrm>
              <a:off x="107504" y="5949280"/>
              <a:ext cx="2880320" cy="369332"/>
            </a:xfrm>
            <a:prstGeom prst="rect">
              <a:avLst/>
            </a:prstGeom>
            <a:noFill/>
          </p:spPr>
          <p:txBody>
            <a:bodyPr wrap="square" rtlCol="0">
              <a:spAutoFit/>
            </a:bodyPr>
            <a:lstStyle/>
            <a:p>
              <a:pPr algn="ctr"/>
              <a:r>
                <a:rPr lang="en-IN" b="1" i="1" u="sng" dirty="0" smtClean="0"/>
                <a:t>CA Side</a:t>
              </a:r>
              <a:endParaRPr lang="en-IN" b="1" i="1" u="sng" dirty="0"/>
            </a:p>
          </p:txBody>
        </p:sp>
        <p:sp>
          <p:nvSpPr>
            <p:cNvPr id="93" name="TextBox 92"/>
            <p:cNvSpPr txBox="1"/>
            <p:nvPr/>
          </p:nvSpPr>
          <p:spPr>
            <a:xfrm>
              <a:off x="4644008" y="5949280"/>
              <a:ext cx="2880320" cy="369332"/>
            </a:xfrm>
            <a:prstGeom prst="rect">
              <a:avLst/>
            </a:prstGeom>
            <a:noFill/>
          </p:spPr>
          <p:txBody>
            <a:bodyPr wrap="square" rtlCol="0">
              <a:spAutoFit/>
            </a:bodyPr>
            <a:lstStyle/>
            <a:p>
              <a:pPr algn="ctr"/>
              <a:r>
                <a:rPr lang="en-IN" b="1" i="1" u="sng" dirty="0" smtClean="0"/>
                <a:t>Recipient Side</a:t>
              </a:r>
              <a:endParaRPr lang="en-IN" b="1" i="1" u="sng" dirty="0"/>
            </a:p>
          </p:txBody>
        </p:sp>
      </p:grpSp>
      <p:sp>
        <p:nvSpPr>
          <p:cNvPr id="1026" name="AutoShape 2" descr="http://uxrepo.com/static/icon-sets/linecons/svg/thumbs-up.svg"/>
          <p:cNvSpPr>
            <a:spLocks noChangeAspect="1" noChangeArrowheads="1"/>
          </p:cNvSpPr>
          <p:nvPr/>
        </p:nvSpPr>
        <p:spPr bwMode="auto">
          <a:xfrm>
            <a:off x="155575" y="-1790700"/>
            <a:ext cx="3743325"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8" name="AutoShape 4" descr="http://uxrepo.com/static/icon-sets/linecons/svg/thumbs-up.svg"/>
          <p:cNvSpPr>
            <a:spLocks noChangeAspect="1" noChangeArrowheads="1"/>
          </p:cNvSpPr>
          <p:nvPr/>
        </p:nvSpPr>
        <p:spPr bwMode="auto">
          <a:xfrm>
            <a:off x="155575" y="-1790700"/>
            <a:ext cx="3743325"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0" name="AutoShape 6" descr="http://uxrepo.com/static/icon-sets/linecons/svg/thumbs-up.svg"/>
          <p:cNvSpPr>
            <a:spLocks noChangeAspect="1" noChangeArrowheads="1"/>
          </p:cNvSpPr>
          <p:nvPr/>
        </p:nvSpPr>
        <p:spPr bwMode="auto">
          <a:xfrm>
            <a:off x="155575" y="-1790700"/>
            <a:ext cx="3743325"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2" name="AutoShape 8" descr="http://uxrepo.com/static/icon-sets/linecons/svg/thumbs-up.svg"/>
          <p:cNvSpPr>
            <a:spLocks noChangeAspect="1" noChangeArrowheads="1"/>
          </p:cNvSpPr>
          <p:nvPr/>
        </p:nvSpPr>
        <p:spPr bwMode="auto">
          <a:xfrm>
            <a:off x="155575" y="-1790700"/>
            <a:ext cx="3743325"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4" name="AutoShape 10" descr="http://uxrepo.com/static/icon-sets/linecons/svg/thumbs-up.svg"/>
          <p:cNvSpPr>
            <a:spLocks noChangeAspect="1" noChangeArrowheads="1"/>
          </p:cNvSpPr>
          <p:nvPr/>
        </p:nvSpPr>
        <p:spPr bwMode="auto">
          <a:xfrm>
            <a:off x="155575" y="-1790700"/>
            <a:ext cx="3743325"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6" name="AutoShape 12" descr="http://upload.wikimedia.org/wikipedia/commons/8/87/Symbol_thumbs_up.svg"/>
          <p:cNvSpPr>
            <a:spLocks noChangeAspect="1" noChangeArrowheads="1"/>
          </p:cNvSpPr>
          <p:nvPr/>
        </p:nvSpPr>
        <p:spPr bwMode="auto">
          <a:xfrm>
            <a:off x="155575" y="-1790700"/>
            <a:ext cx="2895600"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8" name="AutoShape 14" descr="http://upload.wikimedia.org/wikipedia/commons/8/87/Symbol_thumbs_up.svg"/>
          <p:cNvSpPr>
            <a:spLocks noChangeAspect="1" noChangeArrowheads="1"/>
          </p:cNvSpPr>
          <p:nvPr/>
        </p:nvSpPr>
        <p:spPr bwMode="auto">
          <a:xfrm>
            <a:off x="155575" y="-1790700"/>
            <a:ext cx="2895600"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40" name="AutoShape 16" descr="http://upload.wikimedia.org/wikipedia/commons/8/87/Symbol_thumbs_up.svg"/>
          <p:cNvSpPr>
            <a:spLocks noChangeAspect="1" noChangeArrowheads="1"/>
          </p:cNvSpPr>
          <p:nvPr/>
        </p:nvSpPr>
        <p:spPr bwMode="auto">
          <a:xfrm>
            <a:off x="155575" y="-1790700"/>
            <a:ext cx="2895600"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grpSp>
        <p:nvGrpSpPr>
          <p:cNvPr id="31" name="Group 122"/>
          <p:cNvGrpSpPr/>
          <p:nvPr/>
        </p:nvGrpSpPr>
        <p:grpSpPr>
          <a:xfrm>
            <a:off x="7092280" y="1916832"/>
            <a:ext cx="1840260" cy="3096344"/>
            <a:chOff x="7092280" y="1916832"/>
            <a:chExt cx="1840260" cy="3096344"/>
          </a:xfrm>
        </p:grpSpPr>
        <p:grpSp>
          <p:nvGrpSpPr>
            <p:cNvPr id="33" name="Group 89"/>
            <p:cNvGrpSpPr/>
            <p:nvPr/>
          </p:nvGrpSpPr>
          <p:grpSpPr>
            <a:xfrm>
              <a:off x="7092280" y="1916832"/>
              <a:ext cx="1691680" cy="3096344"/>
              <a:chOff x="6695728" y="2060848"/>
              <a:chExt cx="1691680" cy="3096344"/>
            </a:xfrm>
          </p:grpSpPr>
          <p:grpSp>
            <p:nvGrpSpPr>
              <p:cNvPr id="35" name="Group 79"/>
              <p:cNvGrpSpPr/>
              <p:nvPr/>
            </p:nvGrpSpPr>
            <p:grpSpPr>
              <a:xfrm>
                <a:off x="7308304" y="3789040"/>
                <a:ext cx="360040" cy="1368152"/>
                <a:chOff x="1475656" y="1772816"/>
                <a:chExt cx="288032" cy="1080120"/>
              </a:xfrm>
              <a:scene3d>
                <a:camera prst="orthographicFront">
                  <a:rot lat="0" lon="0" rev="10800000"/>
                </a:camera>
                <a:lightRig rig="threePt" dir="t"/>
              </a:scene3d>
            </p:grpSpPr>
            <p:grpSp>
              <p:nvGrpSpPr>
                <p:cNvPr id="36" name="Group 41"/>
                <p:cNvGrpSpPr/>
                <p:nvPr/>
              </p:nvGrpSpPr>
              <p:grpSpPr>
                <a:xfrm>
                  <a:off x="1475656" y="1772816"/>
                  <a:ext cx="288032" cy="1080120"/>
                  <a:chOff x="1547664" y="1772816"/>
                  <a:chExt cx="288032" cy="1080120"/>
                </a:xfrm>
              </p:grpSpPr>
              <p:cxnSp>
                <p:nvCxnSpPr>
                  <p:cNvPr id="83" name="Straight Connector 82"/>
                  <p:cNvCxnSpPr/>
                  <p:nvPr/>
                </p:nvCxnSpPr>
                <p:spPr>
                  <a:xfrm flipH="1">
                    <a:off x="1547664" y="1772816"/>
                    <a:ext cx="288032"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547664" y="1772816"/>
                    <a:ext cx="0" cy="108012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cxnSp>
              <p:nvCxnSpPr>
                <p:cNvPr id="82" name="Straight Connector 81"/>
                <p:cNvCxnSpPr/>
                <p:nvPr/>
              </p:nvCxnSpPr>
              <p:spPr>
                <a:xfrm flipH="1">
                  <a:off x="1475656" y="2852936"/>
                  <a:ext cx="288032"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85" name="TextBox 84"/>
              <p:cNvSpPr txBox="1"/>
              <p:nvPr/>
            </p:nvSpPr>
            <p:spPr>
              <a:xfrm>
                <a:off x="6695728" y="2060848"/>
                <a:ext cx="1691680" cy="276999"/>
              </a:xfrm>
              <a:prstGeom prst="rect">
                <a:avLst/>
              </a:prstGeom>
              <a:noFill/>
            </p:spPr>
            <p:txBody>
              <a:bodyPr wrap="square" rtlCol="0">
                <a:spAutoFit/>
              </a:bodyPr>
              <a:lstStyle/>
              <a:p>
                <a:pPr algn="ctr"/>
                <a:endParaRPr lang="en-IN" sz="1200" b="1" i="1" dirty="0"/>
              </a:p>
            </p:txBody>
          </p:sp>
        </p:grpSp>
        <p:pic>
          <p:nvPicPr>
            <p:cNvPr id="1044" name="Picture 20" descr="http://www.clipartbest.com/cliparts/RiG/6zz/RiG6zz7MT.jpeg"/>
            <p:cNvPicPr>
              <a:picLocks noChangeAspect="1" noChangeArrowheads="1"/>
            </p:cNvPicPr>
            <p:nvPr/>
          </p:nvPicPr>
          <p:blipFill>
            <a:blip r:embed="rId6" cstate="print"/>
            <a:srcRect/>
            <a:stretch>
              <a:fillRect/>
            </a:stretch>
          </p:blipFill>
          <p:spPr bwMode="auto">
            <a:xfrm>
              <a:off x="8100392" y="4046176"/>
              <a:ext cx="832148" cy="534952"/>
            </a:xfrm>
            <a:prstGeom prst="rect">
              <a:avLst/>
            </a:prstGeom>
            <a:noFill/>
          </p:spPr>
        </p:pic>
      </p:grpSp>
    </p:spTree>
    <p:extLst>
      <p:ext uri="{BB962C8B-B14F-4D97-AF65-F5344CB8AC3E}">
        <p14:creationId xmlns="" xmlns:p14="http://schemas.microsoft.com/office/powerpoint/2010/main" val="68921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92500" lnSpcReduction="10000"/>
          </a:bodyPr>
          <a:lstStyle/>
          <a:p>
            <a:pPr>
              <a:buClrTx/>
              <a:buChar char="•"/>
            </a:pPr>
            <a:r>
              <a:rPr lang="en-IN" sz="3200" dirty="0">
                <a:cs typeface="+mn-cs"/>
              </a:rPr>
              <a:t>X.509 is part of the ITU-T X.500 series. It defines a directory </a:t>
            </a:r>
            <a:r>
              <a:rPr lang="en-IN" sz="3200" dirty="0" smtClean="0">
                <a:cs typeface="+mn-cs"/>
              </a:rPr>
              <a:t>service </a:t>
            </a:r>
            <a:endParaRPr lang="en-IN" sz="3200" dirty="0">
              <a:cs typeface="+mn-cs"/>
            </a:endParaRPr>
          </a:p>
          <a:p>
            <a:pPr>
              <a:buClrTx/>
              <a:buChar char="•"/>
            </a:pPr>
            <a:endParaRPr lang="en-IN" sz="3200" dirty="0">
              <a:cs typeface="+mn-cs"/>
            </a:endParaRPr>
          </a:p>
          <a:p>
            <a:pPr>
              <a:buClrTx/>
              <a:buChar char="•"/>
            </a:pPr>
            <a:r>
              <a:rPr lang="en-IN" sz="3200" dirty="0">
                <a:cs typeface="+mn-cs"/>
              </a:rPr>
              <a:t>Directory is a server or distributed set of servers that maintains a database of information about </a:t>
            </a:r>
            <a:r>
              <a:rPr lang="en-IN" sz="3200" dirty="0" smtClean="0">
                <a:cs typeface="+mn-cs"/>
              </a:rPr>
              <a:t>users </a:t>
            </a:r>
            <a:endParaRPr lang="en-IN" sz="3200" dirty="0">
              <a:cs typeface="+mn-cs"/>
            </a:endParaRPr>
          </a:p>
          <a:p>
            <a:pPr>
              <a:buClrTx/>
              <a:buChar char="•"/>
            </a:pPr>
            <a:endParaRPr lang="en-IN" sz="3200" dirty="0">
              <a:cs typeface="+mn-cs"/>
            </a:endParaRPr>
          </a:p>
          <a:p>
            <a:pPr>
              <a:buClrTx/>
              <a:buChar char="•"/>
            </a:pPr>
            <a:r>
              <a:rPr lang="en-IN" sz="3200" dirty="0">
                <a:cs typeface="+mn-cs"/>
              </a:rPr>
              <a:t>X.509 defines the certificate structure and other details to be used for public key </a:t>
            </a:r>
            <a:r>
              <a:rPr lang="en-IN" sz="3200" dirty="0" smtClean="0">
                <a:cs typeface="+mn-cs"/>
              </a:rPr>
              <a:t>distribution</a:t>
            </a:r>
            <a:endParaRPr lang="en-IN" sz="3200" dirty="0">
              <a:cs typeface="+mn-cs"/>
            </a:endParaRPr>
          </a:p>
          <a:p>
            <a:pPr>
              <a:buClrTx/>
              <a:buChar char="•"/>
            </a:pPr>
            <a:endParaRPr lang="en-IN" sz="3200" dirty="0">
              <a:cs typeface="+mn-cs"/>
            </a:endParaRPr>
          </a:p>
        </p:txBody>
      </p:sp>
      <p:sp>
        <p:nvSpPr>
          <p:cNvPr id="3" name="Content Placeholder 2"/>
          <p:cNvSpPr>
            <a:spLocks noGrp="1"/>
          </p:cNvSpPr>
          <p:nvPr>
            <p:ph sz="quarter" idx="10"/>
          </p:nvPr>
        </p:nvSpPr>
        <p:spPr>
          <a:xfrm>
            <a:off x="304800" y="332656"/>
            <a:ext cx="6324600" cy="720080"/>
          </a:xfrm>
        </p:spPr>
        <p:txBody>
          <a:bodyPr vert="horz" lIns="91440" tIns="45720" rIns="91440" bIns="45720" rtlCol="0" anchor="ctr" anchorCtr="0">
            <a:normAutofit/>
          </a:bodyPr>
          <a:lstStyle/>
          <a:p>
            <a:pPr>
              <a:spcBef>
                <a:spcPct val="0"/>
              </a:spcBef>
            </a:pPr>
            <a:r>
              <a:rPr lang="en-IN" sz="3200" dirty="0">
                <a:latin typeface="+mj-lt"/>
                <a:ea typeface="+mj-ea"/>
                <a:cs typeface="+mj-cs"/>
              </a:rPr>
              <a:t>Introduction X.509</a:t>
            </a:r>
          </a:p>
        </p:txBody>
      </p:sp>
    </p:spTree>
    <p:extLst>
      <p:ext uri="{BB962C8B-B14F-4D97-AF65-F5344CB8AC3E}">
        <p14:creationId xmlns="" xmlns:p14="http://schemas.microsoft.com/office/powerpoint/2010/main" val="24461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X.509 Certificate Structure</a:t>
            </a:r>
          </a:p>
          <a:p>
            <a:pPr>
              <a:spcBef>
                <a:spcPct val="0"/>
              </a:spcBef>
            </a:pPr>
            <a:r>
              <a:rPr lang="en-IN" sz="3200" dirty="0">
                <a:latin typeface="+mj-lt"/>
                <a:ea typeface="+mj-ea"/>
                <a:cs typeface="+mj-cs"/>
                <a:hlinkClick r:id="rId2"/>
              </a:rPr>
              <a:t>ITU-T X.509</a:t>
            </a:r>
            <a:endParaRPr lang="en-IN" sz="3200" dirty="0">
              <a:latin typeface="+mj-lt"/>
              <a:ea typeface="+mj-ea"/>
              <a:cs typeface="+mj-cs"/>
            </a:endParaRPr>
          </a:p>
        </p:txBody>
      </p:sp>
      <p:grpSp>
        <p:nvGrpSpPr>
          <p:cNvPr id="2" name="Group 65"/>
          <p:cNvGrpSpPr/>
          <p:nvPr/>
        </p:nvGrpSpPr>
        <p:grpSpPr>
          <a:xfrm>
            <a:off x="251520" y="1412776"/>
            <a:ext cx="3888432" cy="4915708"/>
            <a:chOff x="1259632" y="1412776"/>
            <a:chExt cx="3888432" cy="4915708"/>
          </a:xfrm>
        </p:grpSpPr>
        <p:grpSp>
          <p:nvGrpSpPr>
            <p:cNvPr id="4" name="Group 47"/>
            <p:cNvGrpSpPr/>
            <p:nvPr/>
          </p:nvGrpSpPr>
          <p:grpSpPr>
            <a:xfrm>
              <a:off x="1259632" y="1412776"/>
              <a:ext cx="2520280" cy="4915707"/>
              <a:chOff x="611560" y="1425549"/>
              <a:chExt cx="2520280" cy="4972661"/>
            </a:xfrm>
          </p:grpSpPr>
          <p:sp>
            <p:nvSpPr>
              <p:cNvPr id="5" name="TextBox 4"/>
              <p:cNvSpPr txBox="1"/>
              <p:nvPr/>
            </p:nvSpPr>
            <p:spPr>
              <a:xfrm>
                <a:off x="611560" y="1425549"/>
                <a:ext cx="2520280" cy="306616"/>
              </a:xfrm>
              <a:prstGeom prst="rect">
                <a:avLst/>
              </a:prstGeom>
              <a:noFill/>
              <a:ln>
                <a:solidFill>
                  <a:schemeClr val="tx1"/>
                </a:solidFill>
              </a:ln>
            </p:spPr>
            <p:txBody>
              <a:bodyPr wrap="square" rtlCol="0">
                <a:spAutoFit/>
              </a:bodyPr>
              <a:lstStyle/>
              <a:p>
                <a:pPr algn="ctr"/>
                <a:r>
                  <a:rPr lang="en-IN" sz="1400" dirty="0" smtClean="0"/>
                  <a:t>Version</a:t>
                </a:r>
                <a:endParaRPr lang="en-IN" sz="1400" dirty="0"/>
              </a:p>
            </p:txBody>
          </p:sp>
          <p:sp>
            <p:nvSpPr>
              <p:cNvPr id="7" name="TextBox 6"/>
              <p:cNvSpPr txBox="1"/>
              <p:nvPr/>
            </p:nvSpPr>
            <p:spPr>
              <a:xfrm>
                <a:off x="611560" y="1733326"/>
                <a:ext cx="2520280" cy="307777"/>
              </a:xfrm>
              <a:prstGeom prst="rect">
                <a:avLst/>
              </a:prstGeom>
              <a:noFill/>
              <a:ln>
                <a:solidFill>
                  <a:schemeClr val="tx1"/>
                </a:solidFill>
              </a:ln>
            </p:spPr>
            <p:txBody>
              <a:bodyPr wrap="square" rtlCol="0">
                <a:spAutoFit/>
              </a:bodyPr>
              <a:lstStyle/>
              <a:p>
                <a:pPr algn="ctr"/>
                <a:r>
                  <a:rPr lang="en-IN" sz="1400" dirty="0" smtClean="0"/>
                  <a:t>Certificate Serial Number</a:t>
                </a:r>
                <a:endParaRPr lang="en-IN" sz="1400" dirty="0"/>
              </a:p>
            </p:txBody>
          </p:sp>
          <p:sp>
            <p:nvSpPr>
              <p:cNvPr id="13" name="TextBox 12"/>
              <p:cNvSpPr txBox="1"/>
              <p:nvPr/>
            </p:nvSpPr>
            <p:spPr>
              <a:xfrm>
                <a:off x="611560" y="2813446"/>
                <a:ext cx="2520280" cy="307777"/>
              </a:xfrm>
              <a:prstGeom prst="rect">
                <a:avLst/>
              </a:prstGeom>
              <a:noFill/>
              <a:ln>
                <a:solidFill>
                  <a:schemeClr val="tx1"/>
                </a:solidFill>
              </a:ln>
            </p:spPr>
            <p:txBody>
              <a:bodyPr wrap="square" rtlCol="0">
                <a:spAutoFit/>
              </a:bodyPr>
              <a:lstStyle/>
              <a:p>
                <a:pPr algn="ctr"/>
                <a:r>
                  <a:rPr lang="en-IN" sz="1400" dirty="0" smtClean="0"/>
                  <a:t>Issuer Name</a:t>
                </a:r>
                <a:endParaRPr lang="en-IN" sz="1400" dirty="0"/>
              </a:p>
            </p:txBody>
          </p:sp>
          <p:grpSp>
            <p:nvGrpSpPr>
              <p:cNvPr id="6" name="Group 15"/>
              <p:cNvGrpSpPr/>
              <p:nvPr/>
            </p:nvGrpSpPr>
            <p:grpSpPr>
              <a:xfrm>
                <a:off x="611560" y="2041103"/>
                <a:ext cx="2520280" cy="778154"/>
                <a:chOff x="611560" y="2165374"/>
                <a:chExt cx="2160240" cy="738664"/>
              </a:xfrm>
            </p:grpSpPr>
            <p:sp>
              <p:nvSpPr>
                <p:cNvPr id="12" name="TextBox 11"/>
                <p:cNvSpPr txBox="1"/>
                <p:nvPr/>
              </p:nvSpPr>
              <p:spPr>
                <a:xfrm>
                  <a:off x="611560" y="2165374"/>
                  <a:ext cx="2160240" cy="738664"/>
                </a:xfrm>
                <a:prstGeom prst="rect">
                  <a:avLst/>
                </a:prstGeom>
                <a:noFill/>
                <a:ln>
                  <a:solidFill>
                    <a:schemeClr val="tx1"/>
                  </a:solidFill>
                </a:ln>
              </p:spPr>
              <p:txBody>
                <a:bodyPr wrap="square" rtlCol="0">
                  <a:spAutoFit/>
                </a:bodyPr>
                <a:lstStyle/>
                <a:p>
                  <a:pPr algn="ctr"/>
                  <a:r>
                    <a:rPr lang="en-IN" sz="1400" dirty="0" smtClean="0"/>
                    <a:t>Algorithm</a:t>
                  </a:r>
                </a:p>
                <a:p>
                  <a:pPr algn="ctr"/>
                  <a:endParaRPr lang="en-IN" sz="1400" dirty="0" smtClean="0"/>
                </a:p>
                <a:p>
                  <a:pPr algn="ctr"/>
                  <a:r>
                    <a:rPr lang="en-IN" sz="1400" dirty="0" smtClean="0"/>
                    <a:t>Parameters</a:t>
                  </a:r>
                  <a:endParaRPr lang="en-IN" sz="1400" dirty="0"/>
                </a:p>
              </p:txBody>
            </p:sp>
            <p:cxnSp>
              <p:nvCxnSpPr>
                <p:cNvPr id="15" name="Straight Connector 14"/>
                <p:cNvCxnSpPr>
                  <a:stCxn id="12" idx="1"/>
                  <a:endCxn id="12" idx="3"/>
                </p:cNvCxnSpPr>
                <p:nvPr/>
              </p:nvCxnSpPr>
              <p:spPr>
                <a:xfrm>
                  <a:off x="611560" y="2534706"/>
                  <a:ext cx="216024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 name="Group 16"/>
              <p:cNvGrpSpPr/>
              <p:nvPr/>
            </p:nvGrpSpPr>
            <p:grpSpPr>
              <a:xfrm>
                <a:off x="611560" y="3121221"/>
                <a:ext cx="2520280" cy="792090"/>
                <a:chOff x="611560" y="2165374"/>
                <a:chExt cx="2160240" cy="531437"/>
              </a:xfrm>
            </p:grpSpPr>
            <p:sp>
              <p:nvSpPr>
                <p:cNvPr id="18" name="TextBox 17"/>
                <p:cNvSpPr txBox="1"/>
                <p:nvPr/>
              </p:nvSpPr>
              <p:spPr>
                <a:xfrm>
                  <a:off x="611560" y="2165374"/>
                  <a:ext cx="2160240" cy="531437"/>
                </a:xfrm>
                <a:prstGeom prst="rect">
                  <a:avLst/>
                </a:prstGeom>
                <a:noFill/>
                <a:ln>
                  <a:solidFill>
                    <a:schemeClr val="tx1"/>
                  </a:solidFill>
                </a:ln>
              </p:spPr>
              <p:txBody>
                <a:bodyPr wrap="square" rtlCol="0">
                  <a:spAutoFit/>
                </a:bodyPr>
                <a:lstStyle/>
                <a:p>
                  <a:pPr algn="ctr"/>
                  <a:r>
                    <a:rPr lang="en-IN" sz="1400" dirty="0" smtClean="0"/>
                    <a:t>Not Before</a:t>
                  </a:r>
                </a:p>
                <a:p>
                  <a:pPr algn="ctr"/>
                  <a:endParaRPr lang="en-IN" sz="1400" dirty="0" smtClean="0"/>
                </a:p>
                <a:p>
                  <a:pPr algn="ctr"/>
                  <a:r>
                    <a:rPr lang="en-IN" sz="1400" dirty="0" smtClean="0"/>
                    <a:t>Not After</a:t>
                  </a:r>
                  <a:endParaRPr lang="en-IN" sz="1400" dirty="0"/>
                </a:p>
              </p:txBody>
            </p:sp>
            <p:cxnSp>
              <p:nvCxnSpPr>
                <p:cNvPr id="19" name="Straight Connector 18"/>
                <p:cNvCxnSpPr>
                  <a:stCxn id="18" idx="1"/>
                  <a:endCxn id="18" idx="3"/>
                </p:cNvCxnSpPr>
                <p:nvPr/>
              </p:nvCxnSpPr>
              <p:spPr>
                <a:xfrm>
                  <a:off x="611560" y="2431091"/>
                  <a:ext cx="216024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611560" y="3913310"/>
                <a:ext cx="2520280" cy="311343"/>
              </a:xfrm>
              <a:prstGeom prst="rect">
                <a:avLst/>
              </a:prstGeom>
              <a:noFill/>
              <a:ln>
                <a:solidFill>
                  <a:schemeClr val="tx1"/>
                </a:solidFill>
              </a:ln>
            </p:spPr>
            <p:txBody>
              <a:bodyPr wrap="square" rtlCol="0">
                <a:spAutoFit/>
              </a:bodyPr>
              <a:lstStyle/>
              <a:p>
                <a:pPr algn="ctr"/>
                <a:r>
                  <a:rPr lang="en-IN" sz="1400" dirty="0" smtClean="0"/>
                  <a:t>Subject Name</a:t>
                </a:r>
                <a:endParaRPr lang="en-IN" sz="1400" dirty="0"/>
              </a:p>
            </p:txBody>
          </p:sp>
          <p:grpSp>
            <p:nvGrpSpPr>
              <p:cNvPr id="9" name="Group 25"/>
              <p:cNvGrpSpPr/>
              <p:nvPr/>
            </p:nvGrpSpPr>
            <p:grpSpPr>
              <a:xfrm>
                <a:off x="611560" y="4247599"/>
                <a:ext cx="2520280" cy="747222"/>
                <a:chOff x="611560" y="2188622"/>
                <a:chExt cx="2160240" cy="655241"/>
              </a:xfrm>
            </p:grpSpPr>
            <p:sp>
              <p:nvSpPr>
                <p:cNvPr id="27" name="TextBox 26"/>
                <p:cNvSpPr txBox="1"/>
                <p:nvPr/>
              </p:nvSpPr>
              <p:spPr>
                <a:xfrm>
                  <a:off x="611560" y="2188622"/>
                  <a:ext cx="2160240" cy="655241"/>
                </a:xfrm>
                <a:prstGeom prst="rect">
                  <a:avLst/>
                </a:prstGeom>
                <a:noFill/>
                <a:ln>
                  <a:solidFill>
                    <a:schemeClr val="tx1"/>
                  </a:solidFill>
                </a:ln>
              </p:spPr>
              <p:txBody>
                <a:bodyPr wrap="square" rtlCol="0">
                  <a:spAutoFit/>
                </a:bodyPr>
                <a:lstStyle/>
                <a:p>
                  <a:pPr algn="ctr"/>
                  <a:r>
                    <a:rPr lang="en-IN" sz="1400" dirty="0" smtClean="0"/>
                    <a:t>Algorithm</a:t>
                  </a:r>
                </a:p>
                <a:p>
                  <a:pPr algn="ctr"/>
                  <a:endParaRPr lang="en-IN" sz="1400" dirty="0" smtClean="0"/>
                </a:p>
                <a:p>
                  <a:pPr algn="ctr"/>
                  <a:r>
                    <a:rPr lang="en-IN" sz="1400" dirty="0" smtClean="0"/>
                    <a:t>Public Key and Parameters</a:t>
                  </a:r>
                  <a:endParaRPr lang="en-IN" sz="1400" dirty="0"/>
                </a:p>
              </p:txBody>
            </p:sp>
            <p:cxnSp>
              <p:nvCxnSpPr>
                <p:cNvPr id="28" name="Straight Connector 27"/>
                <p:cNvCxnSpPr>
                  <a:stCxn id="27" idx="1"/>
                  <a:endCxn id="27" idx="3"/>
                </p:cNvCxnSpPr>
                <p:nvPr/>
              </p:nvCxnSpPr>
              <p:spPr>
                <a:xfrm>
                  <a:off x="611560" y="2516243"/>
                  <a:ext cx="216024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611560" y="4994821"/>
                <a:ext cx="2520280" cy="307777"/>
              </a:xfrm>
              <a:prstGeom prst="rect">
                <a:avLst/>
              </a:prstGeom>
              <a:noFill/>
              <a:ln>
                <a:solidFill>
                  <a:schemeClr val="tx1"/>
                </a:solidFill>
              </a:ln>
            </p:spPr>
            <p:txBody>
              <a:bodyPr wrap="square" rtlCol="0">
                <a:spAutoFit/>
              </a:bodyPr>
              <a:lstStyle/>
              <a:p>
                <a:pPr algn="ctr"/>
                <a:r>
                  <a:rPr lang="en-IN" sz="1400" dirty="0" smtClean="0"/>
                  <a:t>Issuer’s Unique Id</a:t>
                </a:r>
                <a:endParaRPr lang="en-IN" sz="1400" dirty="0"/>
              </a:p>
            </p:txBody>
          </p:sp>
          <p:sp>
            <p:nvSpPr>
              <p:cNvPr id="30" name="TextBox 29"/>
              <p:cNvSpPr txBox="1"/>
              <p:nvPr/>
            </p:nvSpPr>
            <p:spPr>
              <a:xfrm>
                <a:off x="611560" y="5286190"/>
                <a:ext cx="2520280" cy="307777"/>
              </a:xfrm>
              <a:prstGeom prst="rect">
                <a:avLst/>
              </a:prstGeom>
              <a:noFill/>
              <a:ln>
                <a:solidFill>
                  <a:schemeClr val="tx1"/>
                </a:solidFill>
              </a:ln>
            </p:spPr>
            <p:txBody>
              <a:bodyPr wrap="square" rtlCol="0">
                <a:spAutoFit/>
              </a:bodyPr>
              <a:lstStyle/>
              <a:p>
                <a:pPr algn="ctr"/>
                <a:r>
                  <a:rPr lang="en-IN" sz="1400" dirty="0" smtClean="0"/>
                  <a:t>Subject’s Unique Id</a:t>
                </a:r>
                <a:endParaRPr lang="en-IN" sz="1400" dirty="0"/>
              </a:p>
            </p:txBody>
          </p:sp>
          <p:sp>
            <p:nvSpPr>
              <p:cNvPr id="31" name="TextBox 30"/>
              <p:cNvSpPr txBox="1"/>
              <p:nvPr/>
            </p:nvSpPr>
            <p:spPr>
              <a:xfrm>
                <a:off x="611560" y="5577560"/>
                <a:ext cx="2520280" cy="306616"/>
              </a:xfrm>
              <a:prstGeom prst="rect">
                <a:avLst/>
              </a:prstGeom>
              <a:noFill/>
              <a:ln>
                <a:solidFill>
                  <a:schemeClr val="tx1"/>
                </a:solidFill>
              </a:ln>
            </p:spPr>
            <p:txBody>
              <a:bodyPr wrap="square" rtlCol="0">
                <a:spAutoFit/>
              </a:bodyPr>
              <a:lstStyle/>
              <a:p>
                <a:pPr algn="ctr"/>
                <a:r>
                  <a:rPr lang="en-IN" sz="1400" dirty="0" smtClean="0"/>
                  <a:t>Extensions</a:t>
                </a:r>
                <a:endParaRPr lang="en-IN" sz="1400" dirty="0"/>
              </a:p>
            </p:txBody>
          </p:sp>
          <p:grpSp>
            <p:nvGrpSpPr>
              <p:cNvPr id="10" name="Group 32"/>
              <p:cNvGrpSpPr/>
              <p:nvPr/>
            </p:nvGrpSpPr>
            <p:grpSpPr>
              <a:xfrm>
                <a:off x="611560" y="5868928"/>
                <a:ext cx="2520280" cy="529282"/>
                <a:chOff x="611560" y="2172446"/>
                <a:chExt cx="2520280" cy="365287"/>
              </a:xfrm>
            </p:grpSpPr>
            <p:sp>
              <p:nvSpPr>
                <p:cNvPr id="34" name="TextBox 33"/>
                <p:cNvSpPr txBox="1"/>
                <p:nvPr/>
              </p:nvSpPr>
              <p:spPr>
                <a:xfrm>
                  <a:off x="611560" y="2172446"/>
                  <a:ext cx="2520280" cy="365287"/>
                </a:xfrm>
                <a:prstGeom prst="rect">
                  <a:avLst/>
                </a:prstGeom>
                <a:noFill/>
                <a:ln>
                  <a:solidFill>
                    <a:schemeClr val="tx1"/>
                  </a:solidFill>
                </a:ln>
              </p:spPr>
              <p:txBody>
                <a:bodyPr wrap="square" rtlCol="0">
                  <a:spAutoFit/>
                </a:bodyPr>
                <a:lstStyle/>
                <a:p>
                  <a:pPr algn="ctr"/>
                  <a:r>
                    <a:rPr lang="en-IN" sz="1400" dirty="0" smtClean="0"/>
                    <a:t>Algorithm</a:t>
                  </a:r>
                </a:p>
                <a:p>
                  <a:pPr algn="ctr"/>
                  <a:r>
                    <a:rPr lang="en-IN" sz="1400" dirty="0" smtClean="0"/>
                    <a:t>Encrypted Hash + Parameters</a:t>
                  </a:r>
                  <a:endParaRPr lang="en-IN" sz="1400" dirty="0"/>
                </a:p>
              </p:txBody>
            </p:sp>
            <p:cxnSp>
              <p:nvCxnSpPr>
                <p:cNvPr id="35" name="Straight Connector 34"/>
                <p:cNvCxnSpPr>
                  <a:stCxn id="34" idx="1"/>
                  <a:endCxn id="34" idx="3"/>
                </p:cNvCxnSpPr>
                <p:nvPr/>
              </p:nvCxnSpPr>
              <p:spPr>
                <a:xfrm>
                  <a:off x="611560" y="2355090"/>
                  <a:ext cx="252028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sp>
          <p:nvSpPr>
            <p:cNvPr id="49" name="TextBox 48"/>
            <p:cNvSpPr txBox="1"/>
            <p:nvPr/>
          </p:nvSpPr>
          <p:spPr>
            <a:xfrm>
              <a:off x="3275856" y="3049215"/>
              <a:ext cx="1296144" cy="307777"/>
            </a:xfrm>
            <a:prstGeom prst="rect">
              <a:avLst/>
            </a:prstGeom>
            <a:noFill/>
            <a:ln>
              <a:noFill/>
            </a:ln>
            <a:scene3d>
              <a:camera prst="orthographicFront">
                <a:rot lat="0" lon="0" rev="5400000"/>
              </a:camera>
              <a:lightRig rig="threePt" dir="t"/>
            </a:scene3d>
          </p:spPr>
          <p:txBody>
            <a:bodyPr wrap="square" rtlCol="0">
              <a:spAutoFit/>
            </a:bodyPr>
            <a:lstStyle/>
            <a:p>
              <a:pPr algn="ctr"/>
              <a:r>
                <a:rPr lang="en-IN" sz="1400" dirty="0" smtClean="0"/>
                <a:t>Version-1</a:t>
              </a:r>
              <a:endParaRPr lang="en-IN" sz="1400" dirty="0"/>
            </a:p>
          </p:txBody>
        </p:sp>
        <p:cxnSp>
          <p:nvCxnSpPr>
            <p:cNvPr id="51" name="Straight Arrow Connector 50"/>
            <p:cNvCxnSpPr/>
            <p:nvPr/>
          </p:nvCxnSpPr>
          <p:spPr>
            <a:xfrm>
              <a:off x="4067944" y="1412776"/>
              <a:ext cx="0" cy="3528392"/>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563888" y="3049215"/>
              <a:ext cx="1296144" cy="307777"/>
            </a:xfrm>
            <a:prstGeom prst="rect">
              <a:avLst/>
            </a:prstGeom>
            <a:noFill/>
            <a:ln>
              <a:noFill/>
            </a:ln>
            <a:scene3d>
              <a:camera prst="orthographicFront">
                <a:rot lat="0" lon="0" rev="5400000"/>
              </a:camera>
              <a:lightRig rig="threePt" dir="t"/>
            </a:scene3d>
          </p:spPr>
          <p:txBody>
            <a:bodyPr wrap="square" rtlCol="0">
              <a:spAutoFit/>
            </a:bodyPr>
            <a:lstStyle/>
            <a:p>
              <a:pPr algn="ctr"/>
              <a:r>
                <a:rPr lang="en-IN" sz="1400" dirty="0" smtClean="0"/>
                <a:t>Version-2</a:t>
              </a:r>
              <a:endParaRPr lang="en-IN" sz="1400" dirty="0"/>
            </a:p>
          </p:txBody>
        </p:sp>
        <p:cxnSp>
          <p:nvCxnSpPr>
            <p:cNvPr id="53" name="Straight Arrow Connector 52"/>
            <p:cNvCxnSpPr/>
            <p:nvPr/>
          </p:nvCxnSpPr>
          <p:spPr>
            <a:xfrm>
              <a:off x="4355976" y="1412776"/>
              <a:ext cx="0" cy="4104456"/>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851920" y="3068960"/>
              <a:ext cx="1296144" cy="307777"/>
            </a:xfrm>
            <a:prstGeom prst="rect">
              <a:avLst/>
            </a:prstGeom>
            <a:noFill/>
            <a:ln>
              <a:noFill/>
            </a:ln>
            <a:scene3d>
              <a:camera prst="orthographicFront">
                <a:rot lat="0" lon="0" rev="5400000"/>
              </a:camera>
              <a:lightRig rig="threePt" dir="t"/>
            </a:scene3d>
          </p:spPr>
          <p:txBody>
            <a:bodyPr wrap="square" rtlCol="0">
              <a:spAutoFit/>
            </a:bodyPr>
            <a:lstStyle/>
            <a:p>
              <a:pPr algn="ctr"/>
              <a:r>
                <a:rPr lang="en-IN" sz="1400" dirty="0" smtClean="0"/>
                <a:t>Version-3</a:t>
              </a:r>
              <a:endParaRPr lang="en-IN" sz="1400" dirty="0"/>
            </a:p>
          </p:txBody>
        </p:sp>
        <p:cxnSp>
          <p:nvCxnSpPr>
            <p:cNvPr id="58" name="Straight Arrow Connector 57"/>
            <p:cNvCxnSpPr/>
            <p:nvPr/>
          </p:nvCxnSpPr>
          <p:spPr>
            <a:xfrm>
              <a:off x="4644008" y="1432521"/>
              <a:ext cx="0" cy="4372743"/>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3923928" y="5805264"/>
              <a:ext cx="1080120" cy="523220"/>
            </a:xfrm>
            <a:prstGeom prst="rect">
              <a:avLst/>
            </a:prstGeom>
            <a:noFill/>
            <a:ln>
              <a:noFill/>
            </a:ln>
            <a:scene3d>
              <a:camera prst="orthographicFront">
                <a:rot lat="0" lon="0" rev="0"/>
              </a:camera>
              <a:lightRig rig="threePt" dir="t"/>
            </a:scene3d>
          </p:spPr>
          <p:txBody>
            <a:bodyPr wrap="square" rtlCol="0">
              <a:spAutoFit/>
            </a:bodyPr>
            <a:lstStyle/>
            <a:p>
              <a:pPr algn="ctr"/>
              <a:r>
                <a:rPr lang="en-IN" sz="1400" dirty="0" smtClean="0"/>
                <a:t>CA Sign</a:t>
              </a:r>
            </a:p>
            <a:p>
              <a:pPr algn="ctr"/>
              <a:r>
                <a:rPr lang="en-IN" sz="1400" dirty="0" smtClean="0"/>
                <a:t>All versions</a:t>
              </a:r>
              <a:endParaRPr lang="en-IN" sz="1400" dirty="0"/>
            </a:p>
          </p:txBody>
        </p:sp>
        <p:cxnSp>
          <p:nvCxnSpPr>
            <p:cNvPr id="61" name="Straight Arrow Connector 60"/>
            <p:cNvCxnSpPr/>
            <p:nvPr/>
          </p:nvCxnSpPr>
          <p:spPr>
            <a:xfrm>
              <a:off x="3923928" y="5805264"/>
              <a:ext cx="0" cy="504056"/>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cxnSp>
        <p:nvCxnSpPr>
          <p:cNvPr id="68" name="Straight Connector 67"/>
          <p:cNvCxnSpPr/>
          <p:nvPr/>
        </p:nvCxnSpPr>
        <p:spPr>
          <a:xfrm>
            <a:off x="2771800" y="4941168"/>
            <a:ext cx="576064"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771800" y="5517232"/>
            <a:ext cx="79208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2771800" y="5805264"/>
            <a:ext cx="100811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2699792" y="1412776"/>
            <a:ext cx="115212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851920" y="1314628"/>
            <a:ext cx="5184576" cy="5570756"/>
          </a:xfrm>
          <a:prstGeom prst="rect">
            <a:avLst/>
          </a:prstGeom>
          <a:noFill/>
        </p:spPr>
        <p:txBody>
          <a:bodyPr wrap="square" rtlCol="0">
            <a:spAutoFit/>
          </a:bodyPr>
          <a:lstStyle/>
          <a:p>
            <a:pPr marL="342900" indent="-342900" algn="just">
              <a:buClr>
                <a:srgbClr val="101141"/>
              </a:buClr>
              <a:buFont typeface="Wingdings" pitchFamily="2" charset="2"/>
              <a:buChar char="q"/>
            </a:pPr>
            <a:r>
              <a:rPr lang="en-IN" sz="1700" b="1" dirty="0" smtClean="0">
                <a:cs typeface="Arial" pitchFamily="34" charset="0"/>
              </a:rPr>
              <a:t>Version</a:t>
            </a:r>
            <a:r>
              <a:rPr lang="en-IN" sz="1700" dirty="0" smtClean="0">
                <a:cs typeface="Arial" pitchFamily="34" charset="0"/>
              </a:rPr>
              <a:t>: default is 1, if issuer’s and subject’s ids are present then it is 2. With certain extensions it is 3.</a:t>
            </a:r>
          </a:p>
          <a:p>
            <a:pPr marL="342900" indent="-342900" algn="just">
              <a:buClr>
                <a:srgbClr val="101141"/>
              </a:buClr>
              <a:buFont typeface="Wingdings" pitchFamily="2" charset="2"/>
              <a:buChar char="q"/>
            </a:pPr>
            <a:r>
              <a:rPr lang="en-IN" sz="1700" b="1" dirty="0" smtClean="0">
                <a:cs typeface="Arial" pitchFamily="34" charset="0"/>
              </a:rPr>
              <a:t>Certificate Serial Number</a:t>
            </a:r>
            <a:r>
              <a:rPr lang="en-IN" sz="1700" dirty="0" smtClean="0">
                <a:cs typeface="Arial" pitchFamily="34" charset="0"/>
              </a:rPr>
              <a:t>: A unique integer value from a range associated with the CA.</a:t>
            </a:r>
          </a:p>
          <a:p>
            <a:pPr marL="342900" indent="-342900" algn="just">
              <a:buClr>
                <a:srgbClr val="101141"/>
              </a:buClr>
              <a:buFont typeface="Wingdings" pitchFamily="2" charset="2"/>
              <a:buChar char="q"/>
            </a:pPr>
            <a:r>
              <a:rPr lang="en-IN" sz="1700" b="1" dirty="0" smtClean="0">
                <a:cs typeface="Arial" pitchFamily="34" charset="0"/>
              </a:rPr>
              <a:t>Algorithms and Parameters</a:t>
            </a:r>
            <a:r>
              <a:rPr lang="en-IN" sz="1700" dirty="0" smtClean="0">
                <a:cs typeface="Arial" pitchFamily="34" charset="0"/>
              </a:rPr>
              <a:t>: Algorithm used to sign the certificate. Redundant because last fields also has it.</a:t>
            </a:r>
          </a:p>
          <a:p>
            <a:pPr marL="342900" indent="-342900" algn="just">
              <a:buClr>
                <a:srgbClr val="101141"/>
              </a:buClr>
              <a:buFont typeface="Wingdings" pitchFamily="2" charset="2"/>
              <a:buChar char="q"/>
            </a:pPr>
            <a:r>
              <a:rPr lang="en-IN" sz="1700" b="1" dirty="0" smtClean="0">
                <a:cs typeface="Arial" pitchFamily="34" charset="0"/>
              </a:rPr>
              <a:t>Issuer Name</a:t>
            </a:r>
            <a:r>
              <a:rPr lang="en-IN" sz="1700" dirty="0" smtClean="0">
                <a:cs typeface="Arial" pitchFamily="34" charset="0"/>
              </a:rPr>
              <a:t>: X.500 format name of the CA.</a:t>
            </a:r>
          </a:p>
          <a:p>
            <a:pPr marL="342900" indent="-342900" algn="just">
              <a:buClr>
                <a:srgbClr val="101141"/>
              </a:buClr>
              <a:buFont typeface="Wingdings" pitchFamily="2" charset="2"/>
              <a:buChar char="q"/>
            </a:pPr>
            <a:r>
              <a:rPr lang="en-IN" sz="1700" b="1" dirty="0" smtClean="0">
                <a:cs typeface="Arial" pitchFamily="34" charset="0"/>
              </a:rPr>
              <a:t>Period of Validity</a:t>
            </a:r>
            <a:r>
              <a:rPr lang="en-IN" sz="1700" dirty="0" smtClean="0">
                <a:cs typeface="Arial" pitchFamily="34" charset="0"/>
              </a:rPr>
              <a:t>: In terms of not before and not after.</a:t>
            </a:r>
          </a:p>
          <a:p>
            <a:pPr marL="342900" indent="-342900" algn="just">
              <a:buClr>
                <a:srgbClr val="101141"/>
              </a:buClr>
              <a:buFont typeface="Wingdings" pitchFamily="2" charset="2"/>
              <a:buChar char="q"/>
            </a:pPr>
            <a:r>
              <a:rPr lang="en-IN" sz="1700" b="1" dirty="0" smtClean="0">
                <a:cs typeface="Arial" pitchFamily="34" charset="0"/>
              </a:rPr>
              <a:t>Subject Name</a:t>
            </a:r>
            <a:r>
              <a:rPr lang="en-IN" sz="1700" dirty="0" smtClean="0">
                <a:cs typeface="Arial" pitchFamily="34" charset="0"/>
              </a:rPr>
              <a:t>: Name of the user who holds the certificate.</a:t>
            </a:r>
          </a:p>
          <a:p>
            <a:pPr marL="342900" indent="-342900" algn="just">
              <a:buClr>
                <a:srgbClr val="101141"/>
              </a:buClr>
              <a:buFont typeface="Wingdings" pitchFamily="2" charset="2"/>
              <a:buChar char="q"/>
            </a:pPr>
            <a:r>
              <a:rPr lang="en-IN" sz="1700" b="1" dirty="0" smtClean="0">
                <a:cs typeface="Arial" pitchFamily="34" charset="0"/>
              </a:rPr>
              <a:t>Public Key, Algorithm and Parameters</a:t>
            </a:r>
            <a:r>
              <a:rPr lang="en-IN" sz="1700" dirty="0" smtClean="0">
                <a:cs typeface="Arial" pitchFamily="34" charset="0"/>
              </a:rPr>
              <a:t>:  Public key, algorithm where this key is to be used and parameters.</a:t>
            </a:r>
          </a:p>
          <a:p>
            <a:pPr marL="342900" indent="-342900" algn="just">
              <a:buClr>
                <a:srgbClr val="101141"/>
              </a:buClr>
              <a:buFont typeface="Wingdings" pitchFamily="2" charset="2"/>
              <a:buChar char="q"/>
            </a:pPr>
            <a:r>
              <a:rPr lang="en-IN" sz="1700" b="1" dirty="0" smtClean="0">
                <a:cs typeface="Arial" pitchFamily="34" charset="0"/>
              </a:rPr>
              <a:t>Issuer’s and Subject’s Unique Id</a:t>
            </a:r>
            <a:r>
              <a:rPr lang="en-IN" sz="1700" dirty="0" smtClean="0">
                <a:cs typeface="Arial" pitchFamily="34" charset="0"/>
              </a:rPr>
              <a:t>: Unique identifiers if the same name exist for more than one CA and user.</a:t>
            </a:r>
          </a:p>
          <a:p>
            <a:pPr marL="342900" indent="-342900" algn="just">
              <a:buClr>
                <a:srgbClr val="101141"/>
              </a:buClr>
              <a:buFont typeface="Wingdings" pitchFamily="2" charset="2"/>
              <a:buChar char="q"/>
            </a:pPr>
            <a:r>
              <a:rPr lang="en-IN" sz="1700" b="1" dirty="0" smtClean="0">
                <a:cs typeface="Arial" pitchFamily="34" charset="0"/>
              </a:rPr>
              <a:t>Extensions</a:t>
            </a:r>
            <a:r>
              <a:rPr lang="en-IN" sz="1700" dirty="0" smtClean="0">
                <a:cs typeface="Arial" pitchFamily="34" charset="0"/>
              </a:rPr>
              <a:t>: Version-3 extensions.</a:t>
            </a:r>
          </a:p>
          <a:p>
            <a:pPr marL="342900" indent="-342900" algn="just">
              <a:buClr>
                <a:srgbClr val="101141"/>
              </a:buClr>
              <a:buFont typeface="Wingdings" pitchFamily="2" charset="2"/>
              <a:buChar char="q"/>
            </a:pPr>
            <a:r>
              <a:rPr lang="en-IN" sz="1700" b="1" dirty="0" smtClean="0">
                <a:cs typeface="Arial" pitchFamily="34" charset="0"/>
              </a:rPr>
              <a:t>Algorithm, Hash and Parameters</a:t>
            </a:r>
            <a:r>
              <a:rPr lang="en-IN" sz="1700" dirty="0" smtClean="0">
                <a:cs typeface="Arial" pitchFamily="34" charset="0"/>
              </a:rPr>
              <a:t>: Signature information used to sign the certificate by CA.</a:t>
            </a:r>
          </a:p>
          <a:p>
            <a:pPr marL="342900" indent="-342900" algn="just">
              <a:buClr>
                <a:srgbClr val="101141"/>
              </a:buClr>
              <a:buFont typeface="Wingdings" pitchFamily="2" charset="2"/>
              <a:buChar char="q"/>
            </a:pPr>
            <a:endParaRPr lang="en-IN" sz="1600" dirty="0" smtClean="0">
              <a:cs typeface="Arial" pitchFamily="34" charset="0"/>
            </a:endParaRPr>
          </a:p>
        </p:txBody>
      </p:sp>
      <p:cxnSp>
        <p:nvCxnSpPr>
          <p:cNvPr id="92" name="Straight Connector 91"/>
          <p:cNvCxnSpPr/>
          <p:nvPr/>
        </p:nvCxnSpPr>
        <p:spPr>
          <a:xfrm>
            <a:off x="2771800" y="6309320"/>
            <a:ext cx="100811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6629528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Obtaining </a:t>
            </a:r>
            <a:r>
              <a:rPr lang="en-IN" sz="3200" dirty="0" smtClean="0">
                <a:latin typeface="+mj-lt"/>
                <a:ea typeface="+mj-ea"/>
                <a:cs typeface="+mj-cs"/>
              </a:rPr>
              <a:t>Certificates</a:t>
            </a:r>
            <a:endParaRPr lang="en-IN" sz="3200" dirty="0">
              <a:latin typeface="+mj-lt"/>
              <a:ea typeface="+mj-ea"/>
              <a:cs typeface="+mj-cs"/>
            </a:endParaRPr>
          </a:p>
        </p:txBody>
      </p:sp>
      <p:pic>
        <p:nvPicPr>
          <p:cNvPr id="1026" name="Picture 2"/>
          <p:cNvPicPr>
            <a:picLocks noGrp="1" noChangeAspect="1" noChangeArrowheads="1"/>
          </p:cNvPicPr>
          <p:nvPr>
            <p:ph idx="1"/>
          </p:nvPr>
        </p:nvPicPr>
        <p:blipFill>
          <a:blip r:embed="rId2"/>
          <a:srcRect/>
          <a:stretch>
            <a:fillRect/>
          </a:stretch>
        </p:blipFill>
        <p:spPr bwMode="auto">
          <a:xfrm>
            <a:off x="304800" y="1785926"/>
            <a:ext cx="7696224" cy="4286280"/>
          </a:xfrm>
          <a:prstGeom prst="rect">
            <a:avLst/>
          </a:prstGeom>
          <a:noFill/>
          <a:ln w="9525">
            <a:noFill/>
            <a:miter lim="800000"/>
            <a:headEnd/>
            <a:tailEnd/>
          </a:ln>
          <a:effectLst/>
        </p:spPr>
      </p:pic>
    </p:spTree>
    <p:extLst>
      <p:ext uri="{BB962C8B-B14F-4D97-AF65-F5344CB8AC3E}">
        <p14:creationId xmlns="" xmlns:p14="http://schemas.microsoft.com/office/powerpoint/2010/main" val="6505036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Example</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17</a:t>
            </a:fld>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714481" y="1493838"/>
            <a:ext cx="4514624" cy="4525962"/>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fontScale="92500"/>
          </a:bodyPr>
          <a:lstStyle/>
          <a:p>
            <a:pPr>
              <a:spcBef>
                <a:spcPct val="0"/>
              </a:spcBef>
            </a:pPr>
            <a:r>
              <a:rPr lang="en-IN" sz="3200" dirty="0">
                <a:latin typeface="+mj-lt"/>
                <a:ea typeface="+mj-ea"/>
                <a:cs typeface="+mj-cs"/>
              </a:rPr>
              <a:t>Revocation of X.509 Certificates</a:t>
            </a:r>
          </a:p>
          <a:p>
            <a:pPr>
              <a:spcBef>
                <a:spcPct val="0"/>
              </a:spcBef>
            </a:pPr>
            <a:r>
              <a:rPr lang="en-IN" sz="3200" dirty="0">
                <a:latin typeface="+mj-lt"/>
                <a:ea typeface="+mj-ea"/>
                <a:cs typeface="+mj-cs"/>
              </a:rPr>
              <a:t>Structure of Certificate Revocation List (CRL)</a:t>
            </a:r>
          </a:p>
        </p:txBody>
      </p:sp>
      <p:grpSp>
        <p:nvGrpSpPr>
          <p:cNvPr id="2" name="Group 44"/>
          <p:cNvGrpSpPr/>
          <p:nvPr/>
        </p:nvGrpSpPr>
        <p:grpSpPr>
          <a:xfrm>
            <a:off x="107504" y="1484784"/>
            <a:ext cx="2520280" cy="4843699"/>
            <a:chOff x="251520" y="1484784"/>
            <a:chExt cx="2520280" cy="4843699"/>
          </a:xfrm>
        </p:grpSpPr>
        <p:sp>
          <p:nvSpPr>
            <p:cNvPr id="17" name="TextBox 16"/>
            <p:cNvSpPr txBox="1"/>
            <p:nvPr/>
          </p:nvSpPr>
          <p:spPr>
            <a:xfrm>
              <a:off x="251520" y="2260652"/>
              <a:ext cx="2520280" cy="304252"/>
            </a:xfrm>
            <a:prstGeom prst="rect">
              <a:avLst/>
            </a:prstGeom>
            <a:noFill/>
            <a:ln>
              <a:solidFill>
                <a:schemeClr val="tx1"/>
              </a:solidFill>
            </a:ln>
          </p:spPr>
          <p:txBody>
            <a:bodyPr wrap="square" rtlCol="0">
              <a:spAutoFit/>
            </a:bodyPr>
            <a:lstStyle/>
            <a:p>
              <a:pPr algn="ctr"/>
              <a:r>
                <a:rPr lang="en-IN" sz="1400" dirty="0" smtClean="0"/>
                <a:t>Issuer Name</a:t>
              </a:r>
              <a:endParaRPr lang="en-IN" sz="1400" dirty="0"/>
            </a:p>
          </p:txBody>
        </p:sp>
        <p:grpSp>
          <p:nvGrpSpPr>
            <p:cNvPr id="5" name="Group 15"/>
            <p:cNvGrpSpPr/>
            <p:nvPr/>
          </p:nvGrpSpPr>
          <p:grpSpPr>
            <a:xfrm>
              <a:off x="251520" y="1484784"/>
              <a:ext cx="2520280" cy="769241"/>
              <a:chOff x="611560" y="2165374"/>
              <a:chExt cx="2160240" cy="738664"/>
            </a:xfrm>
          </p:grpSpPr>
          <p:sp>
            <p:nvSpPr>
              <p:cNvPr id="32" name="TextBox 31"/>
              <p:cNvSpPr txBox="1"/>
              <p:nvPr/>
            </p:nvSpPr>
            <p:spPr>
              <a:xfrm>
                <a:off x="611560" y="2165374"/>
                <a:ext cx="2160240" cy="738664"/>
              </a:xfrm>
              <a:prstGeom prst="rect">
                <a:avLst/>
              </a:prstGeom>
              <a:noFill/>
              <a:ln>
                <a:solidFill>
                  <a:schemeClr val="tx1"/>
                </a:solidFill>
              </a:ln>
            </p:spPr>
            <p:txBody>
              <a:bodyPr wrap="square" rtlCol="0">
                <a:spAutoFit/>
              </a:bodyPr>
              <a:lstStyle/>
              <a:p>
                <a:pPr algn="ctr"/>
                <a:r>
                  <a:rPr lang="en-IN" sz="1400" dirty="0" smtClean="0"/>
                  <a:t>Algorithm</a:t>
                </a:r>
              </a:p>
              <a:p>
                <a:pPr algn="ctr"/>
                <a:endParaRPr lang="en-IN" sz="1400" dirty="0" smtClean="0"/>
              </a:p>
              <a:p>
                <a:pPr algn="ctr"/>
                <a:r>
                  <a:rPr lang="en-IN" sz="1400" dirty="0" smtClean="0"/>
                  <a:t>Parameters</a:t>
                </a:r>
                <a:endParaRPr lang="en-IN" sz="1400" dirty="0"/>
              </a:p>
            </p:txBody>
          </p:sp>
          <p:cxnSp>
            <p:nvCxnSpPr>
              <p:cNvPr id="33" name="Straight Connector 14"/>
              <p:cNvCxnSpPr>
                <a:stCxn id="32" idx="1"/>
                <a:endCxn id="32" idx="3"/>
              </p:cNvCxnSpPr>
              <p:nvPr/>
            </p:nvCxnSpPr>
            <p:spPr>
              <a:xfrm>
                <a:off x="611560" y="2534706"/>
                <a:ext cx="216024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 name="Group 16"/>
            <p:cNvGrpSpPr/>
            <p:nvPr/>
          </p:nvGrpSpPr>
          <p:grpSpPr>
            <a:xfrm>
              <a:off x="251520" y="2546320"/>
              <a:ext cx="2520280" cy="738664"/>
              <a:chOff x="611560" y="2165374"/>
              <a:chExt cx="2160240" cy="501334"/>
            </a:xfrm>
          </p:grpSpPr>
          <p:sp>
            <p:nvSpPr>
              <p:cNvPr id="30" name="TextBox 17"/>
              <p:cNvSpPr txBox="1"/>
              <p:nvPr/>
            </p:nvSpPr>
            <p:spPr>
              <a:xfrm>
                <a:off x="611560" y="2165374"/>
                <a:ext cx="2160240" cy="501334"/>
              </a:xfrm>
              <a:prstGeom prst="rect">
                <a:avLst/>
              </a:prstGeom>
              <a:noFill/>
              <a:ln>
                <a:solidFill>
                  <a:schemeClr val="tx1"/>
                </a:solidFill>
              </a:ln>
            </p:spPr>
            <p:txBody>
              <a:bodyPr wrap="square" rtlCol="0">
                <a:spAutoFit/>
              </a:bodyPr>
              <a:lstStyle/>
              <a:p>
                <a:pPr algn="ctr"/>
                <a:r>
                  <a:rPr lang="en-IN" sz="1400" dirty="0" smtClean="0"/>
                  <a:t>This Update Date</a:t>
                </a:r>
              </a:p>
              <a:p>
                <a:pPr algn="ctr"/>
                <a:endParaRPr lang="en-IN" sz="1400" dirty="0" smtClean="0"/>
              </a:p>
              <a:p>
                <a:pPr algn="ctr"/>
                <a:r>
                  <a:rPr lang="en-IN" sz="1400" dirty="0" smtClean="0"/>
                  <a:t>Next Update Date</a:t>
                </a:r>
                <a:endParaRPr lang="en-IN" sz="1400" dirty="0"/>
              </a:p>
            </p:txBody>
          </p:sp>
          <p:cxnSp>
            <p:nvCxnSpPr>
              <p:cNvPr id="31" name="Straight Connector 30"/>
              <p:cNvCxnSpPr/>
              <p:nvPr/>
            </p:nvCxnSpPr>
            <p:spPr>
              <a:xfrm>
                <a:off x="611560" y="2431091"/>
                <a:ext cx="216024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 name="Group 25"/>
            <p:cNvGrpSpPr/>
            <p:nvPr/>
          </p:nvGrpSpPr>
          <p:grpSpPr>
            <a:xfrm>
              <a:off x="251520" y="3284983"/>
              <a:ext cx="2520280" cy="738664"/>
              <a:chOff x="611560" y="2188623"/>
              <a:chExt cx="2160240" cy="440522"/>
            </a:xfrm>
            <a:solidFill>
              <a:schemeClr val="bg1">
                <a:lumMod val="85000"/>
              </a:schemeClr>
            </a:solidFill>
          </p:grpSpPr>
          <p:sp>
            <p:nvSpPr>
              <p:cNvPr id="28" name="TextBox 27"/>
              <p:cNvSpPr txBox="1"/>
              <p:nvPr/>
            </p:nvSpPr>
            <p:spPr>
              <a:xfrm>
                <a:off x="611560" y="2188623"/>
                <a:ext cx="2160240" cy="440522"/>
              </a:xfrm>
              <a:prstGeom prst="rect">
                <a:avLst/>
              </a:prstGeom>
              <a:grpFill/>
              <a:ln>
                <a:solidFill>
                  <a:schemeClr val="tx1"/>
                </a:solidFill>
              </a:ln>
            </p:spPr>
            <p:txBody>
              <a:bodyPr wrap="square" rtlCol="0">
                <a:spAutoFit/>
              </a:bodyPr>
              <a:lstStyle/>
              <a:p>
                <a:pPr algn="ctr"/>
                <a:r>
                  <a:rPr lang="en-IN" sz="1400" dirty="0" smtClean="0"/>
                  <a:t>User Certificate Serial Number</a:t>
                </a:r>
              </a:p>
              <a:p>
                <a:pPr algn="ctr"/>
                <a:endParaRPr lang="en-IN" sz="1400" dirty="0" smtClean="0"/>
              </a:p>
              <a:p>
                <a:pPr algn="ctr"/>
                <a:r>
                  <a:rPr lang="en-IN" sz="1400" dirty="0" smtClean="0"/>
                  <a:t>Revocation Date</a:t>
                </a:r>
                <a:endParaRPr lang="en-IN" sz="1400" dirty="0"/>
              </a:p>
            </p:txBody>
          </p:sp>
          <p:cxnSp>
            <p:nvCxnSpPr>
              <p:cNvPr id="29" name="Straight Connector 28"/>
              <p:cNvCxnSpPr>
                <a:stCxn id="28" idx="1"/>
                <a:endCxn id="28" idx="3"/>
              </p:cNvCxnSpPr>
              <p:nvPr/>
            </p:nvCxnSpPr>
            <p:spPr>
              <a:xfrm>
                <a:off x="611560" y="2408885"/>
                <a:ext cx="2160240" cy="0"/>
              </a:xfrm>
              <a:prstGeom prst="line">
                <a:avLst/>
              </a:prstGeom>
              <a:grpFill/>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 name="Group 32"/>
            <p:cNvGrpSpPr/>
            <p:nvPr/>
          </p:nvGrpSpPr>
          <p:grpSpPr>
            <a:xfrm>
              <a:off x="251520" y="5805263"/>
              <a:ext cx="2520280" cy="523220"/>
              <a:chOff x="611560" y="2172446"/>
              <a:chExt cx="2520280" cy="365287"/>
            </a:xfrm>
          </p:grpSpPr>
          <p:sp>
            <p:nvSpPr>
              <p:cNvPr id="26" name="TextBox 25"/>
              <p:cNvSpPr txBox="1"/>
              <p:nvPr/>
            </p:nvSpPr>
            <p:spPr>
              <a:xfrm>
                <a:off x="611560" y="2172446"/>
                <a:ext cx="2520280" cy="365287"/>
              </a:xfrm>
              <a:prstGeom prst="rect">
                <a:avLst/>
              </a:prstGeom>
              <a:noFill/>
              <a:ln>
                <a:solidFill>
                  <a:schemeClr val="tx1"/>
                </a:solidFill>
              </a:ln>
            </p:spPr>
            <p:txBody>
              <a:bodyPr wrap="square" rtlCol="0">
                <a:spAutoFit/>
              </a:bodyPr>
              <a:lstStyle/>
              <a:p>
                <a:pPr algn="ctr"/>
                <a:r>
                  <a:rPr lang="en-IN" sz="1400" dirty="0" smtClean="0"/>
                  <a:t>Algorithm</a:t>
                </a:r>
              </a:p>
              <a:p>
                <a:pPr algn="ctr"/>
                <a:r>
                  <a:rPr lang="en-IN" sz="1400" dirty="0" smtClean="0"/>
                  <a:t>Encrypted Hash + Parameters</a:t>
                </a:r>
                <a:endParaRPr lang="en-IN" sz="1400" dirty="0"/>
              </a:p>
            </p:txBody>
          </p:sp>
          <p:cxnSp>
            <p:nvCxnSpPr>
              <p:cNvPr id="27" name="Straight Connector 26"/>
              <p:cNvCxnSpPr>
                <a:stCxn id="26" idx="1"/>
                <a:endCxn id="26" idx="3"/>
              </p:cNvCxnSpPr>
              <p:nvPr/>
            </p:nvCxnSpPr>
            <p:spPr>
              <a:xfrm>
                <a:off x="611560" y="2355090"/>
                <a:ext cx="252028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Group 25"/>
            <p:cNvGrpSpPr/>
            <p:nvPr/>
          </p:nvGrpSpPr>
          <p:grpSpPr>
            <a:xfrm>
              <a:off x="251520" y="5066600"/>
              <a:ext cx="2520280" cy="738664"/>
              <a:chOff x="611560" y="2188623"/>
              <a:chExt cx="2160240" cy="440522"/>
            </a:xfrm>
            <a:solidFill>
              <a:schemeClr val="bg1">
                <a:lumMod val="85000"/>
              </a:schemeClr>
            </a:solidFill>
          </p:grpSpPr>
          <p:sp>
            <p:nvSpPr>
              <p:cNvPr id="35" name="TextBox 34"/>
              <p:cNvSpPr txBox="1"/>
              <p:nvPr/>
            </p:nvSpPr>
            <p:spPr>
              <a:xfrm>
                <a:off x="611560" y="2188623"/>
                <a:ext cx="2160240" cy="440522"/>
              </a:xfrm>
              <a:prstGeom prst="rect">
                <a:avLst/>
              </a:prstGeom>
              <a:grpFill/>
              <a:ln>
                <a:solidFill>
                  <a:schemeClr val="tx1"/>
                </a:solidFill>
              </a:ln>
            </p:spPr>
            <p:txBody>
              <a:bodyPr wrap="square" rtlCol="0">
                <a:spAutoFit/>
              </a:bodyPr>
              <a:lstStyle/>
              <a:p>
                <a:pPr algn="ctr"/>
                <a:r>
                  <a:rPr lang="en-IN" sz="1400" dirty="0" smtClean="0"/>
                  <a:t>User Certificate Serial Number</a:t>
                </a:r>
              </a:p>
              <a:p>
                <a:pPr algn="ctr"/>
                <a:endParaRPr lang="en-IN" sz="1400" dirty="0" smtClean="0"/>
              </a:p>
              <a:p>
                <a:pPr algn="ctr"/>
                <a:r>
                  <a:rPr lang="en-IN" sz="1400" dirty="0" smtClean="0"/>
                  <a:t>Revocation Date</a:t>
                </a:r>
                <a:endParaRPr lang="en-IN" sz="1400" dirty="0"/>
              </a:p>
            </p:txBody>
          </p:sp>
          <p:cxnSp>
            <p:nvCxnSpPr>
              <p:cNvPr id="36" name="Straight Connector 35"/>
              <p:cNvCxnSpPr>
                <a:stCxn id="35" idx="1"/>
                <a:endCxn id="35" idx="3"/>
              </p:cNvCxnSpPr>
              <p:nvPr/>
            </p:nvCxnSpPr>
            <p:spPr>
              <a:xfrm>
                <a:off x="611560" y="2408885"/>
                <a:ext cx="2160240" cy="0"/>
              </a:xfrm>
              <a:prstGeom prst="line">
                <a:avLst/>
              </a:prstGeom>
              <a:grpFill/>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41" name="Straight Connector 40"/>
            <p:cNvCxnSpPr/>
            <p:nvPr/>
          </p:nvCxnSpPr>
          <p:spPr>
            <a:xfrm flipV="1">
              <a:off x="2771800" y="4005064"/>
              <a:ext cx="0" cy="10801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251520" y="4005064"/>
              <a:ext cx="0" cy="10801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8" idx="2"/>
              <a:endCxn id="35" idx="0"/>
            </p:cNvCxnSpPr>
            <p:nvPr/>
          </p:nvCxnSpPr>
          <p:spPr>
            <a:xfrm>
              <a:off x="1511660" y="4023648"/>
              <a:ext cx="0" cy="1042952"/>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2798811" y="1392157"/>
            <a:ext cx="6264696" cy="5262979"/>
          </a:xfrm>
          <a:prstGeom prst="rect">
            <a:avLst/>
          </a:prstGeom>
          <a:noFill/>
        </p:spPr>
        <p:txBody>
          <a:bodyPr wrap="square" rtlCol="0">
            <a:spAutoFit/>
          </a:bodyPr>
          <a:lstStyle/>
          <a:p>
            <a:pPr marL="342900" indent="-342900" algn="just">
              <a:buClr>
                <a:srgbClr val="101141"/>
              </a:buClr>
              <a:buFont typeface="Wingdings" pitchFamily="2" charset="2"/>
              <a:buChar char="q"/>
            </a:pPr>
            <a:r>
              <a:rPr lang="en-IN" sz="1600" dirty="0" smtClean="0"/>
              <a:t>Each CA must maintain a list consisting of all revoked but not expired certificates issued by that CA, including both those issued to users and to other CAs. These lists should also be posted on the directory. The reasons could be many like:</a:t>
            </a:r>
          </a:p>
          <a:p>
            <a:pPr marL="800100" lvl="1" indent="-342900" algn="just">
              <a:buClr>
                <a:srgbClr val="101141"/>
              </a:buClr>
              <a:buFont typeface="Wingdings" pitchFamily="2" charset="2"/>
              <a:buChar char="§"/>
            </a:pPr>
            <a:r>
              <a:rPr lang="en-IN" sz="1600" dirty="0" smtClean="0"/>
              <a:t>User’s private key is compromised.</a:t>
            </a:r>
          </a:p>
          <a:p>
            <a:pPr marL="800100" lvl="1" indent="-342900" algn="just">
              <a:buClr>
                <a:srgbClr val="101141"/>
              </a:buClr>
              <a:buFont typeface="Wingdings" pitchFamily="2" charset="2"/>
              <a:buChar char="§"/>
            </a:pPr>
            <a:r>
              <a:rPr lang="en-IN" sz="1600" dirty="0" smtClean="0"/>
              <a:t>The user is temporarily suspended.</a:t>
            </a:r>
          </a:p>
          <a:p>
            <a:pPr marL="800100" lvl="1" indent="-342900" algn="just">
              <a:buClr>
                <a:srgbClr val="101141"/>
              </a:buClr>
              <a:buFont typeface="Wingdings" pitchFamily="2" charset="2"/>
              <a:buChar char="§"/>
            </a:pPr>
            <a:r>
              <a:rPr lang="en-IN" sz="1600" dirty="0" smtClean="0"/>
              <a:t>The certificate was not issued conformed to the policies.</a:t>
            </a:r>
          </a:p>
          <a:p>
            <a:pPr marL="800100" lvl="1" indent="-342900" algn="just">
              <a:buClr>
                <a:srgbClr val="101141"/>
              </a:buClr>
            </a:pPr>
            <a:endParaRPr lang="en-IN" sz="1600" dirty="0" smtClean="0"/>
          </a:p>
          <a:p>
            <a:pPr marL="342900" indent="-342900" algn="just">
              <a:buClr>
                <a:srgbClr val="101141"/>
              </a:buClr>
              <a:buFont typeface="Wingdings" pitchFamily="2" charset="2"/>
              <a:buChar char="q"/>
            </a:pPr>
            <a:r>
              <a:rPr lang="en-IN" sz="1600" dirty="0" smtClean="0"/>
              <a:t>Each certificate revocation list (CRL) posted to the directory is signed by the issuer CA and includes </a:t>
            </a:r>
          </a:p>
          <a:p>
            <a:pPr marL="800100" lvl="1" indent="-342900" algn="just">
              <a:buClr>
                <a:srgbClr val="101141"/>
              </a:buClr>
              <a:buFont typeface="Wingdings" pitchFamily="2" charset="2"/>
              <a:buChar char="§"/>
            </a:pPr>
            <a:r>
              <a:rPr lang="en-IN" sz="1600" dirty="0" smtClean="0"/>
              <a:t>The issuer’s name.</a:t>
            </a:r>
          </a:p>
          <a:p>
            <a:pPr marL="800100" lvl="1" indent="-342900" algn="just">
              <a:buClr>
                <a:srgbClr val="101141"/>
              </a:buClr>
              <a:buFont typeface="Wingdings" pitchFamily="2" charset="2"/>
              <a:buChar char="§"/>
            </a:pPr>
            <a:r>
              <a:rPr lang="en-IN" sz="1600" dirty="0" smtClean="0"/>
              <a:t>The date the list was created.</a:t>
            </a:r>
          </a:p>
          <a:p>
            <a:pPr marL="800100" lvl="1" indent="-342900" algn="just">
              <a:buClr>
                <a:srgbClr val="101141"/>
              </a:buClr>
              <a:buFont typeface="Wingdings" pitchFamily="2" charset="2"/>
              <a:buChar char="§"/>
            </a:pPr>
            <a:r>
              <a:rPr lang="en-IN" sz="1600" dirty="0" smtClean="0"/>
              <a:t>The date the next CRL is scheduled to be issued.</a:t>
            </a:r>
          </a:p>
          <a:p>
            <a:pPr marL="800100" lvl="1" indent="-342900" algn="just">
              <a:buClr>
                <a:srgbClr val="101141"/>
              </a:buClr>
              <a:buFont typeface="Wingdings" pitchFamily="2" charset="2"/>
              <a:buChar char="§"/>
            </a:pPr>
            <a:r>
              <a:rPr lang="en-IN" sz="1600" dirty="0" smtClean="0"/>
              <a:t>An entry for each revoked certificate - consists of the serial number of a certificate and revocation date.</a:t>
            </a:r>
          </a:p>
          <a:p>
            <a:endParaRPr lang="en-IN" sz="1600" dirty="0" smtClean="0"/>
          </a:p>
          <a:p>
            <a:pPr marL="342900" indent="-342900" algn="just">
              <a:buClr>
                <a:srgbClr val="101141"/>
              </a:buClr>
              <a:buFont typeface="Wingdings" pitchFamily="2" charset="2"/>
              <a:buChar char="q"/>
            </a:pPr>
            <a:r>
              <a:rPr lang="en-IN" sz="1600" dirty="0" smtClean="0"/>
              <a:t>When a user receives a certificate in a message, the user must determine whether the certificate has been revoked. The user could check the directory each time a certificate is received. User could also maintain a local cache of certificates and lists of revoked certificates to save delays.</a:t>
            </a:r>
          </a:p>
        </p:txBody>
      </p:sp>
    </p:spTree>
    <p:extLst>
      <p:ext uri="{BB962C8B-B14F-4D97-AF65-F5344CB8AC3E}">
        <p14:creationId xmlns="" xmlns:p14="http://schemas.microsoft.com/office/powerpoint/2010/main" val="1219797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72220" y="1523331"/>
            <a:ext cx="5535836" cy="5074021"/>
          </a:xfrm>
        </p:spPr>
        <p:txBody>
          <a:bodyPr vert="horz" lIns="91440" tIns="45720" rIns="91440" bIns="45720" rtlCol="0">
            <a:normAutofit fontScale="70000" lnSpcReduction="20000"/>
          </a:bodyPr>
          <a:lstStyle/>
          <a:p>
            <a:pPr lvl="2"/>
            <a:r>
              <a:rPr lang="en-IN" dirty="0"/>
              <a:t>Open Distributed Environment.</a:t>
            </a:r>
          </a:p>
          <a:p>
            <a:pPr lvl="2"/>
            <a:r>
              <a:rPr lang="en-IN" dirty="0"/>
              <a:t>Users at workstations wish to access services on servers distributed throughout the network.</a:t>
            </a:r>
          </a:p>
          <a:p>
            <a:pPr lvl="2"/>
            <a:r>
              <a:rPr lang="en-IN" dirty="0"/>
              <a:t>Servers to be able to restrict access to authorized users and to be able to authenticate requests for service.</a:t>
            </a:r>
          </a:p>
          <a:p>
            <a:pPr lvl="2"/>
            <a:r>
              <a:rPr lang="en-IN" dirty="0"/>
              <a:t>A user may gain access to a particular workstation and pretend to be another user.</a:t>
            </a:r>
          </a:p>
          <a:p>
            <a:pPr lvl="2"/>
            <a:r>
              <a:rPr lang="en-IN" dirty="0"/>
              <a:t>A user may alter the network address of a workstation so that the requests sent from the altered workstation appear to come from the impersonated workstation.</a:t>
            </a:r>
          </a:p>
          <a:p>
            <a:pPr lvl="2"/>
            <a:r>
              <a:rPr lang="en-IN" dirty="0"/>
              <a:t>A user may eavesdrop on exchanges and use a replay attack to gain entrance to a server or to disrupt operations.</a:t>
            </a:r>
          </a:p>
          <a:p>
            <a:pPr lvl="2"/>
            <a:endParaRPr lang="en-IN" dirty="0"/>
          </a:p>
          <a:p>
            <a:pPr lvl="2"/>
            <a:r>
              <a:rPr lang="en-IN" dirty="0"/>
              <a:t>How to provide authentication between the user and the server?</a:t>
            </a:r>
          </a:p>
          <a:p>
            <a:pPr lvl="2"/>
            <a:endParaRPr lang="en-IN" dirty="0"/>
          </a:p>
        </p:txBody>
      </p:sp>
      <p:sp>
        <p:nvSpPr>
          <p:cNvPr id="3" name="Content Placeholder 2"/>
          <p:cNvSpPr>
            <a:spLocks noGrp="1"/>
          </p:cNvSpPr>
          <p:nvPr>
            <p:ph sz="quarter" idx="10"/>
          </p:nvPr>
        </p:nvSpPr>
        <p:spPr>
          <a:xfrm>
            <a:off x="304800" y="152400"/>
            <a:ext cx="6324600" cy="889954"/>
          </a:xfrm>
        </p:spPr>
        <p:txBody>
          <a:bodyPr vert="horz" lIns="91440" tIns="45720" rIns="91440" bIns="45720" rtlCol="0" anchor="ctr" anchorCtr="0">
            <a:normAutofit/>
          </a:bodyPr>
          <a:lstStyle/>
          <a:p>
            <a:pPr>
              <a:spcBef>
                <a:spcPct val="0"/>
              </a:spcBef>
            </a:pPr>
            <a:r>
              <a:rPr lang="en-IN" sz="3200" dirty="0">
                <a:latin typeface="+mj-lt"/>
                <a:ea typeface="+mj-ea"/>
                <a:cs typeface="+mj-cs"/>
              </a:rPr>
              <a:t>Need of Authentication</a:t>
            </a:r>
          </a:p>
        </p:txBody>
      </p:sp>
      <p:grpSp>
        <p:nvGrpSpPr>
          <p:cNvPr id="5" name="Group 21"/>
          <p:cNvGrpSpPr/>
          <p:nvPr/>
        </p:nvGrpSpPr>
        <p:grpSpPr>
          <a:xfrm>
            <a:off x="5220072" y="1201002"/>
            <a:ext cx="3419872" cy="5256584"/>
            <a:chOff x="5652120" y="1124744"/>
            <a:chExt cx="3419872" cy="5256584"/>
          </a:xfrm>
        </p:grpSpPr>
        <p:grpSp>
          <p:nvGrpSpPr>
            <p:cNvPr id="6" name="Group 18"/>
            <p:cNvGrpSpPr/>
            <p:nvPr/>
          </p:nvGrpSpPr>
          <p:grpSpPr>
            <a:xfrm>
              <a:off x="5652120" y="1988840"/>
              <a:ext cx="3419872" cy="3393668"/>
              <a:chOff x="5724128" y="1988840"/>
              <a:chExt cx="3419872" cy="3393668"/>
            </a:xfrm>
          </p:grpSpPr>
          <p:pic>
            <p:nvPicPr>
              <p:cNvPr id="2050" name="Picture 2" descr="http://icons.iconarchive.com/icons/fasticon/servers/128/black-server-icon.png"/>
              <p:cNvPicPr>
                <a:picLocks noChangeAspect="1" noChangeArrowheads="1"/>
              </p:cNvPicPr>
              <p:nvPr/>
            </p:nvPicPr>
            <p:blipFill>
              <a:blip r:embed="rId2" cstate="print"/>
              <a:srcRect/>
              <a:stretch>
                <a:fillRect/>
              </a:stretch>
            </p:blipFill>
            <p:spPr bwMode="auto">
              <a:xfrm>
                <a:off x="6444208" y="1988840"/>
                <a:ext cx="1219200" cy="1219201"/>
              </a:xfrm>
              <a:prstGeom prst="rect">
                <a:avLst/>
              </a:prstGeom>
              <a:noFill/>
            </p:spPr>
          </p:pic>
          <p:pic>
            <p:nvPicPr>
              <p:cNvPr id="2052" name="Picture 4" descr="https://www.dtlinfo.com/sites/dtl_info/img/products_categories/iconmonstr-laptop-3-icon.png"/>
              <p:cNvPicPr>
                <a:picLocks noChangeAspect="1" noChangeArrowheads="1"/>
              </p:cNvPicPr>
              <p:nvPr/>
            </p:nvPicPr>
            <p:blipFill>
              <a:blip r:embed="rId3" cstate="print"/>
              <a:srcRect/>
              <a:stretch>
                <a:fillRect/>
              </a:stretch>
            </p:blipFill>
            <p:spPr bwMode="auto">
              <a:xfrm>
                <a:off x="5724128" y="4149080"/>
                <a:ext cx="935013" cy="935013"/>
              </a:xfrm>
              <a:prstGeom prst="rect">
                <a:avLst/>
              </a:prstGeom>
              <a:noFill/>
            </p:spPr>
          </p:pic>
          <p:pic>
            <p:nvPicPr>
              <p:cNvPr id="7" name="Picture 4" descr="https://www.dtlinfo.com/sites/dtl_info/img/products_categories/iconmonstr-laptop-3-icon.png"/>
              <p:cNvPicPr>
                <a:picLocks noChangeAspect="1" noChangeArrowheads="1"/>
              </p:cNvPicPr>
              <p:nvPr/>
            </p:nvPicPr>
            <p:blipFill>
              <a:blip r:embed="rId3" cstate="print"/>
              <a:srcRect/>
              <a:stretch>
                <a:fillRect/>
              </a:stretch>
            </p:blipFill>
            <p:spPr bwMode="auto">
              <a:xfrm>
                <a:off x="6660232" y="4149080"/>
                <a:ext cx="935013" cy="935013"/>
              </a:xfrm>
              <a:prstGeom prst="rect">
                <a:avLst/>
              </a:prstGeom>
              <a:noFill/>
            </p:spPr>
          </p:pic>
          <p:pic>
            <p:nvPicPr>
              <p:cNvPr id="8" name="Picture 4" descr="https://www.dtlinfo.com/sites/dtl_info/img/products_categories/iconmonstr-laptop-3-icon.png"/>
              <p:cNvPicPr>
                <a:picLocks noChangeAspect="1" noChangeArrowheads="1"/>
              </p:cNvPicPr>
              <p:nvPr/>
            </p:nvPicPr>
            <p:blipFill>
              <a:blip r:embed="rId3" cstate="print"/>
              <a:srcRect/>
              <a:stretch>
                <a:fillRect/>
              </a:stretch>
            </p:blipFill>
            <p:spPr bwMode="auto">
              <a:xfrm>
                <a:off x="8208987" y="4149080"/>
                <a:ext cx="935013" cy="935013"/>
              </a:xfrm>
              <a:prstGeom prst="rect">
                <a:avLst/>
              </a:prstGeom>
              <a:noFill/>
            </p:spPr>
          </p:pic>
          <p:cxnSp>
            <p:nvCxnSpPr>
              <p:cNvPr id="10" name="Straight Connector 9"/>
              <p:cNvCxnSpPr>
                <a:stCxn id="7" idx="3"/>
                <a:endCxn id="8" idx="1"/>
              </p:cNvCxnSpPr>
              <p:nvPr/>
            </p:nvCxnSpPr>
            <p:spPr>
              <a:xfrm>
                <a:off x="7595245" y="4616587"/>
                <a:ext cx="613742" cy="0"/>
              </a:xfrm>
              <a:prstGeom prst="line">
                <a:avLst/>
              </a:prstGeom>
              <a:ln w="254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052" idx="0"/>
              </p:cNvCxnSpPr>
              <p:nvPr/>
            </p:nvCxnSpPr>
            <p:spPr>
              <a:xfrm flipV="1">
                <a:off x="6191635" y="3212976"/>
                <a:ext cx="612613" cy="93610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164288" y="3284984"/>
                <a:ext cx="0" cy="7920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0"/>
              </p:cNvCxnSpPr>
              <p:nvPr/>
            </p:nvCxnSpPr>
            <p:spPr>
              <a:xfrm flipH="1" flipV="1">
                <a:off x="7524328" y="3212976"/>
                <a:ext cx="1152166" cy="93610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596336" y="2420888"/>
                <a:ext cx="792088" cy="369332"/>
              </a:xfrm>
              <a:prstGeom prst="rect">
                <a:avLst/>
              </a:prstGeom>
              <a:noFill/>
            </p:spPr>
            <p:txBody>
              <a:bodyPr wrap="square" rtlCol="0">
                <a:spAutoFit/>
              </a:bodyPr>
              <a:lstStyle/>
              <a:p>
                <a:r>
                  <a:rPr lang="en-IN" b="1" dirty="0" smtClean="0"/>
                  <a:t>Server</a:t>
                </a:r>
                <a:endParaRPr lang="en-IN" b="1" dirty="0"/>
              </a:p>
            </p:txBody>
          </p:sp>
          <p:sp>
            <p:nvSpPr>
              <p:cNvPr id="18" name="TextBox 17"/>
              <p:cNvSpPr txBox="1"/>
              <p:nvPr/>
            </p:nvSpPr>
            <p:spPr>
              <a:xfrm>
                <a:off x="7236296" y="5013176"/>
                <a:ext cx="1512168" cy="369332"/>
              </a:xfrm>
              <a:prstGeom prst="rect">
                <a:avLst/>
              </a:prstGeom>
              <a:noFill/>
            </p:spPr>
            <p:txBody>
              <a:bodyPr wrap="square" rtlCol="0">
                <a:spAutoFit/>
              </a:bodyPr>
              <a:lstStyle/>
              <a:p>
                <a:r>
                  <a:rPr lang="en-IN" b="1" dirty="0" smtClean="0"/>
                  <a:t>Workstations</a:t>
                </a:r>
                <a:endParaRPr lang="en-IN" b="1" dirty="0"/>
              </a:p>
            </p:txBody>
          </p:sp>
        </p:grpSp>
        <p:sp>
          <p:nvSpPr>
            <p:cNvPr id="20" name="Rounded Rectangular Callout 19"/>
            <p:cNvSpPr/>
            <p:nvPr/>
          </p:nvSpPr>
          <p:spPr>
            <a:xfrm>
              <a:off x="7524328" y="1124744"/>
              <a:ext cx="1475656" cy="936104"/>
            </a:xfrm>
            <a:prstGeom prst="wedgeRoundRectCallout">
              <a:avLst>
                <a:gd name="adj1" fmla="val -72574"/>
                <a:gd name="adj2" fmla="val 50837"/>
                <a:gd name="adj3" fmla="val 16667"/>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i="1" dirty="0" smtClean="0">
                  <a:solidFill>
                    <a:srgbClr val="C00000"/>
                  </a:solidFill>
                </a:rPr>
                <a:t>How do I authenticate?</a:t>
              </a:r>
              <a:endParaRPr lang="en-IN" sz="1600" b="1" i="1" dirty="0">
                <a:solidFill>
                  <a:srgbClr val="C00000"/>
                </a:solidFill>
              </a:endParaRPr>
            </a:p>
          </p:txBody>
        </p:sp>
        <p:sp>
          <p:nvSpPr>
            <p:cNvPr id="21" name="Rounded Rectangular Callout 20"/>
            <p:cNvSpPr/>
            <p:nvPr/>
          </p:nvSpPr>
          <p:spPr>
            <a:xfrm>
              <a:off x="6084168" y="5445224"/>
              <a:ext cx="1475656" cy="936104"/>
            </a:xfrm>
            <a:prstGeom prst="wedgeRoundRectCallout">
              <a:avLst>
                <a:gd name="adj1" fmla="val -50377"/>
                <a:gd name="adj2" fmla="val -105162"/>
                <a:gd name="adj3" fmla="val 16667"/>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i="1" dirty="0" smtClean="0">
                  <a:solidFill>
                    <a:srgbClr val="C00000"/>
                  </a:solidFill>
                </a:rPr>
                <a:t>Is it a legitimate server?</a:t>
              </a:r>
              <a:endParaRPr lang="en-IN" sz="1600" b="1" i="1" dirty="0">
                <a:solidFill>
                  <a:srgbClr val="C00000"/>
                </a:solidFill>
              </a:endParaRPr>
            </a:p>
          </p:txBody>
        </p:sp>
      </p:grpSp>
    </p:spTree>
    <p:extLst>
      <p:ext uri="{BB962C8B-B14F-4D97-AF65-F5344CB8AC3E}">
        <p14:creationId xmlns="" xmlns:p14="http://schemas.microsoft.com/office/powerpoint/2010/main" val="378915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24081" y="188640"/>
            <a:ext cx="6324600" cy="900336"/>
          </a:xfrm>
        </p:spPr>
        <p:txBody>
          <a:bodyPr anchor="ctr"/>
          <a:lstStyle/>
          <a:p>
            <a:pPr>
              <a:spcBef>
                <a:spcPct val="0"/>
              </a:spcBef>
            </a:pPr>
            <a:r>
              <a:rPr lang="en-IN" sz="3200" dirty="0">
                <a:latin typeface="+mj-lt"/>
                <a:ea typeface="+mj-ea"/>
                <a:cs typeface="+mj-cs"/>
              </a:rPr>
              <a:t>Kerberos</a:t>
            </a:r>
          </a:p>
        </p:txBody>
      </p:sp>
      <p:sp>
        <p:nvSpPr>
          <p:cNvPr id="6" name="Rectangle 5"/>
          <p:cNvSpPr/>
          <p:nvPr/>
        </p:nvSpPr>
        <p:spPr>
          <a:xfrm>
            <a:off x="-468560" y="1484784"/>
            <a:ext cx="8640960" cy="2160240"/>
          </a:xfrm>
          <a:prstGeom prst="rect">
            <a:avLst/>
          </a:prstGeom>
        </p:spPr>
        <p:txBody>
          <a:bodyPr vert="horz" lIns="91440" tIns="45720" rIns="91440" bIns="45720" rtlCol="0">
            <a:normAutofit/>
          </a:bodyPr>
          <a:lstStyle/>
          <a:p>
            <a:pPr marL="1143000" lvl="2" indent="-228600">
              <a:spcBef>
                <a:spcPct val="20000"/>
              </a:spcBef>
              <a:buFont typeface="Arial" pitchFamily="34" charset="0"/>
              <a:buChar char="•"/>
            </a:pPr>
            <a:r>
              <a:rPr lang="en-IN" sz="2400" dirty="0"/>
              <a:t>Kerberos is an authentication service developed as part of </a:t>
            </a:r>
            <a:r>
              <a:rPr lang="en-IN" sz="2400" dirty="0">
                <a:hlinkClick r:id="rId2"/>
              </a:rPr>
              <a:t>Project Athena at MIT</a:t>
            </a:r>
            <a:r>
              <a:rPr lang="en-IN" sz="2400" dirty="0"/>
              <a:t> attempted to address these issues and provide authentication service in a distributed environment. </a:t>
            </a:r>
          </a:p>
        </p:txBody>
      </p:sp>
    </p:spTree>
    <p:extLst>
      <p:ext uri="{BB962C8B-B14F-4D97-AF65-F5344CB8AC3E}">
        <p14:creationId xmlns="" xmlns:p14="http://schemas.microsoft.com/office/powerpoint/2010/main" val="22497083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35632" y="152400"/>
            <a:ext cx="6324600" cy="1143000"/>
          </a:xfrm>
        </p:spPr>
        <p:txBody>
          <a:bodyPr vert="horz" lIns="91440" tIns="45720" rIns="91440" bIns="45720" rtlCol="0" anchor="ctr" anchorCtr="0">
            <a:normAutofit/>
          </a:bodyPr>
          <a:lstStyle/>
          <a:p>
            <a:pPr>
              <a:spcBef>
                <a:spcPct val="0"/>
              </a:spcBef>
            </a:pPr>
            <a:r>
              <a:rPr lang="en-IN" sz="3200" dirty="0">
                <a:latin typeface="+mj-lt"/>
                <a:ea typeface="+mj-ea"/>
                <a:cs typeface="+mj-cs"/>
              </a:rPr>
              <a:t>Kerberos</a:t>
            </a:r>
          </a:p>
          <a:p>
            <a:pPr>
              <a:spcBef>
                <a:spcPct val="0"/>
              </a:spcBef>
            </a:pPr>
            <a:r>
              <a:rPr lang="en-IN" sz="3200" dirty="0">
                <a:latin typeface="+mj-lt"/>
                <a:ea typeface="+mj-ea"/>
                <a:cs typeface="+mj-cs"/>
              </a:rPr>
              <a:t>Seeding Thoughts – Simple Model</a:t>
            </a:r>
          </a:p>
        </p:txBody>
      </p:sp>
      <p:sp>
        <p:nvSpPr>
          <p:cNvPr id="4" name="Slide Number Placeholder 3"/>
          <p:cNvSpPr>
            <a:spLocks noGrp="1"/>
          </p:cNvSpPr>
          <p:nvPr>
            <p:ph type="sldNum" sz="quarter" idx="12"/>
          </p:nvPr>
        </p:nvSpPr>
        <p:spPr/>
        <p:txBody>
          <a:bodyPr/>
          <a:lstStyle/>
          <a:p>
            <a:fld id="{04252BD6-4F37-4D57-B6B7-636C2217F7DD}" type="slidenum">
              <a:rPr lang="en-US" smtClean="0"/>
              <a:pPr/>
              <a:t>21</a:t>
            </a:fld>
            <a:endParaRPr lang="en-US" dirty="0"/>
          </a:p>
        </p:txBody>
      </p:sp>
      <p:grpSp>
        <p:nvGrpSpPr>
          <p:cNvPr id="2" name="Group 19"/>
          <p:cNvGrpSpPr/>
          <p:nvPr/>
        </p:nvGrpSpPr>
        <p:grpSpPr>
          <a:xfrm>
            <a:off x="4569426" y="2060848"/>
            <a:ext cx="2232248" cy="432048"/>
            <a:chOff x="4244807" y="2060848"/>
            <a:chExt cx="2232248" cy="432048"/>
          </a:xfrm>
        </p:grpSpPr>
        <p:cxnSp>
          <p:nvCxnSpPr>
            <p:cNvPr id="21" name="Straight Arrow Connector 20"/>
            <p:cNvCxnSpPr/>
            <p:nvPr/>
          </p:nvCxnSpPr>
          <p:spPr>
            <a:xfrm>
              <a:off x="4244807" y="2420888"/>
              <a:ext cx="223224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604847"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0000"/>
                  </a:solidFill>
                </a:rPr>
                <a:t>ID</a:t>
              </a:r>
              <a:r>
                <a:rPr lang="en-IN" sz="1400" b="1" baseline="-25000" dirty="0" smtClean="0">
                  <a:solidFill>
                    <a:srgbClr val="FF0000"/>
                  </a:solidFill>
                </a:rPr>
                <a:t>C</a:t>
              </a:r>
              <a:r>
                <a:rPr lang="en-IN" sz="1400" b="1" dirty="0" smtClean="0">
                  <a:solidFill>
                    <a:srgbClr val="FF0000"/>
                  </a:solidFill>
                </a:rPr>
                <a:t> || P</a:t>
              </a:r>
              <a:r>
                <a:rPr lang="en-IN" sz="1400" b="1" baseline="-25000" dirty="0" smtClean="0">
                  <a:solidFill>
                    <a:srgbClr val="FF0000"/>
                  </a:solidFill>
                </a:rPr>
                <a:t>C</a:t>
              </a:r>
              <a:r>
                <a:rPr lang="en-IN" sz="1400" b="1" dirty="0" smtClean="0">
                  <a:solidFill>
                    <a:srgbClr val="FF0000"/>
                  </a:solidFill>
                </a:rPr>
                <a:t> || ID</a:t>
              </a:r>
              <a:r>
                <a:rPr lang="en-IN" sz="1400" b="1" baseline="-25000" dirty="0" smtClean="0">
                  <a:solidFill>
                    <a:srgbClr val="FF0000"/>
                  </a:solidFill>
                </a:rPr>
                <a:t>V</a:t>
              </a:r>
              <a:endParaRPr lang="en-IN" sz="1400" b="1" baseline="-25000" dirty="0">
                <a:solidFill>
                  <a:srgbClr val="FF0000"/>
                </a:solidFill>
              </a:endParaRPr>
            </a:p>
          </p:txBody>
        </p:sp>
      </p:grpSp>
      <p:grpSp>
        <p:nvGrpSpPr>
          <p:cNvPr id="5" name="Group 22"/>
          <p:cNvGrpSpPr/>
          <p:nvPr/>
        </p:nvGrpSpPr>
        <p:grpSpPr>
          <a:xfrm>
            <a:off x="4320555" y="2780928"/>
            <a:ext cx="2775465" cy="432048"/>
            <a:chOff x="3995936" y="2852936"/>
            <a:chExt cx="2775465" cy="432048"/>
          </a:xfrm>
        </p:grpSpPr>
        <p:cxnSp>
          <p:nvCxnSpPr>
            <p:cNvPr id="24" name="Straight Arrow Connector 23"/>
            <p:cNvCxnSpPr/>
            <p:nvPr/>
          </p:nvCxnSpPr>
          <p:spPr>
            <a:xfrm>
              <a:off x="4244807" y="3284984"/>
              <a:ext cx="2232248" cy="0"/>
            </a:xfrm>
            <a:prstGeom prst="straightConnector1">
              <a:avLst/>
            </a:prstGeom>
            <a:ln w="254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995936" y="2852936"/>
              <a:ext cx="2775465"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lgn="ctr"/>
              <a:r>
                <a:rPr lang="en-IN" sz="1400" b="1" dirty="0" smtClean="0">
                  <a:solidFill>
                    <a:srgbClr val="0070C0"/>
                  </a:solidFill>
                </a:rPr>
                <a:t>E (K</a:t>
              </a:r>
              <a:r>
                <a:rPr lang="en-IN" sz="1400" b="1" baseline="-25000" dirty="0" smtClean="0">
                  <a:solidFill>
                    <a:srgbClr val="0070C0"/>
                  </a:solidFill>
                </a:rPr>
                <a:t>V</a:t>
              </a:r>
              <a:r>
                <a:rPr lang="en-IN" sz="1400" b="1" dirty="0" smtClean="0">
                  <a:solidFill>
                    <a:srgbClr val="0070C0"/>
                  </a:solidFill>
                </a:rPr>
                <a:t>, [ID</a:t>
              </a:r>
              <a:r>
                <a:rPr lang="en-IN" sz="1400" b="1" baseline="-25000" dirty="0" smtClean="0">
                  <a:solidFill>
                    <a:srgbClr val="0070C0"/>
                  </a:solidFill>
                </a:rPr>
                <a:t>C</a:t>
              </a:r>
              <a:r>
                <a:rPr lang="en-IN" sz="1400" b="1" dirty="0" smtClean="0">
                  <a:solidFill>
                    <a:srgbClr val="0070C0"/>
                  </a:solidFill>
                </a:rPr>
                <a:t> || AD</a:t>
              </a:r>
              <a:r>
                <a:rPr lang="en-IN" sz="1400" b="1" baseline="-25000" dirty="0" smtClean="0">
                  <a:solidFill>
                    <a:srgbClr val="0070C0"/>
                  </a:solidFill>
                </a:rPr>
                <a:t>C</a:t>
              </a:r>
              <a:r>
                <a:rPr lang="en-IN" sz="1400" b="1" dirty="0" smtClean="0">
                  <a:solidFill>
                    <a:srgbClr val="0070C0"/>
                  </a:solidFill>
                </a:rPr>
                <a:t> || ID</a:t>
              </a:r>
              <a:r>
                <a:rPr lang="en-IN" sz="1400" b="1" baseline="-25000" dirty="0" smtClean="0">
                  <a:solidFill>
                    <a:srgbClr val="0070C0"/>
                  </a:solidFill>
                </a:rPr>
                <a:t>V</a:t>
              </a:r>
              <a:r>
                <a:rPr lang="en-IN" sz="1400" b="1" dirty="0" smtClean="0">
                  <a:solidFill>
                    <a:srgbClr val="0070C0"/>
                  </a:solidFill>
                </a:rPr>
                <a:t>])</a:t>
              </a:r>
              <a:endParaRPr lang="en-IN" sz="1400" b="1" dirty="0">
                <a:solidFill>
                  <a:srgbClr val="0070C0"/>
                </a:solidFill>
              </a:endParaRPr>
            </a:p>
          </p:txBody>
        </p:sp>
      </p:grpSp>
      <p:grpSp>
        <p:nvGrpSpPr>
          <p:cNvPr id="6" name="Group 25"/>
          <p:cNvGrpSpPr/>
          <p:nvPr/>
        </p:nvGrpSpPr>
        <p:grpSpPr>
          <a:xfrm>
            <a:off x="4392563" y="3573016"/>
            <a:ext cx="4355901" cy="432048"/>
            <a:chOff x="4067944" y="3573016"/>
            <a:chExt cx="4355901" cy="432048"/>
          </a:xfrm>
        </p:grpSpPr>
        <p:cxnSp>
          <p:nvCxnSpPr>
            <p:cNvPr id="27" name="Straight Arrow Connector 26"/>
            <p:cNvCxnSpPr/>
            <p:nvPr/>
          </p:nvCxnSpPr>
          <p:spPr>
            <a:xfrm>
              <a:off x="4247381" y="3933056"/>
              <a:ext cx="4176464" cy="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067944" y="3573016"/>
              <a:ext cx="3672408"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C00000"/>
                  </a:solidFill>
                </a:rPr>
                <a:t>ID</a:t>
              </a:r>
              <a:r>
                <a:rPr lang="en-IN" sz="1400" b="1" baseline="-25000" dirty="0" smtClean="0">
                  <a:solidFill>
                    <a:srgbClr val="C00000"/>
                  </a:solidFill>
                </a:rPr>
                <a:t>C</a:t>
              </a:r>
              <a:r>
                <a:rPr lang="en-IN" sz="1400" b="1" dirty="0" smtClean="0">
                  <a:solidFill>
                    <a:srgbClr val="C00000"/>
                  </a:solidFill>
                </a:rPr>
                <a:t> || E (K</a:t>
              </a:r>
              <a:r>
                <a:rPr lang="en-IN" sz="1400" b="1" baseline="-25000" dirty="0" smtClean="0">
                  <a:solidFill>
                    <a:srgbClr val="C00000"/>
                  </a:solidFill>
                </a:rPr>
                <a:t>V</a:t>
              </a:r>
              <a:r>
                <a:rPr lang="en-IN" sz="1400" b="1" dirty="0" smtClean="0">
                  <a:solidFill>
                    <a:srgbClr val="C00000"/>
                  </a:solidFill>
                </a:rPr>
                <a:t>, [ID</a:t>
              </a:r>
              <a:r>
                <a:rPr lang="en-IN" sz="1400" b="1" baseline="-25000" dirty="0" smtClean="0">
                  <a:solidFill>
                    <a:srgbClr val="C00000"/>
                  </a:solidFill>
                </a:rPr>
                <a:t>C</a:t>
              </a:r>
              <a:r>
                <a:rPr lang="en-IN" sz="1400" b="1" dirty="0" smtClean="0">
                  <a:solidFill>
                    <a:srgbClr val="C00000"/>
                  </a:solidFill>
                </a:rPr>
                <a:t> || AD</a:t>
              </a:r>
              <a:r>
                <a:rPr lang="en-IN" sz="1400" b="1" baseline="-25000" dirty="0" smtClean="0">
                  <a:solidFill>
                    <a:srgbClr val="C00000"/>
                  </a:solidFill>
                </a:rPr>
                <a:t>C</a:t>
              </a:r>
              <a:r>
                <a:rPr lang="en-IN" sz="1400" b="1" dirty="0" smtClean="0">
                  <a:solidFill>
                    <a:srgbClr val="C00000"/>
                  </a:solidFill>
                </a:rPr>
                <a:t> || ID</a:t>
              </a:r>
              <a:r>
                <a:rPr lang="en-IN" sz="1400" b="1" baseline="-25000" dirty="0" smtClean="0">
                  <a:solidFill>
                    <a:srgbClr val="C00000"/>
                  </a:solidFill>
                </a:rPr>
                <a:t>V</a:t>
              </a:r>
              <a:r>
                <a:rPr lang="en-IN" sz="1400" b="1" dirty="0" smtClean="0">
                  <a:solidFill>
                    <a:srgbClr val="C00000"/>
                  </a:solidFill>
                </a:rPr>
                <a:t>])</a:t>
              </a:r>
            </a:p>
            <a:p>
              <a:pPr algn="ctr"/>
              <a:endParaRPr lang="en-IN" sz="1400" b="1" dirty="0" smtClean="0">
                <a:solidFill>
                  <a:srgbClr val="C00000"/>
                </a:solidFill>
              </a:endParaRPr>
            </a:p>
          </p:txBody>
        </p:sp>
      </p:grpSp>
      <p:grpSp>
        <p:nvGrpSpPr>
          <p:cNvPr id="7" name="Group 37"/>
          <p:cNvGrpSpPr/>
          <p:nvPr/>
        </p:nvGrpSpPr>
        <p:grpSpPr>
          <a:xfrm>
            <a:off x="4283968" y="1305347"/>
            <a:ext cx="4824536" cy="3059757"/>
            <a:chOff x="3959349" y="1305347"/>
            <a:chExt cx="4824536" cy="3059757"/>
          </a:xfrm>
        </p:grpSpPr>
        <p:grpSp>
          <p:nvGrpSpPr>
            <p:cNvPr id="11" name="Group 4"/>
            <p:cNvGrpSpPr/>
            <p:nvPr/>
          </p:nvGrpSpPr>
          <p:grpSpPr>
            <a:xfrm>
              <a:off x="3959349" y="1340768"/>
              <a:ext cx="4464496" cy="3024336"/>
              <a:chOff x="3959349" y="1340768"/>
              <a:chExt cx="4464496" cy="3024336"/>
            </a:xfrm>
          </p:grpSpPr>
          <p:grpSp>
            <p:nvGrpSpPr>
              <p:cNvPr id="12" name="Group 32"/>
              <p:cNvGrpSpPr/>
              <p:nvPr/>
            </p:nvGrpSpPr>
            <p:grpSpPr>
              <a:xfrm>
                <a:off x="3959349" y="1340768"/>
                <a:ext cx="1908795" cy="646331"/>
                <a:chOff x="3959349" y="1340768"/>
                <a:chExt cx="1908795" cy="646331"/>
              </a:xfrm>
            </p:grpSpPr>
            <p:pic>
              <p:nvPicPr>
                <p:cNvPr id="17" name="Picture 2" descr="http://cliparts.co/cliparts/6ir/op7/6irop7RrT.jpg"/>
                <p:cNvPicPr>
                  <a:picLocks noChangeAspect="1" noChangeArrowheads="1"/>
                </p:cNvPicPr>
                <p:nvPr/>
              </p:nvPicPr>
              <p:blipFill>
                <a:blip r:embed="rId2" cstate="print"/>
                <a:srcRect/>
                <a:stretch>
                  <a:fillRect/>
                </a:stretch>
              </p:blipFill>
              <p:spPr bwMode="auto">
                <a:xfrm>
                  <a:off x="3959349" y="1340768"/>
                  <a:ext cx="720080" cy="635365"/>
                </a:xfrm>
                <a:prstGeom prst="rect">
                  <a:avLst/>
                </a:prstGeom>
                <a:noFill/>
              </p:spPr>
            </p:pic>
            <p:pic>
              <p:nvPicPr>
                <p:cNvPr id="18" name="Picture 16" descr="http://www.clipartbest.com/cliparts/acq/z4k/acqz4kBxi.jpeg"/>
                <p:cNvPicPr>
                  <a:picLocks noChangeAspect="1" noChangeArrowheads="1"/>
                </p:cNvPicPr>
                <p:nvPr/>
              </p:nvPicPr>
              <p:blipFill>
                <a:blip r:embed="rId3" cstate="print"/>
                <a:srcRect/>
                <a:stretch>
                  <a:fillRect/>
                </a:stretch>
              </p:blipFill>
              <p:spPr bwMode="auto">
                <a:xfrm>
                  <a:off x="4667214" y="1412776"/>
                  <a:ext cx="516271" cy="490084"/>
                </a:xfrm>
                <a:prstGeom prst="rect">
                  <a:avLst/>
                </a:prstGeom>
                <a:noFill/>
              </p:spPr>
            </p:pic>
            <p:sp>
              <p:nvSpPr>
                <p:cNvPr id="19" name="TextBox 18"/>
                <p:cNvSpPr txBox="1"/>
                <p:nvPr/>
              </p:nvSpPr>
              <p:spPr>
                <a:xfrm>
                  <a:off x="4895944" y="1340768"/>
                  <a:ext cx="972200" cy="646331"/>
                </a:xfrm>
                <a:prstGeom prst="rect">
                  <a:avLst/>
                </a:prstGeom>
                <a:noFill/>
              </p:spPr>
              <p:txBody>
                <a:bodyPr wrap="square" rtlCol="0">
                  <a:spAutoFit/>
                </a:bodyPr>
                <a:lstStyle/>
                <a:p>
                  <a:pPr algn="ctr"/>
                  <a:r>
                    <a:rPr lang="en-IN" b="1" dirty="0" smtClean="0"/>
                    <a:t>Client</a:t>
                  </a:r>
                </a:p>
                <a:p>
                  <a:pPr algn="ctr"/>
                  <a:r>
                    <a:rPr lang="en-IN" b="1" dirty="0" smtClean="0"/>
                    <a:t>(C)</a:t>
                  </a:r>
                  <a:endParaRPr lang="en-IN" b="1" dirty="0"/>
                </a:p>
              </p:txBody>
            </p:sp>
          </p:grpSp>
          <p:sp>
            <p:nvSpPr>
              <p:cNvPr id="16" name="TextBox 15"/>
              <p:cNvSpPr txBox="1"/>
              <p:nvPr/>
            </p:nvSpPr>
            <p:spPr>
              <a:xfrm>
                <a:off x="7308304" y="1340768"/>
                <a:ext cx="796949" cy="646331"/>
              </a:xfrm>
              <a:prstGeom prst="rect">
                <a:avLst/>
              </a:prstGeom>
              <a:noFill/>
            </p:spPr>
            <p:txBody>
              <a:bodyPr wrap="none" rtlCol="0">
                <a:spAutoFit/>
              </a:bodyPr>
              <a:lstStyle/>
              <a:p>
                <a:r>
                  <a:rPr lang="en-IN" b="1" dirty="0" smtClean="0"/>
                  <a:t>Server</a:t>
                </a:r>
              </a:p>
              <a:p>
                <a:pPr algn="ctr"/>
                <a:r>
                  <a:rPr lang="en-IN" b="1" dirty="0" smtClean="0"/>
                  <a:t>(V)</a:t>
                </a:r>
                <a:endParaRPr lang="en-IN" b="1" dirty="0"/>
              </a:p>
            </p:txBody>
          </p:sp>
          <p:cxnSp>
            <p:nvCxnSpPr>
              <p:cNvPr id="8" name="Straight Connector 7"/>
              <p:cNvCxnSpPr/>
              <p:nvPr/>
            </p:nvCxnSpPr>
            <p:spPr>
              <a:xfrm>
                <a:off x="4247381" y="1988840"/>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423845" y="1988840"/>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479629" y="2060848"/>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732240" y="1484784"/>
                <a:ext cx="576064" cy="369332"/>
              </a:xfrm>
              <a:prstGeom prst="rect">
                <a:avLst/>
              </a:prstGeom>
              <a:noFill/>
            </p:spPr>
            <p:txBody>
              <a:bodyPr wrap="square" rtlCol="0">
                <a:spAutoFit/>
              </a:bodyPr>
              <a:lstStyle/>
              <a:p>
                <a:r>
                  <a:rPr lang="en-IN" b="1" dirty="0" smtClean="0"/>
                  <a:t>AS</a:t>
                </a:r>
                <a:endParaRPr lang="en-IN" b="1" dirty="0"/>
              </a:p>
            </p:txBody>
          </p:sp>
        </p:grpSp>
        <p:pic>
          <p:nvPicPr>
            <p:cNvPr id="5122" name="Picture 2" descr="https://www.iconexperience.com/_img/v_collection_png/512x512/shadow/server.png"/>
            <p:cNvPicPr>
              <a:picLocks noChangeAspect="1" noChangeArrowheads="1"/>
            </p:cNvPicPr>
            <p:nvPr/>
          </p:nvPicPr>
          <p:blipFill>
            <a:blip r:embed="rId4" cstate="print"/>
            <a:srcRect/>
            <a:stretch>
              <a:fillRect/>
            </a:stretch>
          </p:blipFill>
          <p:spPr bwMode="auto">
            <a:xfrm>
              <a:off x="6156176" y="1413867"/>
              <a:ext cx="646981" cy="646981"/>
            </a:xfrm>
            <a:prstGeom prst="rect">
              <a:avLst/>
            </a:prstGeom>
            <a:noFill/>
          </p:spPr>
        </p:pic>
        <p:pic>
          <p:nvPicPr>
            <p:cNvPr id="5124" name="Picture 4" descr="http://findicons.com/files/icons/977/rrze/720/server_multiple.png"/>
            <p:cNvPicPr>
              <a:picLocks noChangeAspect="1" noChangeArrowheads="1"/>
            </p:cNvPicPr>
            <p:nvPr/>
          </p:nvPicPr>
          <p:blipFill>
            <a:blip r:embed="rId5" cstate="print"/>
            <a:srcRect/>
            <a:stretch>
              <a:fillRect/>
            </a:stretch>
          </p:blipFill>
          <p:spPr bwMode="auto">
            <a:xfrm>
              <a:off x="8028384" y="1305347"/>
              <a:ext cx="755501" cy="755501"/>
            </a:xfrm>
            <a:prstGeom prst="rect">
              <a:avLst/>
            </a:prstGeom>
            <a:noFill/>
          </p:spPr>
        </p:pic>
      </p:grpSp>
      <p:sp>
        <p:nvSpPr>
          <p:cNvPr id="39" name="TextBox 38"/>
          <p:cNvSpPr txBox="1"/>
          <p:nvPr/>
        </p:nvSpPr>
        <p:spPr>
          <a:xfrm>
            <a:off x="17642" y="1477886"/>
            <a:ext cx="4392488" cy="5054356"/>
          </a:xfrm>
          <a:prstGeom prst="rect">
            <a:avLst/>
          </a:prstGeom>
        </p:spPr>
        <p:txBody>
          <a:bodyPr vert="horz" lIns="91440" tIns="45720" rIns="91440" bIns="45720" rtlCol="0">
            <a:normAutofit fontScale="47500" lnSpcReduction="20000"/>
          </a:bodyPr>
          <a:lstStyle>
            <a:lvl1pPr marL="342900" indent="-342900">
              <a:spcBef>
                <a:spcPct val="20000"/>
              </a:spcBef>
              <a:buFont typeface="Arial" pitchFamily="34" charset="0"/>
              <a:buChar char="•"/>
              <a:defRPr sz="3200"/>
            </a:lvl1pPr>
            <a:lvl2pPr marL="742950" lvl="1" indent="-285750">
              <a:spcBef>
                <a:spcPct val="20000"/>
              </a:spcBef>
              <a:buFont typeface="Arial" pitchFamily="34" charset="0"/>
              <a:buChar char="–"/>
              <a:defRPr sz="32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a:t>The client (C) is looking for a service on the server (V).</a:t>
            </a:r>
          </a:p>
          <a:p>
            <a:r>
              <a:rPr lang="en-IN" dirty="0"/>
              <a:t>The user logs into a machine and client module in that machine requests user’s password. Client enters the password (PC).</a:t>
            </a:r>
          </a:p>
          <a:p>
            <a:r>
              <a:rPr lang="en-IN" dirty="0"/>
              <a:t>Client module sends a message to the Authentication Server (AS)  that includes client id (IDC), password (PC) and the server’s ID (IDV).</a:t>
            </a:r>
          </a:p>
          <a:p>
            <a:r>
              <a:rPr lang="en-IN" dirty="0"/>
              <a:t>AS checks if password is valid and client C is permitted to access services on V. If yes, AS provides a ticket to C. This ticket contains client id (IDC), network address of the client (ADC) and the server’s ID (IDV). All of this is encrypted with the shared key (KV) with the server V and AS.</a:t>
            </a:r>
          </a:p>
          <a:p>
            <a:r>
              <a:rPr lang="en-IN" dirty="0"/>
              <a:t>Client C can now apply to server V for the required service with its IDC and the ticket.</a:t>
            </a:r>
          </a:p>
          <a:p>
            <a:r>
              <a:rPr lang="en-IN" dirty="0"/>
              <a:t>Server V can decrypt the ticket and compare the IDC (from the ticket and message) before providing the service.</a:t>
            </a:r>
          </a:p>
        </p:txBody>
      </p:sp>
      <p:sp>
        <p:nvSpPr>
          <p:cNvPr id="61" name="TextBox 60"/>
          <p:cNvSpPr txBox="1"/>
          <p:nvPr/>
        </p:nvSpPr>
        <p:spPr>
          <a:xfrm>
            <a:off x="4499992" y="4462661"/>
            <a:ext cx="4176464" cy="1846659"/>
          </a:xfrm>
          <a:prstGeom prst="rect">
            <a:avLst/>
          </a:prstGeom>
          <a:noFill/>
          <a:ln>
            <a:solidFill>
              <a:schemeClr val="tx1"/>
            </a:solidFill>
            <a:prstDash val="sysDash"/>
          </a:ln>
        </p:spPr>
        <p:txBody>
          <a:bodyPr wrap="square" rtlCol="0">
            <a:spAutoFit/>
          </a:bodyPr>
          <a:lstStyle/>
          <a:p>
            <a:r>
              <a:rPr lang="en-IN" b="1" u="sng" dirty="0" smtClean="0"/>
              <a:t>Observations!</a:t>
            </a:r>
          </a:p>
          <a:p>
            <a:pPr marL="342900" indent="-342900" algn="just">
              <a:buFont typeface="Wingdings" pitchFamily="2" charset="2"/>
              <a:buChar char="ü"/>
            </a:pPr>
            <a:r>
              <a:rPr lang="en-IN" sz="1600" dirty="0" smtClean="0"/>
              <a:t>User needs to get the ticket every time, it needs to access the server. May be ticket can be made reusable.</a:t>
            </a:r>
          </a:p>
          <a:p>
            <a:pPr marL="342900" indent="-342900" algn="just">
              <a:buFont typeface="Wingdings" pitchFamily="2" charset="2"/>
              <a:buChar char="ü"/>
            </a:pPr>
            <a:r>
              <a:rPr lang="en-IN" sz="1600" dirty="0" smtClean="0"/>
              <a:t>Different tickets for different servers.</a:t>
            </a:r>
          </a:p>
          <a:p>
            <a:pPr marL="342900" indent="-342900" algn="just">
              <a:buFont typeface="Wingdings" pitchFamily="2" charset="2"/>
              <a:buChar char="ü"/>
            </a:pPr>
            <a:r>
              <a:rPr lang="en-IN" sz="1600" dirty="0" smtClean="0"/>
              <a:t>Password is transmitted in plaintext in the first message. An attacker can steal it easily.</a:t>
            </a:r>
            <a:endParaRPr lang="en-IN" dirty="0"/>
          </a:p>
        </p:txBody>
      </p:sp>
    </p:spTree>
    <p:extLst>
      <p:ext uri="{BB962C8B-B14F-4D97-AF65-F5344CB8AC3E}">
        <p14:creationId xmlns="" xmlns:p14="http://schemas.microsoft.com/office/powerpoint/2010/main" val="188034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95536" y="1844824"/>
            <a:ext cx="4357704" cy="1333500"/>
          </a:xfrm>
          <a:prstGeom prst="rect">
            <a:avLst/>
          </a:prstGeom>
          <a:noFill/>
          <a:ln w="9525">
            <a:noFill/>
            <a:miter lim="800000"/>
            <a:headEnd/>
            <a:tailEnd/>
          </a:ln>
          <a:effectLst/>
        </p:spPr>
      </p:pic>
      <p:sp>
        <p:nvSpPr>
          <p:cNvPr id="5" name="Title 1"/>
          <p:cNvSpPr txBox="1">
            <a:spLocks/>
          </p:cNvSpPr>
          <p:nvPr/>
        </p:nvSpPr>
        <p:spPr>
          <a:xfrm>
            <a:off x="182746" y="260648"/>
            <a:ext cx="6336704" cy="850106"/>
          </a:xfrm>
          <a:prstGeom prst="rect">
            <a:avLst/>
          </a:prstGeom>
        </p:spPr>
        <p:txBody>
          <a:bodyPr vert="horz" lIns="91440" tIns="45720" rIns="91440" bIns="45720" rtlCol="0" anchor="ctr" anchorCtr="0">
            <a:normAutofit/>
          </a:bodyPr>
          <a:lstStyle>
            <a:lvl1pPr indent="-342900">
              <a:lnSpc>
                <a:spcPts val="3600"/>
              </a:lnSpc>
              <a:spcBef>
                <a:spcPct val="0"/>
              </a:spcBef>
              <a:buFont typeface="Arial" pitchFamily="34" charset="0"/>
              <a:buNone/>
              <a:defRPr sz="3200" b="0" spc="-150" baseline="0">
                <a:latin typeface="+mj-lt"/>
                <a:ea typeface="+mj-ea"/>
                <a:cs typeface="+mj-cs"/>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smtClean="0"/>
              <a:t>Kerberos : Working</a:t>
            </a:r>
            <a:endParaRPr lang="en-IN" dirty="0"/>
          </a:p>
        </p:txBody>
      </p:sp>
      <p:pic>
        <p:nvPicPr>
          <p:cNvPr id="6" name="Picture 2"/>
          <p:cNvPicPr>
            <a:picLocks noGrp="1" noChangeAspect="1" noChangeArrowheads="1"/>
          </p:cNvPicPr>
          <p:nvPr>
            <p:ph idx="1"/>
          </p:nvPr>
        </p:nvPicPr>
        <p:blipFill>
          <a:blip r:embed="rId3"/>
          <a:srcRect/>
          <a:stretch>
            <a:fillRect/>
          </a:stretch>
        </p:blipFill>
        <p:spPr bwMode="auto">
          <a:xfrm>
            <a:off x="395461" y="3573016"/>
            <a:ext cx="4200525" cy="2428875"/>
          </a:xfrm>
          <a:prstGeom prst="rect">
            <a:avLst/>
          </a:prstGeom>
          <a:noFill/>
          <a:ln w="9525">
            <a:noFill/>
            <a:miter lim="800000"/>
            <a:headEnd/>
            <a:tailEnd/>
          </a:ln>
          <a:effectLst/>
        </p:spPr>
      </p:pic>
      <p:sp>
        <p:nvSpPr>
          <p:cNvPr id="2" name="Rounded Rectangle 1"/>
          <p:cNvSpPr/>
          <p:nvPr/>
        </p:nvSpPr>
        <p:spPr>
          <a:xfrm>
            <a:off x="182746" y="4283397"/>
            <a:ext cx="1800200" cy="50405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smtClean="0"/>
              <a:t>Authentication Server</a:t>
            </a:r>
            <a:endParaRPr lang="en-US" dirty="0"/>
          </a:p>
        </p:txBody>
      </p:sp>
      <p:sp>
        <p:nvSpPr>
          <p:cNvPr id="8" name="Rounded Rectangle 7"/>
          <p:cNvSpPr/>
          <p:nvPr/>
        </p:nvSpPr>
        <p:spPr>
          <a:xfrm>
            <a:off x="3008501" y="3660366"/>
            <a:ext cx="1800200" cy="50405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smtClean="0"/>
              <a:t>TGS (Ticket granting server)</a:t>
            </a:r>
            <a:endParaRPr lang="en-US" dirty="0"/>
          </a:p>
        </p:txBody>
      </p:sp>
      <p:pic>
        <p:nvPicPr>
          <p:cNvPr id="9" name="Picture 2"/>
          <p:cNvPicPr>
            <a:picLocks noGrp="1" noChangeAspect="1" noChangeArrowheads="1"/>
          </p:cNvPicPr>
          <p:nvPr>
            <p:ph idx="1"/>
          </p:nvPr>
        </p:nvPicPr>
        <p:blipFill>
          <a:blip r:embed="rId4"/>
          <a:srcRect/>
          <a:stretch>
            <a:fillRect/>
          </a:stretch>
        </p:blipFill>
        <p:spPr bwMode="auto">
          <a:xfrm>
            <a:off x="4932040" y="1852435"/>
            <a:ext cx="3947812" cy="2799447"/>
          </a:xfrm>
          <a:prstGeom prst="rect">
            <a:avLst/>
          </a:prstGeom>
          <a:noFill/>
          <a:ln w="9525">
            <a:noFill/>
            <a:miter lim="800000"/>
            <a:headEnd/>
            <a:tailEnd/>
          </a:ln>
          <a:effectLst/>
        </p:spPr>
      </p:pic>
      <p:sp>
        <p:nvSpPr>
          <p:cNvPr id="7" name="TextBox 6"/>
          <p:cNvSpPr txBox="1"/>
          <p:nvPr/>
        </p:nvSpPr>
        <p:spPr>
          <a:xfrm>
            <a:off x="4932040" y="4787453"/>
            <a:ext cx="3947812" cy="923330"/>
          </a:xfrm>
          <a:prstGeom prst="rect">
            <a:avLst/>
          </a:prstGeom>
          <a:noFill/>
        </p:spPr>
        <p:txBody>
          <a:bodyPr wrap="square" rtlCol="0">
            <a:spAutoFit/>
          </a:bodyPr>
          <a:lstStyle/>
          <a:p>
            <a:r>
              <a:rPr lang="en-US" dirty="0" smtClean="0"/>
              <a:t>Here Client will send the message (Request for ticket to server) encrypted with its password</a:t>
            </a:r>
            <a:endParaRPr lang="en-US" dirty="0"/>
          </a:p>
        </p:txBody>
      </p:sp>
    </p:spTree>
    <p:extLst>
      <p:ext uri="{BB962C8B-B14F-4D97-AF65-F5344CB8AC3E}">
        <p14:creationId xmlns="" xmlns:p14="http://schemas.microsoft.com/office/powerpoint/2010/main" val="197400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3000"/>
                                        <p:tgtEl>
                                          <p:spTgt spid="2"/>
                                        </p:tgtEl>
                                      </p:cBhvr>
                                    </p:animEffect>
                                    <p:anim calcmode="lin" valueType="num">
                                      <p:cBhvr>
                                        <p:cTn id="22" dur="3000" fill="hold"/>
                                        <p:tgtEl>
                                          <p:spTgt spid="2"/>
                                        </p:tgtEl>
                                        <p:attrNameLst>
                                          <p:attrName>ppt_x</p:attrName>
                                        </p:attrNameLst>
                                      </p:cBhvr>
                                      <p:tavLst>
                                        <p:tav tm="0">
                                          <p:val>
                                            <p:strVal val="#ppt_x"/>
                                          </p:val>
                                        </p:tav>
                                        <p:tav tm="100000">
                                          <p:val>
                                            <p:strVal val="#ppt_x"/>
                                          </p:val>
                                        </p:tav>
                                      </p:tavLst>
                                    </p:anim>
                                    <p:anim calcmode="lin" valueType="num">
                                      <p:cBhvr>
                                        <p:cTn id="23" dur="3000" fill="hold"/>
                                        <p:tgtEl>
                                          <p:spTgt spid="2"/>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par>
                                <p:cTn id="24" presetID="42"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0"/>
                                        <p:tgtEl>
                                          <p:spTgt spid="8"/>
                                        </p:tgtEl>
                                      </p:cBhvr>
                                    </p:animEffect>
                                    <p:anim calcmode="lin" valueType="num">
                                      <p:cBhvr>
                                        <p:cTn id="27" dur="3000" fill="hold"/>
                                        <p:tgtEl>
                                          <p:spTgt spid="8"/>
                                        </p:tgtEl>
                                        <p:attrNameLst>
                                          <p:attrName>ppt_x</p:attrName>
                                        </p:attrNameLst>
                                      </p:cBhvr>
                                      <p:tavLst>
                                        <p:tav tm="0">
                                          <p:val>
                                            <p:strVal val="#ppt_x"/>
                                          </p:val>
                                        </p:tav>
                                        <p:tav tm="100000">
                                          <p:val>
                                            <p:strVal val="#ppt_x"/>
                                          </p:val>
                                        </p:tav>
                                      </p:tavLst>
                                    </p:anim>
                                    <p:anim calcmode="lin" valueType="num">
                                      <p:cBhvr>
                                        <p:cTn id="28" dur="3000" fill="hold"/>
                                        <p:tgtEl>
                                          <p:spTgt spid="8"/>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82746" y="260648"/>
            <a:ext cx="6336704" cy="850106"/>
          </a:xfrm>
          <a:prstGeom prst="rect">
            <a:avLst/>
          </a:prstGeom>
        </p:spPr>
        <p:txBody>
          <a:bodyPr vert="horz" lIns="91440" tIns="45720" rIns="91440" bIns="45720" rtlCol="0" anchor="ctr" anchorCtr="0">
            <a:normAutofit/>
          </a:bodyPr>
          <a:lstStyle>
            <a:lvl1pPr indent="-342900">
              <a:lnSpc>
                <a:spcPts val="3600"/>
              </a:lnSpc>
              <a:spcBef>
                <a:spcPct val="0"/>
              </a:spcBef>
              <a:buFont typeface="Arial" pitchFamily="34" charset="0"/>
              <a:buNone/>
              <a:defRPr sz="3200" b="0" spc="-150" baseline="0">
                <a:latin typeface="+mj-lt"/>
                <a:ea typeface="+mj-ea"/>
                <a:cs typeface="+mj-cs"/>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smtClean="0"/>
              <a:t>Kerberos : Working Contd..</a:t>
            </a:r>
            <a:endParaRPr lang="en-IN" dirty="0"/>
          </a:p>
        </p:txBody>
      </p:sp>
      <p:pic>
        <p:nvPicPr>
          <p:cNvPr id="12" name="Picture 2"/>
          <p:cNvPicPr>
            <a:picLocks noGrp="1" noChangeAspect="1" noChangeArrowheads="1"/>
          </p:cNvPicPr>
          <p:nvPr>
            <p:ph idx="1"/>
          </p:nvPr>
        </p:nvPicPr>
        <p:blipFill>
          <a:blip r:embed="rId2"/>
          <a:srcRect/>
          <a:stretch>
            <a:fillRect/>
          </a:stretch>
        </p:blipFill>
        <p:spPr bwMode="auto">
          <a:xfrm>
            <a:off x="323528" y="1484784"/>
            <a:ext cx="4010788" cy="2895600"/>
          </a:xfrm>
          <a:prstGeom prst="rect">
            <a:avLst/>
          </a:prstGeom>
          <a:noFill/>
          <a:ln w="9525">
            <a:noFill/>
            <a:miter lim="800000"/>
            <a:headEnd/>
            <a:tailEnd/>
          </a:ln>
          <a:effectLst/>
        </p:spPr>
      </p:pic>
      <p:sp>
        <p:nvSpPr>
          <p:cNvPr id="11" name="TextBox 10"/>
          <p:cNvSpPr txBox="1"/>
          <p:nvPr/>
        </p:nvSpPr>
        <p:spPr>
          <a:xfrm>
            <a:off x="324022" y="4631889"/>
            <a:ext cx="3866772" cy="1754326"/>
          </a:xfrm>
          <a:prstGeom prst="rect">
            <a:avLst/>
          </a:prstGeom>
          <a:noFill/>
        </p:spPr>
        <p:txBody>
          <a:bodyPr wrap="square" rtlCol="0">
            <a:spAutoFit/>
          </a:bodyPr>
          <a:lstStyle/>
          <a:p>
            <a:r>
              <a:rPr lang="en-US" dirty="0" smtClean="0"/>
              <a:t>AS finds client password from database using its ID, and use clients password to decrypt the message, and after verification AS sends TGT (Ticket granting ticket) </a:t>
            </a:r>
            <a:r>
              <a:rPr lang="en-US" dirty="0"/>
              <a:t>to client </a:t>
            </a:r>
            <a:r>
              <a:rPr lang="en-US" dirty="0" smtClean="0"/>
              <a:t>encrypted with another key</a:t>
            </a:r>
            <a:endParaRPr lang="en-US" dirty="0"/>
          </a:p>
        </p:txBody>
      </p:sp>
      <p:sp>
        <p:nvSpPr>
          <p:cNvPr id="13" name="Rectangle 12"/>
          <p:cNvSpPr/>
          <p:nvPr/>
        </p:nvSpPr>
        <p:spPr>
          <a:xfrm>
            <a:off x="1331640" y="2932584"/>
            <a:ext cx="648072" cy="28803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TGT</a:t>
            </a:r>
            <a:endParaRPr lang="en-US" dirty="0"/>
          </a:p>
        </p:txBody>
      </p:sp>
      <p:pic>
        <p:nvPicPr>
          <p:cNvPr id="15" name="Picture 2"/>
          <p:cNvPicPr>
            <a:picLocks noGrp="1" noChangeAspect="1" noChangeArrowheads="1"/>
          </p:cNvPicPr>
          <p:nvPr>
            <p:ph idx="1"/>
          </p:nvPr>
        </p:nvPicPr>
        <p:blipFill>
          <a:blip r:embed="rId3"/>
          <a:srcRect/>
          <a:stretch>
            <a:fillRect/>
          </a:stretch>
        </p:blipFill>
        <p:spPr bwMode="auto">
          <a:xfrm>
            <a:off x="4572000" y="1469179"/>
            <a:ext cx="4176464" cy="2971800"/>
          </a:xfrm>
          <a:prstGeom prst="rect">
            <a:avLst/>
          </a:prstGeom>
          <a:noFill/>
          <a:ln w="9525">
            <a:noFill/>
            <a:miter lim="800000"/>
            <a:headEnd/>
            <a:tailEnd/>
          </a:ln>
          <a:effectLst/>
        </p:spPr>
      </p:pic>
      <p:sp>
        <p:nvSpPr>
          <p:cNvPr id="16" name="TextBox 15"/>
          <p:cNvSpPr txBox="1"/>
          <p:nvPr/>
        </p:nvSpPr>
        <p:spPr>
          <a:xfrm>
            <a:off x="4602918" y="4631889"/>
            <a:ext cx="3866772" cy="1477328"/>
          </a:xfrm>
          <a:prstGeom prst="rect">
            <a:avLst/>
          </a:prstGeom>
          <a:noFill/>
        </p:spPr>
        <p:txBody>
          <a:bodyPr wrap="square" rtlCol="0">
            <a:spAutoFit/>
          </a:bodyPr>
          <a:lstStyle/>
          <a:p>
            <a:r>
              <a:rPr lang="en-US" dirty="0" smtClean="0"/>
              <a:t>In next step Client send this encrypted TGT along with its request i.e. Want to access file server to TGS</a:t>
            </a:r>
          </a:p>
          <a:p>
            <a:r>
              <a:rPr lang="en-US" dirty="0" smtClean="0"/>
              <a:t>Then TGS decrypt the message using a key shared between TGS and AS</a:t>
            </a:r>
            <a:endParaRPr lang="en-US" dirty="0"/>
          </a:p>
        </p:txBody>
      </p:sp>
    </p:spTree>
    <p:extLst>
      <p:ext uri="{BB962C8B-B14F-4D97-AF65-F5344CB8AC3E}">
        <p14:creationId xmlns="" xmlns:p14="http://schemas.microsoft.com/office/powerpoint/2010/main" val="65727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1000"/>
                                        <p:tgtEl>
                                          <p:spTgt spid="16"/>
                                        </p:tgtEl>
                                      </p:cBhvr>
                                    </p:animEffect>
                                    <p:anim calcmode="lin" valueType="num">
                                      <p:cBhvr>
                                        <p:cTn id="30" dur="1000" fill="hold"/>
                                        <p:tgtEl>
                                          <p:spTgt spid="16"/>
                                        </p:tgtEl>
                                        <p:attrNameLst>
                                          <p:attrName>ppt_x</p:attrName>
                                        </p:attrNameLst>
                                      </p:cBhvr>
                                      <p:tavLst>
                                        <p:tav tm="0">
                                          <p:val>
                                            <p:strVal val="#ppt_x"/>
                                          </p:val>
                                        </p:tav>
                                        <p:tav tm="100000">
                                          <p:val>
                                            <p:strVal val="#ppt_x"/>
                                          </p:val>
                                        </p:tav>
                                      </p:tavLst>
                                    </p:anim>
                                    <p:anim calcmode="lin" valueType="num">
                                      <p:cBhvr>
                                        <p:cTn id="3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82746" y="260648"/>
            <a:ext cx="6336704" cy="850106"/>
          </a:xfrm>
          <a:prstGeom prst="rect">
            <a:avLst/>
          </a:prstGeom>
        </p:spPr>
        <p:txBody>
          <a:bodyPr vert="horz" lIns="91440" tIns="45720" rIns="91440" bIns="45720" rtlCol="0" anchor="ctr" anchorCtr="0">
            <a:normAutofit/>
          </a:bodyPr>
          <a:lstStyle>
            <a:lvl1pPr indent="-342900">
              <a:lnSpc>
                <a:spcPts val="3600"/>
              </a:lnSpc>
              <a:spcBef>
                <a:spcPct val="0"/>
              </a:spcBef>
              <a:buFont typeface="Arial" pitchFamily="34" charset="0"/>
              <a:buNone/>
              <a:defRPr sz="3200" b="0" spc="-150" baseline="0">
                <a:latin typeface="+mj-lt"/>
                <a:ea typeface="+mj-ea"/>
                <a:cs typeface="+mj-cs"/>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smtClean="0"/>
              <a:t>Kerberos : Working Contd..</a:t>
            </a:r>
            <a:endParaRPr lang="en-IN" dirty="0"/>
          </a:p>
        </p:txBody>
      </p:sp>
      <p:sp>
        <p:nvSpPr>
          <p:cNvPr id="11" name="TextBox 10"/>
          <p:cNvSpPr txBox="1"/>
          <p:nvPr/>
        </p:nvSpPr>
        <p:spPr>
          <a:xfrm>
            <a:off x="324022" y="4601626"/>
            <a:ext cx="3866772" cy="1200329"/>
          </a:xfrm>
          <a:prstGeom prst="rect">
            <a:avLst/>
          </a:prstGeom>
          <a:noFill/>
        </p:spPr>
        <p:txBody>
          <a:bodyPr wrap="square" rtlCol="0">
            <a:spAutoFit/>
          </a:bodyPr>
          <a:lstStyle/>
          <a:p>
            <a:r>
              <a:rPr lang="en-US" dirty="0" smtClean="0"/>
              <a:t>Then TGS sends token which is encrypted with another secret key this third secret key is shared between TGS and File server </a:t>
            </a:r>
            <a:endParaRPr lang="en-US" dirty="0"/>
          </a:p>
        </p:txBody>
      </p:sp>
      <p:sp>
        <p:nvSpPr>
          <p:cNvPr id="16" name="TextBox 15"/>
          <p:cNvSpPr txBox="1"/>
          <p:nvPr/>
        </p:nvSpPr>
        <p:spPr>
          <a:xfrm>
            <a:off x="4586063" y="4566858"/>
            <a:ext cx="3866772" cy="646331"/>
          </a:xfrm>
          <a:prstGeom prst="rect">
            <a:avLst/>
          </a:prstGeom>
          <a:noFill/>
        </p:spPr>
        <p:txBody>
          <a:bodyPr wrap="square" rtlCol="0">
            <a:spAutoFit/>
          </a:bodyPr>
          <a:lstStyle/>
          <a:p>
            <a:r>
              <a:rPr lang="en-US" dirty="0" smtClean="0"/>
              <a:t>Next clients send the token to File server</a:t>
            </a:r>
            <a:endParaRPr lang="en-US" dirty="0"/>
          </a:p>
        </p:txBody>
      </p:sp>
      <p:pic>
        <p:nvPicPr>
          <p:cNvPr id="8" name="Picture 2"/>
          <p:cNvPicPr>
            <a:picLocks noGrp="1" noChangeAspect="1" noChangeArrowheads="1"/>
          </p:cNvPicPr>
          <p:nvPr>
            <p:ph idx="1"/>
          </p:nvPr>
        </p:nvPicPr>
        <p:blipFill>
          <a:blip r:embed="rId2"/>
          <a:srcRect/>
          <a:stretch>
            <a:fillRect/>
          </a:stretch>
        </p:blipFill>
        <p:spPr bwMode="auto">
          <a:xfrm>
            <a:off x="182746" y="1500505"/>
            <a:ext cx="4008048" cy="2857242"/>
          </a:xfrm>
          <a:prstGeom prst="rect">
            <a:avLst/>
          </a:prstGeom>
          <a:noFill/>
          <a:ln w="9525">
            <a:noFill/>
            <a:miter lim="800000"/>
            <a:headEnd/>
            <a:tailEnd/>
          </a:ln>
          <a:effectLst/>
        </p:spPr>
      </p:pic>
      <p:pic>
        <p:nvPicPr>
          <p:cNvPr id="14" name="Picture 2"/>
          <p:cNvPicPr>
            <a:picLocks noGrp="1" noChangeAspect="1" noChangeArrowheads="1"/>
          </p:cNvPicPr>
          <p:nvPr>
            <p:ph idx="1"/>
          </p:nvPr>
        </p:nvPicPr>
        <p:blipFill>
          <a:blip r:embed="rId3"/>
          <a:srcRect/>
          <a:stretch>
            <a:fillRect/>
          </a:stretch>
        </p:blipFill>
        <p:spPr bwMode="auto">
          <a:xfrm>
            <a:off x="4356332" y="1501059"/>
            <a:ext cx="4326235" cy="2856688"/>
          </a:xfrm>
          <a:prstGeom prst="rect">
            <a:avLst/>
          </a:prstGeom>
          <a:noFill/>
          <a:ln w="9525">
            <a:noFill/>
            <a:miter lim="800000"/>
            <a:headEnd/>
            <a:tailEnd/>
          </a:ln>
          <a:effectLst/>
        </p:spPr>
      </p:pic>
    </p:spTree>
    <p:extLst>
      <p:ext uri="{BB962C8B-B14F-4D97-AF65-F5344CB8AC3E}">
        <p14:creationId xmlns="" xmlns:p14="http://schemas.microsoft.com/office/powerpoint/2010/main" val="364209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82746" y="260648"/>
            <a:ext cx="6336704" cy="850106"/>
          </a:xfrm>
          <a:prstGeom prst="rect">
            <a:avLst/>
          </a:prstGeom>
        </p:spPr>
        <p:txBody>
          <a:bodyPr vert="horz" lIns="91440" tIns="45720" rIns="91440" bIns="45720" rtlCol="0" anchor="ctr" anchorCtr="0">
            <a:normAutofit/>
          </a:bodyPr>
          <a:lstStyle>
            <a:lvl1pPr indent="-342900">
              <a:lnSpc>
                <a:spcPts val="3600"/>
              </a:lnSpc>
              <a:spcBef>
                <a:spcPct val="0"/>
              </a:spcBef>
              <a:buFont typeface="Arial" pitchFamily="34" charset="0"/>
              <a:buNone/>
              <a:defRPr sz="3200" b="0" spc="-150" baseline="0">
                <a:latin typeface="+mj-lt"/>
                <a:ea typeface="+mj-ea"/>
                <a:cs typeface="+mj-cs"/>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smtClean="0"/>
              <a:t>Kerberos : Working Contd..</a:t>
            </a:r>
            <a:endParaRPr lang="en-IN" dirty="0"/>
          </a:p>
        </p:txBody>
      </p:sp>
      <p:sp>
        <p:nvSpPr>
          <p:cNvPr id="11" name="TextBox 10"/>
          <p:cNvSpPr txBox="1"/>
          <p:nvPr/>
        </p:nvSpPr>
        <p:spPr>
          <a:xfrm>
            <a:off x="324022" y="4601626"/>
            <a:ext cx="3866772" cy="646331"/>
          </a:xfrm>
          <a:prstGeom prst="rect">
            <a:avLst/>
          </a:prstGeom>
          <a:noFill/>
        </p:spPr>
        <p:txBody>
          <a:bodyPr wrap="square" rtlCol="0">
            <a:spAutoFit/>
          </a:bodyPr>
          <a:lstStyle/>
          <a:p>
            <a:r>
              <a:rPr lang="en-US" dirty="0" smtClean="0"/>
              <a:t>File server encrypts this token using secret key shared with TGS</a:t>
            </a:r>
            <a:endParaRPr lang="en-US" dirty="0"/>
          </a:p>
        </p:txBody>
      </p:sp>
      <p:sp>
        <p:nvSpPr>
          <p:cNvPr id="16" name="TextBox 15"/>
          <p:cNvSpPr txBox="1"/>
          <p:nvPr/>
        </p:nvSpPr>
        <p:spPr>
          <a:xfrm>
            <a:off x="4586063" y="4566858"/>
            <a:ext cx="3866772" cy="923330"/>
          </a:xfrm>
          <a:prstGeom prst="rect">
            <a:avLst/>
          </a:prstGeom>
          <a:noFill/>
        </p:spPr>
        <p:txBody>
          <a:bodyPr wrap="square" rtlCol="0">
            <a:spAutoFit/>
          </a:bodyPr>
          <a:lstStyle/>
          <a:p>
            <a:r>
              <a:rPr lang="en-US" dirty="0" smtClean="0"/>
              <a:t>This proves the authentication of client and after that file server provides its service to client</a:t>
            </a:r>
            <a:endParaRPr lang="en-US" dirty="0"/>
          </a:p>
        </p:txBody>
      </p:sp>
      <p:pic>
        <p:nvPicPr>
          <p:cNvPr id="9" name="Picture 2"/>
          <p:cNvPicPr>
            <a:picLocks noGrp="1" noChangeAspect="1" noChangeArrowheads="1"/>
          </p:cNvPicPr>
          <p:nvPr>
            <p:ph idx="1"/>
          </p:nvPr>
        </p:nvPicPr>
        <p:blipFill>
          <a:blip r:embed="rId2"/>
          <a:srcRect/>
          <a:stretch>
            <a:fillRect/>
          </a:stretch>
        </p:blipFill>
        <p:spPr bwMode="auto">
          <a:xfrm>
            <a:off x="182746" y="1522992"/>
            <a:ext cx="4051097" cy="2781300"/>
          </a:xfrm>
          <a:prstGeom prst="rect">
            <a:avLst/>
          </a:prstGeom>
          <a:noFill/>
          <a:ln w="9525">
            <a:noFill/>
            <a:miter lim="800000"/>
            <a:headEnd/>
            <a:tailEnd/>
          </a:ln>
          <a:effectLst/>
        </p:spPr>
      </p:pic>
      <p:pic>
        <p:nvPicPr>
          <p:cNvPr id="10" name="Picture 2"/>
          <p:cNvPicPr>
            <a:picLocks noGrp="1" noChangeAspect="1" noChangeArrowheads="1"/>
          </p:cNvPicPr>
          <p:nvPr>
            <p:ph idx="1"/>
          </p:nvPr>
        </p:nvPicPr>
        <p:blipFill>
          <a:blip r:embed="rId3"/>
          <a:srcRect/>
          <a:stretch>
            <a:fillRect/>
          </a:stretch>
        </p:blipFill>
        <p:spPr bwMode="auto">
          <a:xfrm>
            <a:off x="4478256" y="1522992"/>
            <a:ext cx="3974579" cy="2781300"/>
          </a:xfrm>
          <a:prstGeom prst="rect">
            <a:avLst/>
          </a:prstGeom>
          <a:noFill/>
          <a:ln w="9525">
            <a:noFill/>
            <a:miter lim="800000"/>
            <a:headEnd/>
            <a:tailEnd/>
          </a:ln>
          <a:effectLst/>
        </p:spPr>
      </p:pic>
      <p:pic>
        <p:nvPicPr>
          <p:cNvPr id="12" name="Picture 2"/>
          <p:cNvPicPr>
            <a:picLocks noGrp="1" noChangeAspect="1" noChangeArrowheads="1"/>
          </p:cNvPicPr>
          <p:nvPr>
            <p:ph idx="1"/>
          </p:nvPr>
        </p:nvPicPr>
        <p:blipFill>
          <a:blip r:embed="rId4"/>
          <a:srcRect/>
          <a:stretch>
            <a:fillRect/>
          </a:stretch>
        </p:blipFill>
        <p:spPr bwMode="auto">
          <a:xfrm>
            <a:off x="425330" y="5373216"/>
            <a:ext cx="2642066" cy="1133371"/>
          </a:xfrm>
          <a:prstGeom prst="rect">
            <a:avLst/>
          </a:prstGeom>
          <a:noFill/>
          <a:ln w="9525">
            <a:noFill/>
            <a:miter lim="800000"/>
            <a:headEnd/>
            <a:tailEnd/>
          </a:ln>
          <a:effectLst/>
        </p:spPr>
      </p:pic>
      <p:sp>
        <p:nvSpPr>
          <p:cNvPr id="13" name="TextBox 12"/>
          <p:cNvSpPr txBox="1"/>
          <p:nvPr/>
        </p:nvSpPr>
        <p:spPr>
          <a:xfrm>
            <a:off x="3095577" y="5545291"/>
            <a:ext cx="3866772" cy="923330"/>
          </a:xfrm>
          <a:prstGeom prst="rect">
            <a:avLst/>
          </a:prstGeom>
          <a:noFill/>
        </p:spPr>
        <p:txBody>
          <a:bodyPr wrap="square" rtlCol="0">
            <a:spAutoFit/>
          </a:bodyPr>
          <a:lstStyle/>
          <a:p>
            <a:r>
              <a:rPr lang="en-US" dirty="0" smtClean="0"/>
              <a:t>Here we use three different key hence the name is Kerberos (Dog with three head in Greek terminology)</a:t>
            </a:r>
            <a:endParaRPr lang="en-US" dirty="0"/>
          </a:p>
        </p:txBody>
      </p:sp>
    </p:spTree>
    <p:extLst>
      <p:ext uri="{BB962C8B-B14F-4D97-AF65-F5344CB8AC3E}">
        <p14:creationId xmlns="" xmlns:p14="http://schemas.microsoft.com/office/powerpoint/2010/main" val="93428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Kerberos</a:t>
            </a:r>
          </a:p>
          <a:p>
            <a:pPr>
              <a:spcBef>
                <a:spcPct val="0"/>
              </a:spcBef>
            </a:pPr>
            <a:r>
              <a:rPr lang="en-IN" sz="3200" dirty="0">
                <a:latin typeface="+mj-lt"/>
                <a:ea typeface="+mj-ea"/>
                <a:cs typeface="+mj-cs"/>
              </a:rPr>
              <a:t>Seeding Thoughts – More Secure Model</a:t>
            </a:r>
          </a:p>
        </p:txBody>
      </p:sp>
      <p:grpSp>
        <p:nvGrpSpPr>
          <p:cNvPr id="2" name="Group 4"/>
          <p:cNvGrpSpPr/>
          <p:nvPr/>
        </p:nvGrpSpPr>
        <p:grpSpPr>
          <a:xfrm>
            <a:off x="4427984" y="1403484"/>
            <a:ext cx="4536504" cy="3393668"/>
            <a:chOff x="4103365" y="755412"/>
            <a:chExt cx="4536504" cy="3393668"/>
          </a:xfrm>
        </p:grpSpPr>
        <p:grpSp>
          <p:nvGrpSpPr>
            <p:cNvPr id="4" name="Group 4"/>
            <p:cNvGrpSpPr/>
            <p:nvPr/>
          </p:nvGrpSpPr>
          <p:grpSpPr>
            <a:xfrm>
              <a:off x="4103365" y="755412"/>
              <a:ext cx="4536504" cy="3393668"/>
              <a:chOff x="4103365" y="755412"/>
              <a:chExt cx="4536504" cy="3393668"/>
            </a:xfrm>
          </p:grpSpPr>
          <p:grpSp>
            <p:nvGrpSpPr>
              <p:cNvPr id="5" name="Group 32"/>
              <p:cNvGrpSpPr/>
              <p:nvPr/>
            </p:nvGrpSpPr>
            <p:grpSpPr>
              <a:xfrm>
                <a:off x="4103365" y="755412"/>
                <a:ext cx="1224136" cy="1017404"/>
                <a:chOff x="4103365" y="755412"/>
                <a:chExt cx="1224136" cy="1017404"/>
              </a:xfrm>
            </p:grpSpPr>
            <p:pic>
              <p:nvPicPr>
                <p:cNvPr id="15" name="Picture 2" descr="http://cliparts.co/cliparts/6ir/op7/6irop7RrT.jpg"/>
                <p:cNvPicPr>
                  <a:picLocks noChangeAspect="1" noChangeArrowheads="1"/>
                </p:cNvPicPr>
                <p:nvPr/>
              </p:nvPicPr>
              <p:blipFill>
                <a:blip r:embed="rId2" cstate="print"/>
                <a:srcRect/>
                <a:stretch>
                  <a:fillRect/>
                </a:stretch>
              </p:blipFill>
              <p:spPr bwMode="auto">
                <a:xfrm>
                  <a:off x="4103365" y="1137451"/>
                  <a:ext cx="720080" cy="635365"/>
                </a:xfrm>
                <a:prstGeom prst="rect">
                  <a:avLst/>
                </a:prstGeom>
                <a:noFill/>
              </p:spPr>
            </p:pic>
            <p:pic>
              <p:nvPicPr>
                <p:cNvPr id="16" name="Picture 16" descr="http://www.clipartbest.com/cliparts/acq/z4k/acqz4kBxi.jpeg"/>
                <p:cNvPicPr>
                  <a:picLocks noChangeAspect="1" noChangeArrowheads="1"/>
                </p:cNvPicPr>
                <p:nvPr/>
              </p:nvPicPr>
              <p:blipFill>
                <a:blip r:embed="rId3" cstate="print"/>
                <a:srcRect/>
                <a:stretch>
                  <a:fillRect/>
                </a:stretch>
              </p:blipFill>
              <p:spPr bwMode="auto">
                <a:xfrm>
                  <a:off x="4811230" y="1209459"/>
                  <a:ext cx="516271" cy="490084"/>
                </a:xfrm>
                <a:prstGeom prst="rect">
                  <a:avLst/>
                </a:prstGeom>
                <a:noFill/>
              </p:spPr>
            </p:pic>
            <p:sp>
              <p:nvSpPr>
                <p:cNvPr id="17" name="TextBox 16"/>
                <p:cNvSpPr txBox="1"/>
                <p:nvPr/>
              </p:nvSpPr>
              <p:spPr>
                <a:xfrm>
                  <a:off x="4103365" y="755412"/>
                  <a:ext cx="1080120" cy="369332"/>
                </a:xfrm>
                <a:prstGeom prst="rect">
                  <a:avLst/>
                </a:prstGeom>
                <a:noFill/>
              </p:spPr>
              <p:txBody>
                <a:bodyPr wrap="square" rtlCol="0">
                  <a:spAutoFit/>
                </a:bodyPr>
                <a:lstStyle/>
                <a:p>
                  <a:pPr algn="ctr"/>
                  <a:r>
                    <a:rPr lang="en-IN" b="1" dirty="0" smtClean="0"/>
                    <a:t>Client(C)</a:t>
                  </a:r>
                  <a:endParaRPr lang="en-IN" b="1" dirty="0"/>
                </a:p>
              </p:txBody>
            </p:sp>
          </p:grpSp>
          <p:sp>
            <p:nvSpPr>
              <p:cNvPr id="10" name="TextBox 9"/>
              <p:cNvSpPr txBox="1"/>
              <p:nvPr/>
            </p:nvSpPr>
            <p:spPr>
              <a:xfrm>
                <a:off x="7487741" y="755412"/>
                <a:ext cx="1152128" cy="369332"/>
              </a:xfrm>
              <a:prstGeom prst="rect">
                <a:avLst/>
              </a:prstGeom>
              <a:noFill/>
            </p:spPr>
            <p:txBody>
              <a:bodyPr wrap="square" rtlCol="0">
                <a:spAutoFit/>
              </a:bodyPr>
              <a:lstStyle/>
              <a:p>
                <a:pPr algn="ctr"/>
                <a:r>
                  <a:rPr lang="en-IN" b="1" dirty="0" smtClean="0"/>
                  <a:t>Server (V)</a:t>
                </a:r>
                <a:endParaRPr lang="en-IN" b="1" dirty="0"/>
              </a:p>
            </p:txBody>
          </p:sp>
          <p:cxnSp>
            <p:nvCxnSpPr>
              <p:cNvPr id="11" name="Straight Connector 10"/>
              <p:cNvCxnSpPr/>
              <p:nvPr/>
            </p:nvCxnSpPr>
            <p:spPr>
              <a:xfrm>
                <a:off x="4607421"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135813" y="1772816"/>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903565"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687541" y="755412"/>
                <a:ext cx="576064" cy="369332"/>
              </a:xfrm>
              <a:prstGeom prst="rect">
                <a:avLst/>
              </a:prstGeom>
              <a:noFill/>
            </p:spPr>
            <p:txBody>
              <a:bodyPr wrap="square" rtlCol="0">
                <a:spAutoFit/>
              </a:bodyPr>
              <a:lstStyle/>
              <a:p>
                <a:r>
                  <a:rPr lang="en-IN" b="1" dirty="0" smtClean="0"/>
                  <a:t>AS</a:t>
                </a:r>
                <a:endParaRPr lang="en-IN" b="1" dirty="0"/>
              </a:p>
            </p:txBody>
          </p:sp>
        </p:grpSp>
        <p:pic>
          <p:nvPicPr>
            <p:cNvPr id="7" name="Picture 2" descr="https://www.iconexperience.com/_img/v_collection_png/512x512/shadow/server.png"/>
            <p:cNvPicPr>
              <a:picLocks noChangeAspect="1" noChangeArrowheads="1"/>
            </p:cNvPicPr>
            <p:nvPr/>
          </p:nvPicPr>
          <p:blipFill>
            <a:blip r:embed="rId4" cstate="print"/>
            <a:srcRect/>
            <a:stretch>
              <a:fillRect/>
            </a:stretch>
          </p:blipFill>
          <p:spPr bwMode="auto">
            <a:xfrm>
              <a:off x="5543525" y="1124744"/>
              <a:ext cx="646981" cy="646981"/>
            </a:xfrm>
            <a:prstGeom prst="rect">
              <a:avLst/>
            </a:prstGeom>
            <a:noFill/>
          </p:spPr>
        </p:pic>
        <p:pic>
          <p:nvPicPr>
            <p:cNvPr id="8" name="Picture 4" descr="http://findicons.com/files/icons/977/rrze/720/server_multiple.png"/>
            <p:cNvPicPr>
              <a:picLocks noChangeAspect="1" noChangeArrowheads="1"/>
            </p:cNvPicPr>
            <p:nvPr/>
          </p:nvPicPr>
          <p:blipFill>
            <a:blip r:embed="rId5" cstate="print"/>
            <a:srcRect/>
            <a:stretch>
              <a:fillRect/>
            </a:stretch>
          </p:blipFill>
          <p:spPr bwMode="auto">
            <a:xfrm>
              <a:off x="7703765" y="1089323"/>
              <a:ext cx="755501" cy="755501"/>
            </a:xfrm>
            <a:prstGeom prst="rect">
              <a:avLst/>
            </a:prstGeom>
            <a:noFill/>
          </p:spPr>
        </p:pic>
      </p:grpSp>
      <p:pic>
        <p:nvPicPr>
          <p:cNvPr id="20482" name="Picture 2" descr="http://www.opensecurityarchitecture.org/cms/images/OSA_images/icon_library/osa_server_application.png"/>
          <p:cNvPicPr>
            <a:picLocks noChangeAspect="1" noChangeArrowheads="1"/>
          </p:cNvPicPr>
          <p:nvPr/>
        </p:nvPicPr>
        <p:blipFill>
          <a:blip r:embed="rId6" cstate="print"/>
          <a:srcRect/>
          <a:stretch>
            <a:fillRect/>
          </a:stretch>
        </p:blipFill>
        <p:spPr bwMode="auto">
          <a:xfrm>
            <a:off x="6948264" y="1777751"/>
            <a:ext cx="643136" cy="643137"/>
          </a:xfrm>
          <a:prstGeom prst="rect">
            <a:avLst/>
          </a:prstGeom>
          <a:noFill/>
        </p:spPr>
      </p:pic>
      <p:sp>
        <p:nvSpPr>
          <p:cNvPr id="20" name="TextBox 19"/>
          <p:cNvSpPr txBox="1"/>
          <p:nvPr/>
        </p:nvSpPr>
        <p:spPr>
          <a:xfrm>
            <a:off x="7092280" y="1412776"/>
            <a:ext cx="576064" cy="369332"/>
          </a:xfrm>
          <a:prstGeom prst="rect">
            <a:avLst/>
          </a:prstGeom>
          <a:noFill/>
        </p:spPr>
        <p:txBody>
          <a:bodyPr wrap="square" rtlCol="0">
            <a:spAutoFit/>
          </a:bodyPr>
          <a:lstStyle/>
          <a:p>
            <a:r>
              <a:rPr lang="en-IN" b="1" dirty="0" smtClean="0"/>
              <a:t>TGS</a:t>
            </a:r>
            <a:endParaRPr lang="en-IN" b="1" dirty="0"/>
          </a:p>
        </p:txBody>
      </p:sp>
      <p:cxnSp>
        <p:nvCxnSpPr>
          <p:cNvPr id="21" name="Straight Connector 20"/>
          <p:cNvCxnSpPr/>
          <p:nvPr/>
        </p:nvCxnSpPr>
        <p:spPr>
          <a:xfrm>
            <a:off x="7380312" y="2348880"/>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5496" y="1404065"/>
            <a:ext cx="4464496" cy="4616648"/>
          </a:xfrm>
          <a:prstGeom prst="rect">
            <a:avLst/>
          </a:prstGeom>
          <a:noFill/>
        </p:spPr>
        <p:txBody>
          <a:bodyPr wrap="square" rtlCol="0">
            <a:spAutoFit/>
          </a:bodyPr>
          <a:lstStyle/>
          <a:p>
            <a:pPr marL="342900" indent="-342900" algn="just">
              <a:buClr>
                <a:srgbClr val="101141"/>
              </a:buClr>
              <a:buFont typeface="Wingdings" pitchFamily="2" charset="2"/>
              <a:buChar char="q"/>
            </a:pPr>
            <a:r>
              <a:rPr lang="en-IN" sz="1400" dirty="0" smtClean="0">
                <a:cs typeface="Arial" pitchFamily="34" charset="0"/>
              </a:rPr>
              <a:t>The client (C) requests a ticket granting ticket from AS providing its ID</a:t>
            </a:r>
            <a:r>
              <a:rPr lang="en-IN" sz="1400" baseline="-25000" dirty="0" smtClean="0">
                <a:cs typeface="Arial" pitchFamily="34" charset="0"/>
              </a:rPr>
              <a:t>C</a:t>
            </a:r>
            <a:r>
              <a:rPr lang="en-IN" sz="1400" dirty="0" smtClean="0">
                <a:cs typeface="Arial" pitchFamily="34" charset="0"/>
              </a:rPr>
              <a:t> and Ticket Granting Server (TGS) id (ID</a:t>
            </a:r>
            <a:r>
              <a:rPr lang="en-IN" sz="1400" baseline="-25000" dirty="0" smtClean="0">
                <a:cs typeface="Arial" pitchFamily="34" charset="0"/>
              </a:rPr>
              <a:t>TGS</a:t>
            </a:r>
            <a:r>
              <a:rPr lang="en-IN" sz="1400" dirty="0" smtClean="0">
                <a:cs typeface="Arial" pitchFamily="34" charset="0"/>
              </a:rPr>
              <a:t>).</a:t>
            </a:r>
          </a:p>
          <a:p>
            <a:pPr marL="342900" indent="-342900" algn="just">
              <a:buClr>
                <a:srgbClr val="101141"/>
              </a:buClr>
              <a:buFont typeface="Wingdings" pitchFamily="2" charset="2"/>
              <a:buChar char="q"/>
            </a:pPr>
            <a:r>
              <a:rPr lang="en-IN" sz="1400" dirty="0" smtClean="0">
                <a:cs typeface="Arial" pitchFamily="34" charset="0"/>
              </a:rPr>
              <a:t>AS responds to C with a ticket (</a:t>
            </a:r>
            <a:r>
              <a:rPr lang="en-IN" sz="1400" dirty="0" err="1" smtClean="0">
                <a:cs typeface="Arial" pitchFamily="34" charset="0"/>
              </a:rPr>
              <a:t>Ticket</a:t>
            </a:r>
            <a:r>
              <a:rPr lang="en-IN" sz="1400" baseline="-25000" dirty="0" err="1" smtClean="0">
                <a:cs typeface="Arial" pitchFamily="34" charset="0"/>
              </a:rPr>
              <a:t>TGS</a:t>
            </a:r>
            <a:r>
              <a:rPr lang="en-IN" sz="1400" dirty="0" smtClean="0">
                <a:cs typeface="Arial" pitchFamily="34" charset="0"/>
              </a:rPr>
              <a:t>) encrypted with a key </a:t>
            </a:r>
            <a:r>
              <a:rPr lang="en-IN" sz="1400" dirty="0" smtClean="0"/>
              <a:t>K</a:t>
            </a:r>
            <a:r>
              <a:rPr lang="en-IN" sz="1400" baseline="-25000" dirty="0" smtClean="0"/>
              <a:t>C . </a:t>
            </a:r>
            <a:r>
              <a:rPr lang="en-IN" sz="1400" dirty="0" smtClean="0">
                <a:cs typeface="Arial" pitchFamily="34" charset="0"/>
              </a:rPr>
              <a:t>The key is derived from the user password stored in AS.</a:t>
            </a:r>
          </a:p>
          <a:p>
            <a:pPr marL="342900" indent="-342900" algn="just">
              <a:buClr>
                <a:srgbClr val="101141"/>
              </a:buClr>
              <a:buFont typeface="Wingdings" pitchFamily="2" charset="2"/>
              <a:buChar char="q"/>
            </a:pPr>
            <a:r>
              <a:rPr lang="en-IN" sz="1400" dirty="0" smtClean="0">
                <a:cs typeface="Arial" pitchFamily="34" charset="0"/>
              </a:rPr>
              <a:t>When C receives this response, it prompts the user for the password, re-generates the key (K</a:t>
            </a:r>
            <a:r>
              <a:rPr lang="en-IN" sz="1400" baseline="-25000" dirty="0" smtClean="0">
                <a:cs typeface="Arial" pitchFamily="34" charset="0"/>
              </a:rPr>
              <a:t>C</a:t>
            </a:r>
            <a:r>
              <a:rPr lang="en-IN" sz="1400" dirty="0" smtClean="0">
                <a:cs typeface="Arial" pitchFamily="34" charset="0"/>
              </a:rPr>
              <a:t>) and the message is decrypted and the ticket is retrieved.</a:t>
            </a:r>
          </a:p>
          <a:p>
            <a:pPr marL="342900" indent="-342900" algn="just">
              <a:buClr>
                <a:srgbClr val="101141"/>
              </a:buClr>
              <a:buFont typeface="Wingdings" pitchFamily="2" charset="2"/>
              <a:buChar char="q"/>
            </a:pPr>
            <a:r>
              <a:rPr lang="en-IN" sz="1400" dirty="0" smtClean="0">
                <a:cs typeface="Arial" pitchFamily="34" charset="0"/>
              </a:rPr>
              <a:t>Now C requests TGS a ticket to access the services from the server V. The message contains client ID</a:t>
            </a:r>
            <a:r>
              <a:rPr lang="en-IN" sz="1400" baseline="-25000" dirty="0" smtClean="0">
                <a:cs typeface="Arial" pitchFamily="34" charset="0"/>
              </a:rPr>
              <a:t>C</a:t>
            </a:r>
            <a:r>
              <a:rPr lang="en-IN" sz="1400" dirty="0" smtClean="0">
                <a:cs typeface="Arial" pitchFamily="34" charset="0"/>
              </a:rPr>
              <a:t>, server ID</a:t>
            </a:r>
            <a:r>
              <a:rPr lang="en-IN" sz="1400" baseline="-25000" dirty="0" smtClean="0">
                <a:cs typeface="Arial" pitchFamily="34" charset="0"/>
              </a:rPr>
              <a:t>V</a:t>
            </a:r>
            <a:r>
              <a:rPr lang="en-IN" sz="1400" dirty="0" smtClean="0">
                <a:cs typeface="Arial" pitchFamily="34" charset="0"/>
              </a:rPr>
              <a:t> and the ticket received earlier from AS (</a:t>
            </a:r>
            <a:r>
              <a:rPr lang="en-IN" sz="1400" dirty="0" err="1" smtClean="0">
                <a:cs typeface="Arial" pitchFamily="34" charset="0"/>
              </a:rPr>
              <a:t>Ticket</a:t>
            </a:r>
            <a:r>
              <a:rPr lang="en-IN" sz="1400" baseline="-25000" dirty="0" err="1" smtClean="0">
                <a:cs typeface="Arial" pitchFamily="34" charset="0"/>
              </a:rPr>
              <a:t>TGS</a:t>
            </a:r>
            <a:r>
              <a:rPr lang="en-IN" sz="1400" dirty="0" smtClean="0">
                <a:cs typeface="Arial" pitchFamily="34" charset="0"/>
              </a:rPr>
              <a:t>).</a:t>
            </a:r>
          </a:p>
          <a:p>
            <a:pPr marL="342900" indent="-342900" algn="just">
              <a:buClr>
                <a:srgbClr val="101141"/>
              </a:buClr>
              <a:buFont typeface="Wingdings" pitchFamily="2" charset="2"/>
              <a:buChar char="q"/>
            </a:pPr>
            <a:r>
              <a:rPr lang="en-IN" sz="1400" dirty="0" smtClean="0">
                <a:cs typeface="Arial" pitchFamily="34" charset="0"/>
              </a:rPr>
              <a:t>TGS can decrypt the </a:t>
            </a:r>
            <a:r>
              <a:rPr lang="en-IN" sz="1400" dirty="0" err="1" smtClean="0">
                <a:cs typeface="Arial" pitchFamily="34" charset="0"/>
              </a:rPr>
              <a:t>Ticket</a:t>
            </a:r>
            <a:r>
              <a:rPr lang="en-IN" sz="1400" baseline="-25000" dirty="0" err="1" smtClean="0">
                <a:cs typeface="Arial" pitchFamily="34" charset="0"/>
              </a:rPr>
              <a:t>TGS</a:t>
            </a:r>
            <a:r>
              <a:rPr lang="en-IN" sz="1400" baseline="-25000" dirty="0" smtClean="0">
                <a:cs typeface="Arial" pitchFamily="34" charset="0"/>
              </a:rPr>
              <a:t> </a:t>
            </a:r>
            <a:r>
              <a:rPr lang="en-IN" sz="1400" dirty="0" smtClean="0">
                <a:cs typeface="Arial" pitchFamily="34" charset="0"/>
              </a:rPr>
              <a:t> using a key (K</a:t>
            </a:r>
            <a:r>
              <a:rPr lang="en-IN" sz="1400" baseline="-25000" dirty="0" smtClean="0">
                <a:cs typeface="Arial" pitchFamily="34" charset="0"/>
              </a:rPr>
              <a:t>TGS</a:t>
            </a:r>
            <a:r>
              <a:rPr lang="en-IN" sz="1400" dirty="0" smtClean="0">
                <a:cs typeface="Arial" pitchFamily="34" charset="0"/>
              </a:rPr>
              <a:t>) shared between AS and TGS and verify the following:</a:t>
            </a:r>
          </a:p>
          <a:p>
            <a:pPr marL="857250" lvl="1" indent="-400050" algn="just">
              <a:buClr>
                <a:srgbClr val="101141"/>
              </a:buClr>
              <a:buFont typeface="+mj-lt"/>
              <a:buAutoNum type="romanLcPeriod"/>
            </a:pPr>
            <a:r>
              <a:rPr lang="en-IN" sz="1400" dirty="0" smtClean="0">
                <a:cs typeface="Arial" pitchFamily="34" charset="0"/>
              </a:rPr>
              <a:t>Presence of its ID (ID</a:t>
            </a:r>
            <a:r>
              <a:rPr lang="en-IN" sz="1400" baseline="-25000" dirty="0" smtClean="0">
                <a:cs typeface="Arial" pitchFamily="34" charset="0"/>
              </a:rPr>
              <a:t>TGS</a:t>
            </a:r>
            <a:r>
              <a:rPr lang="en-IN" sz="1400" dirty="0" smtClean="0">
                <a:cs typeface="Arial" pitchFamily="34" charset="0"/>
              </a:rPr>
              <a:t>).</a:t>
            </a:r>
            <a:endParaRPr lang="en-IN" sz="1400" baseline="-25000" dirty="0" smtClean="0">
              <a:cs typeface="Arial" pitchFamily="34" charset="0"/>
            </a:endParaRPr>
          </a:p>
          <a:p>
            <a:pPr marL="857250" lvl="1" indent="-400050" algn="just">
              <a:buClr>
                <a:srgbClr val="101141"/>
              </a:buClr>
              <a:buFont typeface="+mj-lt"/>
              <a:buAutoNum type="romanLcPeriod"/>
            </a:pPr>
            <a:r>
              <a:rPr lang="en-IN" sz="1400" dirty="0" smtClean="0">
                <a:cs typeface="Arial" pitchFamily="34" charset="0"/>
              </a:rPr>
              <a:t>Lifetime has not expired.</a:t>
            </a:r>
          </a:p>
          <a:p>
            <a:pPr marL="857250" lvl="1" indent="-400050" algn="just">
              <a:buClr>
                <a:srgbClr val="101141"/>
              </a:buClr>
              <a:buFont typeface="+mj-lt"/>
              <a:buAutoNum type="romanLcPeriod"/>
            </a:pPr>
            <a:r>
              <a:rPr lang="en-IN" sz="1400" dirty="0" smtClean="0">
                <a:cs typeface="Arial" pitchFamily="34" charset="0"/>
              </a:rPr>
              <a:t>Client ID (ID</a:t>
            </a:r>
            <a:r>
              <a:rPr lang="en-IN" sz="1400" baseline="-25000" dirty="0" smtClean="0">
                <a:cs typeface="Arial" pitchFamily="34" charset="0"/>
              </a:rPr>
              <a:t>C</a:t>
            </a:r>
            <a:r>
              <a:rPr lang="en-IN" sz="1400" dirty="0" smtClean="0">
                <a:cs typeface="Arial" pitchFamily="34" charset="0"/>
              </a:rPr>
              <a:t>) and Client Address (AD</a:t>
            </a:r>
            <a:r>
              <a:rPr lang="en-IN" sz="1400" baseline="-25000" dirty="0" smtClean="0">
                <a:cs typeface="Arial" pitchFamily="34" charset="0"/>
              </a:rPr>
              <a:t>C</a:t>
            </a:r>
            <a:r>
              <a:rPr lang="en-IN" sz="1400" dirty="0" smtClean="0">
                <a:cs typeface="Arial" pitchFamily="34" charset="0"/>
              </a:rPr>
              <a:t>) is correct from the received message.</a:t>
            </a:r>
          </a:p>
          <a:p>
            <a:pPr marL="342900" lvl="1" indent="-342900" algn="just">
              <a:buClr>
                <a:srgbClr val="101141"/>
              </a:buClr>
              <a:buFont typeface="Wingdings" pitchFamily="2" charset="2"/>
              <a:buChar char="q"/>
            </a:pPr>
            <a:r>
              <a:rPr lang="en-IN" sz="1400" dirty="0" smtClean="0">
                <a:cs typeface="Arial" pitchFamily="34" charset="0"/>
              </a:rPr>
              <a:t>If client is permitted to use the server V, TGS grants a ticket (</a:t>
            </a:r>
            <a:r>
              <a:rPr lang="en-IN" sz="1400" dirty="0" err="1" smtClean="0">
                <a:cs typeface="Arial" pitchFamily="34" charset="0"/>
              </a:rPr>
              <a:t>Ticket</a:t>
            </a:r>
            <a:r>
              <a:rPr lang="en-IN" sz="1400" baseline="-25000" dirty="0" err="1" smtClean="0">
                <a:cs typeface="Arial" pitchFamily="34" charset="0"/>
              </a:rPr>
              <a:t>V</a:t>
            </a:r>
            <a:r>
              <a:rPr lang="en-IN" sz="1400" dirty="0" smtClean="0">
                <a:cs typeface="Arial" pitchFamily="34" charset="0"/>
              </a:rPr>
              <a:t>) to the client .</a:t>
            </a:r>
          </a:p>
        </p:txBody>
      </p:sp>
      <p:grpSp>
        <p:nvGrpSpPr>
          <p:cNvPr id="6" name="Group 23"/>
          <p:cNvGrpSpPr/>
          <p:nvPr/>
        </p:nvGrpSpPr>
        <p:grpSpPr>
          <a:xfrm>
            <a:off x="4716016" y="2492896"/>
            <a:ext cx="1584176" cy="432048"/>
            <a:chOff x="4388823" y="2060848"/>
            <a:chExt cx="1584176" cy="432048"/>
          </a:xfrm>
        </p:grpSpPr>
        <p:cxnSp>
          <p:nvCxnSpPr>
            <p:cNvPr id="25" name="Straight Arrow Connector 24"/>
            <p:cNvCxnSpPr/>
            <p:nvPr/>
          </p:nvCxnSpPr>
          <p:spPr>
            <a:xfrm>
              <a:off x="4604847" y="2420888"/>
              <a:ext cx="1296144"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388823"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0000"/>
                  </a:solidFill>
                </a:rPr>
                <a:t>ID</a:t>
              </a:r>
              <a:r>
                <a:rPr lang="en-IN" sz="1400" b="1" baseline="-25000" dirty="0" smtClean="0">
                  <a:solidFill>
                    <a:srgbClr val="FF0000"/>
                  </a:solidFill>
                </a:rPr>
                <a:t>C</a:t>
              </a:r>
              <a:r>
                <a:rPr lang="en-IN" sz="1400" b="1" dirty="0" smtClean="0">
                  <a:solidFill>
                    <a:srgbClr val="FF0000"/>
                  </a:solidFill>
                </a:rPr>
                <a:t> || ID</a:t>
              </a:r>
              <a:r>
                <a:rPr lang="en-IN" sz="1400" b="1" baseline="-25000" dirty="0" smtClean="0">
                  <a:solidFill>
                    <a:srgbClr val="FF0000"/>
                  </a:solidFill>
                </a:rPr>
                <a:t>TGS</a:t>
              </a:r>
              <a:endParaRPr lang="en-IN" sz="1400" b="1" baseline="-25000" dirty="0">
                <a:solidFill>
                  <a:srgbClr val="FF0000"/>
                </a:solidFill>
              </a:endParaRPr>
            </a:p>
          </p:txBody>
        </p:sp>
      </p:grpSp>
      <p:grpSp>
        <p:nvGrpSpPr>
          <p:cNvPr id="9" name="Group 28"/>
          <p:cNvGrpSpPr/>
          <p:nvPr/>
        </p:nvGrpSpPr>
        <p:grpSpPr>
          <a:xfrm>
            <a:off x="4788024" y="2924944"/>
            <a:ext cx="1584176" cy="432048"/>
            <a:chOff x="4460831" y="2060848"/>
            <a:chExt cx="1584176" cy="432048"/>
          </a:xfrm>
        </p:grpSpPr>
        <p:cxnSp>
          <p:nvCxnSpPr>
            <p:cNvPr id="30" name="Straight Arrow Connector 29"/>
            <p:cNvCxnSpPr/>
            <p:nvPr/>
          </p:nvCxnSpPr>
          <p:spPr>
            <a:xfrm>
              <a:off x="4604847" y="2420888"/>
              <a:ext cx="1296144" cy="0"/>
            </a:xfrm>
            <a:prstGeom prst="straightConnector1">
              <a:avLst/>
            </a:prstGeom>
            <a:ln w="254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4460831"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00B0F0"/>
                  </a:solidFill>
                </a:rPr>
                <a:t>E (K</a:t>
              </a:r>
              <a:r>
                <a:rPr lang="en-IN" sz="1400" b="1" baseline="-25000" dirty="0" smtClean="0">
                  <a:solidFill>
                    <a:srgbClr val="00B0F0"/>
                  </a:solidFill>
                </a:rPr>
                <a:t>C</a:t>
              </a:r>
              <a:r>
                <a:rPr lang="en-IN" sz="1400" b="1" dirty="0" smtClean="0">
                  <a:solidFill>
                    <a:srgbClr val="00B0F0"/>
                  </a:solidFill>
                </a:rPr>
                <a:t>, </a:t>
              </a:r>
              <a:r>
                <a:rPr lang="en-IN" sz="1400" b="1" dirty="0" err="1" smtClean="0">
                  <a:solidFill>
                    <a:srgbClr val="00B0F0"/>
                  </a:solidFill>
                </a:rPr>
                <a:t>Ticket</a:t>
              </a:r>
              <a:r>
                <a:rPr lang="en-IN" sz="1400" b="1" baseline="-25000" dirty="0" err="1" smtClean="0">
                  <a:solidFill>
                    <a:srgbClr val="00B0F0"/>
                  </a:solidFill>
                </a:rPr>
                <a:t>TGS</a:t>
              </a:r>
              <a:r>
                <a:rPr lang="en-IN" sz="1400" b="1" dirty="0" smtClean="0">
                  <a:solidFill>
                    <a:srgbClr val="00B0F0"/>
                  </a:solidFill>
                </a:rPr>
                <a:t>)</a:t>
              </a:r>
              <a:endParaRPr lang="en-IN" sz="1400" b="1" dirty="0">
                <a:solidFill>
                  <a:srgbClr val="00B0F0"/>
                </a:solidFill>
              </a:endParaRPr>
            </a:p>
          </p:txBody>
        </p:sp>
      </p:grpSp>
      <p:grpSp>
        <p:nvGrpSpPr>
          <p:cNvPr id="18" name="Group 31"/>
          <p:cNvGrpSpPr/>
          <p:nvPr/>
        </p:nvGrpSpPr>
        <p:grpSpPr>
          <a:xfrm>
            <a:off x="4716016" y="3356992"/>
            <a:ext cx="2664296" cy="432048"/>
            <a:chOff x="4388823" y="2060848"/>
            <a:chExt cx="2664296" cy="432048"/>
          </a:xfrm>
        </p:grpSpPr>
        <p:cxnSp>
          <p:nvCxnSpPr>
            <p:cNvPr id="33" name="Straight Arrow Connector 32"/>
            <p:cNvCxnSpPr/>
            <p:nvPr/>
          </p:nvCxnSpPr>
          <p:spPr>
            <a:xfrm>
              <a:off x="4604847" y="2420888"/>
              <a:ext cx="2448272" cy="0"/>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4388823" y="2060848"/>
              <a:ext cx="2232248"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00B050"/>
                  </a:solidFill>
                </a:rPr>
                <a:t>ID</a:t>
              </a:r>
              <a:r>
                <a:rPr lang="en-IN" sz="1400" b="1" baseline="-25000" dirty="0" smtClean="0">
                  <a:solidFill>
                    <a:srgbClr val="00B050"/>
                  </a:solidFill>
                </a:rPr>
                <a:t>C</a:t>
              </a:r>
              <a:r>
                <a:rPr lang="en-IN" sz="1400" b="1" dirty="0" smtClean="0">
                  <a:solidFill>
                    <a:srgbClr val="00B050"/>
                  </a:solidFill>
                </a:rPr>
                <a:t> || ID</a:t>
              </a:r>
              <a:r>
                <a:rPr lang="en-IN" sz="1400" b="1" baseline="-25000" dirty="0" smtClean="0">
                  <a:solidFill>
                    <a:srgbClr val="00B050"/>
                  </a:solidFill>
                </a:rPr>
                <a:t>V</a:t>
              </a:r>
              <a:r>
                <a:rPr lang="en-IN" sz="1400" b="1" dirty="0" smtClean="0">
                  <a:solidFill>
                    <a:srgbClr val="00B050"/>
                  </a:solidFill>
                </a:rPr>
                <a:t> || </a:t>
              </a:r>
              <a:r>
                <a:rPr lang="en-IN" sz="1400" b="1" dirty="0" err="1" smtClean="0">
                  <a:solidFill>
                    <a:srgbClr val="00B050"/>
                  </a:solidFill>
                </a:rPr>
                <a:t>Ticket</a:t>
              </a:r>
              <a:r>
                <a:rPr lang="en-IN" sz="1400" b="1" baseline="-25000" dirty="0" err="1" smtClean="0">
                  <a:solidFill>
                    <a:srgbClr val="00B050"/>
                  </a:solidFill>
                </a:rPr>
                <a:t>TGS</a:t>
              </a:r>
              <a:endParaRPr lang="en-IN" sz="1400" b="1" baseline="-25000" dirty="0">
                <a:solidFill>
                  <a:srgbClr val="00B050"/>
                </a:solidFill>
              </a:endParaRPr>
            </a:p>
          </p:txBody>
        </p:sp>
      </p:grpSp>
      <p:sp>
        <p:nvSpPr>
          <p:cNvPr id="36" name="Rectangle 35"/>
          <p:cNvSpPr/>
          <p:nvPr/>
        </p:nvSpPr>
        <p:spPr>
          <a:xfrm>
            <a:off x="107504" y="5949280"/>
            <a:ext cx="4536504" cy="307777"/>
          </a:xfrm>
          <a:prstGeom prst="rect">
            <a:avLst/>
          </a:prstGeom>
          <a:ln>
            <a:solidFill>
              <a:schemeClr val="tx1"/>
            </a:solidFill>
            <a:prstDash val="sysDash"/>
          </a:ln>
        </p:spPr>
        <p:txBody>
          <a:bodyPr wrap="square">
            <a:spAutoFit/>
          </a:bodyPr>
          <a:lstStyle/>
          <a:p>
            <a:pPr marL="342900" indent="-342900" algn="just">
              <a:buClr>
                <a:srgbClr val="101141"/>
              </a:buClr>
            </a:pPr>
            <a:r>
              <a:rPr lang="en-IN" sz="1400" b="1" i="1" dirty="0" err="1" smtClean="0">
                <a:cs typeface="Arial" pitchFamily="34" charset="0"/>
              </a:rPr>
              <a:t>Ticket</a:t>
            </a:r>
            <a:r>
              <a:rPr lang="en-IN" sz="1400" b="1" i="1" baseline="-25000" dirty="0" err="1" smtClean="0">
                <a:cs typeface="Arial" pitchFamily="34" charset="0"/>
              </a:rPr>
              <a:t>TGS</a:t>
            </a:r>
            <a:r>
              <a:rPr lang="en-IN" sz="1400" b="1" i="1" dirty="0" smtClean="0">
                <a:cs typeface="Arial" pitchFamily="34" charset="0"/>
              </a:rPr>
              <a:t> = E (K</a:t>
            </a:r>
            <a:r>
              <a:rPr lang="en-IN" sz="1400" b="1" i="1" baseline="-25000" dirty="0" smtClean="0">
                <a:cs typeface="Arial" pitchFamily="34" charset="0"/>
              </a:rPr>
              <a:t>TGS</a:t>
            </a:r>
            <a:r>
              <a:rPr lang="en-IN" sz="1400" b="1" i="1" dirty="0" smtClean="0">
                <a:cs typeface="Arial" pitchFamily="34" charset="0"/>
              </a:rPr>
              <a:t> ,[ID</a:t>
            </a:r>
            <a:r>
              <a:rPr lang="en-IN" sz="1400" b="1" i="1" baseline="-25000" dirty="0" smtClean="0">
                <a:cs typeface="Arial" pitchFamily="34" charset="0"/>
              </a:rPr>
              <a:t>C</a:t>
            </a:r>
            <a:r>
              <a:rPr lang="en-IN" sz="1400" b="1" i="1" dirty="0" smtClean="0">
                <a:cs typeface="Arial" pitchFamily="34" charset="0"/>
              </a:rPr>
              <a:t> ||AD</a:t>
            </a:r>
            <a:r>
              <a:rPr lang="en-IN" sz="1400" b="1" i="1" baseline="-25000" dirty="0" smtClean="0">
                <a:cs typeface="Arial" pitchFamily="34" charset="0"/>
              </a:rPr>
              <a:t>C</a:t>
            </a:r>
            <a:r>
              <a:rPr lang="en-IN" sz="1400" b="1" i="1" dirty="0" smtClean="0">
                <a:cs typeface="Arial" pitchFamily="34" charset="0"/>
              </a:rPr>
              <a:t> || ID</a:t>
            </a:r>
            <a:r>
              <a:rPr lang="en-IN" sz="1400" b="1" i="1" baseline="-25000" dirty="0" smtClean="0">
                <a:cs typeface="Arial" pitchFamily="34" charset="0"/>
              </a:rPr>
              <a:t>TGS</a:t>
            </a:r>
            <a:r>
              <a:rPr lang="en-IN" sz="1400" b="1" i="1" dirty="0" smtClean="0">
                <a:cs typeface="Arial" pitchFamily="34" charset="0"/>
              </a:rPr>
              <a:t> || TS</a:t>
            </a:r>
            <a:r>
              <a:rPr lang="en-IN" sz="1400" b="1" i="1" baseline="-25000" dirty="0" smtClean="0">
                <a:cs typeface="Arial" pitchFamily="34" charset="0"/>
              </a:rPr>
              <a:t>1</a:t>
            </a:r>
            <a:r>
              <a:rPr lang="en-IN" sz="1400" b="1" i="1" dirty="0" smtClean="0">
                <a:cs typeface="Arial" pitchFamily="34" charset="0"/>
              </a:rPr>
              <a:t> || Lifetime</a:t>
            </a:r>
            <a:r>
              <a:rPr lang="en-IN" sz="1400" b="1" i="1" baseline="-25000" dirty="0" smtClean="0">
                <a:cs typeface="Arial" pitchFamily="34" charset="0"/>
              </a:rPr>
              <a:t>1</a:t>
            </a:r>
            <a:r>
              <a:rPr lang="en-IN" sz="1400" b="1" i="1" dirty="0" smtClean="0">
                <a:cs typeface="Arial" pitchFamily="34" charset="0"/>
              </a:rPr>
              <a:t>])</a:t>
            </a:r>
          </a:p>
        </p:txBody>
      </p:sp>
      <p:sp>
        <p:nvSpPr>
          <p:cNvPr id="37" name="Rectangle 36"/>
          <p:cNvSpPr/>
          <p:nvPr/>
        </p:nvSpPr>
        <p:spPr>
          <a:xfrm>
            <a:off x="4644008" y="4725144"/>
            <a:ext cx="4392488" cy="1815882"/>
          </a:xfrm>
          <a:prstGeom prst="rect">
            <a:avLst/>
          </a:prstGeom>
        </p:spPr>
        <p:txBody>
          <a:bodyPr wrap="square">
            <a:spAutoFit/>
          </a:bodyPr>
          <a:lstStyle/>
          <a:p>
            <a:pPr marL="342900" lvl="1" indent="-342900" algn="just">
              <a:buClr>
                <a:srgbClr val="101141"/>
              </a:buClr>
              <a:buFont typeface="Wingdings" pitchFamily="2" charset="2"/>
              <a:buChar char="q"/>
            </a:pPr>
            <a:r>
              <a:rPr lang="en-IN" sz="1400" dirty="0" smtClean="0">
                <a:cs typeface="Arial" pitchFamily="34" charset="0"/>
              </a:rPr>
              <a:t>The client requests server V for the service sending it a message with its ID</a:t>
            </a:r>
            <a:r>
              <a:rPr lang="en-IN" sz="1400" baseline="-25000" dirty="0" smtClean="0">
                <a:cs typeface="Arial" pitchFamily="34" charset="0"/>
              </a:rPr>
              <a:t>C</a:t>
            </a:r>
            <a:r>
              <a:rPr lang="en-IN" sz="1400" dirty="0" smtClean="0">
                <a:cs typeface="Arial" pitchFamily="34" charset="0"/>
              </a:rPr>
              <a:t> and </a:t>
            </a:r>
            <a:r>
              <a:rPr lang="en-IN" sz="1400" dirty="0" err="1" smtClean="0">
                <a:cs typeface="Arial" pitchFamily="34" charset="0"/>
              </a:rPr>
              <a:t>Ticket</a:t>
            </a:r>
            <a:r>
              <a:rPr lang="en-IN" sz="1400" baseline="-25000" dirty="0" err="1" smtClean="0">
                <a:cs typeface="Arial" pitchFamily="34" charset="0"/>
              </a:rPr>
              <a:t>V</a:t>
            </a:r>
            <a:r>
              <a:rPr lang="en-IN" sz="1400" dirty="0" smtClean="0">
                <a:cs typeface="Arial" pitchFamily="34" charset="0"/>
              </a:rPr>
              <a:t>.</a:t>
            </a:r>
          </a:p>
          <a:p>
            <a:pPr marL="342900" lvl="1" indent="-342900" algn="just">
              <a:buClr>
                <a:srgbClr val="101141"/>
              </a:buClr>
              <a:buFont typeface="Wingdings" pitchFamily="2" charset="2"/>
              <a:buChar char="q"/>
            </a:pPr>
            <a:r>
              <a:rPr lang="en-IN" sz="1400" dirty="0" smtClean="0">
                <a:cs typeface="Arial" pitchFamily="34" charset="0"/>
              </a:rPr>
              <a:t>Server V can decrypt the message with K</a:t>
            </a:r>
            <a:r>
              <a:rPr lang="en-IN" sz="1400" baseline="-25000" dirty="0" smtClean="0">
                <a:cs typeface="Arial" pitchFamily="34" charset="0"/>
              </a:rPr>
              <a:t>V</a:t>
            </a:r>
            <a:r>
              <a:rPr lang="en-IN" sz="1400" dirty="0" smtClean="0">
                <a:cs typeface="Arial" pitchFamily="34" charset="0"/>
              </a:rPr>
              <a:t> that is known only to the server and TGS and verify other parameters and take the decision to grant the service accordingly.</a:t>
            </a:r>
          </a:p>
          <a:p>
            <a:pPr marL="342900" lvl="1" indent="-342900" algn="just">
              <a:buClr>
                <a:srgbClr val="101141"/>
              </a:buClr>
              <a:buFont typeface="Wingdings" pitchFamily="2" charset="2"/>
              <a:buChar char="q"/>
            </a:pPr>
            <a:r>
              <a:rPr lang="en-IN" sz="1400" dirty="0" smtClean="0">
                <a:cs typeface="Arial" pitchFamily="34" charset="0"/>
              </a:rPr>
              <a:t>Timestamp (TS) and Lifetime tell the freshness of the tickets to avoid later replays.</a:t>
            </a:r>
          </a:p>
        </p:txBody>
      </p:sp>
      <p:sp>
        <p:nvSpPr>
          <p:cNvPr id="38" name="Rectangle 37"/>
          <p:cNvSpPr/>
          <p:nvPr/>
        </p:nvSpPr>
        <p:spPr>
          <a:xfrm>
            <a:off x="107504" y="6237312"/>
            <a:ext cx="4536504" cy="307777"/>
          </a:xfrm>
          <a:prstGeom prst="rect">
            <a:avLst/>
          </a:prstGeom>
          <a:ln>
            <a:solidFill>
              <a:schemeClr val="tx1"/>
            </a:solidFill>
            <a:prstDash val="sysDash"/>
          </a:ln>
        </p:spPr>
        <p:txBody>
          <a:bodyPr wrap="square">
            <a:spAutoFit/>
          </a:bodyPr>
          <a:lstStyle/>
          <a:p>
            <a:pPr marL="342900" indent="-342900" algn="just">
              <a:buClr>
                <a:srgbClr val="101141"/>
              </a:buClr>
            </a:pPr>
            <a:r>
              <a:rPr lang="en-IN" sz="1400" b="1" i="1" dirty="0" err="1" smtClean="0">
                <a:cs typeface="Arial" pitchFamily="34" charset="0"/>
              </a:rPr>
              <a:t>Ticket</a:t>
            </a:r>
            <a:r>
              <a:rPr lang="en-IN" sz="1400" b="1" i="1" baseline="-25000" dirty="0" err="1" smtClean="0">
                <a:cs typeface="Arial" pitchFamily="34" charset="0"/>
              </a:rPr>
              <a:t>V</a:t>
            </a:r>
            <a:r>
              <a:rPr lang="en-IN" sz="1400" b="1" i="1" dirty="0" smtClean="0">
                <a:cs typeface="Arial" pitchFamily="34" charset="0"/>
              </a:rPr>
              <a:t> = E (K</a:t>
            </a:r>
            <a:r>
              <a:rPr lang="en-IN" sz="1400" b="1" i="1" baseline="-25000" dirty="0" smtClean="0">
                <a:cs typeface="Arial" pitchFamily="34" charset="0"/>
              </a:rPr>
              <a:t>V</a:t>
            </a:r>
            <a:r>
              <a:rPr lang="en-IN" sz="1400" b="1" i="1" dirty="0" smtClean="0">
                <a:cs typeface="Arial" pitchFamily="34" charset="0"/>
              </a:rPr>
              <a:t> ,[ID</a:t>
            </a:r>
            <a:r>
              <a:rPr lang="en-IN" sz="1400" b="1" i="1" baseline="-25000" dirty="0" smtClean="0">
                <a:cs typeface="Arial" pitchFamily="34" charset="0"/>
              </a:rPr>
              <a:t>C</a:t>
            </a:r>
            <a:r>
              <a:rPr lang="en-IN" sz="1400" b="1" i="1" dirty="0" smtClean="0">
                <a:cs typeface="Arial" pitchFamily="34" charset="0"/>
              </a:rPr>
              <a:t> ||AD</a:t>
            </a:r>
            <a:r>
              <a:rPr lang="en-IN" sz="1400" b="1" i="1" baseline="-25000" dirty="0" smtClean="0">
                <a:cs typeface="Arial" pitchFamily="34" charset="0"/>
              </a:rPr>
              <a:t>C</a:t>
            </a:r>
            <a:r>
              <a:rPr lang="en-IN" sz="1400" b="1" i="1" dirty="0" smtClean="0">
                <a:cs typeface="Arial" pitchFamily="34" charset="0"/>
              </a:rPr>
              <a:t> || ID</a:t>
            </a:r>
            <a:r>
              <a:rPr lang="en-IN" sz="1400" b="1" i="1" baseline="-25000" dirty="0" smtClean="0">
                <a:cs typeface="Arial" pitchFamily="34" charset="0"/>
              </a:rPr>
              <a:t>V</a:t>
            </a:r>
            <a:r>
              <a:rPr lang="en-IN" sz="1400" b="1" i="1" dirty="0" smtClean="0">
                <a:cs typeface="Arial" pitchFamily="34" charset="0"/>
              </a:rPr>
              <a:t> || TS</a:t>
            </a:r>
            <a:r>
              <a:rPr lang="en-IN" sz="1400" b="1" i="1" baseline="-25000" dirty="0" smtClean="0">
                <a:cs typeface="Arial" pitchFamily="34" charset="0"/>
              </a:rPr>
              <a:t>2</a:t>
            </a:r>
            <a:r>
              <a:rPr lang="en-IN" sz="1400" b="1" i="1" dirty="0" smtClean="0">
                <a:cs typeface="Arial" pitchFamily="34" charset="0"/>
              </a:rPr>
              <a:t> || Lifetime</a:t>
            </a:r>
            <a:r>
              <a:rPr lang="en-IN" sz="1400" b="1" i="1" baseline="-25000" dirty="0" smtClean="0">
                <a:cs typeface="Arial" pitchFamily="34" charset="0"/>
              </a:rPr>
              <a:t>2</a:t>
            </a:r>
            <a:r>
              <a:rPr lang="en-IN" sz="1400" b="1" i="1" dirty="0" smtClean="0">
                <a:cs typeface="Arial" pitchFamily="34" charset="0"/>
              </a:rPr>
              <a:t>])</a:t>
            </a:r>
          </a:p>
        </p:txBody>
      </p:sp>
      <p:grpSp>
        <p:nvGrpSpPr>
          <p:cNvPr id="19" name="Group 38"/>
          <p:cNvGrpSpPr/>
          <p:nvPr/>
        </p:nvGrpSpPr>
        <p:grpSpPr>
          <a:xfrm>
            <a:off x="4788024" y="3789040"/>
            <a:ext cx="2592288" cy="432048"/>
            <a:chOff x="4460831" y="2060848"/>
            <a:chExt cx="2592288" cy="432048"/>
          </a:xfrm>
        </p:grpSpPr>
        <p:cxnSp>
          <p:nvCxnSpPr>
            <p:cNvPr id="40" name="Straight Arrow Connector 39"/>
            <p:cNvCxnSpPr/>
            <p:nvPr/>
          </p:nvCxnSpPr>
          <p:spPr>
            <a:xfrm>
              <a:off x="4604847" y="2420888"/>
              <a:ext cx="2448272" cy="0"/>
            </a:xfrm>
            <a:prstGeom prst="straightConnector1">
              <a:avLst/>
            </a:prstGeom>
            <a:ln w="25400">
              <a:solidFill>
                <a:srgbClr val="7030A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4460831" y="2060848"/>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err="1" smtClean="0">
                  <a:solidFill>
                    <a:srgbClr val="7030A0"/>
                  </a:solidFill>
                </a:rPr>
                <a:t>Ticket</a:t>
              </a:r>
              <a:r>
                <a:rPr lang="en-IN" sz="1400" b="1" baseline="-25000" dirty="0" err="1" smtClean="0">
                  <a:solidFill>
                    <a:srgbClr val="7030A0"/>
                  </a:solidFill>
                </a:rPr>
                <a:t>V</a:t>
              </a:r>
              <a:endParaRPr lang="en-IN" sz="1400" b="1" dirty="0">
                <a:solidFill>
                  <a:srgbClr val="7030A0"/>
                </a:solidFill>
              </a:endParaRPr>
            </a:p>
          </p:txBody>
        </p:sp>
      </p:grpSp>
      <p:grpSp>
        <p:nvGrpSpPr>
          <p:cNvPr id="22" name="Group 42"/>
          <p:cNvGrpSpPr/>
          <p:nvPr/>
        </p:nvGrpSpPr>
        <p:grpSpPr>
          <a:xfrm>
            <a:off x="4499992" y="4149080"/>
            <a:ext cx="3960440" cy="432048"/>
            <a:chOff x="4172799" y="2060848"/>
            <a:chExt cx="3960440" cy="432048"/>
          </a:xfrm>
        </p:grpSpPr>
        <p:cxnSp>
          <p:nvCxnSpPr>
            <p:cNvPr id="44" name="Straight Arrow Connector 43"/>
            <p:cNvCxnSpPr/>
            <p:nvPr/>
          </p:nvCxnSpPr>
          <p:spPr>
            <a:xfrm>
              <a:off x="4604847" y="2420888"/>
              <a:ext cx="3528392" cy="0"/>
            </a:xfrm>
            <a:prstGeom prst="straightConnector1">
              <a:avLst/>
            </a:prstGeom>
            <a:ln w="254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4172799" y="2060848"/>
              <a:ext cx="2232248"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C000"/>
                  </a:solidFill>
                </a:rPr>
                <a:t>ID</a:t>
              </a:r>
              <a:r>
                <a:rPr lang="en-IN" sz="1400" b="1" baseline="-25000" dirty="0" smtClean="0">
                  <a:solidFill>
                    <a:srgbClr val="FFC000"/>
                  </a:solidFill>
                </a:rPr>
                <a:t>C</a:t>
              </a:r>
              <a:r>
                <a:rPr lang="en-IN" sz="1400" b="1" dirty="0" smtClean="0">
                  <a:solidFill>
                    <a:srgbClr val="FFC000"/>
                  </a:solidFill>
                </a:rPr>
                <a:t> || </a:t>
              </a:r>
              <a:r>
                <a:rPr lang="en-IN" sz="1400" b="1" dirty="0" err="1" smtClean="0">
                  <a:solidFill>
                    <a:srgbClr val="FFC000"/>
                  </a:solidFill>
                </a:rPr>
                <a:t>Ticket</a:t>
              </a:r>
              <a:r>
                <a:rPr lang="en-IN" sz="1400" b="1" baseline="-25000" dirty="0" err="1" smtClean="0">
                  <a:solidFill>
                    <a:srgbClr val="FFC000"/>
                  </a:solidFill>
                </a:rPr>
                <a:t>V</a:t>
              </a:r>
              <a:endParaRPr lang="en-IN" sz="1400" b="1" baseline="-25000" dirty="0">
                <a:solidFill>
                  <a:srgbClr val="FFC000"/>
                </a:solidFill>
              </a:endParaRPr>
            </a:p>
          </p:txBody>
        </p:sp>
      </p:grpSp>
    </p:spTree>
    <p:extLst>
      <p:ext uri="{BB962C8B-B14F-4D97-AF65-F5344CB8AC3E}">
        <p14:creationId xmlns="" xmlns:p14="http://schemas.microsoft.com/office/powerpoint/2010/main" val="192631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7">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lgn="just">
              <a:lnSpc>
                <a:spcPct val="120000"/>
              </a:lnSpc>
              <a:spcBef>
                <a:spcPts val="0"/>
              </a:spcBef>
              <a:buFont typeface="Wingdings" pitchFamily="2" charset="2"/>
              <a:buChar char="ü"/>
            </a:pPr>
            <a:r>
              <a:rPr lang="en-IN" dirty="0" smtClean="0"/>
              <a:t>Client password is not transmitted in plaintext.</a:t>
            </a:r>
          </a:p>
          <a:p>
            <a:pPr algn="just">
              <a:lnSpc>
                <a:spcPct val="120000"/>
              </a:lnSpc>
              <a:spcBef>
                <a:spcPts val="0"/>
              </a:spcBef>
              <a:buFont typeface="Wingdings" pitchFamily="2" charset="2"/>
              <a:buChar char="ü"/>
            </a:pPr>
            <a:r>
              <a:rPr lang="en-IN" dirty="0" err="1" smtClean="0"/>
              <a:t>Ticket</a:t>
            </a:r>
            <a:r>
              <a:rPr lang="en-IN" baseline="-25000" dirty="0" err="1" smtClean="0"/>
              <a:t>TGS</a:t>
            </a:r>
            <a:r>
              <a:rPr lang="en-IN" dirty="0" smtClean="0"/>
              <a:t> can be decrypted only by the legitimate user because key generation is password dependent on the client side.</a:t>
            </a:r>
          </a:p>
          <a:p>
            <a:pPr algn="just">
              <a:lnSpc>
                <a:spcPct val="120000"/>
              </a:lnSpc>
              <a:spcBef>
                <a:spcPts val="0"/>
              </a:spcBef>
              <a:buFont typeface="Wingdings" pitchFamily="2" charset="2"/>
              <a:buChar char="ü"/>
            </a:pPr>
            <a:r>
              <a:rPr lang="en-IN" dirty="0" smtClean="0"/>
              <a:t>Using </a:t>
            </a:r>
            <a:r>
              <a:rPr lang="en-IN" dirty="0" err="1" smtClean="0"/>
              <a:t>Ticket</a:t>
            </a:r>
            <a:r>
              <a:rPr lang="en-IN" baseline="-25000" dirty="0" err="1" smtClean="0"/>
              <a:t>TGS</a:t>
            </a:r>
            <a:r>
              <a:rPr lang="en-IN" baseline="-25000" dirty="0" smtClean="0"/>
              <a:t>,</a:t>
            </a:r>
            <a:r>
              <a:rPr lang="en-IN" dirty="0" smtClean="0"/>
              <a:t> the client can request TGS for tickets for multiple servers.</a:t>
            </a:r>
          </a:p>
          <a:p>
            <a:pPr algn="just">
              <a:lnSpc>
                <a:spcPct val="120000"/>
              </a:lnSpc>
              <a:spcBef>
                <a:spcPts val="0"/>
              </a:spcBef>
              <a:buFont typeface="Wingdings" pitchFamily="2" charset="2"/>
              <a:buChar char="ü"/>
            </a:pPr>
            <a:r>
              <a:rPr lang="en-IN" dirty="0" smtClean="0"/>
              <a:t>Tickets contain time stamps (TS1 and TS2) with lifetimes. So that they cannot be replayed after lifetime expired.</a:t>
            </a:r>
          </a:p>
          <a:p>
            <a:pPr algn="just">
              <a:lnSpc>
                <a:spcPct val="120000"/>
              </a:lnSpc>
              <a:spcBef>
                <a:spcPts val="0"/>
              </a:spcBef>
              <a:buFont typeface="Wingdings" pitchFamily="2" charset="2"/>
              <a:buChar char="ü"/>
            </a:pPr>
            <a:r>
              <a:rPr lang="en-IN" dirty="0" smtClean="0"/>
              <a:t>Short lifetime would generate frequent traffic overhead.</a:t>
            </a:r>
          </a:p>
          <a:p>
            <a:pPr algn="just">
              <a:lnSpc>
                <a:spcPct val="120000"/>
              </a:lnSpc>
              <a:spcBef>
                <a:spcPts val="0"/>
              </a:spcBef>
              <a:buFont typeface="Wingdings" pitchFamily="2" charset="2"/>
              <a:buChar char="ü"/>
            </a:pPr>
            <a:r>
              <a:rPr lang="en-IN" dirty="0" smtClean="0"/>
              <a:t>Longer lifetime would lead to grater chances of replay (if an opponent could gain access to client’s credentials).</a:t>
            </a:r>
          </a:p>
          <a:p>
            <a:pPr algn="just">
              <a:lnSpc>
                <a:spcPct val="120000"/>
              </a:lnSpc>
              <a:spcBef>
                <a:spcPts val="0"/>
              </a:spcBef>
              <a:buFont typeface="Wingdings" pitchFamily="2" charset="2"/>
              <a:buChar char="ü"/>
            </a:pPr>
            <a:r>
              <a:rPr lang="en-IN" dirty="0" smtClean="0"/>
              <a:t>Servers are not authenticating themselves to the client. Masquerading could happen from the server side.</a:t>
            </a:r>
            <a:endParaRPr lang="en-IN" dirty="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Observations!</a:t>
            </a:r>
          </a:p>
          <a:p>
            <a:pPr>
              <a:spcBef>
                <a:spcPct val="0"/>
              </a:spcBef>
            </a:pPr>
            <a:r>
              <a:rPr lang="en-IN" sz="3200" dirty="0">
                <a:latin typeface="+mj-lt"/>
                <a:ea typeface="+mj-ea"/>
                <a:cs typeface="+mj-cs"/>
              </a:rPr>
              <a:t>For More Secure Seeding Thoughts</a:t>
            </a:r>
          </a:p>
        </p:txBody>
      </p:sp>
    </p:spTree>
    <p:extLst>
      <p:ext uri="{BB962C8B-B14F-4D97-AF65-F5344CB8AC3E}">
        <p14:creationId xmlns="" xmlns:p14="http://schemas.microsoft.com/office/powerpoint/2010/main" val="148356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Kerberos Version-4</a:t>
            </a:r>
          </a:p>
          <a:p>
            <a:pPr>
              <a:spcBef>
                <a:spcPct val="0"/>
              </a:spcBef>
            </a:pPr>
            <a:r>
              <a:rPr lang="en-IN" sz="3200" dirty="0">
                <a:latin typeface="+mj-lt"/>
                <a:ea typeface="+mj-ea"/>
                <a:cs typeface="+mj-cs"/>
              </a:rPr>
              <a:t>Authentication Dialogue</a:t>
            </a:r>
          </a:p>
        </p:txBody>
      </p:sp>
      <p:grpSp>
        <p:nvGrpSpPr>
          <p:cNvPr id="2" name="Group 4"/>
          <p:cNvGrpSpPr/>
          <p:nvPr/>
        </p:nvGrpSpPr>
        <p:grpSpPr>
          <a:xfrm>
            <a:off x="4427984" y="1691516"/>
            <a:ext cx="4536504" cy="3393668"/>
            <a:chOff x="4103365" y="755412"/>
            <a:chExt cx="4536504" cy="3393668"/>
          </a:xfrm>
        </p:grpSpPr>
        <p:grpSp>
          <p:nvGrpSpPr>
            <p:cNvPr id="5" name="Group 4"/>
            <p:cNvGrpSpPr/>
            <p:nvPr/>
          </p:nvGrpSpPr>
          <p:grpSpPr>
            <a:xfrm>
              <a:off x="4103365" y="755412"/>
              <a:ext cx="4536504" cy="3393668"/>
              <a:chOff x="4103365" y="755412"/>
              <a:chExt cx="4536504" cy="3393668"/>
            </a:xfrm>
          </p:grpSpPr>
          <p:grpSp>
            <p:nvGrpSpPr>
              <p:cNvPr id="6" name="Group 32"/>
              <p:cNvGrpSpPr/>
              <p:nvPr/>
            </p:nvGrpSpPr>
            <p:grpSpPr>
              <a:xfrm>
                <a:off x="4103365" y="755412"/>
                <a:ext cx="1224136" cy="1017404"/>
                <a:chOff x="4103365" y="755412"/>
                <a:chExt cx="1224136" cy="1017404"/>
              </a:xfrm>
            </p:grpSpPr>
            <p:pic>
              <p:nvPicPr>
                <p:cNvPr id="15" name="Picture 2" descr="http://cliparts.co/cliparts/6ir/op7/6irop7RrT.jpg"/>
                <p:cNvPicPr>
                  <a:picLocks noChangeAspect="1" noChangeArrowheads="1"/>
                </p:cNvPicPr>
                <p:nvPr/>
              </p:nvPicPr>
              <p:blipFill>
                <a:blip r:embed="rId2" cstate="print"/>
                <a:srcRect/>
                <a:stretch>
                  <a:fillRect/>
                </a:stretch>
              </p:blipFill>
              <p:spPr bwMode="auto">
                <a:xfrm>
                  <a:off x="4103365" y="1137451"/>
                  <a:ext cx="720080" cy="635365"/>
                </a:xfrm>
                <a:prstGeom prst="rect">
                  <a:avLst/>
                </a:prstGeom>
                <a:noFill/>
              </p:spPr>
            </p:pic>
            <p:pic>
              <p:nvPicPr>
                <p:cNvPr id="16" name="Picture 16" descr="http://www.clipartbest.com/cliparts/acq/z4k/acqz4kBxi.jpeg"/>
                <p:cNvPicPr>
                  <a:picLocks noChangeAspect="1" noChangeArrowheads="1"/>
                </p:cNvPicPr>
                <p:nvPr/>
              </p:nvPicPr>
              <p:blipFill>
                <a:blip r:embed="rId3" cstate="print"/>
                <a:srcRect/>
                <a:stretch>
                  <a:fillRect/>
                </a:stretch>
              </p:blipFill>
              <p:spPr bwMode="auto">
                <a:xfrm>
                  <a:off x="4811230" y="1209459"/>
                  <a:ext cx="516271" cy="490084"/>
                </a:xfrm>
                <a:prstGeom prst="rect">
                  <a:avLst/>
                </a:prstGeom>
                <a:noFill/>
              </p:spPr>
            </p:pic>
            <p:sp>
              <p:nvSpPr>
                <p:cNvPr id="17" name="TextBox 16"/>
                <p:cNvSpPr txBox="1"/>
                <p:nvPr/>
              </p:nvSpPr>
              <p:spPr>
                <a:xfrm>
                  <a:off x="4103365" y="755412"/>
                  <a:ext cx="1080120" cy="369332"/>
                </a:xfrm>
                <a:prstGeom prst="rect">
                  <a:avLst/>
                </a:prstGeom>
                <a:noFill/>
              </p:spPr>
              <p:txBody>
                <a:bodyPr wrap="square" rtlCol="0">
                  <a:spAutoFit/>
                </a:bodyPr>
                <a:lstStyle/>
                <a:p>
                  <a:pPr algn="ctr"/>
                  <a:r>
                    <a:rPr lang="en-IN" b="1" dirty="0" smtClean="0"/>
                    <a:t>Client(C)</a:t>
                  </a:r>
                  <a:endParaRPr lang="en-IN" b="1" dirty="0"/>
                </a:p>
              </p:txBody>
            </p:sp>
          </p:grpSp>
          <p:sp>
            <p:nvSpPr>
              <p:cNvPr id="10" name="TextBox 9"/>
              <p:cNvSpPr txBox="1"/>
              <p:nvPr/>
            </p:nvSpPr>
            <p:spPr>
              <a:xfrm>
                <a:off x="7487741" y="755412"/>
                <a:ext cx="1152128" cy="369332"/>
              </a:xfrm>
              <a:prstGeom prst="rect">
                <a:avLst/>
              </a:prstGeom>
              <a:noFill/>
            </p:spPr>
            <p:txBody>
              <a:bodyPr wrap="square" rtlCol="0">
                <a:spAutoFit/>
              </a:bodyPr>
              <a:lstStyle/>
              <a:p>
                <a:pPr algn="ctr"/>
                <a:r>
                  <a:rPr lang="en-IN" b="1" dirty="0" smtClean="0"/>
                  <a:t>Server (V)</a:t>
                </a:r>
                <a:endParaRPr lang="en-IN" b="1" dirty="0"/>
              </a:p>
            </p:txBody>
          </p:sp>
          <p:cxnSp>
            <p:nvCxnSpPr>
              <p:cNvPr id="11" name="Straight Connector 10"/>
              <p:cNvCxnSpPr/>
              <p:nvPr/>
            </p:nvCxnSpPr>
            <p:spPr>
              <a:xfrm>
                <a:off x="4607421"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135813" y="1772816"/>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047581"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831557" y="755412"/>
                <a:ext cx="576064" cy="369332"/>
              </a:xfrm>
              <a:prstGeom prst="rect">
                <a:avLst/>
              </a:prstGeom>
              <a:noFill/>
            </p:spPr>
            <p:txBody>
              <a:bodyPr wrap="square" rtlCol="0">
                <a:spAutoFit/>
              </a:bodyPr>
              <a:lstStyle/>
              <a:p>
                <a:r>
                  <a:rPr lang="en-IN" b="1" dirty="0" smtClean="0"/>
                  <a:t>AS</a:t>
                </a:r>
                <a:endParaRPr lang="en-IN" b="1" dirty="0"/>
              </a:p>
            </p:txBody>
          </p:sp>
        </p:grpSp>
        <p:pic>
          <p:nvPicPr>
            <p:cNvPr id="7" name="Picture 2" descr="https://www.iconexperience.com/_img/v_collection_png/512x512/shadow/server.png"/>
            <p:cNvPicPr>
              <a:picLocks noChangeAspect="1" noChangeArrowheads="1"/>
            </p:cNvPicPr>
            <p:nvPr/>
          </p:nvPicPr>
          <p:blipFill>
            <a:blip r:embed="rId4" cstate="print"/>
            <a:srcRect/>
            <a:stretch>
              <a:fillRect/>
            </a:stretch>
          </p:blipFill>
          <p:spPr bwMode="auto">
            <a:xfrm>
              <a:off x="5687541" y="1124744"/>
              <a:ext cx="646981" cy="646981"/>
            </a:xfrm>
            <a:prstGeom prst="rect">
              <a:avLst/>
            </a:prstGeom>
            <a:noFill/>
          </p:spPr>
        </p:pic>
        <p:pic>
          <p:nvPicPr>
            <p:cNvPr id="8" name="Picture 4" descr="http://findicons.com/files/icons/977/rrze/720/server_multiple.png"/>
            <p:cNvPicPr>
              <a:picLocks noChangeAspect="1" noChangeArrowheads="1"/>
            </p:cNvPicPr>
            <p:nvPr/>
          </p:nvPicPr>
          <p:blipFill>
            <a:blip r:embed="rId5" cstate="print"/>
            <a:srcRect/>
            <a:stretch>
              <a:fillRect/>
            </a:stretch>
          </p:blipFill>
          <p:spPr bwMode="auto">
            <a:xfrm>
              <a:off x="7703765" y="1089323"/>
              <a:ext cx="755501" cy="755501"/>
            </a:xfrm>
            <a:prstGeom prst="rect">
              <a:avLst/>
            </a:prstGeom>
            <a:noFill/>
          </p:spPr>
        </p:pic>
      </p:grpSp>
      <p:pic>
        <p:nvPicPr>
          <p:cNvPr id="18" name="Picture 2" descr="http://www.opensecurityarchitecture.org/cms/images/OSA_images/icon_library/osa_server_application.png"/>
          <p:cNvPicPr>
            <a:picLocks noChangeAspect="1" noChangeArrowheads="1"/>
          </p:cNvPicPr>
          <p:nvPr/>
        </p:nvPicPr>
        <p:blipFill>
          <a:blip r:embed="rId6" cstate="print"/>
          <a:srcRect/>
          <a:stretch>
            <a:fillRect/>
          </a:stretch>
        </p:blipFill>
        <p:spPr bwMode="auto">
          <a:xfrm>
            <a:off x="6948264" y="2065783"/>
            <a:ext cx="643136" cy="643137"/>
          </a:xfrm>
          <a:prstGeom prst="rect">
            <a:avLst/>
          </a:prstGeom>
          <a:noFill/>
        </p:spPr>
      </p:pic>
      <p:sp>
        <p:nvSpPr>
          <p:cNvPr id="19" name="TextBox 18"/>
          <p:cNvSpPr txBox="1"/>
          <p:nvPr/>
        </p:nvSpPr>
        <p:spPr>
          <a:xfrm>
            <a:off x="7092280" y="1700808"/>
            <a:ext cx="576064" cy="369332"/>
          </a:xfrm>
          <a:prstGeom prst="rect">
            <a:avLst/>
          </a:prstGeom>
          <a:noFill/>
        </p:spPr>
        <p:txBody>
          <a:bodyPr wrap="square" rtlCol="0">
            <a:spAutoFit/>
          </a:bodyPr>
          <a:lstStyle/>
          <a:p>
            <a:r>
              <a:rPr lang="en-IN" b="1" dirty="0" smtClean="0"/>
              <a:t>TGS</a:t>
            </a:r>
            <a:endParaRPr lang="en-IN" b="1" dirty="0"/>
          </a:p>
        </p:txBody>
      </p:sp>
      <p:cxnSp>
        <p:nvCxnSpPr>
          <p:cNvPr id="20" name="Straight Connector 19"/>
          <p:cNvCxnSpPr/>
          <p:nvPr/>
        </p:nvCxnSpPr>
        <p:spPr>
          <a:xfrm>
            <a:off x="7380312" y="2636912"/>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20"/>
          <p:cNvGrpSpPr/>
          <p:nvPr/>
        </p:nvGrpSpPr>
        <p:grpSpPr>
          <a:xfrm>
            <a:off x="4860032" y="2924944"/>
            <a:ext cx="1584176" cy="432048"/>
            <a:chOff x="4532839" y="1988840"/>
            <a:chExt cx="1584176" cy="432048"/>
          </a:xfrm>
        </p:grpSpPr>
        <p:cxnSp>
          <p:nvCxnSpPr>
            <p:cNvPr id="22" name="Straight Arrow Connector 21"/>
            <p:cNvCxnSpPr/>
            <p:nvPr/>
          </p:nvCxnSpPr>
          <p:spPr>
            <a:xfrm>
              <a:off x="4604847" y="2420888"/>
              <a:ext cx="144016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4532839" y="1988840"/>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0000"/>
                  </a:solidFill>
                </a:rPr>
                <a:t>ID</a:t>
              </a:r>
              <a:r>
                <a:rPr lang="en-IN" sz="1400" b="1" baseline="-25000" dirty="0" smtClean="0">
                  <a:solidFill>
                    <a:srgbClr val="FF0000"/>
                  </a:solidFill>
                </a:rPr>
                <a:t>C</a:t>
              </a:r>
              <a:r>
                <a:rPr lang="en-IN" sz="1400" b="1" dirty="0" smtClean="0">
                  <a:solidFill>
                    <a:srgbClr val="FF0000"/>
                  </a:solidFill>
                </a:rPr>
                <a:t> || ID</a:t>
              </a:r>
              <a:r>
                <a:rPr lang="en-IN" sz="1400" b="1" baseline="-25000" dirty="0" smtClean="0">
                  <a:solidFill>
                    <a:srgbClr val="FF0000"/>
                  </a:solidFill>
                </a:rPr>
                <a:t>TGS</a:t>
              </a:r>
              <a:r>
                <a:rPr lang="en-IN" sz="1400" b="1" dirty="0" smtClean="0">
                  <a:solidFill>
                    <a:srgbClr val="FF0000"/>
                  </a:solidFill>
                </a:rPr>
                <a:t> || TS</a:t>
              </a:r>
              <a:r>
                <a:rPr lang="en-IN" sz="1400" b="1" baseline="-25000" dirty="0" smtClean="0">
                  <a:solidFill>
                    <a:srgbClr val="FF0000"/>
                  </a:solidFill>
                </a:rPr>
                <a:t>1</a:t>
              </a:r>
              <a:endParaRPr lang="en-IN" sz="1400" b="1" baseline="-25000" dirty="0">
                <a:solidFill>
                  <a:srgbClr val="FF0000"/>
                </a:solidFill>
              </a:endParaRPr>
            </a:p>
          </p:txBody>
        </p:sp>
      </p:grpSp>
      <p:grpSp>
        <p:nvGrpSpPr>
          <p:cNvPr id="21" name="Group 23"/>
          <p:cNvGrpSpPr/>
          <p:nvPr/>
        </p:nvGrpSpPr>
        <p:grpSpPr>
          <a:xfrm>
            <a:off x="4788024" y="3645024"/>
            <a:ext cx="4248472" cy="432048"/>
            <a:chOff x="4460831" y="1988840"/>
            <a:chExt cx="4248472" cy="432048"/>
          </a:xfrm>
        </p:grpSpPr>
        <p:cxnSp>
          <p:nvCxnSpPr>
            <p:cNvPr id="25" name="Straight Arrow Connector 24"/>
            <p:cNvCxnSpPr/>
            <p:nvPr/>
          </p:nvCxnSpPr>
          <p:spPr>
            <a:xfrm>
              <a:off x="4604847" y="2420888"/>
              <a:ext cx="1440160" cy="0"/>
            </a:xfrm>
            <a:prstGeom prst="straightConnector1">
              <a:avLst/>
            </a:prstGeom>
            <a:ln w="254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460831" y="1988840"/>
              <a:ext cx="4248472"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00B0F0"/>
                  </a:solidFill>
                </a:rPr>
                <a:t>E(K</a:t>
              </a:r>
              <a:r>
                <a:rPr lang="en-IN" sz="1400" b="1" baseline="-25000" dirty="0" smtClean="0">
                  <a:solidFill>
                    <a:srgbClr val="00B0F0"/>
                  </a:solidFill>
                </a:rPr>
                <a:t>C</a:t>
              </a:r>
              <a:r>
                <a:rPr lang="en-IN" sz="1400" b="1" dirty="0" smtClean="0">
                  <a:solidFill>
                    <a:srgbClr val="00B0F0"/>
                  </a:solidFill>
                </a:rPr>
                <a:t>, [K</a:t>
              </a:r>
              <a:r>
                <a:rPr lang="en-IN" sz="1400" b="1" baseline="-25000" dirty="0" smtClean="0">
                  <a:solidFill>
                    <a:srgbClr val="00B0F0"/>
                  </a:solidFill>
                </a:rPr>
                <a:t>C,TGS</a:t>
              </a:r>
              <a:r>
                <a:rPr lang="en-IN" sz="1400" b="1" dirty="0" smtClean="0">
                  <a:solidFill>
                    <a:srgbClr val="00B0F0"/>
                  </a:solidFill>
                </a:rPr>
                <a:t> || ID</a:t>
              </a:r>
              <a:r>
                <a:rPr lang="en-IN" sz="1400" b="1" baseline="-25000" dirty="0" smtClean="0">
                  <a:solidFill>
                    <a:srgbClr val="00B0F0"/>
                  </a:solidFill>
                </a:rPr>
                <a:t>TGS</a:t>
              </a:r>
              <a:r>
                <a:rPr lang="en-IN" sz="1400" b="1" dirty="0" smtClean="0">
                  <a:solidFill>
                    <a:srgbClr val="00B0F0"/>
                  </a:solidFill>
                </a:rPr>
                <a:t> || TS</a:t>
              </a:r>
              <a:r>
                <a:rPr lang="en-IN" sz="1400" b="1" baseline="-25000" dirty="0" smtClean="0">
                  <a:solidFill>
                    <a:srgbClr val="00B0F0"/>
                  </a:solidFill>
                </a:rPr>
                <a:t>2</a:t>
              </a:r>
              <a:r>
                <a:rPr lang="en-IN" sz="1400" b="1" dirty="0" smtClean="0">
                  <a:solidFill>
                    <a:srgbClr val="00B0F0"/>
                  </a:solidFill>
                </a:rPr>
                <a:t> ||  Lifetime</a:t>
              </a:r>
              <a:r>
                <a:rPr lang="en-IN" sz="1400" b="1" baseline="-25000" dirty="0" smtClean="0">
                  <a:solidFill>
                    <a:srgbClr val="00B0F0"/>
                  </a:solidFill>
                </a:rPr>
                <a:t>2</a:t>
              </a:r>
              <a:r>
                <a:rPr lang="en-IN" sz="1400" b="1" dirty="0" smtClean="0">
                  <a:solidFill>
                    <a:srgbClr val="00B0F0"/>
                  </a:solidFill>
                </a:rPr>
                <a:t> || </a:t>
              </a:r>
              <a:r>
                <a:rPr lang="en-IN" sz="1400" b="1" dirty="0" err="1" smtClean="0">
                  <a:solidFill>
                    <a:srgbClr val="00B0F0"/>
                  </a:solidFill>
                </a:rPr>
                <a:t>Ticket</a:t>
              </a:r>
              <a:r>
                <a:rPr lang="en-IN" sz="1400" b="1" baseline="-25000" dirty="0" err="1" smtClean="0">
                  <a:solidFill>
                    <a:srgbClr val="00B0F0"/>
                  </a:solidFill>
                </a:rPr>
                <a:t>TGS</a:t>
              </a:r>
              <a:r>
                <a:rPr lang="en-IN" sz="1400" b="1" dirty="0" smtClean="0">
                  <a:solidFill>
                    <a:srgbClr val="00B0F0"/>
                  </a:solidFill>
                </a:rPr>
                <a:t>])</a:t>
              </a:r>
            </a:p>
          </p:txBody>
        </p:sp>
      </p:grpSp>
      <p:sp>
        <p:nvSpPr>
          <p:cNvPr id="36" name="Rectangle 35"/>
          <p:cNvSpPr/>
          <p:nvPr/>
        </p:nvSpPr>
        <p:spPr>
          <a:xfrm>
            <a:off x="5940152" y="1700808"/>
            <a:ext cx="1728192" cy="1080120"/>
          </a:xfrm>
          <a:prstGeom prst="rect">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7" name="TextBox 36"/>
          <p:cNvSpPr txBox="1"/>
          <p:nvPr/>
        </p:nvSpPr>
        <p:spPr>
          <a:xfrm>
            <a:off x="6228184" y="1340768"/>
            <a:ext cx="1152128" cy="369332"/>
          </a:xfrm>
          <a:prstGeom prst="rect">
            <a:avLst/>
          </a:prstGeom>
          <a:noFill/>
        </p:spPr>
        <p:txBody>
          <a:bodyPr wrap="square" rtlCol="0">
            <a:spAutoFit/>
          </a:bodyPr>
          <a:lstStyle/>
          <a:p>
            <a:pPr algn="ctr"/>
            <a:r>
              <a:rPr lang="en-IN" b="1" dirty="0" smtClean="0"/>
              <a:t>Kerberos</a:t>
            </a:r>
            <a:endParaRPr lang="en-IN" b="1" dirty="0"/>
          </a:p>
        </p:txBody>
      </p:sp>
      <p:sp>
        <p:nvSpPr>
          <p:cNvPr id="38" name="TextBox 37"/>
          <p:cNvSpPr txBox="1"/>
          <p:nvPr/>
        </p:nvSpPr>
        <p:spPr>
          <a:xfrm>
            <a:off x="35496" y="1404065"/>
            <a:ext cx="4320480" cy="4278094"/>
          </a:xfrm>
          <a:prstGeom prst="rect">
            <a:avLst/>
          </a:prstGeom>
          <a:noFill/>
        </p:spPr>
        <p:txBody>
          <a:bodyPr wrap="square" rtlCol="0">
            <a:spAutoFit/>
          </a:bodyPr>
          <a:lstStyle/>
          <a:p>
            <a:pPr marL="342900" indent="-342900" algn="just">
              <a:buClr>
                <a:srgbClr val="101141"/>
              </a:buClr>
              <a:buFont typeface="Wingdings" pitchFamily="2" charset="2"/>
              <a:buChar char="q"/>
            </a:pPr>
            <a:r>
              <a:rPr lang="en-IN" sz="1600" dirty="0" smtClean="0">
                <a:cs typeface="Arial" pitchFamily="34" charset="0"/>
              </a:rPr>
              <a:t>The client (C) requests a ticket from AS providing its ID</a:t>
            </a:r>
            <a:r>
              <a:rPr lang="en-IN" sz="1600" baseline="-25000" dirty="0" smtClean="0">
                <a:cs typeface="Arial" pitchFamily="34" charset="0"/>
              </a:rPr>
              <a:t>C</a:t>
            </a:r>
            <a:r>
              <a:rPr lang="en-IN" sz="1600" dirty="0" smtClean="0">
                <a:cs typeface="Arial" pitchFamily="34" charset="0"/>
              </a:rPr>
              <a:t>, Ticket Granting Server (TGS) id (ID</a:t>
            </a:r>
            <a:r>
              <a:rPr lang="en-IN" sz="1600" baseline="-25000" dirty="0" smtClean="0">
                <a:cs typeface="Arial" pitchFamily="34" charset="0"/>
              </a:rPr>
              <a:t>TGS</a:t>
            </a:r>
            <a:r>
              <a:rPr lang="en-IN" sz="1600" dirty="0" smtClean="0">
                <a:cs typeface="Arial" pitchFamily="34" charset="0"/>
              </a:rPr>
              <a:t>) and Timestamp (TS</a:t>
            </a:r>
            <a:r>
              <a:rPr lang="en-IN" sz="1600" baseline="-25000" dirty="0" smtClean="0">
                <a:cs typeface="Arial" pitchFamily="34" charset="0"/>
              </a:rPr>
              <a:t>1</a:t>
            </a:r>
            <a:r>
              <a:rPr lang="en-IN" sz="1600" dirty="0" smtClean="0">
                <a:cs typeface="Arial" pitchFamily="34" charset="0"/>
              </a:rPr>
              <a:t>).</a:t>
            </a:r>
          </a:p>
          <a:p>
            <a:pPr marL="342900" indent="-342900" algn="just">
              <a:buClr>
                <a:srgbClr val="101141"/>
              </a:buClr>
              <a:buFont typeface="Wingdings" pitchFamily="2" charset="2"/>
              <a:buChar char="q"/>
            </a:pPr>
            <a:r>
              <a:rPr lang="en-IN" sz="1600" dirty="0" smtClean="0"/>
              <a:t>The AS responds with a message, encrypted with a key derived from the user’s password (K</a:t>
            </a:r>
            <a:r>
              <a:rPr lang="en-IN" sz="1600" baseline="-25000" dirty="0" smtClean="0"/>
              <a:t>C</a:t>
            </a:r>
            <a:r>
              <a:rPr lang="en-IN" sz="1600" dirty="0" smtClean="0"/>
              <a:t>), that contains the ticket.</a:t>
            </a:r>
          </a:p>
          <a:p>
            <a:pPr marL="342900" indent="-342900" algn="just">
              <a:buClr>
                <a:srgbClr val="101141"/>
              </a:buClr>
              <a:buFont typeface="Wingdings" pitchFamily="2" charset="2"/>
              <a:buChar char="q"/>
            </a:pPr>
            <a:r>
              <a:rPr lang="en-IN" sz="1600" dirty="0" smtClean="0"/>
              <a:t>The encrypted message also contains a copy of the session key, K</a:t>
            </a:r>
            <a:r>
              <a:rPr lang="en-IN" sz="1600" baseline="-25000" dirty="0" smtClean="0"/>
              <a:t>C,TGS</a:t>
            </a:r>
            <a:r>
              <a:rPr lang="en-IN" sz="1600" dirty="0" smtClean="0"/>
              <a:t>. This is a session key for C and TGS.</a:t>
            </a:r>
          </a:p>
          <a:p>
            <a:pPr marL="342900" indent="-342900" algn="just">
              <a:buClr>
                <a:srgbClr val="101141"/>
              </a:buClr>
              <a:buFont typeface="Wingdings" pitchFamily="2" charset="2"/>
              <a:buChar char="q"/>
            </a:pPr>
            <a:r>
              <a:rPr lang="en-IN" sz="1600" dirty="0" smtClean="0"/>
              <a:t>Client can decrypt the message generating the key K</a:t>
            </a:r>
            <a:r>
              <a:rPr lang="en-IN" sz="1600" baseline="-25000" dirty="0" smtClean="0"/>
              <a:t>C</a:t>
            </a:r>
            <a:r>
              <a:rPr lang="en-IN" sz="1600" dirty="0" smtClean="0"/>
              <a:t> with client password.</a:t>
            </a:r>
          </a:p>
          <a:p>
            <a:pPr marL="342900" indent="-342900" algn="just">
              <a:buClr>
                <a:srgbClr val="101141"/>
              </a:buClr>
              <a:buFont typeface="Wingdings" pitchFamily="2" charset="2"/>
              <a:buChar char="q"/>
            </a:pPr>
            <a:r>
              <a:rPr lang="en-IN" sz="1600" dirty="0" smtClean="0">
                <a:cs typeface="Arial" pitchFamily="34" charset="0"/>
              </a:rPr>
              <a:t>Only client can read this session key with TGS because the message is encrypted with K</a:t>
            </a:r>
            <a:r>
              <a:rPr lang="en-IN" sz="1600" baseline="-25000" dirty="0" smtClean="0">
                <a:cs typeface="Arial" pitchFamily="34" charset="0"/>
              </a:rPr>
              <a:t>C</a:t>
            </a:r>
            <a:r>
              <a:rPr lang="en-IN" sz="1600" dirty="0" smtClean="0">
                <a:cs typeface="Arial" pitchFamily="34" charset="0"/>
              </a:rPr>
              <a:t>.</a:t>
            </a:r>
          </a:p>
          <a:p>
            <a:pPr marL="342900" indent="-342900" algn="just">
              <a:buClr>
                <a:srgbClr val="101141"/>
              </a:buClr>
              <a:buFont typeface="Wingdings" pitchFamily="2" charset="2"/>
              <a:buChar char="q"/>
            </a:pPr>
            <a:r>
              <a:rPr lang="en-IN" sz="1600" dirty="0" smtClean="0"/>
              <a:t>The same session key is included in the ticket, which can be read only by the TGS because ticket is encrypted with K</a:t>
            </a:r>
            <a:r>
              <a:rPr lang="en-IN" sz="1600" baseline="-25000" dirty="0" smtClean="0"/>
              <a:t>TGS</a:t>
            </a:r>
            <a:r>
              <a:rPr lang="en-IN" sz="1600" dirty="0" smtClean="0"/>
              <a:t>, a key shared between AS and TGS.</a:t>
            </a:r>
          </a:p>
        </p:txBody>
      </p:sp>
      <p:sp>
        <p:nvSpPr>
          <p:cNvPr id="42" name="Rectangle 41"/>
          <p:cNvSpPr/>
          <p:nvPr/>
        </p:nvSpPr>
        <p:spPr>
          <a:xfrm>
            <a:off x="395536" y="6145559"/>
            <a:ext cx="5112568" cy="307777"/>
          </a:xfrm>
          <a:prstGeom prst="rect">
            <a:avLst/>
          </a:prstGeom>
          <a:ln>
            <a:solidFill>
              <a:schemeClr val="tx1"/>
            </a:solidFill>
            <a:prstDash val="sysDash"/>
          </a:ln>
        </p:spPr>
        <p:txBody>
          <a:bodyPr wrap="square">
            <a:spAutoFit/>
          </a:bodyPr>
          <a:lstStyle/>
          <a:p>
            <a:pPr marL="342900" indent="-342900" algn="just">
              <a:buClr>
                <a:srgbClr val="101141"/>
              </a:buClr>
            </a:pPr>
            <a:r>
              <a:rPr lang="en-IN" sz="1400" b="1" i="1" dirty="0" err="1" smtClean="0">
                <a:cs typeface="Arial" pitchFamily="34" charset="0"/>
              </a:rPr>
              <a:t>Ticket</a:t>
            </a:r>
            <a:r>
              <a:rPr lang="en-IN" sz="1400" b="1" i="1" baseline="-25000" dirty="0" err="1" smtClean="0">
                <a:cs typeface="Arial" pitchFamily="34" charset="0"/>
              </a:rPr>
              <a:t>TGS</a:t>
            </a:r>
            <a:r>
              <a:rPr lang="en-IN" sz="1400" b="1" i="1" dirty="0" smtClean="0">
                <a:cs typeface="Arial" pitchFamily="34" charset="0"/>
              </a:rPr>
              <a:t> = E (K</a:t>
            </a:r>
            <a:r>
              <a:rPr lang="en-IN" sz="1400" b="1" i="1" baseline="-25000" dirty="0" smtClean="0">
                <a:cs typeface="Arial" pitchFamily="34" charset="0"/>
              </a:rPr>
              <a:t>TGS</a:t>
            </a:r>
            <a:r>
              <a:rPr lang="en-IN" sz="1400" b="1" i="1" dirty="0" smtClean="0">
                <a:cs typeface="Arial" pitchFamily="34" charset="0"/>
              </a:rPr>
              <a:t> ,[K</a:t>
            </a:r>
            <a:r>
              <a:rPr lang="en-IN" sz="1400" b="1" i="1" baseline="-25000" dirty="0" smtClean="0">
                <a:cs typeface="Arial" pitchFamily="34" charset="0"/>
              </a:rPr>
              <a:t>C, TGS</a:t>
            </a:r>
            <a:r>
              <a:rPr lang="en-IN" sz="1400" b="1" i="1" dirty="0" smtClean="0">
                <a:cs typeface="Arial" pitchFamily="34" charset="0"/>
              </a:rPr>
              <a:t> ||ID</a:t>
            </a:r>
            <a:r>
              <a:rPr lang="en-IN" sz="1400" b="1" i="1" baseline="-25000" dirty="0" smtClean="0">
                <a:cs typeface="Arial" pitchFamily="34" charset="0"/>
              </a:rPr>
              <a:t>C</a:t>
            </a:r>
            <a:r>
              <a:rPr lang="en-IN" sz="1400" b="1" i="1" dirty="0" smtClean="0">
                <a:cs typeface="Arial" pitchFamily="34" charset="0"/>
              </a:rPr>
              <a:t> || AD</a:t>
            </a:r>
            <a:r>
              <a:rPr lang="en-IN" sz="1400" b="1" i="1" baseline="-25000" dirty="0" smtClean="0">
                <a:cs typeface="Arial" pitchFamily="34" charset="0"/>
              </a:rPr>
              <a:t>C</a:t>
            </a:r>
            <a:r>
              <a:rPr lang="en-IN" sz="1400" b="1" i="1" dirty="0" smtClean="0">
                <a:cs typeface="Arial" pitchFamily="34" charset="0"/>
              </a:rPr>
              <a:t> || ID</a:t>
            </a:r>
            <a:r>
              <a:rPr lang="en-IN" sz="1400" b="1" i="1" baseline="-25000" dirty="0" smtClean="0">
                <a:cs typeface="Arial" pitchFamily="34" charset="0"/>
              </a:rPr>
              <a:t>TGS</a:t>
            </a:r>
            <a:r>
              <a:rPr lang="en-IN" sz="1400" b="1" i="1" dirty="0" smtClean="0">
                <a:cs typeface="Arial" pitchFamily="34" charset="0"/>
              </a:rPr>
              <a:t> || TS</a:t>
            </a:r>
            <a:r>
              <a:rPr lang="en-IN" sz="1400" b="1" i="1" baseline="-25000" dirty="0" smtClean="0">
                <a:cs typeface="Arial" pitchFamily="34" charset="0"/>
              </a:rPr>
              <a:t>2</a:t>
            </a:r>
            <a:r>
              <a:rPr lang="en-IN" sz="1400" b="1" i="1" dirty="0" smtClean="0">
                <a:cs typeface="Arial" pitchFamily="34" charset="0"/>
              </a:rPr>
              <a:t> || Lifetime</a:t>
            </a:r>
            <a:r>
              <a:rPr lang="en-IN" sz="1400" b="1" i="1" baseline="-25000" dirty="0" smtClean="0">
                <a:cs typeface="Arial" pitchFamily="34" charset="0"/>
              </a:rPr>
              <a:t>2</a:t>
            </a:r>
            <a:r>
              <a:rPr lang="en-IN" sz="1400" b="1" i="1" dirty="0" smtClean="0">
                <a:cs typeface="Arial" pitchFamily="34" charset="0"/>
              </a:rPr>
              <a:t>])</a:t>
            </a:r>
          </a:p>
        </p:txBody>
      </p:sp>
      <p:sp>
        <p:nvSpPr>
          <p:cNvPr id="44" name="Rectangle 43"/>
          <p:cNvSpPr/>
          <p:nvPr/>
        </p:nvSpPr>
        <p:spPr>
          <a:xfrm>
            <a:off x="4464496" y="5229200"/>
            <a:ext cx="4572000" cy="779314"/>
          </a:xfrm>
          <a:prstGeom prst="rect">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indent="-342900" algn="ctr">
              <a:buClr>
                <a:srgbClr val="101141"/>
              </a:buClr>
            </a:pPr>
            <a:r>
              <a:rPr lang="en-IN" sz="1400" b="1" i="1" dirty="0" smtClean="0">
                <a:solidFill>
                  <a:srgbClr val="C00000"/>
                </a:solidFill>
              </a:rPr>
              <a:t>End of this authentication dialogue, the session key (K</a:t>
            </a:r>
            <a:r>
              <a:rPr lang="en-IN" sz="1400" b="1" i="1" baseline="-25000" dirty="0" smtClean="0">
                <a:solidFill>
                  <a:srgbClr val="C00000"/>
                </a:solidFill>
              </a:rPr>
              <a:t>C, TGS</a:t>
            </a:r>
            <a:r>
              <a:rPr lang="en-IN" sz="1400" b="1" i="1" dirty="0" smtClean="0">
                <a:solidFill>
                  <a:srgbClr val="C00000"/>
                </a:solidFill>
              </a:rPr>
              <a:t>) is securely available to C and can also be provided to TGS through ticket.</a:t>
            </a:r>
          </a:p>
        </p:txBody>
      </p:sp>
    </p:spTree>
    <p:extLst>
      <p:ext uri="{BB962C8B-B14F-4D97-AF65-F5344CB8AC3E}">
        <p14:creationId xmlns="" xmlns:p14="http://schemas.microsoft.com/office/powerpoint/2010/main" val="287493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Kerberos Version-4</a:t>
            </a:r>
          </a:p>
          <a:p>
            <a:pPr>
              <a:spcBef>
                <a:spcPct val="0"/>
              </a:spcBef>
            </a:pPr>
            <a:r>
              <a:rPr lang="en-IN" sz="3200" dirty="0">
                <a:latin typeface="+mj-lt"/>
                <a:ea typeface="+mj-ea"/>
                <a:cs typeface="+mj-cs"/>
              </a:rPr>
              <a:t>Service Granting Ticket</a:t>
            </a:r>
          </a:p>
        </p:txBody>
      </p:sp>
      <p:grpSp>
        <p:nvGrpSpPr>
          <p:cNvPr id="2" name="Group 4"/>
          <p:cNvGrpSpPr/>
          <p:nvPr/>
        </p:nvGrpSpPr>
        <p:grpSpPr>
          <a:xfrm>
            <a:off x="4427984" y="1691516"/>
            <a:ext cx="4536504" cy="3393668"/>
            <a:chOff x="4103365" y="755412"/>
            <a:chExt cx="4536504" cy="3393668"/>
          </a:xfrm>
        </p:grpSpPr>
        <p:grpSp>
          <p:nvGrpSpPr>
            <p:cNvPr id="5" name="Group 4"/>
            <p:cNvGrpSpPr/>
            <p:nvPr/>
          </p:nvGrpSpPr>
          <p:grpSpPr>
            <a:xfrm>
              <a:off x="4103365" y="755412"/>
              <a:ext cx="4536504" cy="3393668"/>
              <a:chOff x="4103365" y="755412"/>
              <a:chExt cx="4536504" cy="3393668"/>
            </a:xfrm>
          </p:grpSpPr>
          <p:grpSp>
            <p:nvGrpSpPr>
              <p:cNvPr id="6" name="Group 32"/>
              <p:cNvGrpSpPr/>
              <p:nvPr/>
            </p:nvGrpSpPr>
            <p:grpSpPr>
              <a:xfrm>
                <a:off x="4103365" y="755412"/>
                <a:ext cx="1224136" cy="1017404"/>
                <a:chOff x="4103365" y="755412"/>
                <a:chExt cx="1224136" cy="1017404"/>
              </a:xfrm>
            </p:grpSpPr>
            <p:pic>
              <p:nvPicPr>
                <p:cNvPr id="15" name="Picture 2" descr="http://cliparts.co/cliparts/6ir/op7/6irop7RrT.jpg"/>
                <p:cNvPicPr>
                  <a:picLocks noChangeAspect="1" noChangeArrowheads="1"/>
                </p:cNvPicPr>
                <p:nvPr/>
              </p:nvPicPr>
              <p:blipFill>
                <a:blip r:embed="rId2" cstate="print"/>
                <a:srcRect/>
                <a:stretch>
                  <a:fillRect/>
                </a:stretch>
              </p:blipFill>
              <p:spPr bwMode="auto">
                <a:xfrm>
                  <a:off x="4103365" y="1137451"/>
                  <a:ext cx="720080" cy="635365"/>
                </a:xfrm>
                <a:prstGeom prst="rect">
                  <a:avLst/>
                </a:prstGeom>
                <a:noFill/>
              </p:spPr>
            </p:pic>
            <p:pic>
              <p:nvPicPr>
                <p:cNvPr id="16" name="Picture 16" descr="http://www.clipartbest.com/cliparts/acq/z4k/acqz4kBxi.jpeg"/>
                <p:cNvPicPr>
                  <a:picLocks noChangeAspect="1" noChangeArrowheads="1"/>
                </p:cNvPicPr>
                <p:nvPr/>
              </p:nvPicPr>
              <p:blipFill>
                <a:blip r:embed="rId3" cstate="print"/>
                <a:srcRect/>
                <a:stretch>
                  <a:fillRect/>
                </a:stretch>
              </p:blipFill>
              <p:spPr bwMode="auto">
                <a:xfrm>
                  <a:off x="4811230" y="1209459"/>
                  <a:ext cx="516271" cy="490084"/>
                </a:xfrm>
                <a:prstGeom prst="rect">
                  <a:avLst/>
                </a:prstGeom>
                <a:noFill/>
              </p:spPr>
            </p:pic>
            <p:sp>
              <p:nvSpPr>
                <p:cNvPr id="17" name="TextBox 16"/>
                <p:cNvSpPr txBox="1"/>
                <p:nvPr/>
              </p:nvSpPr>
              <p:spPr>
                <a:xfrm>
                  <a:off x="4103365" y="755412"/>
                  <a:ext cx="1080120" cy="369332"/>
                </a:xfrm>
                <a:prstGeom prst="rect">
                  <a:avLst/>
                </a:prstGeom>
                <a:noFill/>
              </p:spPr>
              <p:txBody>
                <a:bodyPr wrap="square" rtlCol="0">
                  <a:spAutoFit/>
                </a:bodyPr>
                <a:lstStyle/>
                <a:p>
                  <a:pPr algn="ctr"/>
                  <a:r>
                    <a:rPr lang="en-IN" b="1" dirty="0" smtClean="0"/>
                    <a:t>Client(C)</a:t>
                  </a:r>
                  <a:endParaRPr lang="en-IN" b="1" dirty="0"/>
                </a:p>
              </p:txBody>
            </p:sp>
          </p:grpSp>
          <p:sp>
            <p:nvSpPr>
              <p:cNvPr id="10" name="TextBox 9"/>
              <p:cNvSpPr txBox="1"/>
              <p:nvPr/>
            </p:nvSpPr>
            <p:spPr>
              <a:xfrm>
                <a:off x="7487741" y="755412"/>
                <a:ext cx="1152128" cy="369332"/>
              </a:xfrm>
              <a:prstGeom prst="rect">
                <a:avLst/>
              </a:prstGeom>
              <a:noFill/>
            </p:spPr>
            <p:txBody>
              <a:bodyPr wrap="square" rtlCol="0">
                <a:spAutoFit/>
              </a:bodyPr>
              <a:lstStyle/>
              <a:p>
                <a:pPr algn="ctr"/>
                <a:r>
                  <a:rPr lang="en-IN" b="1" dirty="0" smtClean="0"/>
                  <a:t>Server (V)</a:t>
                </a:r>
                <a:endParaRPr lang="en-IN" b="1" dirty="0"/>
              </a:p>
            </p:txBody>
          </p:sp>
          <p:cxnSp>
            <p:nvCxnSpPr>
              <p:cNvPr id="11" name="Straight Connector 10"/>
              <p:cNvCxnSpPr/>
              <p:nvPr/>
            </p:nvCxnSpPr>
            <p:spPr>
              <a:xfrm>
                <a:off x="4607421"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135813" y="1772816"/>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975573"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831557" y="755412"/>
                <a:ext cx="576064" cy="369332"/>
              </a:xfrm>
              <a:prstGeom prst="rect">
                <a:avLst/>
              </a:prstGeom>
              <a:noFill/>
            </p:spPr>
            <p:txBody>
              <a:bodyPr wrap="square" rtlCol="0">
                <a:spAutoFit/>
              </a:bodyPr>
              <a:lstStyle/>
              <a:p>
                <a:r>
                  <a:rPr lang="en-IN" b="1" dirty="0" smtClean="0"/>
                  <a:t>AS</a:t>
                </a:r>
                <a:endParaRPr lang="en-IN" b="1" dirty="0"/>
              </a:p>
            </p:txBody>
          </p:sp>
        </p:grpSp>
        <p:pic>
          <p:nvPicPr>
            <p:cNvPr id="7" name="Picture 2" descr="https://www.iconexperience.com/_img/v_collection_png/512x512/shadow/server.png"/>
            <p:cNvPicPr>
              <a:picLocks noChangeAspect="1" noChangeArrowheads="1"/>
            </p:cNvPicPr>
            <p:nvPr/>
          </p:nvPicPr>
          <p:blipFill>
            <a:blip r:embed="rId4" cstate="print"/>
            <a:srcRect/>
            <a:stretch>
              <a:fillRect/>
            </a:stretch>
          </p:blipFill>
          <p:spPr bwMode="auto">
            <a:xfrm>
              <a:off x="5687541" y="1124744"/>
              <a:ext cx="646981" cy="646981"/>
            </a:xfrm>
            <a:prstGeom prst="rect">
              <a:avLst/>
            </a:prstGeom>
            <a:noFill/>
          </p:spPr>
        </p:pic>
        <p:pic>
          <p:nvPicPr>
            <p:cNvPr id="8" name="Picture 4" descr="http://findicons.com/files/icons/977/rrze/720/server_multiple.png"/>
            <p:cNvPicPr>
              <a:picLocks noChangeAspect="1" noChangeArrowheads="1"/>
            </p:cNvPicPr>
            <p:nvPr/>
          </p:nvPicPr>
          <p:blipFill>
            <a:blip r:embed="rId5" cstate="print"/>
            <a:srcRect/>
            <a:stretch>
              <a:fillRect/>
            </a:stretch>
          </p:blipFill>
          <p:spPr bwMode="auto">
            <a:xfrm>
              <a:off x="7703765" y="1089323"/>
              <a:ext cx="755501" cy="755501"/>
            </a:xfrm>
            <a:prstGeom prst="rect">
              <a:avLst/>
            </a:prstGeom>
            <a:noFill/>
          </p:spPr>
        </p:pic>
      </p:grpSp>
      <p:pic>
        <p:nvPicPr>
          <p:cNvPr id="18" name="Picture 2" descr="http://www.opensecurityarchitecture.org/cms/images/OSA_images/icon_library/osa_server_application.png"/>
          <p:cNvPicPr>
            <a:picLocks noChangeAspect="1" noChangeArrowheads="1"/>
          </p:cNvPicPr>
          <p:nvPr/>
        </p:nvPicPr>
        <p:blipFill>
          <a:blip r:embed="rId6" cstate="print"/>
          <a:srcRect/>
          <a:stretch>
            <a:fillRect/>
          </a:stretch>
        </p:blipFill>
        <p:spPr bwMode="auto">
          <a:xfrm>
            <a:off x="6948264" y="2065783"/>
            <a:ext cx="643136" cy="643137"/>
          </a:xfrm>
          <a:prstGeom prst="rect">
            <a:avLst/>
          </a:prstGeom>
          <a:noFill/>
        </p:spPr>
      </p:pic>
      <p:sp>
        <p:nvSpPr>
          <p:cNvPr id="19" name="TextBox 18"/>
          <p:cNvSpPr txBox="1"/>
          <p:nvPr/>
        </p:nvSpPr>
        <p:spPr>
          <a:xfrm>
            <a:off x="7092280" y="1700808"/>
            <a:ext cx="576064" cy="369332"/>
          </a:xfrm>
          <a:prstGeom prst="rect">
            <a:avLst/>
          </a:prstGeom>
          <a:noFill/>
        </p:spPr>
        <p:txBody>
          <a:bodyPr wrap="square" rtlCol="0">
            <a:spAutoFit/>
          </a:bodyPr>
          <a:lstStyle/>
          <a:p>
            <a:r>
              <a:rPr lang="en-IN" b="1" dirty="0" smtClean="0"/>
              <a:t>TGS</a:t>
            </a:r>
            <a:endParaRPr lang="en-IN" b="1" dirty="0"/>
          </a:p>
        </p:txBody>
      </p:sp>
      <p:cxnSp>
        <p:nvCxnSpPr>
          <p:cNvPr id="20" name="Straight Connector 19"/>
          <p:cNvCxnSpPr/>
          <p:nvPr/>
        </p:nvCxnSpPr>
        <p:spPr>
          <a:xfrm>
            <a:off x="7380312" y="2636912"/>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20"/>
          <p:cNvGrpSpPr/>
          <p:nvPr/>
        </p:nvGrpSpPr>
        <p:grpSpPr>
          <a:xfrm>
            <a:off x="4932040" y="2924944"/>
            <a:ext cx="2736304" cy="432048"/>
            <a:chOff x="4604847" y="1988840"/>
            <a:chExt cx="2736304" cy="432048"/>
          </a:xfrm>
        </p:grpSpPr>
        <p:cxnSp>
          <p:nvCxnSpPr>
            <p:cNvPr id="22" name="Straight Arrow Connector 21"/>
            <p:cNvCxnSpPr/>
            <p:nvPr/>
          </p:nvCxnSpPr>
          <p:spPr>
            <a:xfrm>
              <a:off x="4604847" y="2420888"/>
              <a:ext cx="2448272" cy="0"/>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4676855" y="1988840"/>
              <a:ext cx="266429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00B050"/>
                  </a:solidFill>
                </a:rPr>
                <a:t>ID</a:t>
              </a:r>
              <a:r>
                <a:rPr lang="en-IN" sz="1400" b="1" baseline="-25000" dirty="0" smtClean="0">
                  <a:solidFill>
                    <a:srgbClr val="00B050"/>
                  </a:solidFill>
                </a:rPr>
                <a:t>V</a:t>
              </a:r>
              <a:r>
                <a:rPr lang="en-IN" sz="1400" b="1" dirty="0" smtClean="0">
                  <a:solidFill>
                    <a:srgbClr val="00B050"/>
                  </a:solidFill>
                </a:rPr>
                <a:t> || </a:t>
              </a:r>
              <a:r>
                <a:rPr lang="en-IN" sz="1400" b="1" dirty="0" err="1" smtClean="0">
                  <a:solidFill>
                    <a:srgbClr val="00B050"/>
                  </a:solidFill>
                </a:rPr>
                <a:t>Ticket</a:t>
              </a:r>
              <a:r>
                <a:rPr lang="en-IN" sz="1400" b="1" baseline="-25000" dirty="0" err="1" smtClean="0">
                  <a:solidFill>
                    <a:srgbClr val="00B050"/>
                  </a:solidFill>
                </a:rPr>
                <a:t>TGS</a:t>
              </a:r>
              <a:r>
                <a:rPr lang="en-IN" sz="1400" b="1" dirty="0" smtClean="0">
                  <a:solidFill>
                    <a:srgbClr val="00B050"/>
                  </a:solidFill>
                </a:rPr>
                <a:t> || </a:t>
              </a:r>
              <a:r>
                <a:rPr lang="en-IN" sz="1400" b="1" dirty="0" err="1" smtClean="0">
                  <a:solidFill>
                    <a:srgbClr val="00B050"/>
                  </a:solidFill>
                </a:rPr>
                <a:t>Authenticator</a:t>
              </a:r>
              <a:r>
                <a:rPr lang="en-IN" sz="1400" b="1" baseline="-25000" dirty="0" err="1" smtClean="0">
                  <a:solidFill>
                    <a:srgbClr val="00B050"/>
                  </a:solidFill>
                </a:rPr>
                <a:t>C</a:t>
              </a:r>
              <a:endParaRPr lang="en-IN" sz="1400" b="1" baseline="-25000" dirty="0">
                <a:solidFill>
                  <a:srgbClr val="00B050"/>
                </a:solidFill>
              </a:endParaRPr>
            </a:p>
          </p:txBody>
        </p:sp>
      </p:grpSp>
      <p:grpSp>
        <p:nvGrpSpPr>
          <p:cNvPr id="21" name="Group 23"/>
          <p:cNvGrpSpPr/>
          <p:nvPr/>
        </p:nvGrpSpPr>
        <p:grpSpPr>
          <a:xfrm>
            <a:off x="4427984" y="3717032"/>
            <a:ext cx="4248472" cy="432048"/>
            <a:chOff x="4065295" y="1988840"/>
            <a:chExt cx="4248472" cy="432048"/>
          </a:xfrm>
        </p:grpSpPr>
        <p:cxnSp>
          <p:nvCxnSpPr>
            <p:cNvPr id="25" name="Straight Arrow Connector 24"/>
            <p:cNvCxnSpPr/>
            <p:nvPr/>
          </p:nvCxnSpPr>
          <p:spPr>
            <a:xfrm>
              <a:off x="4569351" y="2420888"/>
              <a:ext cx="2448272" cy="0"/>
            </a:xfrm>
            <a:prstGeom prst="straightConnector1">
              <a:avLst/>
            </a:prstGeom>
            <a:ln w="254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065295" y="1988840"/>
              <a:ext cx="4248472"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0000"/>
                  </a:solidFill>
                </a:rPr>
                <a:t>E(K</a:t>
              </a:r>
              <a:r>
                <a:rPr lang="en-IN" sz="1400" b="1" baseline="-25000" dirty="0" smtClean="0">
                  <a:solidFill>
                    <a:srgbClr val="FF0000"/>
                  </a:solidFill>
                </a:rPr>
                <a:t>C,TGS</a:t>
              </a:r>
              <a:r>
                <a:rPr lang="en-IN" sz="1400" b="1" dirty="0" smtClean="0">
                  <a:solidFill>
                    <a:srgbClr val="FF0000"/>
                  </a:solidFill>
                </a:rPr>
                <a:t> [K</a:t>
              </a:r>
              <a:r>
                <a:rPr lang="en-IN" sz="1400" b="1" baseline="-25000" dirty="0" smtClean="0">
                  <a:solidFill>
                    <a:srgbClr val="FF0000"/>
                  </a:solidFill>
                </a:rPr>
                <a:t>C, V</a:t>
              </a:r>
              <a:r>
                <a:rPr lang="en-IN" sz="1400" b="1" dirty="0" smtClean="0">
                  <a:solidFill>
                    <a:srgbClr val="FF0000"/>
                  </a:solidFill>
                </a:rPr>
                <a:t> || ID</a:t>
              </a:r>
              <a:r>
                <a:rPr lang="en-IN" sz="1400" b="1" baseline="-25000" dirty="0" smtClean="0">
                  <a:solidFill>
                    <a:srgbClr val="FF0000"/>
                  </a:solidFill>
                </a:rPr>
                <a:t>V</a:t>
              </a:r>
              <a:r>
                <a:rPr lang="en-IN" sz="1400" b="1" dirty="0" smtClean="0">
                  <a:solidFill>
                    <a:srgbClr val="FF0000"/>
                  </a:solidFill>
                </a:rPr>
                <a:t> ||  TS</a:t>
              </a:r>
              <a:r>
                <a:rPr lang="en-IN" sz="1400" b="1" baseline="-25000" dirty="0" smtClean="0">
                  <a:solidFill>
                    <a:srgbClr val="FF0000"/>
                  </a:solidFill>
                </a:rPr>
                <a:t>4</a:t>
              </a:r>
              <a:r>
                <a:rPr lang="en-IN" sz="1400" b="1" dirty="0" smtClean="0">
                  <a:solidFill>
                    <a:srgbClr val="FF0000"/>
                  </a:solidFill>
                </a:rPr>
                <a:t> || </a:t>
              </a:r>
              <a:r>
                <a:rPr lang="en-IN" sz="1400" b="1" dirty="0" err="1" smtClean="0">
                  <a:solidFill>
                    <a:srgbClr val="FF0000"/>
                  </a:solidFill>
                </a:rPr>
                <a:t>Ticket</a:t>
              </a:r>
              <a:r>
                <a:rPr lang="en-IN" sz="1400" b="1" baseline="-25000" dirty="0" err="1" smtClean="0">
                  <a:solidFill>
                    <a:srgbClr val="FF0000"/>
                  </a:solidFill>
                </a:rPr>
                <a:t>V</a:t>
              </a:r>
              <a:r>
                <a:rPr lang="en-IN" sz="1400" b="1" dirty="0" smtClean="0">
                  <a:solidFill>
                    <a:srgbClr val="FF0000"/>
                  </a:solidFill>
                </a:rPr>
                <a:t>])</a:t>
              </a:r>
            </a:p>
          </p:txBody>
        </p:sp>
      </p:grpSp>
      <p:sp>
        <p:nvSpPr>
          <p:cNvPr id="27" name="Rectangle 26"/>
          <p:cNvSpPr/>
          <p:nvPr/>
        </p:nvSpPr>
        <p:spPr>
          <a:xfrm>
            <a:off x="5940152" y="1700808"/>
            <a:ext cx="1728192" cy="1080120"/>
          </a:xfrm>
          <a:prstGeom prst="rect">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8" name="TextBox 27"/>
          <p:cNvSpPr txBox="1"/>
          <p:nvPr/>
        </p:nvSpPr>
        <p:spPr>
          <a:xfrm>
            <a:off x="6228184" y="1340768"/>
            <a:ext cx="1152128" cy="369332"/>
          </a:xfrm>
          <a:prstGeom prst="rect">
            <a:avLst/>
          </a:prstGeom>
          <a:noFill/>
        </p:spPr>
        <p:txBody>
          <a:bodyPr wrap="square" rtlCol="0">
            <a:spAutoFit/>
          </a:bodyPr>
          <a:lstStyle/>
          <a:p>
            <a:pPr algn="ctr"/>
            <a:r>
              <a:rPr lang="en-IN" b="1" dirty="0" smtClean="0"/>
              <a:t>Kerberos</a:t>
            </a:r>
            <a:endParaRPr lang="en-IN" b="1" dirty="0"/>
          </a:p>
        </p:txBody>
      </p:sp>
      <p:sp>
        <p:nvSpPr>
          <p:cNvPr id="29" name="TextBox 28"/>
          <p:cNvSpPr txBox="1"/>
          <p:nvPr/>
        </p:nvSpPr>
        <p:spPr>
          <a:xfrm>
            <a:off x="35496" y="1404065"/>
            <a:ext cx="4320480" cy="4524315"/>
          </a:xfrm>
          <a:prstGeom prst="rect">
            <a:avLst/>
          </a:prstGeom>
          <a:noFill/>
        </p:spPr>
        <p:txBody>
          <a:bodyPr wrap="square" rtlCol="0">
            <a:spAutoFit/>
          </a:bodyPr>
          <a:lstStyle/>
          <a:p>
            <a:pPr marL="342900" indent="-342900" algn="just">
              <a:buClr>
                <a:srgbClr val="101141"/>
              </a:buClr>
              <a:buFont typeface="Wingdings" pitchFamily="2" charset="2"/>
              <a:buChar char="q"/>
            </a:pPr>
            <a:r>
              <a:rPr lang="en-IN" sz="1600" dirty="0" smtClean="0">
                <a:cs typeface="Arial" pitchFamily="34" charset="0"/>
              </a:rPr>
              <a:t>The client (C) approaches TGS for a service granting ticket for server V. The message contains server id (ID</a:t>
            </a:r>
            <a:r>
              <a:rPr lang="en-IN" sz="1600" baseline="-25000" dirty="0" smtClean="0">
                <a:cs typeface="Arial" pitchFamily="34" charset="0"/>
              </a:rPr>
              <a:t>V</a:t>
            </a:r>
            <a:r>
              <a:rPr lang="en-IN" sz="1600" dirty="0" smtClean="0">
                <a:cs typeface="Arial" pitchFamily="34" charset="0"/>
              </a:rPr>
              <a:t>), the ticket received from AS (</a:t>
            </a:r>
            <a:r>
              <a:rPr lang="en-IN" sz="1600" dirty="0" err="1" smtClean="0">
                <a:cs typeface="Arial" pitchFamily="34" charset="0"/>
              </a:rPr>
              <a:t>Ticket</a:t>
            </a:r>
            <a:r>
              <a:rPr lang="en-IN" sz="1600" baseline="-25000" dirty="0" err="1" smtClean="0">
                <a:cs typeface="Arial" pitchFamily="34" charset="0"/>
              </a:rPr>
              <a:t>TGS</a:t>
            </a:r>
            <a:r>
              <a:rPr lang="en-IN" sz="1600" dirty="0" smtClean="0">
                <a:cs typeface="Arial" pitchFamily="34" charset="0"/>
              </a:rPr>
              <a:t>) and an </a:t>
            </a:r>
            <a:r>
              <a:rPr lang="en-IN" sz="1600" dirty="0" err="1" smtClean="0">
                <a:cs typeface="Arial" pitchFamily="34" charset="0"/>
              </a:rPr>
              <a:t>Authenticator</a:t>
            </a:r>
            <a:r>
              <a:rPr lang="en-IN" sz="1600" baseline="-25000" dirty="0" err="1" smtClean="0">
                <a:cs typeface="Arial" pitchFamily="34" charset="0"/>
              </a:rPr>
              <a:t>C</a:t>
            </a:r>
            <a:r>
              <a:rPr lang="en-IN" sz="1600" dirty="0" smtClean="0">
                <a:cs typeface="Arial" pitchFamily="34" charset="0"/>
              </a:rPr>
              <a:t>.</a:t>
            </a:r>
          </a:p>
          <a:p>
            <a:pPr marL="342900" indent="-342900" algn="just">
              <a:buClr>
                <a:srgbClr val="101141"/>
              </a:buClr>
              <a:buFont typeface="Wingdings" pitchFamily="2" charset="2"/>
              <a:buChar char="q"/>
            </a:pPr>
            <a:r>
              <a:rPr lang="en-IN" sz="1600" dirty="0" smtClean="0">
                <a:cs typeface="Arial" pitchFamily="34" charset="0"/>
              </a:rPr>
              <a:t>The Authenticator contains the ID and address information about the client and a timestamp encrypted with K</a:t>
            </a:r>
            <a:r>
              <a:rPr lang="en-IN" sz="1600" baseline="-25000" dirty="0" smtClean="0">
                <a:cs typeface="Arial" pitchFamily="34" charset="0"/>
              </a:rPr>
              <a:t>C,</a:t>
            </a:r>
            <a:r>
              <a:rPr lang="en-IN" sz="1600" dirty="0" smtClean="0">
                <a:cs typeface="Arial" pitchFamily="34" charset="0"/>
              </a:rPr>
              <a:t> </a:t>
            </a:r>
            <a:r>
              <a:rPr lang="en-IN" sz="1600" baseline="-25000" dirty="0" smtClean="0">
                <a:cs typeface="Arial" pitchFamily="34" charset="0"/>
              </a:rPr>
              <a:t>TGS</a:t>
            </a:r>
            <a:r>
              <a:rPr lang="en-IN" sz="1600" dirty="0" smtClean="0">
                <a:cs typeface="Arial" pitchFamily="34" charset="0"/>
              </a:rPr>
              <a:t>.</a:t>
            </a:r>
          </a:p>
          <a:p>
            <a:pPr marL="342900" indent="-342900" algn="just">
              <a:buClr>
                <a:srgbClr val="101141"/>
              </a:buClr>
              <a:buFont typeface="Wingdings" pitchFamily="2" charset="2"/>
              <a:buChar char="q"/>
            </a:pPr>
            <a:r>
              <a:rPr lang="en-IN" sz="1600" dirty="0" smtClean="0">
                <a:cs typeface="Arial" pitchFamily="34" charset="0"/>
              </a:rPr>
              <a:t>TGS decrypts the ticket with the key (K</a:t>
            </a:r>
            <a:r>
              <a:rPr lang="en-IN" sz="1600" baseline="-25000" dirty="0" smtClean="0">
                <a:cs typeface="Arial" pitchFamily="34" charset="0"/>
              </a:rPr>
              <a:t>TGS</a:t>
            </a:r>
            <a:r>
              <a:rPr lang="en-IN" sz="1600" dirty="0" smtClean="0">
                <a:cs typeface="Arial" pitchFamily="34" charset="0"/>
              </a:rPr>
              <a:t>) and fetches K</a:t>
            </a:r>
            <a:r>
              <a:rPr lang="en-IN" sz="1600" baseline="-25000" dirty="0" smtClean="0">
                <a:cs typeface="Arial" pitchFamily="34" charset="0"/>
              </a:rPr>
              <a:t>C,</a:t>
            </a:r>
            <a:r>
              <a:rPr lang="en-IN" sz="1600" dirty="0" smtClean="0">
                <a:cs typeface="Arial" pitchFamily="34" charset="0"/>
              </a:rPr>
              <a:t> </a:t>
            </a:r>
            <a:r>
              <a:rPr lang="en-IN" sz="1600" baseline="-25000" dirty="0" smtClean="0">
                <a:cs typeface="Arial" pitchFamily="34" charset="0"/>
              </a:rPr>
              <a:t>TGS</a:t>
            </a:r>
            <a:r>
              <a:rPr lang="en-IN" sz="1600" dirty="0" smtClean="0">
                <a:cs typeface="Arial" pitchFamily="34" charset="0"/>
              </a:rPr>
              <a:t> to decrypt the authenticator to verify the client (ID and address).</a:t>
            </a:r>
          </a:p>
          <a:p>
            <a:pPr marL="342900" indent="-342900" algn="just">
              <a:buClr>
                <a:srgbClr val="101141"/>
              </a:buClr>
              <a:buFont typeface="Wingdings" pitchFamily="2" charset="2"/>
              <a:buChar char="q"/>
            </a:pPr>
            <a:r>
              <a:rPr lang="en-IN" sz="1600" dirty="0" smtClean="0">
                <a:cs typeface="Arial" pitchFamily="34" charset="0"/>
              </a:rPr>
              <a:t>If everything is fine, TGS responds with a message containing server ID, time stamp and ticket for server. The message is encrypted with a key shared by client and TGS (K</a:t>
            </a:r>
            <a:r>
              <a:rPr lang="en-IN" sz="1600" baseline="-25000" dirty="0" smtClean="0">
                <a:cs typeface="Arial" pitchFamily="34" charset="0"/>
              </a:rPr>
              <a:t>C, TGS</a:t>
            </a:r>
            <a:r>
              <a:rPr lang="en-IN" sz="1600" dirty="0" smtClean="0">
                <a:cs typeface="Arial" pitchFamily="34" charset="0"/>
              </a:rPr>
              <a:t>) and also contains a key to be shared by client and sever (K</a:t>
            </a:r>
            <a:r>
              <a:rPr lang="en-IN" sz="1600" baseline="-25000" dirty="0" smtClean="0">
                <a:cs typeface="Arial" pitchFamily="34" charset="0"/>
              </a:rPr>
              <a:t>C, V</a:t>
            </a:r>
            <a:r>
              <a:rPr lang="en-IN" sz="1600" dirty="0" smtClean="0">
                <a:cs typeface="Arial" pitchFamily="34" charset="0"/>
              </a:rPr>
              <a:t>), so client can fetch the ticket for the server.</a:t>
            </a:r>
          </a:p>
        </p:txBody>
      </p:sp>
      <p:sp>
        <p:nvSpPr>
          <p:cNvPr id="30" name="Rectangle 29"/>
          <p:cNvSpPr/>
          <p:nvPr/>
        </p:nvSpPr>
        <p:spPr>
          <a:xfrm>
            <a:off x="395536" y="6185049"/>
            <a:ext cx="5112568" cy="307777"/>
          </a:xfrm>
          <a:prstGeom prst="rect">
            <a:avLst/>
          </a:prstGeom>
          <a:ln>
            <a:solidFill>
              <a:schemeClr val="tx1"/>
            </a:solidFill>
            <a:prstDash val="sysDash"/>
          </a:ln>
        </p:spPr>
        <p:txBody>
          <a:bodyPr wrap="square">
            <a:spAutoFit/>
          </a:bodyPr>
          <a:lstStyle/>
          <a:p>
            <a:pPr marL="342900" indent="-342900" algn="just">
              <a:buClr>
                <a:srgbClr val="101141"/>
              </a:buClr>
            </a:pPr>
            <a:r>
              <a:rPr lang="en-IN" sz="1400" b="1" i="1" dirty="0" err="1" smtClean="0">
                <a:cs typeface="Arial" pitchFamily="34" charset="0"/>
              </a:rPr>
              <a:t>Authenticator</a:t>
            </a:r>
            <a:r>
              <a:rPr lang="en-IN" sz="1400" b="1" i="1" baseline="-25000" dirty="0" err="1" smtClean="0">
                <a:cs typeface="Arial" pitchFamily="34" charset="0"/>
              </a:rPr>
              <a:t>C</a:t>
            </a:r>
            <a:r>
              <a:rPr lang="en-IN" sz="1400" b="1" i="1" dirty="0" smtClean="0">
                <a:cs typeface="Arial" pitchFamily="34" charset="0"/>
              </a:rPr>
              <a:t> = E (K</a:t>
            </a:r>
            <a:r>
              <a:rPr lang="en-IN" sz="1400" b="1" i="1" baseline="-25000" dirty="0" smtClean="0">
                <a:cs typeface="Arial" pitchFamily="34" charset="0"/>
              </a:rPr>
              <a:t>C,</a:t>
            </a:r>
            <a:r>
              <a:rPr lang="en-IN" sz="1400" b="1" i="1" dirty="0" smtClean="0">
                <a:cs typeface="Arial" pitchFamily="34" charset="0"/>
              </a:rPr>
              <a:t> </a:t>
            </a:r>
            <a:r>
              <a:rPr lang="en-IN" sz="1400" b="1" i="1" baseline="-25000" dirty="0" smtClean="0">
                <a:cs typeface="Arial" pitchFamily="34" charset="0"/>
              </a:rPr>
              <a:t>TGS</a:t>
            </a:r>
            <a:r>
              <a:rPr lang="en-IN" sz="1400" b="1" i="1" dirty="0" smtClean="0">
                <a:cs typeface="Arial" pitchFamily="34" charset="0"/>
              </a:rPr>
              <a:t> ,[ID</a:t>
            </a:r>
            <a:r>
              <a:rPr lang="en-IN" sz="1400" b="1" i="1" baseline="-25000" dirty="0" smtClean="0">
                <a:cs typeface="Arial" pitchFamily="34" charset="0"/>
              </a:rPr>
              <a:t>C</a:t>
            </a:r>
            <a:r>
              <a:rPr lang="en-IN" sz="1400" b="1" i="1" dirty="0" smtClean="0">
                <a:cs typeface="Arial" pitchFamily="34" charset="0"/>
              </a:rPr>
              <a:t> || AD</a:t>
            </a:r>
            <a:r>
              <a:rPr lang="en-IN" sz="1400" b="1" i="1" baseline="-25000" dirty="0" smtClean="0">
                <a:cs typeface="Arial" pitchFamily="34" charset="0"/>
              </a:rPr>
              <a:t>C</a:t>
            </a:r>
            <a:r>
              <a:rPr lang="en-IN" sz="1400" b="1" i="1" dirty="0" smtClean="0">
                <a:cs typeface="Arial" pitchFamily="34" charset="0"/>
              </a:rPr>
              <a:t> || TS</a:t>
            </a:r>
            <a:r>
              <a:rPr lang="en-IN" sz="1400" b="1" i="1" baseline="-25000" dirty="0" smtClean="0">
                <a:cs typeface="Arial" pitchFamily="34" charset="0"/>
              </a:rPr>
              <a:t>3</a:t>
            </a:r>
            <a:r>
              <a:rPr lang="en-IN" sz="1400" b="1" i="1" dirty="0" smtClean="0">
                <a:cs typeface="Arial" pitchFamily="34" charset="0"/>
              </a:rPr>
              <a:t>])</a:t>
            </a:r>
          </a:p>
        </p:txBody>
      </p:sp>
      <p:sp>
        <p:nvSpPr>
          <p:cNvPr id="32" name="Rectangle 31"/>
          <p:cNvSpPr/>
          <p:nvPr/>
        </p:nvSpPr>
        <p:spPr>
          <a:xfrm>
            <a:off x="395536" y="5877272"/>
            <a:ext cx="5112568" cy="307777"/>
          </a:xfrm>
          <a:prstGeom prst="rect">
            <a:avLst/>
          </a:prstGeom>
          <a:ln>
            <a:solidFill>
              <a:schemeClr val="tx1"/>
            </a:solidFill>
            <a:prstDash val="sysDash"/>
          </a:ln>
        </p:spPr>
        <p:txBody>
          <a:bodyPr wrap="square">
            <a:spAutoFit/>
          </a:bodyPr>
          <a:lstStyle/>
          <a:p>
            <a:pPr marL="342900" indent="-342900" algn="just">
              <a:buClr>
                <a:srgbClr val="101141"/>
              </a:buClr>
            </a:pPr>
            <a:r>
              <a:rPr lang="en-IN" sz="1400" b="1" i="1" dirty="0" err="1" smtClean="0">
                <a:cs typeface="Arial" pitchFamily="34" charset="0"/>
              </a:rPr>
              <a:t>Ticket</a:t>
            </a:r>
            <a:r>
              <a:rPr lang="en-IN" sz="1400" b="1" i="1" baseline="-25000" dirty="0" err="1" smtClean="0">
                <a:cs typeface="Arial" pitchFamily="34" charset="0"/>
              </a:rPr>
              <a:t>TGS</a:t>
            </a:r>
            <a:r>
              <a:rPr lang="en-IN" sz="1400" b="1" i="1" dirty="0" smtClean="0">
                <a:cs typeface="Arial" pitchFamily="34" charset="0"/>
              </a:rPr>
              <a:t> = E (K</a:t>
            </a:r>
            <a:r>
              <a:rPr lang="en-IN" sz="1400" b="1" i="1" baseline="-25000" dirty="0" smtClean="0">
                <a:cs typeface="Arial" pitchFamily="34" charset="0"/>
              </a:rPr>
              <a:t>TGS</a:t>
            </a:r>
            <a:r>
              <a:rPr lang="en-IN" sz="1400" b="1" i="1" dirty="0" smtClean="0">
                <a:cs typeface="Arial" pitchFamily="34" charset="0"/>
              </a:rPr>
              <a:t> ,[K</a:t>
            </a:r>
            <a:r>
              <a:rPr lang="en-IN" sz="1400" b="1" i="1" baseline="-25000" dirty="0" smtClean="0">
                <a:cs typeface="Arial" pitchFamily="34" charset="0"/>
              </a:rPr>
              <a:t>C, TGS</a:t>
            </a:r>
            <a:r>
              <a:rPr lang="en-IN" sz="1400" b="1" i="1" dirty="0" smtClean="0">
                <a:cs typeface="Arial" pitchFamily="34" charset="0"/>
              </a:rPr>
              <a:t> ||ID</a:t>
            </a:r>
            <a:r>
              <a:rPr lang="en-IN" sz="1400" b="1" i="1" baseline="-25000" dirty="0" smtClean="0">
                <a:cs typeface="Arial" pitchFamily="34" charset="0"/>
              </a:rPr>
              <a:t>C</a:t>
            </a:r>
            <a:r>
              <a:rPr lang="en-IN" sz="1400" b="1" i="1" dirty="0" smtClean="0">
                <a:cs typeface="Arial" pitchFamily="34" charset="0"/>
              </a:rPr>
              <a:t> || AD</a:t>
            </a:r>
            <a:r>
              <a:rPr lang="en-IN" sz="1400" b="1" i="1" baseline="-25000" dirty="0" smtClean="0">
                <a:cs typeface="Arial" pitchFamily="34" charset="0"/>
              </a:rPr>
              <a:t>C</a:t>
            </a:r>
            <a:r>
              <a:rPr lang="en-IN" sz="1400" b="1" i="1" dirty="0" smtClean="0">
                <a:cs typeface="Arial" pitchFamily="34" charset="0"/>
              </a:rPr>
              <a:t> || ID</a:t>
            </a:r>
            <a:r>
              <a:rPr lang="en-IN" sz="1400" b="1" i="1" baseline="-25000" dirty="0" smtClean="0">
                <a:cs typeface="Arial" pitchFamily="34" charset="0"/>
              </a:rPr>
              <a:t>TGS</a:t>
            </a:r>
            <a:r>
              <a:rPr lang="en-IN" sz="1400" b="1" i="1" dirty="0" smtClean="0">
                <a:cs typeface="Arial" pitchFamily="34" charset="0"/>
              </a:rPr>
              <a:t> || TS</a:t>
            </a:r>
            <a:r>
              <a:rPr lang="en-IN" sz="1400" b="1" i="1" baseline="-25000" dirty="0" smtClean="0">
                <a:cs typeface="Arial" pitchFamily="34" charset="0"/>
              </a:rPr>
              <a:t>2</a:t>
            </a:r>
            <a:r>
              <a:rPr lang="en-IN" sz="1400" b="1" i="1" dirty="0" smtClean="0">
                <a:cs typeface="Arial" pitchFamily="34" charset="0"/>
              </a:rPr>
              <a:t> || Lifetime</a:t>
            </a:r>
            <a:r>
              <a:rPr lang="en-IN" sz="1400" b="1" i="1" baseline="-25000" dirty="0" smtClean="0">
                <a:cs typeface="Arial" pitchFamily="34" charset="0"/>
              </a:rPr>
              <a:t>2</a:t>
            </a:r>
            <a:r>
              <a:rPr lang="en-IN" sz="1400" b="1" i="1" dirty="0" smtClean="0">
                <a:cs typeface="Arial" pitchFamily="34" charset="0"/>
              </a:rPr>
              <a:t>])</a:t>
            </a:r>
          </a:p>
        </p:txBody>
      </p:sp>
      <p:sp>
        <p:nvSpPr>
          <p:cNvPr id="31" name="Rectangle 30"/>
          <p:cNvSpPr/>
          <p:nvPr/>
        </p:nvSpPr>
        <p:spPr>
          <a:xfrm>
            <a:off x="4464496" y="5025950"/>
            <a:ext cx="4572000" cy="779314"/>
          </a:xfrm>
          <a:prstGeom prst="rect">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indent="-342900" algn="ctr">
              <a:buClr>
                <a:srgbClr val="101141"/>
              </a:buClr>
            </a:pPr>
            <a:r>
              <a:rPr lang="en-IN" sz="1400" b="1" i="1" dirty="0" smtClean="0">
                <a:solidFill>
                  <a:srgbClr val="C00000"/>
                </a:solidFill>
              </a:rPr>
              <a:t>End of this service granting ticket dialogue, the client has the ticket for the server and the session key which it can use with the server to exchange messages securely.</a:t>
            </a:r>
          </a:p>
        </p:txBody>
      </p:sp>
    </p:spTree>
    <p:extLst>
      <p:ext uri="{BB962C8B-B14F-4D97-AF65-F5344CB8AC3E}">
        <p14:creationId xmlns="" xmlns:p14="http://schemas.microsoft.com/office/powerpoint/2010/main" val="221762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P spid="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Kerberos Version-4</a:t>
            </a:r>
          </a:p>
          <a:p>
            <a:pPr>
              <a:spcBef>
                <a:spcPct val="0"/>
              </a:spcBef>
            </a:pPr>
            <a:r>
              <a:rPr lang="en-IN" sz="3200" dirty="0">
                <a:latin typeface="+mj-lt"/>
                <a:ea typeface="+mj-ea"/>
                <a:cs typeface="+mj-cs"/>
              </a:rPr>
              <a:t>Client Server Authentication</a:t>
            </a:r>
          </a:p>
        </p:txBody>
      </p:sp>
      <p:grpSp>
        <p:nvGrpSpPr>
          <p:cNvPr id="2" name="Group 4"/>
          <p:cNvGrpSpPr/>
          <p:nvPr/>
        </p:nvGrpSpPr>
        <p:grpSpPr>
          <a:xfrm>
            <a:off x="4427984" y="1691516"/>
            <a:ext cx="4536504" cy="3393668"/>
            <a:chOff x="4103365" y="755412"/>
            <a:chExt cx="4536504" cy="3393668"/>
          </a:xfrm>
        </p:grpSpPr>
        <p:grpSp>
          <p:nvGrpSpPr>
            <p:cNvPr id="5" name="Group 4"/>
            <p:cNvGrpSpPr/>
            <p:nvPr/>
          </p:nvGrpSpPr>
          <p:grpSpPr>
            <a:xfrm>
              <a:off x="4103365" y="755412"/>
              <a:ext cx="4536504" cy="3393668"/>
              <a:chOff x="4103365" y="755412"/>
              <a:chExt cx="4536504" cy="3393668"/>
            </a:xfrm>
          </p:grpSpPr>
          <p:grpSp>
            <p:nvGrpSpPr>
              <p:cNvPr id="6" name="Group 32"/>
              <p:cNvGrpSpPr/>
              <p:nvPr/>
            </p:nvGrpSpPr>
            <p:grpSpPr>
              <a:xfrm>
                <a:off x="4103365" y="755412"/>
                <a:ext cx="1224136" cy="1017404"/>
                <a:chOff x="4103365" y="755412"/>
                <a:chExt cx="1224136" cy="1017404"/>
              </a:xfrm>
            </p:grpSpPr>
            <p:pic>
              <p:nvPicPr>
                <p:cNvPr id="15" name="Picture 2" descr="http://cliparts.co/cliparts/6ir/op7/6irop7RrT.jpg"/>
                <p:cNvPicPr>
                  <a:picLocks noChangeAspect="1" noChangeArrowheads="1"/>
                </p:cNvPicPr>
                <p:nvPr/>
              </p:nvPicPr>
              <p:blipFill>
                <a:blip r:embed="rId2" cstate="print"/>
                <a:srcRect/>
                <a:stretch>
                  <a:fillRect/>
                </a:stretch>
              </p:blipFill>
              <p:spPr bwMode="auto">
                <a:xfrm>
                  <a:off x="4103365" y="1137451"/>
                  <a:ext cx="720080" cy="635365"/>
                </a:xfrm>
                <a:prstGeom prst="rect">
                  <a:avLst/>
                </a:prstGeom>
                <a:noFill/>
              </p:spPr>
            </p:pic>
            <p:pic>
              <p:nvPicPr>
                <p:cNvPr id="16" name="Picture 16" descr="http://www.clipartbest.com/cliparts/acq/z4k/acqz4kBxi.jpeg"/>
                <p:cNvPicPr>
                  <a:picLocks noChangeAspect="1" noChangeArrowheads="1"/>
                </p:cNvPicPr>
                <p:nvPr/>
              </p:nvPicPr>
              <p:blipFill>
                <a:blip r:embed="rId3" cstate="print"/>
                <a:srcRect/>
                <a:stretch>
                  <a:fillRect/>
                </a:stretch>
              </p:blipFill>
              <p:spPr bwMode="auto">
                <a:xfrm>
                  <a:off x="4811230" y="1209459"/>
                  <a:ext cx="516271" cy="490084"/>
                </a:xfrm>
                <a:prstGeom prst="rect">
                  <a:avLst/>
                </a:prstGeom>
                <a:noFill/>
              </p:spPr>
            </p:pic>
            <p:sp>
              <p:nvSpPr>
                <p:cNvPr id="17" name="TextBox 16"/>
                <p:cNvSpPr txBox="1"/>
                <p:nvPr/>
              </p:nvSpPr>
              <p:spPr>
                <a:xfrm>
                  <a:off x="4103365" y="755412"/>
                  <a:ext cx="1080120" cy="369332"/>
                </a:xfrm>
                <a:prstGeom prst="rect">
                  <a:avLst/>
                </a:prstGeom>
                <a:noFill/>
              </p:spPr>
              <p:txBody>
                <a:bodyPr wrap="square" rtlCol="0">
                  <a:spAutoFit/>
                </a:bodyPr>
                <a:lstStyle/>
                <a:p>
                  <a:pPr algn="ctr"/>
                  <a:r>
                    <a:rPr lang="en-IN" b="1" dirty="0" smtClean="0"/>
                    <a:t>Client(C)</a:t>
                  </a:r>
                  <a:endParaRPr lang="en-IN" b="1" dirty="0"/>
                </a:p>
              </p:txBody>
            </p:sp>
          </p:grpSp>
          <p:sp>
            <p:nvSpPr>
              <p:cNvPr id="10" name="TextBox 9"/>
              <p:cNvSpPr txBox="1"/>
              <p:nvPr/>
            </p:nvSpPr>
            <p:spPr>
              <a:xfrm>
                <a:off x="7487741" y="755412"/>
                <a:ext cx="1152128" cy="369332"/>
              </a:xfrm>
              <a:prstGeom prst="rect">
                <a:avLst/>
              </a:prstGeom>
              <a:noFill/>
            </p:spPr>
            <p:txBody>
              <a:bodyPr wrap="square" rtlCol="0">
                <a:spAutoFit/>
              </a:bodyPr>
              <a:lstStyle/>
              <a:p>
                <a:pPr algn="ctr"/>
                <a:r>
                  <a:rPr lang="en-IN" b="1" dirty="0" smtClean="0"/>
                  <a:t>Server (V)</a:t>
                </a:r>
                <a:endParaRPr lang="en-IN" b="1" dirty="0"/>
              </a:p>
            </p:txBody>
          </p:sp>
          <p:cxnSp>
            <p:nvCxnSpPr>
              <p:cNvPr id="11" name="Straight Connector 10"/>
              <p:cNvCxnSpPr/>
              <p:nvPr/>
            </p:nvCxnSpPr>
            <p:spPr>
              <a:xfrm>
                <a:off x="4607421"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135813" y="1772816"/>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975573" y="1772816"/>
                <a:ext cx="0" cy="23042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831557" y="755412"/>
                <a:ext cx="576064" cy="369332"/>
              </a:xfrm>
              <a:prstGeom prst="rect">
                <a:avLst/>
              </a:prstGeom>
              <a:noFill/>
            </p:spPr>
            <p:txBody>
              <a:bodyPr wrap="square" rtlCol="0">
                <a:spAutoFit/>
              </a:bodyPr>
              <a:lstStyle/>
              <a:p>
                <a:r>
                  <a:rPr lang="en-IN" b="1" dirty="0" smtClean="0"/>
                  <a:t>AS</a:t>
                </a:r>
                <a:endParaRPr lang="en-IN" b="1" dirty="0"/>
              </a:p>
            </p:txBody>
          </p:sp>
        </p:grpSp>
        <p:pic>
          <p:nvPicPr>
            <p:cNvPr id="7" name="Picture 2" descr="https://www.iconexperience.com/_img/v_collection_png/512x512/shadow/server.png"/>
            <p:cNvPicPr>
              <a:picLocks noChangeAspect="1" noChangeArrowheads="1"/>
            </p:cNvPicPr>
            <p:nvPr/>
          </p:nvPicPr>
          <p:blipFill>
            <a:blip r:embed="rId4" cstate="print"/>
            <a:srcRect/>
            <a:stretch>
              <a:fillRect/>
            </a:stretch>
          </p:blipFill>
          <p:spPr bwMode="auto">
            <a:xfrm>
              <a:off x="5687541" y="1124744"/>
              <a:ext cx="646981" cy="646981"/>
            </a:xfrm>
            <a:prstGeom prst="rect">
              <a:avLst/>
            </a:prstGeom>
            <a:noFill/>
          </p:spPr>
        </p:pic>
        <p:pic>
          <p:nvPicPr>
            <p:cNvPr id="8" name="Picture 4" descr="http://findicons.com/files/icons/977/rrze/720/server_multiple.png"/>
            <p:cNvPicPr>
              <a:picLocks noChangeAspect="1" noChangeArrowheads="1"/>
            </p:cNvPicPr>
            <p:nvPr/>
          </p:nvPicPr>
          <p:blipFill>
            <a:blip r:embed="rId5" cstate="print"/>
            <a:srcRect/>
            <a:stretch>
              <a:fillRect/>
            </a:stretch>
          </p:blipFill>
          <p:spPr bwMode="auto">
            <a:xfrm>
              <a:off x="7703765" y="1089323"/>
              <a:ext cx="755501" cy="755501"/>
            </a:xfrm>
            <a:prstGeom prst="rect">
              <a:avLst/>
            </a:prstGeom>
            <a:noFill/>
          </p:spPr>
        </p:pic>
      </p:grpSp>
      <p:pic>
        <p:nvPicPr>
          <p:cNvPr id="18" name="Picture 2" descr="http://www.opensecurityarchitecture.org/cms/images/OSA_images/icon_library/osa_server_application.png"/>
          <p:cNvPicPr>
            <a:picLocks noChangeAspect="1" noChangeArrowheads="1"/>
          </p:cNvPicPr>
          <p:nvPr/>
        </p:nvPicPr>
        <p:blipFill>
          <a:blip r:embed="rId6" cstate="print"/>
          <a:srcRect/>
          <a:stretch>
            <a:fillRect/>
          </a:stretch>
        </p:blipFill>
        <p:spPr bwMode="auto">
          <a:xfrm>
            <a:off x="6948264" y="2065783"/>
            <a:ext cx="643136" cy="643137"/>
          </a:xfrm>
          <a:prstGeom prst="rect">
            <a:avLst/>
          </a:prstGeom>
          <a:noFill/>
        </p:spPr>
      </p:pic>
      <p:sp>
        <p:nvSpPr>
          <p:cNvPr id="19" name="TextBox 18"/>
          <p:cNvSpPr txBox="1"/>
          <p:nvPr/>
        </p:nvSpPr>
        <p:spPr>
          <a:xfrm>
            <a:off x="7092280" y="1700808"/>
            <a:ext cx="576064" cy="369332"/>
          </a:xfrm>
          <a:prstGeom prst="rect">
            <a:avLst/>
          </a:prstGeom>
          <a:noFill/>
        </p:spPr>
        <p:txBody>
          <a:bodyPr wrap="square" rtlCol="0">
            <a:spAutoFit/>
          </a:bodyPr>
          <a:lstStyle/>
          <a:p>
            <a:r>
              <a:rPr lang="en-IN" b="1" dirty="0" smtClean="0"/>
              <a:t>TGS</a:t>
            </a:r>
            <a:endParaRPr lang="en-IN" b="1" dirty="0"/>
          </a:p>
        </p:txBody>
      </p:sp>
      <p:cxnSp>
        <p:nvCxnSpPr>
          <p:cNvPr id="20" name="Straight Connector 19"/>
          <p:cNvCxnSpPr/>
          <p:nvPr/>
        </p:nvCxnSpPr>
        <p:spPr>
          <a:xfrm>
            <a:off x="7380312" y="2636912"/>
            <a:ext cx="0" cy="23762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20"/>
          <p:cNvGrpSpPr/>
          <p:nvPr/>
        </p:nvGrpSpPr>
        <p:grpSpPr>
          <a:xfrm>
            <a:off x="4716016" y="2924944"/>
            <a:ext cx="3744416" cy="432048"/>
            <a:chOff x="4388823" y="1988840"/>
            <a:chExt cx="3744416" cy="432048"/>
          </a:xfrm>
        </p:grpSpPr>
        <p:cxnSp>
          <p:nvCxnSpPr>
            <p:cNvPr id="22" name="Straight Arrow Connector 21"/>
            <p:cNvCxnSpPr/>
            <p:nvPr/>
          </p:nvCxnSpPr>
          <p:spPr>
            <a:xfrm>
              <a:off x="4604847" y="2420888"/>
              <a:ext cx="3528392" cy="0"/>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4388823" y="1988840"/>
              <a:ext cx="266429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err="1" smtClean="0">
                  <a:solidFill>
                    <a:srgbClr val="7030A0"/>
                  </a:solidFill>
                </a:rPr>
                <a:t>Ticket</a:t>
              </a:r>
              <a:r>
                <a:rPr lang="en-IN" sz="1400" b="1" baseline="-25000" dirty="0" err="1" smtClean="0">
                  <a:solidFill>
                    <a:srgbClr val="7030A0"/>
                  </a:solidFill>
                </a:rPr>
                <a:t>V</a:t>
              </a:r>
              <a:r>
                <a:rPr lang="en-IN" sz="1400" b="1" dirty="0" smtClean="0">
                  <a:solidFill>
                    <a:srgbClr val="7030A0"/>
                  </a:solidFill>
                </a:rPr>
                <a:t> || </a:t>
              </a:r>
              <a:r>
                <a:rPr lang="en-IN" sz="1400" b="1" dirty="0" err="1" smtClean="0">
                  <a:solidFill>
                    <a:srgbClr val="7030A0"/>
                  </a:solidFill>
                </a:rPr>
                <a:t>Authenticator</a:t>
              </a:r>
              <a:r>
                <a:rPr lang="en-IN" sz="1400" b="1" baseline="-25000" dirty="0" err="1" smtClean="0">
                  <a:solidFill>
                    <a:srgbClr val="7030A0"/>
                  </a:solidFill>
                </a:rPr>
                <a:t>C</a:t>
              </a:r>
              <a:endParaRPr lang="en-IN" sz="1400" b="1" baseline="-25000" dirty="0">
                <a:solidFill>
                  <a:srgbClr val="7030A0"/>
                </a:solidFill>
              </a:endParaRPr>
            </a:p>
          </p:txBody>
        </p:sp>
      </p:grpSp>
      <p:grpSp>
        <p:nvGrpSpPr>
          <p:cNvPr id="21" name="Group 23"/>
          <p:cNvGrpSpPr/>
          <p:nvPr/>
        </p:nvGrpSpPr>
        <p:grpSpPr>
          <a:xfrm>
            <a:off x="4788024" y="3717032"/>
            <a:ext cx="3672408" cy="432048"/>
            <a:chOff x="4425335" y="1988840"/>
            <a:chExt cx="3672408" cy="432048"/>
          </a:xfrm>
        </p:grpSpPr>
        <p:cxnSp>
          <p:nvCxnSpPr>
            <p:cNvPr id="25" name="Straight Arrow Connector 24"/>
            <p:cNvCxnSpPr/>
            <p:nvPr/>
          </p:nvCxnSpPr>
          <p:spPr>
            <a:xfrm>
              <a:off x="4569351" y="2420888"/>
              <a:ext cx="3528392" cy="0"/>
            </a:xfrm>
            <a:prstGeom prst="straightConnector1">
              <a:avLst/>
            </a:prstGeom>
            <a:ln w="25400">
              <a:solidFill>
                <a:srgbClr val="FFC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425335" y="1988840"/>
              <a:ext cx="1584176" cy="432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rgbClr val="FFC000"/>
                  </a:solidFill>
                </a:rPr>
                <a:t>E(K</a:t>
              </a:r>
              <a:r>
                <a:rPr lang="en-IN" sz="1400" b="1" baseline="-25000" dirty="0" smtClean="0">
                  <a:solidFill>
                    <a:srgbClr val="FFC000"/>
                  </a:solidFill>
                </a:rPr>
                <a:t>C,V</a:t>
              </a:r>
              <a:r>
                <a:rPr lang="en-IN" sz="1400" b="1" dirty="0" smtClean="0">
                  <a:solidFill>
                    <a:srgbClr val="FFC000"/>
                  </a:solidFill>
                </a:rPr>
                <a:t> [TS</a:t>
              </a:r>
              <a:r>
                <a:rPr lang="en-IN" sz="1400" b="1" baseline="-25000" dirty="0" smtClean="0">
                  <a:solidFill>
                    <a:srgbClr val="FFC000"/>
                  </a:solidFill>
                </a:rPr>
                <a:t>5</a:t>
              </a:r>
              <a:r>
                <a:rPr lang="en-IN" sz="1400" b="1" dirty="0" smtClean="0">
                  <a:solidFill>
                    <a:srgbClr val="FFC000"/>
                  </a:solidFill>
                </a:rPr>
                <a:t> +1])</a:t>
              </a:r>
            </a:p>
          </p:txBody>
        </p:sp>
      </p:grpSp>
      <p:sp>
        <p:nvSpPr>
          <p:cNvPr id="27" name="Rectangle 26"/>
          <p:cNvSpPr/>
          <p:nvPr/>
        </p:nvSpPr>
        <p:spPr>
          <a:xfrm>
            <a:off x="5940152" y="1700808"/>
            <a:ext cx="1728192" cy="1080120"/>
          </a:xfrm>
          <a:prstGeom prst="rect">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8" name="TextBox 27"/>
          <p:cNvSpPr txBox="1"/>
          <p:nvPr/>
        </p:nvSpPr>
        <p:spPr>
          <a:xfrm>
            <a:off x="6228184" y="1340768"/>
            <a:ext cx="1152128" cy="369332"/>
          </a:xfrm>
          <a:prstGeom prst="rect">
            <a:avLst/>
          </a:prstGeom>
          <a:noFill/>
        </p:spPr>
        <p:txBody>
          <a:bodyPr wrap="square" rtlCol="0">
            <a:spAutoFit/>
          </a:bodyPr>
          <a:lstStyle/>
          <a:p>
            <a:pPr algn="ctr"/>
            <a:r>
              <a:rPr lang="en-IN" b="1" dirty="0" smtClean="0"/>
              <a:t>Kerberos</a:t>
            </a:r>
            <a:endParaRPr lang="en-IN" b="1" dirty="0"/>
          </a:p>
        </p:txBody>
      </p:sp>
      <p:sp>
        <p:nvSpPr>
          <p:cNvPr id="29" name="TextBox 28"/>
          <p:cNvSpPr txBox="1"/>
          <p:nvPr/>
        </p:nvSpPr>
        <p:spPr>
          <a:xfrm>
            <a:off x="35496" y="1404065"/>
            <a:ext cx="4320480" cy="4524315"/>
          </a:xfrm>
          <a:prstGeom prst="rect">
            <a:avLst/>
          </a:prstGeom>
          <a:noFill/>
        </p:spPr>
        <p:txBody>
          <a:bodyPr wrap="square" rtlCol="0">
            <a:spAutoFit/>
          </a:bodyPr>
          <a:lstStyle/>
          <a:p>
            <a:pPr marL="342900" indent="-342900" algn="just">
              <a:buClr>
                <a:srgbClr val="101141"/>
              </a:buClr>
              <a:buFont typeface="Wingdings" pitchFamily="2" charset="2"/>
              <a:buChar char="q"/>
            </a:pPr>
            <a:r>
              <a:rPr lang="en-IN" dirty="0" smtClean="0">
                <a:cs typeface="Arial" pitchFamily="34" charset="0"/>
              </a:rPr>
              <a:t>C now has a reusable ticket for server V. It approaches to the server with this ticket and its authenticator.</a:t>
            </a:r>
          </a:p>
          <a:p>
            <a:pPr marL="342900" indent="-342900" algn="just">
              <a:buClr>
                <a:srgbClr val="101141"/>
              </a:buClr>
              <a:buFont typeface="Wingdings" pitchFamily="2" charset="2"/>
              <a:buChar char="q"/>
            </a:pPr>
            <a:r>
              <a:rPr lang="en-IN" dirty="0" smtClean="0">
                <a:cs typeface="Arial" pitchFamily="34" charset="0"/>
              </a:rPr>
              <a:t>Server decrypts this ticket from K</a:t>
            </a:r>
            <a:r>
              <a:rPr lang="en-IN" baseline="-25000" dirty="0" smtClean="0">
                <a:cs typeface="Arial" pitchFamily="34" charset="0"/>
              </a:rPr>
              <a:t>V </a:t>
            </a:r>
            <a:r>
              <a:rPr lang="en-IN" dirty="0" smtClean="0">
                <a:cs typeface="Arial" pitchFamily="34" charset="0"/>
              </a:rPr>
              <a:t>and fetches session key (K</a:t>
            </a:r>
            <a:r>
              <a:rPr lang="en-IN" baseline="-25000" dirty="0" smtClean="0">
                <a:cs typeface="Arial" pitchFamily="34" charset="0"/>
              </a:rPr>
              <a:t>C, V</a:t>
            </a:r>
            <a:r>
              <a:rPr lang="en-IN" dirty="0" smtClean="0">
                <a:cs typeface="Arial" pitchFamily="34" charset="0"/>
              </a:rPr>
              <a:t>) with the client to decrypt the authenticator.</a:t>
            </a:r>
          </a:p>
          <a:p>
            <a:pPr marL="342900" indent="-342900" algn="just">
              <a:buClr>
                <a:srgbClr val="101141"/>
              </a:buClr>
              <a:buFont typeface="Wingdings" pitchFamily="2" charset="2"/>
              <a:buChar char="q"/>
            </a:pPr>
            <a:r>
              <a:rPr lang="en-IN" dirty="0" smtClean="0">
                <a:cs typeface="Arial" pitchFamily="34" charset="0"/>
              </a:rPr>
              <a:t>Using authenticator, server verifies the credentials of the client.</a:t>
            </a:r>
          </a:p>
          <a:p>
            <a:pPr marL="342900" indent="-342900" algn="just">
              <a:buClr>
                <a:srgbClr val="101141"/>
              </a:buClr>
              <a:buFont typeface="Wingdings" pitchFamily="2" charset="2"/>
              <a:buChar char="q"/>
            </a:pPr>
            <a:r>
              <a:rPr lang="en-IN" dirty="0" smtClean="0">
                <a:cs typeface="Arial" pitchFamily="34" charset="0"/>
              </a:rPr>
              <a:t>As a mutual authentication message, the server takes the time stamp TS</a:t>
            </a:r>
            <a:r>
              <a:rPr lang="en-IN" baseline="-25000" dirty="0" smtClean="0">
                <a:cs typeface="Arial" pitchFamily="34" charset="0"/>
              </a:rPr>
              <a:t>5</a:t>
            </a:r>
            <a:r>
              <a:rPr lang="en-IN" dirty="0" smtClean="0">
                <a:cs typeface="Arial" pitchFamily="34" charset="0"/>
              </a:rPr>
              <a:t> from the authenticator , adds 1 to it and sends it back to the client encrypted with the session key.</a:t>
            </a:r>
          </a:p>
          <a:p>
            <a:pPr marL="342900" indent="-342900" algn="just">
              <a:buClr>
                <a:srgbClr val="101141"/>
              </a:buClr>
              <a:buFont typeface="Wingdings" pitchFamily="2" charset="2"/>
              <a:buChar char="q"/>
            </a:pPr>
            <a:r>
              <a:rPr lang="en-IN" dirty="0" smtClean="0">
                <a:cs typeface="Arial" pitchFamily="34" charset="0"/>
              </a:rPr>
              <a:t>After verifying the value of the returned time stamp, client can obtain the service from the server.</a:t>
            </a:r>
          </a:p>
        </p:txBody>
      </p:sp>
      <p:sp>
        <p:nvSpPr>
          <p:cNvPr id="30" name="Rectangle 29"/>
          <p:cNvSpPr/>
          <p:nvPr/>
        </p:nvSpPr>
        <p:spPr>
          <a:xfrm>
            <a:off x="323528" y="6185049"/>
            <a:ext cx="5112568" cy="307777"/>
          </a:xfrm>
          <a:prstGeom prst="rect">
            <a:avLst/>
          </a:prstGeom>
          <a:ln>
            <a:solidFill>
              <a:schemeClr val="tx1"/>
            </a:solidFill>
            <a:prstDash val="sysDash"/>
          </a:ln>
        </p:spPr>
        <p:txBody>
          <a:bodyPr wrap="square">
            <a:spAutoFit/>
          </a:bodyPr>
          <a:lstStyle/>
          <a:p>
            <a:pPr marL="342900" indent="-342900" algn="just">
              <a:buClr>
                <a:srgbClr val="101141"/>
              </a:buClr>
            </a:pPr>
            <a:r>
              <a:rPr lang="en-IN" sz="1400" b="1" i="1" dirty="0" err="1" smtClean="0">
                <a:cs typeface="Arial" pitchFamily="34" charset="0"/>
              </a:rPr>
              <a:t>Authenticator</a:t>
            </a:r>
            <a:r>
              <a:rPr lang="en-IN" sz="1400" b="1" i="1" baseline="-25000" dirty="0" err="1" smtClean="0">
                <a:cs typeface="Arial" pitchFamily="34" charset="0"/>
              </a:rPr>
              <a:t>C</a:t>
            </a:r>
            <a:r>
              <a:rPr lang="en-IN" sz="1400" b="1" i="1" dirty="0" smtClean="0">
                <a:cs typeface="Arial" pitchFamily="34" charset="0"/>
              </a:rPr>
              <a:t> = E (K</a:t>
            </a:r>
            <a:r>
              <a:rPr lang="en-IN" sz="1400" b="1" i="1" baseline="-25000" dirty="0" smtClean="0">
                <a:cs typeface="Arial" pitchFamily="34" charset="0"/>
              </a:rPr>
              <a:t>C,</a:t>
            </a:r>
            <a:r>
              <a:rPr lang="en-IN" sz="1400" b="1" i="1" dirty="0" smtClean="0">
                <a:cs typeface="Arial" pitchFamily="34" charset="0"/>
              </a:rPr>
              <a:t> </a:t>
            </a:r>
            <a:r>
              <a:rPr lang="en-IN" sz="1400" b="1" i="1" baseline="-25000" dirty="0" smtClean="0">
                <a:cs typeface="Arial" pitchFamily="34" charset="0"/>
              </a:rPr>
              <a:t>V</a:t>
            </a:r>
            <a:r>
              <a:rPr lang="en-IN" sz="1400" b="1" i="1" dirty="0" smtClean="0">
                <a:cs typeface="Arial" pitchFamily="34" charset="0"/>
              </a:rPr>
              <a:t> [ID</a:t>
            </a:r>
            <a:r>
              <a:rPr lang="en-IN" sz="1400" b="1" i="1" baseline="-25000" dirty="0" smtClean="0">
                <a:cs typeface="Arial" pitchFamily="34" charset="0"/>
              </a:rPr>
              <a:t>C</a:t>
            </a:r>
            <a:r>
              <a:rPr lang="en-IN" sz="1400" b="1" i="1" dirty="0" smtClean="0">
                <a:cs typeface="Arial" pitchFamily="34" charset="0"/>
              </a:rPr>
              <a:t> || AD</a:t>
            </a:r>
            <a:r>
              <a:rPr lang="en-IN" sz="1400" b="1" i="1" baseline="-25000" dirty="0" smtClean="0">
                <a:cs typeface="Arial" pitchFamily="34" charset="0"/>
              </a:rPr>
              <a:t>C</a:t>
            </a:r>
            <a:r>
              <a:rPr lang="en-IN" sz="1400" b="1" i="1" dirty="0" smtClean="0">
                <a:cs typeface="Arial" pitchFamily="34" charset="0"/>
              </a:rPr>
              <a:t> || TS</a:t>
            </a:r>
            <a:r>
              <a:rPr lang="en-IN" sz="1400" b="1" i="1" baseline="-25000" dirty="0" smtClean="0">
                <a:cs typeface="Arial" pitchFamily="34" charset="0"/>
              </a:rPr>
              <a:t>5</a:t>
            </a:r>
            <a:r>
              <a:rPr lang="en-IN" sz="1400" b="1" i="1" dirty="0" smtClean="0">
                <a:cs typeface="Arial" pitchFamily="34" charset="0"/>
              </a:rPr>
              <a:t>])</a:t>
            </a:r>
          </a:p>
        </p:txBody>
      </p:sp>
      <p:sp>
        <p:nvSpPr>
          <p:cNvPr id="31" name="Rectangle 30"/>
          <p:cNvSpPr/>
          <p:nvPr/>
        </p:nvSpPr>
        <p:spPr>
          <a:xfrm>
            <a:off x="323528" y="5877272"/>
            <a:ext cx="5112568" cy="307777"/>
          </a:xfrm>
          <a:prstGeom prst="rect">
            <a:avLst/>
          </a:prstGeom>
          <a:ln>
            <a:solidFill>
              <a:schemeClr val="tx1"/>
            </a:solidFill>
            <a:prstDash val="sysDash"/>
          </a:ln>
        </p:spPr>
        <p:txBody>
          <a:bodyPr wrap="square">
            <a:spAutoFit/>
          </a:bodyPr>
          <a:lstStyle/>
          <a:p>
            <a:pPr marL="342900" indent="-342900" algn="just">
              <a:buClr>
                <a:srgbClr val="101141"/>
              </a:buClr>
            </a:pPr>
            <a:r>
              <a:rPr lang="en-IN" sz="1400" b="1" i="1" dirty="0" err="1" smtClean="0">
                <a:cs typeface="Arial" pitchFamily="34" charset="0"/>
              </a:rPr>
              <a:t>Ticket</a:t>
            </a:r>
            <a:r>
              <a:rPr lang="en-IN" sz="1400" b="1" i="1" baseline="-25000" dirty="0" err="1" smtClean="0">
                <a:cs typeface="Arial" pitchFamily="34" charset="0"/>
              </a:rPr>
              <a:t>V</a:t>
            </a:r>
            <a:r>
              <a:rPr lang="en-IN" sz="1400" b="1" i="1" dirty="0" smtClean="0">
                <a:cs typeface="Arial" pitchFamily="34" charset="0"/>
              </a:rPr>
              <a:t> = E (K</a:t>
            </a:r>
            <a:r>
              <a:rPr lang="en-IN" sz="1400" b="1" i="1" baseline="-25000" dirty="0" smtClean="0">
                <a:cs typeface="Arial" pitchFamily="34" charset="0"/>
              </a:rPr>
              <a:t>V</a:t>
            </a:r>
            <a:r>
              <a:rPr lang="en-IN" sz="1400" b="1" i="1" dirty="0" smtClean="0">
                <a:cs typeface="Arial" pitchFamily="34" charset="0"/>
              </a:rPr>
              <a:t> ,[K</a:t>
            </a:r>
            <a:r>
              <a:rPr lang="en-IN" sz="1400" b="1" i="1" baseline="-25000" dirty="0" smtClean="0">
                <a:cs typeface="Arial" pitchFamily="34" charset="0"/>
              </a:rPr>
              <a:t>C, V</a:t>
            </a:r>
            <a:r>
              <a:rPr lang="en-IN" sz="1400" b="1" i="1" dirty="0" smtClean="0">
                <a:cs typeface="Arial" pitchFamily="34" charset="0"/>
              </a:rPr>
              <a:t> ||ID</a:t>
            </a:r>
            <a:r>
              <a:rPr lang="en-IN" sz="1400" b="1" i="1" baseline="-25000" dirty="0" smtClean="0">
                <a:cs typeface="Arial" pitchFamily="34" charset="0"/>
              </a:rPr>
              <a:t>C</a:t>
            </a:r>
            <a:r>
              <a:rPr lang="en-IN" sz="1400" b="1" i="1" dirty="0" smtClean="0">
                <a:cs typeface="Arial" pitchFamily="34" charset="0"/>
              </a:rPr>
              <a:t> || AD</a:t>
            </a:r>
            <a:r>
              <a:rPr lang="en-IN" sz="1400" b="1" i="1" baseline="-25000" dirty="0" smtClean="0">
                <a:cs typeface="Arial" pitchFamily="34" charset="0"/>
              </a:rPr>
              <a:t>C</a:t>
            </a:r>
            <a:r>
              <a:rPr lang="en-IN" sz="1400" b="1" i="1" dirty="0" smtClean="0">
                <a:cs typeface="Arial" pitchFamily="34" charset="0"/>
              </a:rPr>
              <a:t> || ID</a:t>
            </a:r>
            <a:r>
              <a:rPr lang="en-IN" sz="1400" b="1" i="1" baseline="-25000" dirty="0" smtClean="0">
                <a:cs typeface="Arial" pitchFamily="34" charset="0"/>
              </a:rPr>
              <a:t>V</a:t>
            </a:r>
            <a:r>
              <a:rPr lang="en-IN" sz="1400" b="1" i="1" dirty="0" smtClean="0">
                <a:cs typeface="Arial" pitchFamily="34" charset="0"/>
              </a:rPr>
              <a:t> || TS</a:t>
            </a:r>
            <a:r>
              <a:rPr lang="en-IN" sz="1400" b="1" i="1" baseline="-25000" dirty="0" smtClean="0">
                <a:cs typeface="Arial" pitchFamily="34" charset="0"/>
              </a:rPr>
              <a:t>4</a:t>
            </a:r>
            <a:r>
              <a:rPr lang="en-IN" sz="1400" b="1" i="1" dirty="0" smtClean="0">
                <a:cs typeface="Arial" pitchFamily="34" charset="0"/>
              </a:rPr>
              <a:t> || Lifetime</a:t>
            </a:r>
            <a:r>
              <a:rPr lang="en-IN" sz="1400" b="1" i="1" baseline="-25000" dirty="0" smtClean="0">
                <a:cs typeface="Arial" pitchFamily="34" charset="0"/>
              </a:rPr>
              <a:t>4</a:t>
            </a:r>
            <a:r>
              <a:rPr lang="en-IN" sz="1400" b="1" i="1" dirty="0" smtClean="0">
                <a:cs typeface="Arial" pitchFamily="34" charset="0"/>
              </a:rPr>
              <a:t>])</a:t>
            </a:r>
          </a:p>
        </p:txBody>
      </p:sp>
      <p:sp>
        <p:nvSpPr>
          <p:cNvPr id="32" name="Left-Right Arrow 31"/>
          <p:cNvSpPr/>
          <p:nvPr/>
        </p:nvSpPr>
        <p:spPr>
          <a:xfrm>
            <a:off x="4932040" y="4293096"/>
            <a:ext cx="3528392" cy="432048"/>
          </a:xfrm>
          <a:prstGeom prst="leftRightArrow">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rPr>
              <a:t>Service</a:t>
            </a:r>
          </a:p>
        </p:txBody>
      </p:sp>
      <p:sp>
        <p:nvSpPr>
          <p:cNvPr id="35" name="Rectangle 34"/>
          <p:cNvSpPr/>
          <p:nvPr/>
        </p:nvSpPr>
        <p:spPr>
          <a:xfrm>
            <a:off x="4464496" y="5025950"/>
            <a:ext cx="4572000" cy="779314"/>
          </a:xfrm>
          <a:prstGeom prst="rect">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indent="-342900" algn="ctr">
              <a:buClr>
                <a:srgbClr val="101141"/>
              </a:buClr>
            </a:pPr>
            <a:r>
              <a:rPr lang="en-IN" sz="1400" b="1" i="1" dirty="0" smtClean="0">
                <a:solidFill>
                  <a:srgbClr val="C00000"/>
                </a:solidFill>
              </a:rPr>
              <a:t>End of this client-server authentication dialogue, the client and the server had authenticated each other and can exchange service messages.</a:t>
            </a:r>
          </a:p>
        </p:txBody>
      </p:sp>
    </p:spTree>
    <p:extLst>
      <p:ext uri="{BB962C8B-B14F-4D97-AF65-F5344CB8AC3E}">
        <p14:creationId xmlns="" xmlns:p14="http://schemas.microsoft.com/office/powerpoint/2010/main" val="186658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Integrity Attacks</a:t>
            </a:r>
          </a:p>
        </p:txBody>
      </p:sp>
      <p:grpSp>
        <p:nvGrpSpPr>
          <p:cNvPr id="2" name="Group 11"/>
          <p:cNvGrpSpPr/>
          <p:nvPr/>
        </p:nvGrpSpPr>
        <p:grpSpPr>
          <a:xfrm>
            <a:off x="6660232" y="1628800"/>
            <a:ext cx="1008112" cy="1274078"/>
            <a:chOff x="6228184" y="2276872"/>
            <a:chExt cx="720080" cy="986046"/>
          </a:xfrm>
        </p:grpSpPr>
        <p:pic>
          <p:nvPicPr>
            <p:cNvPr id="5" name="Picture 18" descr="http://vector.me/files/images/1/6/162062/female_user_icon_clip_art.jpg"/>
            <p:cNvPicPr>
              <a:picLocks noChangeAspect="1" noChangeArrowheads="1"/>
            </p:cNvPicPr>
            <p:nvPr/>
          </p:nvPicPr>
          <p:blipFill>
            <a:blip r:embed="rId2" cstate="print"/>
            <a:srcRect/>
            <a:stretch>
              <a:fillRect/>
            </a:stretch>
          </p:blipFill>
          <p:spPr bwMode="auto">
            <a:xfrm>
              <a:off x="6372200" y="2276872"/>
              <a:ext cx="464895" cy="466081"/>
            </a:xfrm>
            <a:prstGeom prst="rect">
              <a:avLst/>
            </a:prstGeom>
            <a:noFill/>
          </p:spPr>
        </p:pic>
        <p:sp>
          <p:nvSpPr>
            <p:cNvPr id="7" name="TextBox 6"/>
            <p:cNvSpPr txBox="1"/>
            <p:nvPr/>
          </p:nvSpPr>
          <p:spPr>
            <a:xfrm>
              <a:off x="6228184" y="2708920"/>
              <a:ext cx="720080" cy="553998"/>
            </a:xfrm>
            <a:prstGeom prst="rect">
              <a:avLst/>
            </a:prstGeom>
            <a:noFill/>
          </p:spPr>
          <p:txBody>
            <a:bodyPr wrap="square" rtlCol="0">
              <a:spAutoFit/>
            </a:bodyPr>
            <a:lstStyle/>
            <a:p>
              <a:pPr algn="ctr"/>
              <a:r>
                <a:rPr lang="en-IN" b="1" dirty="0" smtClean="0"/>
                <a:t>Alice</a:t>
              </a:r>
            </a:p>
            <a:p>
              <a:endParaRPr lang="en-IN" sz="1200" b="1" dirty="0"/>
            </a:p>
          </p:txBody>
        </p:sp>
      </p:grpSp>
      <p:grpSp>
        <p:nvGrpSpPr>
          <p:cNvPr id="9" name="Group 10"/>
          <p:cNvGrpSpPr/>
          <p:nvPr/>
        </p:nvGrpSpPr>
        <p:grpSpPr>
          <a:xfrm>
            <a:off x="1187624" y="1628800"/>
            <a:ext cx="804303" cy="1274078"/>
            <a:chOff x="2138420" y="2204864"/>
            <a:chExt cx="573587" cy="1058054"/>
          </a:xfrm>
        </p:grpSpPr>
        <p:pic>
          <p:nvPicPr>
            <p:cNvPr id="6" name="Picture 16" descr="http://www.clipartbest.com/cliparts/acq/z4k/acqz4kBxi.jpeg"/>
            <p:cNvPicPr>
              <a:picLocks noChangeAspect="1" noChangeArrowheads="1"/>
            </p:cNvPicPr>
            <p:nvPr/>
          </p:nvPicPr>
          <p:blipFill>
            <a:blip r:embed="rId3" cstate="print"/>
            <a:srcRect/>
            <a:stretch>
              <a:fillRect/>
            </a:stretch>
          </p:blipFill>
          <p:spPr bwMode="auto">
            <a:xfrm>
              <a:off x="2195736" y="2204864"/>
              <a:ext cx="516271" cy="490084"/>
            </a:xfrm>
            <a:prstGeom prst="rect">
              <a:avLst/>
            </a:prstGeom>
            <a:noFill/>
          </p:spPr>
        </p:pic>
        <p:sp>
          <p:nvSpPr>
            <p:cNvPr id="8" name="TextBox 7"/>
            <p:cNvSpPr txBox="1"/>
            <p:nvPr/>
          </p:nvSpPr>
          <p:spPr>
            <a:xfrm>
              <a:off x="2138420" y="2708920"/>
              <a:ext cx="561372" cy="553998"/>
            </a:xfrm>
            <a:prstGeom prst="rect">
              <a:avLst/>
            </a:prstGeom>
            <a:noFill/>
          </p:spPr>
          <p:txBody>
            <a:bodyPr wrap="none" rtlCol="0">
              <a:spAutoFit/>
            </a:bodyPr>
            <a:lstStyle/>
            <a:p>
              <a:pPr algn="ctr"/>
              <a:r>
                <a:rPr lang="en-IN" b="1" dirty="0" smtClean="0"/>
                <a:t>Bob</a:t>
              </a:r>
            </a:p>
            <a:p>
              <a:endParaRPr lang="en-IN" sz="1200" b="1" dirty="0"/>
            </a:p>
          </p:txBody>
        </p:sp>
      </p:grpSp>
      <p:grpSp>
        <p:nvGrpSpPr>
          <p:cNvPr id="11" name="Group 12"/>
          <p:cNvGrpSpPr/>
          <p:nvPr/>
        </p:nvGrpSpPr>
        <p:grpSpPr>
          <a:xfrm>
            <a:off x="3712196" y="1683842"/>
            <a:ext cx="1020536" cy="986046"/>
            <a:chOff x="4418719" y="2403922"/>
            <a:chExt cx="1020536" cy="986046"/>
          </a:xfrm>
        </p:grpSpPr>
        <p:pic>
          <p:nvPicPr>
            <p:cNvPr id="1026" name="Picture 2" descr="http://www.symbols.com/gi.php?type=1&amp;id=1854"/>
            <p:cNvPicPr>
              <a:picLocks noChangeAspect="1" noChangeArrowheads="1"/>
            </p:cNvPicPr>
            <p:nvPr/>
          </p:nvPicPr>
          <p:blipFill>
            <a:blip r:embed="rId4" cstate="print"/>
            <a:srcRect/>
            <a:stretch>
              <a:fillRect/>
            </a:stretch>
          </p:blipFill>
          <p:spPr bwMode="auto">
            <a:xfrm>
              <a:off x="4720308" y="2403922"/>
              <a:ext cx="487026" cy="311697"/>
            </a:xfrm>
            <a:prstGeom prst="rect">
              <a:avLst/>
            </a:prstGeom>
            <a:noFill/>
          </p:spPr>
        </p:pic>
        <p:sp>
          <p:nvSpPr>
            <p:cNvPr id="10" name="TextBox 9"/>
            <p:cNvSpPr txBox="1"/>
            <p:nvPr/>
          </p:nvSpPr>
          <p:spPr>
            <a:xfrm>
              <a:off x="4418719" y="2835970"/>
              <a:ext cx="1020536" cy="553998"/>
            </a:xfrm>
            <a:prstGeom prst="rect">
              <a:avLst/>
            </a:prstGeom>
            <a:noFill/>
          </p:spPr>
          <p:txBody>
            <a:bodyPr wrap="none" rtlCol="0">
              <a:spAutoFit/>
            </a:bodyPr>
            <a:lstStyle/>
            <a:p>
              <a:pPr algn="ctr"/>
              <a:r>
                <a:rPr lang="en-IN" b="1" dirty="0" smtClean="0"/>
                <a:t>Message</a:t>
              </a:r>
            </a:p>
            <a:p>
              <a:endParaRPr lang="en-IN" sz="1200" b="1" dirty="0"/>
            </a:p>
          </p:txBody>
        </p:sp>
      </p:grpSp>
      <p:sp>
        <p:nvSpPr>
          <p:cNvPr id="14" name="TextBox 13"/>
          <p:cNvSpPr txBox="1"/>
          <p:nvPr/>
        </p:nvSpPr>
        <p:spPr>
          <a:xfrm>
            <a:off x="321807" y="2919703"/>
            <a:ext cx="8496944" cy="3677493"/>
          </a:xfrm>
          <a:prstGeom prst="rect">
            <a:avLst/>
          </a:prstGeom>
        </p:spPr>
        <p:txBody>
          <a:bodyPr vert="horz" lIns="91440" tIns="45720" rIns="91440" bIns="45720" rtlCol="0">
            <a:normAutofit fontScale="62500" lnSpcReduction="20000"/>
          </a:bodyPr>
          <a:lstStyle>
            <a:lvl1pPr marL="342900" marR="0" indent="-342900" fontAlgn="auto">
              <a:lnSpc>
                <a:spcPct val="100000"/>
              </a:lnSpc>
              <a:spcBef>
                <a:spcPct val="20000"/>
              </a:spcBef>
              <a:spcAft>
                <a:spcPts val="0"/>
              </a:spcAft>
              <a:buClrTx/>
              <a:buSzTx/>
              <a:buFont typeface="Arial" pitchFamily="34" charset="0"/>
              <a:buChar char="•"/>
              <a:tabLst/>
              <a:defRPr sz="3200"/>
            </a:lvl1pPr>
            <a:lvl2pPr marL="742950" marR="0" indent="-285750" fontAlgn="auto">
              <a:lnSpc>
                <a:spcPct val="100000"/>
              </a:lnSpc>
              <a:spcBef>
                <a:spcPct val="20000"/>
              </a:spcBef>
              <a:spcAft>
                <a:spcPts val="0"/>
              </a:spcAft>
              <a:buClrTx/>
              <a:buSzTx/>
              <a:buFont typeface="Arial" pitchFamily="34" charset="0"/>
              <a:buChar char="–"/>
              <a:tabLst/>
              <a:defRPr sz="2800">
                <a:cs typeface="Arial" pitchFamily="34" charset="0"/>
              </a:defRPr>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dirty="0"/>
              <a:t>We have reviewed few important integrity services in the past: Message Authentication, Message Integrity and Non-repudiation.  Let us quickly review the corresponding attacks, where these services are required.</a:t>
            </a:r>
          </a:p>
          <a:p>
            <a:r>
              <a:rPr lang="en-IN" dirty="0"/>
              <a:t>Let us say, Bob sends a message to Alice. </a:t>
            </a:r>
          </a:p>
          <a:p>
            <a:r>
              <a:rPr lang="en-IN" dirty="0"/>
              <a:t>Scenerio-1: How Alice can ensure that the message really came from Bob? There could be authentication issues.</a:t>
            </a:r>
          </a:p>
          <a:p>
            <a:r>
              <a:rPr lang="en-IN" dirty="0"/>
              <a:t>Scenerio-2: Someone alters the message and claims that it was received from Bob. How Alice can be sure that message was actually received unaltered. There could be integrity attacks.</a:t>
            </a:r>
          </a:p>
          <a:p>
            <a:r>
              <a:rPr lang="en-IN" dirty="0"/>
              <a:t>Scenerio-3: After sometime if Bob denies that he sent the message, how Alice could prove it that it was actually received from Bob? There could be repudiation issues like this.</a:t>
            </a:r>
          </a:p>
        </p:txBody>
      </p:sp>
    </p:spTree>
    <p:extLst>
      <p:ext uri="{BB962C8B-B14F-4D97-AF65-F5344CB8AC3E}">
        <p14:creationId xmlns="" xmlns:p14="http://schemas.microsoft.com/office/powerpoint/2010/main" val="57552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1.94444E-6 -1.11111E-6 L 0.25 -1.11111E-6 " pathEditMode="relative" rAng="0" ptsTypes="AA">
                                      <p:cBhvr>
                                        <p:cTn id="18" dur="2000" fill="hold"/>
                                        <p:tgtEl>
                                          <p:spTgt spid="11"/>
                                        </p:tgtEl>
                                        <p:attrNameLst>
                                          <p:attrName>ppt_x</p:attrName>
                                          <p:attrName>ppt_y</p:attrName>
                                        </p:attrNameLst>
                                      </p:cBhvr>
                                      <p:rCtr x="12500" y="0"/>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Digital Signature</a:t>
            </a:r>
          </a:p>
        </p:txBody>
      </p:sp>
      <p:grpSp>
        <p:nvGrpSpPr>
          <p:cNvPr id="2" name="Group 39"/>
          <p:cNvGrpSpPr/>
          <p:nvPr/>
        </p:nvGrpSpPr>
        <p:grpSpPr>
          <a:xfrm>
            <a:off x="1475656" y="1844824"/>
            <a:ext cx="1224136" cy="1008112"/>
            <a:chOff x="1475656" y="1844824"/>
            <a:chExt cx="1224136" cy="1008112"/>
          </a:xfrm>
        </p:grpSpPr>
        <p:sp>
          <p:nvSpPr>
            <p:cNvPr id="5" name="TextBox 4"/>
            <p:cNvSpPr txBox="1"/>
            <p:nvPr/>
          </p:nvSpPr>
          <p:spPr>
            <a:xfrm>
              <a:off x="1475656" y="1844824"/>
              <a:ext cx="1224136" cy="369332"/>
            </a:xfrm>
            <a:prstGeom prst="rect">
              <a:avLst/>
            </a:prstGeom>
            <a:solidFill>
              <a:srgbClr val="92D050"/>
            </a:solidFill>
            <a:ln>
              <a:solidFill>
                <a:schemeClr val="tx1"/>
              </a:solidFill>
            </a:ln>
          </p:spPr>
          <p:txBody>
            <a:bodyPr wrap="square" rtlCol="0">
              <a:spAutoFit/>
            </a:bodyPr>
            <a:lstStyle/>
            <a:p>
              <a:pPr algn="ctr"/>
              <a:r>
                <a:rPr lang="en-IN" b="1" dirty="0" smtClean="0"/>
                <a:t>Message</a:t>
              </a:r>
              <a:endParaRPr lang="en-IN" b="1" dirty="0"/>
            </a:p>
          </p:txBody>
        </p:sp>
        <p:cxnSp>
          <p:nvCxnSpPr>
            <p:cNvPr id="13" name="Straight Arrow Connector 12"/>
            <p:cNvCxnSpPr>
              <a:stCxn id="5" idx="2"/>
              <a:endCxn id="6" idx="0"/>
            </p:cNvCxnSpPr>
            <p:nvPr/>
          </p:nvCxnSpPr>
          <p:spPr>
            <a:xfrm>
              <a:off x="2087724" y="2214156"/>
              <a:ext cx="0" cy="63878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2" name="Group 41"/>
          <p:cNvGrpSpPr/>
          <p:nvPr/>
        </p:nvGrpSpPr>
        <p:grpSpPr>
          <a:xfrm>
            <a:off x="1475656" y="4053265"/>
            <a:ext cx="1224136" cy="897195"/>
            <a:chOff x="1475656" y="4053265"/>
            <a:chExt cx="1224136" cy="897195"/>
          </a:xfrm>
        </p:grpSpPr>
        <p:sp>
          <p:nvSpPr>
            <p:cNvPr id="7" name="TextBox 6"/>
            <p:cNvSpPr txBox="1"/>
            <p:nvPr/>
          </p:nvSpPr>
          <p:spPr>
            <a:xfrm>
              <a:off x="1475656" y="4581128"/>
              <a:ext cx="1224136" cy="369332"/>
            </a:xfrm>
            <a:prstGeom prst="rect">
              <a:avLst/>
            </a:prstGeom>
            <a:solidFill>
              <a:srgbClr val="C00000"/>
            </a:solidFill>
            <a:ln>
              <a:solidFill>
                <a:schemeClr val="tx1"/>
              </a:solidFill>
            </a:ln>
          </p:spPr>
          <p:txBody>
            <a:bodyPr wrap="square" rtlCol="0">
              <a:spAutoFit/>
            </a:bodyPr>
            <a:lstStyle/>
            <a:p>
              <a:pPr algn="ctr"/>
              <a:r>
                <a:rPr lang="en-IN" b="1" dirty="0" smtClean="0">
                  <a:solidFill>
                    <a:schemeClr val="bg1"/>
                  </a:solidFill>
                </a:rPr>
                <a:t>Signature</a:t>
              </a:r>
              <a:endParaRPr lang="en-IN" b="1" dirty="0">
                <a:solidFill>
                  <a:schemeClr val="bg1"/>
                </a:solidFill>
              </a:endParaRPr>
            </a:p>
          </p:txBody>
        </p:sp>
        <p:cxnSp>
          <p:nvCxnSpPr>
            <p:cNvPr id="14" name="Straight Arrow Connector 13"/>
            <p:cNvCxnSpPr>
              <a:stCxn id="6" idx="2"/>
              <a:endCxn id="7" idx="0"/>
            </p:cNvCxnSpPr>
            <p:nvPr/>
          </p:nvCxnSpPr>
          <p:spPr>
            <a:xfrm>
              <a:off x="2087724" y="4053265"/>
              <a:ext cx="0" cy="52786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5" name="Group 42"/>
          <p:cNvGrpSpPr/>
          <p:nvPr/>
        </p:nvGrpSpPr>
        <p:grpSpPr>
          <a:xfrm>
            <a:off x="2699792" y="2029490"/>
            <a:ext cx="2520280" cy="1192778"/>
            <a:chOff x="2699792" y="2029490"/>
            <a:chExt cx="2520280" cy="1192778"/>
          </a:xfrm>
        </p:grpSpPr>
        <p:sp>
          <p:nvSpPr>
            <p:cNvPr id="8" name="TextBox 7"/>
            <p:cNvSpPr txBox="1"/>
            <p:nvPr/>
          </p:nvSpPr>
          <p:spPr>
            <a:xfrm>
              <a:off x="3995936" y="2852936"/>
              <a:ext cx="1224136" cy="369332"/>
            </a:xfrm>
            <a:prstGeom prst="rect">
              <a:avLst/>
            </a:prstGeom>
            <a:solidFill>
              <a:srgbClr val="92D050"/>
            </a:solidFill>
            <a:ln>
              <a:solidFill>
                <a:schemeClr val="tx1"/>
              </a:solidFill>
            </a:ln>
          </p:spPr>
          <p:txBody>
            <a:bodyPr wrap="square" rtlCol="0">
              <a:spAutoFit/>
            </a:bodyPr>
            <a:lstStyle/>
            <a:p>
              <a:pPr algn="ctr"/>
              <a:r>
                <a:rPr lang="en-IN" b="1" dirty="0" smtClean="0"/>
                <a:t>Message</a:t>
              </a:r>
            </a:p>
          </p:txBody>
        </p:sp>
        <p:cxnSp>
          <p:nvCxnSpPr>
            <p:cNvPr id="18" name="Shape 17"/>
            <p:cNvCxnSpPr>
              <a:stCxn id="5" idx="3"/>
              <a:endCxn id="8" idx="0"/>
            </p:cNvCxnSpPr>
            <p:nvPr/>
          </p:nvCxnSpPr>
          <p:spPr>
            <a:xfrm>
              <a:off x="2699792" y="2029490"/>
              <a:ext cx="1908212" cy="823446"/>
            </a:xfrm>
            <a:prstGeom prst="bentConnector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6" name="Group 43"/>
          <p:cNvGrpSpPr/>
          <p:nvPr/>
        </p:nvGrpSpPr>
        <p:grpSpPr>
          <a:xfrm>
            <a:off x="2699792" y="3212976"/>
            <a:ext cx="2520280" cy="1552818"/>
            <a:chOff x="2699792" y="3212976"/>
            <a:chExt cx="2520280" cy="1552818"/>
          </a:xfrm>
        </p:grpSpPr>
        <p:sp>
          <p:nvSpPr>
            <p:cNvPr id="9" name="TextBox 8"/>
            <p:cNvSpPr txBox="1"/>
            <p:nvPr/>
          </p:nvSpPr>
          <p:spPr>
            <a:xfrm>
              <a:off x="3995936" y="3212976"/>
              <a:ext cx="1224136" cy="369332"/>
            </a:xfrm>
            <a:prstGeom prst="rect">
              <a:avLst/>
            </a:prstGeom>
            <a:solidFill>
              <a:srgbClr val="C00000"/>
            </a:solidFill>
            <a:ln>
              <a:solidFill>
                <a:schemeClr val="tx1"/>
              </a:solidFill>
            </a:ln>
          </p:spPr>
          <p:txBody>
            <a:bodyPr wrap="square" rtlCol="0">
              <a:spAutoFit/>
            </a:bodyPr>
            <a:lstStyle/>
            <a:p>
              <a:pPr algn="ctr"/>
              <a:r>
                <a:rPr lang="en-IN" b="1" dirty="0" smtClean="0">
                  <a:solidFill>
                    <a:schemeClr val="bg1"/>
                  </a:solidFill>
                </a:rPr>
                <a:t>Signature</a:t>
              </a:r>
            </a:p>
          </p:txBody>
        </p:sp>
        <p:cxnSp>
          <p:nvCxnSpPr>
            <p:cNvPr id="20" name="Shape 19"/>
            <p:cNvCxnSpPr>
              <a:stCxn id="7" idx="3"/>
              <a:endCxn id="9" idx="2"/>
            </p:cNvCxnSpPr>
            <p:nvPr/>
          </p:nvCxnSpPr>
          <p:spPr>
            <a:xfrm flipV="1">
              <a:off x="2699792" y="3582308"/>
              <a:ext cx="1908212" cy="1183486"/>
            </a:xfrm>
            <a:prstGeom prst="bentConnector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7" name="Group 45"/>
          <p:cNvGrpSpPr/>
          <p:nvPr/>
        </p:nvGrpSpPr>
        <p:grpSpPr>
          <a:xfrm>
            <a:off x="6516216" y="4053265"/>
            <a:ext cx="1368152" cy="1451193"/>
            <a:chOff x="6516216" y="4053265"/>
            <a:chExt cx="1368152" cy="1451193"/>
          </a:xfrm>
        </p:grpSpPr>
        <p:sp>
          <p:nvSpPr>
            <p:cNvPr id="11" name="TextBox 10"/>
            <p:cNvSpPr txBox="1"/>
            <p:nvPr/>
          </p:nvSpPr>
          <p:spPr>
            <a:xfrm>
              <a:off x="6516216" y="4581128"/>
              <a:ext cx="1368152" cy="923330"/>
            </a:xfrm>
            <a:prstGeom prst="rect">
              <a:avLst/>
            </a:prstGeom>
            <a:noFill/>
            <a:ln>
              <a:noFill/>
            </a:ln>
          </p:spPr>
          <p:txBody>
            <a:bodyPr wrap="square" rtlCol="0">
              <a:spAutoFit/>
            </a:bodyPr>
            <a:lstStyle/>
            <a:p>
              <a:pPr algn="ctr"/>
              <a:r>
                <a:rPr lang="en-IN" i="1" dirty="0" smtClean="0"/>
                <a:t>Returns signature valid or not</a:t>
              </a:r>
              <a:endParaRPr lang="en-IN" i="1" dirty="0"/>
            </a:p>
          </p:txBody>
        </p:sp>
        <p:cxnSp>
          <p:nvCxnSpPr>
            <p:cNvPr id="26" name="Straight Arrow Connector 25"/>
            <p:cNvCxnSpPr>
              <a:stCxn id="10" idx="2"/>
              <a:endCxn id="11" idx="0"/>
            </p:cNvCxnSpPr>
            <p:nvPr/>
          </p:nvCxnSpPr>
          <p:spPr>
            <a:xfrm>
              <a:off x="7200292" y="4053265"/>
              <a:ext cx="0" cy="52786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9" name="Group 44"/>
          <p:cNvGrpSpPr/>
          <p:nvPr/>
        </p:nvGrpSpPr>
        <p:grpSpPr>
          <a:xfrm>
            <a:off x="5220072" y="2852936"/>
            <a:ext cx="3888432" cy="1531913"/>
            <a:chOff x="5220072" y="2852936"/>
            <a:chExt cx="3888432" cy="1531913"/>
          </a:xfrm>
        </p:grpSpPr>
        <p:sp>
          <p:nvSpPr>
            <p:cNvPr id="10" name="TextBox 9"/>
            <p:cNvSpPr txBox="1"/>
            <p:nvPr/>
          </p:nvSpPr>
          <p:spPr>
            <a:xfrm>
              <a:off x="6516216" y="2852936"/>
              <a:ext cx="1368152" cy="1200329"/>
            </a:xfrm>
            <a:prstGeom prst="rect">
              <a:avLst/>
            </a:prstGeom>
            <a:solidFill>
              <a:srgbClr val="FFC000"/>
            </a:solidFill>
            <a:ln>
              <a:solidFill>
                <a:schemeClr val="tx1"/>
              </a:solidFill>
            </a:ln>
          </p:spPr>
          <p:txBody>
            <a:bodyPr wrap="square" rtlCol="0">
              <a:spAutoFit/>
            </a:bodyPr>
            <a:lstStyle/>
            <a:p>
              <a:pPr algn="ctr"/>
              <a:r>
                <a:rPr lang="en-IN" b="1" dirty="0" smtClean="0"/>
                <a:t>Digital Signature Verification Algorithm</a:t>
              </a:r>
              <a:endParaRPr lang="en-IN" b="1" dirty="0"/>
            </a:p>
          </p:txBody>
        </p:sp>
        <p:cxnSp>
          <p:nvCxnSpPr>
            <p:cNvPr id="22" name="Shape 21"/>
            <p:cNvCxnSpPr>
              <a:stCxn id="8" idx="3"/>
              <a:endCxn id="10" idx="0"/>
            </p:cNvCxnSpPr>
            <p:nvPr/>
          </p:nvCxnSpPr>
          <p:spPr>
            <a:xfrm flipV="1">
              <a:off x="5220072" y="2852936"/>
              <a:ext cx="1980220" cy="184666"/>
            </a:xfrm>
            <a:prstGeom prst="bentConnector4">
              <a:avLst>
                <a:gd name="adj1" fmla="val 32727"/>
                <a:gd name="adj2" fmla="val 22379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9" idx="3"/>
              <a:endCxn id="10" idx="1"/>
            </p:cNvCxnSpPr>
            <p:nvPr/>
          </p:nvCxnSpPr>
          <p:spPr>
            <a:xfrm>
              <a:off x="5220072" y="3397642"/>
              <a:ext cx="1296144" cy="55459"/>
            </a:xfrm>
            <a:prstGeom prst="bentConnector3">
              <a:avLst>
                <a:gd name="adj1" fmla="val 50000"/>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8436" name="Picture 4" descr="http://cliparts.co/cliparts/rcn/kqE/rcnkqE5cR.jpg"/>
            <p:cNvPicPr>
              <a:picLocks noChangeAspect="1" noChangeArrowheads="1"/>
            </p:cNvPicPr>
            <p:nvPr/>
          </p:nvPicPr>
          <p:blipFill>
            <a:blip r:embed="rId2" cstate="print"/>
            <a:srcRect/>
            <a:stretch>
              <a:fillRect/>
            </a:stretch>
          </p:blipFill>
          <p:spPr bwMode="auto">
            <a:xfrm>
              <a:off x="8436793" y="2924944"/>
              <a:ext cx="455687" cy="1007021"/>
            </a:xfrm>
            <a:prstGeom prst="rect">
              <a:avLst/>
            </a:prstGeom>
            <a:noFill/>
          </p:spPr>
        </p:pic>
        <p:sp>
          <p:nvSpPr>
            <p:cNvPr id="31" name="TextBox 30"/>
            <p:cNvSpPr txBox="1"/>
            <p:nvPr/>
          </p:nvSpPr>
          <p:spPr>
            <a:xfrm>
              <a:off x="7740352" y="4077072"/>
              <a:ext cx="1368152" cy="307777"/>
            </a:xfrm>
            <a:prstGeom prst="rect">
              <a:avLst/>
            </a:prstGeom>
            <a:noFill/>
            <a:ln>
              <a:noFill/>
            </a:ln>
          </p:spPr>
          <p:txBody>
            <a:bodyPr wrap="square" rtlCol="0">
              <a:spAutoFit/>
            </a:bodyPr>
            <a:lstStyle/>
            <a:p>
              <a:pPr algn="ctr"/>
              <a:r>
                <a:rPr lang="en-IN" sz="1400" b="1" i="1" dirty="0" smtClean="0"/>
                <a:t>Bob’s Public Key</a:t>
              </a:r>
              <a:endParaRPr lang="en-IN" sz="1400" b="1" i="1" dirty="0"/>
            </a:p>
          </p:txBody>
        </p:sp>
        <p:cxnSp>
          <p:nvCxnSpPr>
            <p:cNvPr id="33" name="Straight Arrow Connector 32"/>
            <p:cNvCxnSpPr/>
            <p:nvPr/>
          </p:nvCxnSpPr>
          <p:spPr>
            <a:xfrm flipH="1">
              <a:off x="7884368" y="3501008"/>
              <a:ext cx="648072"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40"/>
          <p:cNvGrpSpPr/>
          <p:nvPr/>
        </p:nvGrpSpPr>
        <p:grpSpPr>
          <a:xfrm>
            <a:off x="179512" y="2852936"/>
            <a:ext cx="2592288" cy="1531913"/>
            <a:chOff x="179512" y="2852936"/>
            <a:chExt cx="2592288" cy="1531913"/>
          </a:xfrm>
        </p:grpSpPr>
        <p:sp>
          <p:nvSpPr>
            <p:cNvPr id="6" name="TextBox 5"/>
            <p:cNvSpPr txBox="1"/>
            <p:nvPr/>
          </p:nvSpPr>
          <p:spPr>
            <a:xfrm>
              <a:off x="1403648" y="2852936"/>
              <a:ext cx="1368152" cy="1200329"/>
            </a:xfrm>
            <a:prstGeom prst="rect">
              <a:avLst/>
            </a:prstGeom>
            <a:solidFill>
              <a:srgbClr val="FFFF00"/>
            </a:solidFill>
            <a:ln>
              <a:solidFill>
                <a:schemeClr val="tx1"/>
              </a:solidFill>
            </a:ln>
          </p:spPr>
          <p:txBody>
            <a:bodyPr wrap="square" rtlCol="0">
              <a:spAutoFit/>
            </a:bodyPr>
            <a:lstStyle/>
            <a:p>
              <a:pPr algn="ctr"/>
              <a:r>
                <a:rPr lang="en-IN" b="1" dirty="0" smtClean="0"/>
                <a:t>Digital Signature Generation Algorithm</a:t>
              </a:r>
              <a:endParaRPr lang="en-IN" b="1" dirty="0"/>
            </a:p>
          </p:txBody>
        </p:sp>
        <p:pic>
          <p:nvPicPr>
            <p:cNvPr id="18440" name="Picture 8" descr="Red Skeleton Key  Clip Art"/>
            <p:cNvPicPr>
              <a:picLocks noChangeAspect="1" noChangeArrowheads="1"/>
            </p:cNvPicPr>
            <p:nvPr/>
          </p:nvPicPr>
          <p:blipFill>
            <a:blip r:embed="rId3" cstate="print"/>
            <a:srcRect l="12215" t="21928"/>
            <a:stretch>
              <a:fillRect/>
            </a:stretch>
          </p:blipFill>
          <p:spPr bwMode="auto">
            <a:xfrm rot="5400000">
              <a:off x="194749" y="3125731"/>
              <a:ext cx="1035000" cy="633426"/>
            </a:xfrm>
            <a:prstGeom prst="rect">
              <a:avLst/>
            </a:prstGeom>
            <a:noFill/>
          </p:spPr>
        </p:pic>
        <p:sp>
          <p:nvSpPr>
            <p:cNvPr id="38" name="TextBox 37"/>
            <p:cNvSpPr txBox="1"/>
            <p:nvPr/>
          </p:nvSpPr>
          <p:spPr>
            <a:xfrm>
              <a:off x="179512" y="4077072"/>
              <a:ext cx="1512168" cy="307777"/>
            </a:xfrm>
            <a:prstGeom prst="rect">
              <a:avLst/>
            </a:prstGeom>
            <a:noFill/>
            <a:ln>
              <a:noFill/>
            </a:ln>
          </p:spPr>
          <p:txBody>
            <a:bodyPr wrap="square" rtlCol="0">
              <a:spAutoFit/>
            </a:bodyPr>
            <a:lstStyle/>
            <a:p>
              <a:pPr algn="ctr"/>
              <a:r>
                <a:rPr lang="en-IN" sz="1400" b="1" i="1" dirty="0" smtClean="0"/>
                <a:t>Bob’s Private Key</a:t>
              </a:r>
              <a:endParaRPr lang="en-IN" sz="1400" b="1" i="1" dirty="0"/>
            </a:p>
          </p:txBody>
        </p:sp>
        <p:cxnSp>
          <p:nvCxnSpPr>
            <p:cNvPr id="39" name="Straight Arrow Connector 38"/>
            <p:cNvCxnSpPr/>
            <p:nvPr/>
          </p:nvCxnSpPr>
          <p:spPr>
            <a:xfrm flipH="1">
              <a:off x="755576" y="3573016"/>
              <a:ext cx="648072" cy="0"/>
            </a:xfrm>
            <a:prstGeom prst="straightConnector1">
              <a:avLst/>
            </a:prstGeom>
            <a:ln w="190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23" name="Group 52"/>
          <p:cNvGrpSpPr/>
          <p:nvPr/>
        </p:nvGrpSpPr>
        <p:grpSpPr>
          <a:xfrm>
            <a:off x="311313" y="1628800"/>
            <a:ext cx="8149119" cy="1274078"/>
            <a:chOff x="311313" y="1628800"/>
            <a:chExt cx="8149119" cy="1274078"/>
          </a:xfrm>
        </p:grpSpPr>
        <p:grpSp>
          <p:nvGrpSpPr>
            <p:cNvPr id="25" name="Group 46"/>
            <p:cNvGrpSpPr/>
            <p:nvPr/>
          </p:nvGrpSpPr>
          <p:grpSpPr>
            <a:xfrm>
              <a:off x="311313" y="1628800"/>
              <a:ext cx="804303" cy="1274078"/>
              <a:chOff x="2138420" y="2204864"/>
              <a:chExt cx="573587" cy="1058054"/>
            </a:xfrm>
          </p:grpSpPr>
          <p:pic>
            <p:nvPicPr>
              <p:cNvPr id="48" name="Picture 16" descr="http://www.clipartbest.com/cliparts/acq/z4k/acqz4kBxi.jpeg"/>
              <p:cNvPicPr>
                <a:picLocks noChangeAspect="1" noChangeArrowheads="1"/>
              </p:cNvPicPr>
              <p:nvPr/>
            </p:nvPicPr>
            <p:blipFill>
              <a:blip r:embed="rId4" cstate="print"/>
              <a:srcRect/>
              <a:stretch>
                <a:fillRect/>
              </a:stretch>
            </p:blipFill>
            <p:spPr bwMode="auto">
              <a:xfrm>
                <a:off x="2195736" y="2204864"/>
                <a:ext cx="516271" cy="490084"/>
              </a:xfrm>
              <a:prstGeom prst="rect">
                <a:avLst/>
              </a:prstGeom>
              <a:noFill/>
            </p:spPr>
          </p:pic>
          <p:sp>
            <p:nvSpPr>
              <p:cNvPr id="49" name="TextBox 48"/>
              <p:cNvSpPr txBox="1"/>
              <p:nvPr/>
            </p:nvSpPr>
            <p:spPr>
              <a:xfrm>
                <a:off x="2138420" y="2708920"/>
                <a:ext cx="561372" cy="553998"/>
              </a:xfrm>
              <a:prstGeom prst="rect">
                <a:avLst/>
              </a:prstGeom>
              <a:noFill/>
            </p:spPr>
            <p:txBody>
              <a:bodyPr wrap="none" rtlCol="0">
                <a:spAutoFit/>
              </a:bodyPr>
              <a:lstStyle/>
              <a:p>
                <a:pPr algn="ctr"/>
                <a:r>
                  <a:rPr lang="en-IN" b="1" dirty="0" smtClean="0"/>
                  <a:t>Bob</a:t>
                </a:r>
              </a:p>
              <a:p>
                <a:endParaRPr lang="en-IN" sz="1200" b="1" dirty="0"/>
              </a:p>
            </p:txBody>
          </p:sp>
        </p:grpSp>
        <p:grpSp>
          <p:nvGrpSpPr>
            <p:cNvPr id="27" name="Group 49"/>
            <p:cNvGrpSpPr/>
            <p:nvPr/>
          </p:nvGrpSpPr>
          <p:grpSpPr>
            <a:xfrm>
              <a:off x="7452320" y="1628800"/>
              <a:ext cx="1008112" cy="1274078"/>
              <a:chOff x="6228184" y="2276872"/>
              <a:chExt cx="720080" cy="986046"/>
            </a:xfrm>
          </p:grpSpPr>
          <p:pic>
            <p:nvPicPr>
              <p:cNvPr id="51" name="Picture 18" descr="http://vector.me/files/images/1/6/162062/female_user_icon_clip_art.jpg"/>
              <p:cNvPicPr>
                <a:picLocks noChangeAspect="1" noChangeArrowheads="1"/>
              </p:cNvPicPr>
              <p:nvPr/>
            </p:nvPicPr>
            <p:blipFill>
              <a:blip r:embed="rId5" cstate="print"/>
              <a:srcRect/>
              <a:stretch>
                <a:fillRect/>
              </a:stretch>
            </p:blipFill>
            <p:spPr bwMode="auto">
              <a:xfrm>
                <a:off x="6372200" y="2276872"/>
                <a:ext cx="464895" cy="466081"/>
              </a:xfrm>
              <a:prstGeom prst="rect">
                <a:avLst/>
              </a:prstGeom>
              <a:noFill/>
            </p:spPr>
          </p:pic>
          <p:sp>
            <p:nvSpPr>
              <p:cNvPr id="52" name="TextBox 51"/>
              <p:cNvSpPr txBox="1"/>
              <p:nvPr/>
            </p:nvSpPr>
            <p:spPr>
              <a:xfrm>
                <a:off x="6228184" y="2708920"/>
                <a:ext cx="720080" cy="553998"/>
              </a:xfrm>
              <a:prstGeom prst="rect">
                <a:avLst/>
              </a:prstGeom>
              <a:noFill/>
            </p:spPr>
            <p:txBody>
              <a:bodyPr wrap="square" rtlCol="0">
                <a:spAutoFit/>
              </a:bodyPr>
              <a:lstStyle/>
              <a:p>
                <a:pPr algn="ctr"/>
                <a:r>
                  <a:rPr lang="en-IN" b="1" dirty="0" smtClean="0"/>
                  <a:t>Alice</a:t>
                </a:r>
              </a:p>
              <a:p>
                <a:endParaRPr lang="en-IN" sz="1200" b="1" dirty="0"/>
              </a:p>
            </p:txBody>
          </p:sp>
        </p:grpSp>
      </p:grpSp>
    </p:spTree>
    <p:extLst>
      <p:ext uri="{BB962C8B-B14F-4D97-AF65-F5344CB8AC3E}">
        <p14:creationId xmlns="" xmlns:p14="http://schemas.microsoft.com/office/powerpoint/2010/main" val="31747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28800"/>
            <a:ext cx="8229600" cy="4525963"/>
          </a:xfrm>
        </p:spPr>
        <p:txBody>
          <a:bodyPr vert="horz" lIns="91440" tIns="45720" rIns="91440" bIns="45720" rtlCol="0">
            <a:normAutofit fontScale="92500" lnSpcReduction="20000"/>
          </a:bodyPr>
          <a:lstStyle/>
          <a:p>
            <a:pPr>
              <a:buClrTx/>
              <a:buChar char="•"/>
            </a:pPr>
            <a:r>
              <a:rPr lang="en-IN" sz="3200" dirty="0">
                <a:cs typeface="+mn-cs"/>
              </a:rPr>
              <a:t>Scenerio-1: Since Alice used Bob’s public key to verify the signature. The sender is </a:t>
            </a:r>
            <a:r>
              <a:rPr lang="en-IN" sz="3200" dirty="0" smtClean="0">
                <a:cs typeface="+mn-cs"/>
              </a:rPr>
              <a:t>authenticated</a:t>
            </a:r>
          </a:p>
          <a:p>
            <a:pPr>
              <a:buClrTx/>
              <a:buChar char="•"/>
            </a:pPr>
            <a:endParaRPr lang="en-IN" sz="3200" dirty="0" smtClean="0">
              <a:cs typeface="+mn-cs"/>
            </a:endParaRPr>
          </a:p>
          <a:p>
            <a:pPr>
              <a:buClrTx/>
              <a:buChar char="•"/>
            </a:pPr>
            <a:r>
              <a:rPr lang="en-IN" sz="3200" dirty="0" smtClean="0">
                <a:cs typeface="+mn-cs"/>
              </a:rPr>
              <a:t>Scenerio-2</a:t>
            </a:r>
            <a:r>
              <a:rPr lang="en-IN" sz="3200" dirty="0">
                <a:cs typeface="+mn-cs"/>
              </a:rPr>
              <a:t>: In case message is altered, the digital signature verification would fail and Alice would come to know that the message was </a:t>
            </a:r>
            <a:r>
              <a:rPr lang="en-IN" sz="3200" dirty="0" smtClean="0">
                <a:cs typeface="+mn-cs"/>
              </a:rPr>
              <a:t>altered</a:t>
            </a:r>
            <a:endParaRPr lang="en-IN" sz="3200" dirty="0">
              <a:cs typeface="+mn-cs"/>
            </a:endParaRPr>
          </a:p>
          <a:p>
            <a:pPr>
              <a:buClrTx/>
              <a:buChar char="•"/>
            </a:pPr>
            <a:endParaRPr lang="en-IN" sz="3200" dirty="0">
              <a:cs typeface="+mn-cs"/>
            </a:endParaRPr>
          </a:p>
          <a:p>
            <a:pPr>
              <a:buClrTx/>
              <a:buChar char="•"/>
            </a:pPr>
            <a:r>
              <a:rPr lang="en-IN" sz="3200" dirty="0">
                <a:cs typeface="+mn-cs"/>
              </a:rPr>
              <a:t>Scenerio-3: Alice can keep the signature received from Bob for later use. In case of repudiation, she can produce the signature to grievance </a:t>
            </a:r>
            <a:r>
              <a:rPr lang="en-IN" sz="3200" dirty="0" smtClean="0">
                <a:cs typeface="+mn-cs"/>
              </a:rPr>
              <a:t>authority</a:t>
            </a:r>
            <a:endParaRPr lang="en-IN" sz="3200" dirty="0">
              <a:cs typeface="+mn-cs"/>
            </a:endParaRPr>
          </a:p>
          <a:p>
            <a:pPr>
              <a:buClrTx/>
              <a:buChar char="•"/>
            </a:pPr>
            <a:endParaRPr lang="en-IN" sz="3200" dirty="0">
              <a:cs typeface="+mn-cs"/>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How Digital Signature Helped?</a:t>
            </a:r>
          </a:p>
        </p:txBody>
      </p:sp>
    </p:spTree>
    <p:extLst>
      <p:ext uri="{BB962C8B-B14F-4D97-AF65-F5344CB8AC3E}">
        <p14:creationId xmlns="" xmlns:p14="http://schemas.microsoft.com/office/powerpoint/2010/main" val="425289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srcRect/>
          <a:stretch>
            <a:fillRect/>
          </a:stretch>
        </p:blipFill>
        <p:spPr bwMode="auto">
          <a:xfrm>
            <a:off x="179512" y="1700808"/>
            <a:ext cx="5112568" cy="2376264"/>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Digital Signature Working</a:t>
            </a:r>
            <a:endParaRPr lang="en-IN" sz="3200" dirty="0">
              <a:latin typeface="+mj-lt"/>
              <a:ea typeface="+mj-ea"/>
              <a:cs typeface="+mj-cs"/>
            </a:endParaRPr>
          </a:p>
        </p:txBody>
      </p:sp>
      <p:pic>
        <p:nvPicPr>
          <p:cNvPr id="6" name="Picture 2"/>
          <p:cNvPicPr>
            <a:picLocks noChangeAspect="1" noChangeArrowheads="1"/>
          </p:cNvPicPr>
          <p:nvPr/>
        </p:nvPicPr>
        <p:blipFill>
          <a:blip r:embed="rId3"/>
          <a:srcRect/>
          <a:stretch>
            <a:fillRect/>
          </a:stretch>
        </p:blipFill>
        <p:spPr bwMode="auto">
          <a:xfrm>
            <a:off x="3635896" y="4149080"/>
            <a:ext cx="5381499" cy="2304256"/>
          </a:xfrm>
          <a:prstGeom prst="rect">
            <a:avLst/>
          </a:prstGeom>
          <a:noFill/>
          <a:ln w="9525">
            <a:noFill/>
            <a:miter lim="800000"/>
            <a:headEnd/>
            <a:tailEnd/>
          </a:ln>
          <a:effectLst/>
        </p:spPr>
      </p:pic>
    </p:spTree>
    <p:extLst>
      <p:ext uri="{BB962C8B-B14F-4D97-AF65-F5344CB8AC3E}">
        <p14:creationId xmlns="" xmlns:p14="http://schemas.microsoft.com/office/powerpoint/2010/main" val="202178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1000"/>
                                        <p:tgtEl>
                                          <p:spTgt spid="12290"/>
                                        </p:tgtEl>
                                      </p:cBhvr>
                                    </p:animEffect>
                                    <p:anim calcmode="lin" valueType="num">
                                      <p:cBhvr>
                                        <p:cTn id="8" dur="1000" fill="hold"/>
                                        <p:tgtEl>
                                          <p:spTgt spid="12290"/>
                                        </p:tgtEl>
                                        <p:attrNameLst>
                                          <p:attrName>ppt_x</p:attrName>
                                        </p:attrNameLst>
                                      </p:cBhvr>
                                      <p:tavLst>
                                        <p:tav tm="0">
                                          <p:val>
                                            <p:strVal val="#ppt_x"/>
                                          </p:val>
                                        </p:tav>
                                        <p:tav tm="100000">
                                          <p:val>
                                            <p:strVal val="#ppt_x"/>
                                          </p:val>
                                        </p:tav>
                                      </p:tavLst>
                                    </p:anim>
                                    <p:anim calcmode="lin" valueType="num">
                                      <p:cBhvr>
                                        <p:cTn id="9" dur="1000" fill="hold"/>
                                        <p:tgtEl>
                                          <p:spTgt spid="1229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Digital Signature Working Contd..</a:t>
            </a:r>
            <a:endParaRPr lang="en-IN" sz="3200" dirty="0">
              <a:latin typeface="+mj-lt"/>
              <a:ea typeface="+mj-ea"/>
              <a:cs typeface="+mj-cs"/>
            </a:endParaRPr>
          </a:p>
        </p:txBody>
      </p:sp>
      <p:pic>
        <p:nvPicPr>
          <p:cNvPr id="7" name="Picture 2"/>
          <p:cNvPicPr>
            <a:picLocks noGrp="1" noChangeAspect="1" noChangeArrowheads="1"/>
          </p:cNvPicPr>
          <p:nvPr>
            <p:ph idx="1"/>
          </p:nvPr>
        </p:nvPicPr>
        <p:blipFill>
          <a:blip r:embed="rId2"/>
          <a:srcRect/>
          <a:stretch>
            <a:fillRect/>
          </a:stretch>
        </p:blipFill>
        <p:spPr bwMode="auto">
          <a:xfrm>
            <a:off x="304800" y="1484784"/>
            <a:ext cx="4739431" cy="2304256"/>
          </a:xfrm>
          <a:prstGeom prst="rect">
            <a:avLst/>
          </a:prstGeom>
          <a:noFill/>
          <a:ln w="9525">
            <a:noFill/>
            <a:miter lim="800000"/>
            <a:headEnd/>
            <a:tailEnd/>
          </a:ln>
          <a:effectLst/>
        </p:spPr>
      </p:pic>
      <p:pic>
        <p:nvPicPr>
          <p:cNvPr id="8" name="Picture 2"/>
          <p:cNvPicPr>
            <a:picLocks noChangeAspect="1" noChangeArrowheads="1"/>
          </p:cNvPicPr>
          <p:nvPr/>
        </p:nvPicPr>
        <p:blipFill>
          <a:blip r:embed="rId3"/>
          <a:srcRect/>
          <a:stretch>
            <a:fillRect/>
          </a:stretch>
        </p:blipFill>
        <p:spPr bwMode="auto">
          <a:xfrm>
            <a:off x="1259632" y="3861048"/>
            <a:ext cx="7380312" cy="2629297"/>
          </a:xfrm>
          <a:prstGeom prst="rect">
            <a:avLst/>
          </a:prstGeom>
          <a:noFill/>
          <a:ln w="9525">
            <a:noFill/>
            <a:miter lim="800000"/>
            <a:headEnd/>
            <a:tailEnd/>
          </a:ln>
          <a:effectLst/>
        </p:spPr>
      </p:pic>
    </p:spTree>
    <p:extLst>
      <p:ext uri="{BB962C8B-B14F-4D97-AF65-F5344CB8AC3E}">
        <p14:creationId xmlns="" xmlns:p14="http://schemas.microsoft.com/office/powerpoint/2010/main" val="286069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Digital Signature Working Contd..</a:t>
            </a:r>
            <a:endParaRPr lang="en-IN" sz="3200" dirty="0">
              <a:latin typeface="+mj-lt"/>
              <a:ea typeface="+mj-ea"/>
              <a:cs typeface="+mj-cs"/>
            </a:endParaRPr>
          </a:p>
        </p:txBody>
      </p:sp>
      <p:pic>
        <p:nvPicPr>
          <p:cNvPr id="6" name="Picture 2"/>
          <p:cNvPicPr>
            <a:picLocks noGrp="1" noChangeAspect="1" noChangeArrowheads="1"/>
          </p:cNvPicPr>
          <p:nvPr>
            <p:ph idx="1"/>
          </p:nvPr>
        </p:nvPicPr>
        <p:blipFill>
          <a:blip r:embed="rId2"/>
          <a:srcRect/>
          <a:stretch>
            <a:fillRect/>
          </a:stretch>
        </p:blipFill>
        <p:spPr bwMode="auto">
          <a:xfrm>
            <a:off x="539552" y="1772816"/>
            <a:ext cx="7508701" cy="4152900"/>
          </a:xfrm>
          <a:prstGeom prst="rect">
            <a:avLst/>
          </a:prstGeom>
          <a:noFill/>
          <a:ln w="9525">
            <a:noFill/>
            <a:miter lim="800000"/>
            <a:headEnd/>
            <a:tailEnd/>
          </a:ln>
          <a:effectLst/>
        </p:spPr>
      </p:pic>
    </p:spTree>
    <p:extLst>
      <p:ext uri="{BB962C8B-B14F-4D97-AF65-F5344CB8AC3E}">
        <p14:creationId xmlns="" xmlns:p14="http://schemas.microsoft.com/office/powerpoint/2010/main" val="137050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Digital Signature Working Contd..</a:t>
            </a:r>
            <a:endParaRPr lang="en-IN" sz="3200" dirty="0">
              <a:latin typeface="+mj-lt"/>
              <a:ea typeface="+mj-ea"/>
              <a:cs typeface="+mj-cs"/>
            </a:endParaRPr>
          </a:p>
        </p:txBody>
      </p:sp>
      <p:pic>
        <p:nvPicPr>
          <p:cNvPr id="7" name="Picture 2"/>
          <p:cNvPicPr>
            <a:picLocks noGrp="1" noChangeAspect="1" noChangeArrowheads="1"/>
          </p:cNvPicPr>
          <p:nvPr>
            <p:ph idx="1"/>
          </p:nvPr>
        </p:nvPicPr>
        <p:blipFill>
          <a:blip r:embed="rId2"/>
          <a:srcRect/>
          <a:stretch>
            <a:fillRect/>
          </a:stretch>
        </p:blipFill>
        <p:spPr bwMode="auto">
          <a:xfrm>
            <a:off x="361950" y="1837531"/>
            <a:ext cx="8115300" cy="3838575"/>
          </a:xfrm>
          <a:prstGeom prst="rect">
            <a:avLst/>
          </a:prstGeom>
          <a:noFill/>
          <a:ln w="9525">
            <a:noFill/>
            <a:miter lim="800000"/>
            <a:headEnd/>
            <a:tailEnd/>
          </a:ln>
          <a:effectLst/>
        </p:spPr>
      </p:pic>
    </p:spTree>
    <p:extLst>
      <p:ext uri="{BB962C8B-B14F-4D97-AF65-F5344CB8AC3E}">
        <p14:creationId xmlns="" xmlns:p14="http://schemas.microsoft.com/office/powerpoint/2010/main" val="233087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Digital Signature based on RSA</a:t>
            </a:r>
            <a:endParaRPr lang="en-IN" dirty="0"/>
          </a:p>
        </p:txBody>
      </p:sp>
      <p:grpSp>
        <p:nvGrpSpPr>
          <p:cNvPr id="2" name="Group 47"/>
          <p:cNvGrpSpPr/>
          <p:nvPr/>
        </p:nvGrpSpPr>
        <p:grpSpPr>
          <a:xfrm>
            <a:off x="1475656" y="1844824"/>
            <a:ext cx="1224136" cy="1358860"/>
            <a:chOff x="1475656" y="1844824"/>
            <a:chExt cx="1224136" cy="1358860"/>
          </a:xfrm>
        </p:grpSpPr>
        <p:sp>
          <p:nvSpPr>
            <p:cNvPr id="5" name="TextBox 4"/>
            <p:cNvSpPr txBox="1"/>
            <p:nvPr/>
          </p:nvSpPr>
          <p:spPr>
            <a:xfrm>
              <a:off x="1475656" y="1844824"/>
              <a:ext cx="1224136" cy="369332"/>
            </a:xfrm>
            <a:prstGeom prst="rect">
              <a:avLst/>
            </a:prstGeom>
            <a:solidFill>
              <a:srgbClr val="92D050"/>
            </a:solidFill>
            <a:ln>
              <a:solidFill>
                <a:schemeClr val="tx1"/>
              </a:solidFill>
            </a:ln>
          </p:spPr>
          <p:txBody>
            <a:bodyPr wrap="square" rtlCol="0">
              <a:spAutoFit/>
            </a:bodyPr>
            <a:lstStyle/>
            <a:p>
              <a:pPr algn="ctr"/>
              <a:r>
                <a:rPr lang="en-IN" b="1" dirty="0" smtClean="0"/>
                <a:t>Message</a:t>
              </a:r>
              <a:endParaRPr lang="en-IN" b="1" dirty="0"/>
            </a:p>
          </p:txBody>
        </p:sp>
        <p:cxnSp>
          <p:nvCxnSpPr>
            <p:cNvPr id="12" name="Straight Arrow Connector 11"/>
            <p:cNvCxnSpPr>
              <a:stCxn id="5" idx="2"/>
              <a:endCxn id="6" idx="0"/>
            </p:cNvCxnSpPr>
            <p:nvPr/>
          </p:nvCxnSpPr>
          <p:spPr>
            <a:xfrm>
              <a:off x="2087724" y="2214156"/>
              <a:ext cx="0" cy="98952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4" name="Group 50"/>
          <p:cNvGrpSpPr/>
          <p:nvPr/>
        </p:nvGrpSpPr>
        <p:grpSpPr>
          <a:xfrm>
            <a:off x="2699792" y="2029490"/>
            <a:ext cx="2520280" cy="2874804"/>
            <a:chOff x="2699792" y="2029490"/>
            <a:chExt cx="2520280" cy="2874804"/>
          </a:xfrm>
        </p:grpSpPr>
        <p:grpSp>
          <p:nvGrpSpPr>
            <p:cNvPr id="10" name="Group 48"/>
            <p:cNvGrpSpPr/>
            <p:nvPr/>
          </p:nvGrpSpPr>
          <p:grpSpPr>
            <a:xfrm>
              <a:off x="2699792" y="2029490"/>
              <a:ext cx="2520280" cy="1192778"/>
              <a:chOff x="2699792" y="2029490"/>
              <a:chExt cx="2520280" cy="1192778"/>
            </a:xfrm>
          </p:grpSpPr>
          <p:sp>
            <p:nvSpPr>
              <p:cNvPr id="8" name="TextBox 7"/>
              <p:cNvSpPr txBox="1"/>
              <p:nvPr/>
            </p:nvSpPr>
            <p:spPr>
              <a:xfrm>
                <a:off x="3995936" y="2852936"/>
                <a:ext cx="1224136" cy="369332"/>
              </a:xfrm>
              <a:prstGeom prst="rect">
                <a:avLst/>
              </a:prstGeom>
              <a:solidFill>
                <a:srgbClr val="92D050"/>
              </a:solidFill>
              <a:ln>
                <a:solidFill>
                  <a:schemeClr val="tx1"/>
                </a:solidFill>
              </a:ln>
            </p:spPr>
            <p:txBody>
              <a:bodyPr wrap="square" rtlCol="0">
                <a:spAutoFit/>
              </a:bodyPr>
              <a:lstStyle/>
              <a:p>
                <a:pPr algn="ctr"/>
                <a:r>
                  <a:rPr lang="en-IN" b="1" dirty="0" smtClean="0"/>
                  <a:t>Message</a:t>
                </a:r>
              </a:p>
            </p:txBody>
          </p:sp>
          <p:cxnSp>
            <p:nvCxnSpPr>
              <p:cNvPr id="14" name="Shape 13"/>
              <p:cNvCxnSpPr>
                <a:stCxn id="5" idx="3"/>
                <a:endCxn id="8" idx="0"/>
              </p:cNvCxnSpPr>
              <p:nvPr/>
            </p:nvCxnSpPr>
            <p:spPr>
              <a:xfrm>
                <a:off x="2699792" y="2029490"/>
                <a:ext cx="1908212" cy="823446"/>
              </a:xfrm>
              <a:prstGeom prst="bentConnector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Group 49"/>
            <p:cNvGrpSpPr/>
            <p:nvPr/>
          </p:nvGrpSpPr>
          <p:grpSpPr>
            <a:xfrm>
              <a:off x="2699792" y="3212976"/>
              <a:ext cx="2520280" cy="1691318"/>
              <a:chOff x="2699792" y="3212976"/>
              <a:chExt cx="2520280" cy="1691318"/>
            </a:xfrm>
          </p:grpSpPr>
          <p:sp>
            <p:nvSpPr>
              <p:cNvPr id="9" name="TextBox 8"/>
              <p:cNvSpPr txBox="1"/>
              <p:nvPr/>
            </p:nvSpPr>
            <p:spPr>
              <a:xfrm>
                <a:off x="3995936" y="3212976"/>
                <a:ext cx="1224136" cy="646331"/>
              </a:xfrm>
              <a:prstGeom prst="rect">
                <a:avLst/>
              </a:prstGeom>
              <a:solidFill>
                <a:srgbClr val="C00000"/>
              </a:solidFill>
              <a:ln>
                <a:solidFill>
                  <a:schemeClr val="tx1"/>
                </a:solidFill>
              </a:ln>
            </p:spPr>
            <p:txBody>
              <a:bodyPr wrap="square" rtlCol="0">
                <a:spAutoFit/>
              </a:bodyPr>
              <a:lstStyle/>
              <a:p>
                <a:pPr algn="ctr"/>
                <a:r>
                  <a:rPr lang="en-IN" b="1" dirty="0" smtClean="0">
                    <a:solidFill>
                      <a:schemeClr val="bg1"/>
                    </a:solidFill>
                  </a:rPr>
                  <a:t>Encrypted Hash Code</a:t>
                </a:r>
              </a:p>
            </p:txBody>
          </p:sp>
          <p:cxnSp>
            <p:nvCxnSpPr>
              <p:cNvPr id="15" name="Shape 14"/>
              <p:cNvCxnSpPr>
                <a:stCxn id="7" idx="3"/>
                <a:endCxn id="9" idx="2"/>
              </p:cNvCxnSpPr>
              <p:nvPr/>
            </p:nvCxnSpPr>
            <p:spPr>
              <a:xfrm flipV="1">
                <a:off x="2699792" y="3859307"/>
                <a:ext cx="1908212" cy="1044987"/>
              </a:xfrm>
              <a:prstGeom prst="bentConnector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16" name="Group 51"/>
          <p:cNvGrpSpPr/>
          <p:nvPr/>
        </p:nvGrpSpPr>
        <p:grpSpPr>
          <a:xfrm>
            <a:off x="5220072" y="2708920"/>
            <a:ext cx="2160240" cy="369332"/>
            <a:chOff x="5220072" y="2708920"/>
            <a:chExt cx="2160240" cy="369332"/>
          </a:xfrm>
        </p:grpSpPr>
        <p:sp>
          <p:nvSpPr>
            <p:cNvPr id="29" name="TextBox 28"/>
            <p:cNvSpPr txBox="1"/>
            <p:nvPr/>
          </p:nvSpPr>
          <p:spPr>
            <a:xfrm>
              <a:off x="6012160" y="2708920"/>
              <a:ext cx="1368152" cy="369332"/>
            </a:xfrm>
            <a:prstGeom prst="rect">
              <a:avLst/>
            </a:prstGeom>
            <a:solidFill>
              <a:srgbClr val="FFC000"/>
            </a:solidFill>
            <a:ln>
              <a:solidFill>
                <a:schemeClr val="tx1"/>
              </a:solidFill>
            </a:ln>
          </p:spPr>
          <p:txBody>
            <a:bodyPr wrap="square" rtlCol="0">
              <a:spAutoFit/>
            </a:bodyPr>
            <a:lstStyle/>
            <a:p>
              <a:pPr algn="ctr"/>
              <a:r>
                <a:rPr lang="en-IN" b="1" dirty="0" smtClean="0"/>
                <a:t>Hash Code</a:t>
              </a:r>
              <a:endParaRPr lang="en-IN" b="1" dirty="0"/>
            </a:p>
          </p:txBody>
        </p:sp>
        <p:cxnSp>
          <p:nvCxnSpPr>
            <p:cNvPr id="31" name="Elbow Connector 30"/>
            <p:cNvCxnSpPr>
              <a:stCxn id="8" idx="3"/>
              <a:endCxn id="29" idx="1"/>
            </p:cNvCxnSpPr>
            <p:nvPr/>
          </p:nvCxnSpPr>
          <p:spPr>
            <a:xfrm flipV="1">
              <a:off x="5220072" y="2893586"/>
              <a:ext cx="792088" cy="144016"/>
            </a:xfrm>
            <a:prstGeom prst="bentConnector3">
              <a:avLst>
                <a:gd name="adj1" fmla="val 50000"/>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7" name="Group 53"/>
          <p:cNvGrpSpPr/>
          <p:nvPr/>
        </p:nvGrpSpPr>
        <p:grpSpPr>
          <a:xfrm>
            <a:off x="7380312" y="2893586"/>
            <a:ext cx="1368152" cy="1872208"/>
            <a:chOff x="7380312" y="2893586"/>
            <a:chExt cx="1368152" cy="1872208"/>
          </a:xfrm>
        </p:grpSpPr>
        <p:sp>
          <p:nvSpPr>
            <p:cNvPr id="32" name="TextBox 31"/>
            <p:cNvSpPr txBox="1"/>
            <p:nvPr/>
          </p:nvSpPr>
          <p:spPr>
            <a:xfrm>
              <a:off x="7380312" y="3501008"/>
              <a:ext cx="1368152" cy="369332"/>
            </a:xfrm>
            <a:prstGeom prst="rect">
              <a:avLst/>
            </a:prstGeom>
            <a:noFill/>
            <a:ln>
              <a:noFill/>
            </a:ln>
          </p:spPr>
          <p:txBody>
            <a:bodyPr wrap="square" rtlCol="0">
              <a:spAutoFit/>
            </a:bodyPr>
            <a:lstStyle/>
            <a:p>
              <a:pPr algn="ctr"/>
              <a:r>
                <a:rPr lang="en-IN" b="1" dirty="0" smtClean="0"/>
                <a:t>Same?</a:t>
              </a:r>
              <a:endParaRPr lang="en-IN" b="1" dirty="0"/>
            </a:p>
          </p:txBody>
        </p:sp>
        <p:cxnSp>
          <p:nvCxnSpPr>
            <p:cNvPr id="34" name="Shape 33"/>
            <p:cNvCxnSpPr>
              <a:stCxn id="29" idx="3"/>
              <a:endCxn id="32" idx="0"/>
            </p:cNvCxnSpPr>
            <p:nvPr/>
          </p:nvCxnSpPr>
          <p:spPr>
            <a:xfrm>
              <a:off x="7380312" y="2893586"/>
              <a:ext cx="684076" cy="607422"/>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Shape 35"/>
            <p:cNvCxnSpPr>
              <a:stCxn id="26" idx="3"/>
              <a:endCxn id="32" idx="2"/>
            </p:cNvCxnSpPr>
            <p:nvPr/>
          </p:nvCxnSpPr>
          <p:spPr>
            <a:xfrm flipV="1">
              <a:off x="7380312" y="3870340"/>
              <a:ext cx="684076" cy="895454"/>
            </a:xfrm>
            <a:prstGeom prst="bentConnector2">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8" name="Group 54"/>
          <p:cNvGrpSpPr/>
          <p:nvPr/>
        </p:nvGrpSpPr>
        <p:grpSpPr>
          <a:xfrm>
            <a:off x="1403648" y="3203684"/>
            <a:ext cx="2376264" cy="3204532"/>
            <a:chOff x="1403648" y="3203684"/>
            <a:chExt cx="2376264" cy="3204532"/>
          </a:xfrm>
        </p:grpSpPr>
        <p:sp>
          <p:nvSpPr>
            <p:cNvPr id="6" name="TextBox 5"/>
            <p:cNvSpPr txBox="1"/>
            <p:nvPr/>
          </p:nvSpPr>
          <p:spPr>
            <a:xfrm>
              <a:off x="1403648" y="3203684"/>
              <a:ext cx="1368152" cy="369332"/>
            </a:xfrm>
            <a:prstGeom prst="rect">
              <a:avLst/>
            </a:prstGeom>
            <a:solidFill>
              <a:srgbClr val="FFFF00"/>
            </a:solidFill>
            <a:ln>
              <a:solidFill>
                <a:schemeClr val="tx1"/>
              </a:solidFill>
            </a:ln>
          </p:spPr>
          <p:txBody>
            <a:bodyPr wrap="square" rtlCol="0">
              <a:spAutoFit/>
            </a:bodyPr>
            <a:lstStyle/>
            <a:p>
              <a:pPr algn="ctr"/>
              <a:r>
                <a:rPr lang="en-IN" b="1" dirty="0" smtClean="0"/>
                <a:t>Hash Code</a:t>
              </a:r>
              <a:endParaRPr lang="en-IN" b="1" dirty="0"/>
            </a:p>
          </p:txBody>
        </p:sp>
        <p:sp>
          <p:nvSpPr>
            <p:cNvPr id="7" name="TextBox 6"/>
            <p:cNvSpPr txBox="1"/>
            <p:nvPr/>
          </p:nvSpPr>
          <p:spPr>
            <a:xfrm>
              <a:off x="1475656" y="4581128"/>
              <a:ext cx="1224136" cy="646331"/>
            </a:xfrm>
            <a:prstGeom prst="rect">
              <a:avLst/>
            </a:prstGeom>
            <a:solidFill>
              <a:srgbClr val="C00000"/>
            </a:solidFill>
            <a:ln>
              <a:solidFill>
                <a:schemeClr val="tx1"/>
              </a:solidFill>
            </a:ln>
          </p:spPr>
          <p:txBody>
            <a:bodyPr wrap="square" rtlCol="0">
              <a:spAutoFit/>
            </a:bodyPr>
            <a:lstStyle/>
            <a:p>
              <a:pPr algn="ctr"/>
              <a:r>
                <a:rPr lang="en-IN" b="1" dirty="0" smtClean="0">
                  <a:solidFill>
                    <a:schemeClr val="bg1"/>
                  </a:solidFill>
                </a:rPr>
                <a:t>Encrypted Hash Code</a:t>
              </a:r>
              <a:endParaRPr lang="en-IN" b="1" dirty="0">
                <a:solidFill>
                  <a:schemeClr val="bg1"/>
                </a:solidFill>
              </a:endParaRPr>
            </a:p>
          </p:txBody>
        </p:sp>
        <p:cxnSp>
          <p:nvCxnSpPr>
            <p:cNvPr id="13" name="Straight Arrow Connector 12"/>
            <p:cNvCxnSpPr>
              <a:stCxn id="6" idx="2"/>
              <a:endCxn id="7" idx="0"/>
            </p:cNvCxnSpPr>
            <p:nvPr/>
          </p:nvCxnSpPr>
          <p:spPr>
            <a:xfrm>
              <a:off x="2087724" y="3573016"/>
              <a:ext cx="0" cy="100811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0" name="Picture 8" descr="Red Skeleton Key  Clip Art"/>
            <p:cNvPicPr>
              <a:picLocks noChangeAspect="1" noChangeArrowheads="1"/>
            </p:cNvPicPr>
            <p:nvPr/>
          </p:nvPicPr>
          <p:blipFill>
            <a:blip r:embed="rId2" cstate="print"/>
            <a:srcRect l="12215" t="21928"/>
            <a:stretch>
              <a:fillRect/>
            </a:stretch>
          </p:blipFill>
          <p:spPr bwMode="auto">
            <a:xfrm rot="5400000">
              <a:off x="1562901" y="5574003"/>
              <a:ext cx="1035000" cy="633426"/>
            </a:xfrm>
            <a:prstGeom prst="rect">
              <a:avLst/>
            </a:prstGeom>
            <a:noFill/>
          </p:spPr>
        </p:pic>
        <p:sp>
          <p:nvSpPr>
            <p:cNvPr id="23" name="TextBox 22"/>
            <p:cNvSpPr txBox="1"/>
            <p:nvPr/>
          </p:nvSpPr>
          <p:spPr>
            <a:xfrm>
              <a:off x="2267744" y="5877272"/>
              <a:ext cx="1512168" cy="307777"/>
            </a:xfrm>
            <a:prstGeom prst="rect">
              <a:avLst/>
            </a:prstGeom>
            <a:noFill/>
            <a:ln>
              <a:noFill/>
            </a:ln>
          </p:spPr>
          <p:txBody>
            <a:bodyPr wrap="square" rtlCol="0">
              <a:spAutoFit/>
            </a:bodyPr>
            <a:lstStyle/>
            <a:p>
              <a:pPr algn="ctr"/>
              <a:r>
                <a:rPr lang="en-IN" sz="1400" b="1" i="1" dirty="0" smtClean="0"/>
                <a:t>Bob’s Private Key</a:t>
              </a:r>
              <a:endParaRPr lang="en-IN" sz="1400" b="1" i="1" dirty="0"/>
            </a:p>
          </p:txBody>
        </p:sp>
        <p:cxnSp>
          <p:nvCxnSpPr>
            <p:cNvPr id="41" name="Elbow Connector 40"/>
            <p:cNvCxnSpPr>
              <a:stCxn id="20" idx="2"/>
              <a:endCxn id="7" idx="1"/>
            </p:cNvCxnSpPr>
            <p:nvPr/>
          </p:nvCxnSpPr>
          <p:spPr>
            <a:xfrm rot="10800000">
              <a:off x="1475656" y="4904294"/>
              <a:ext cx="288032" cy="986422"/>
            </a:xfrm>
            <a:prstGeom prst="bentConnector3">
              <a:avLst>
                <a:gd name="adj1" fmla="val 179366"/>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2" name="Group 52"/>
          <p:cNvGrpSpPr/>
          <p:nvPr/>
        </p:nvGrpSpPr>
        <p:grpSpPr>
          <a:xfrm>
            <a:off x="5220072" y="3536142"/>
            <a:ext cx="3131840" cy="2844095"/>
            <a:chOff x="5220072" y="3536142"/>
            <a:chExt cx="3131840" cy="2844095"/>
          </a:xfrm>
        </p:grpSpPr>
        <p:pic>
          <p:nvPicPr>
            <p:cNvPr id="19" name="Picture 4" descr="http://cliparts.co/cliparts/rcn/kqE/rcnkqE5cR.jpg"/>
            <p:cNvPicPr>
              <a:picLocks noChangeAspect="1" noChangeArrowheads="1"/>
            </p:cNvPicPr>
            <p:nvPr/>
          </p:nvPicPr>
          <p:blipFill>
            <a:blip r:embed="rId3" cstate="print"/>
            <a:srcRect/>
            <a:stretch>
              <a:fillRect/>
            </a:stretch>
          </p:blipFill>
          <p:spPr bwMode="auto">
            <a:xfrm>
              <a:off x="6516216" y="5373216"/>
              <a:ext cx="455687" cy="1007021"/>
            </a:xfrm>
            <a:prstGeom prst="rect">
              <a:avLst/>
            </a:prstGeom>
            <a:noFill/>
          </p:spPr>
        </p:pic>
        <p:sp>
          <p:nvSpPr>
            <p:cNvPr id="21" name="TextBox 20"/>
            <p:cNvSpPr txBox="1"/>
            <p:nvPr/>
          </p:nvSpPr>
          <p:spPr>
            <a:xfrm>
              <a:off x="6983760" y="5661248"/>
              <a:ext cx="1368152" cy="307777"/>
            </a:xfrm>
            <a:prstGeom prst="rect">
              <a:avLst/>
            </a:prstGeom>
            <a:noFill/>
            <a:ln>
              <a:noFill/>
            </a:ln>
          </p:spPr>
          <p:txBody>
            <a:bodyPr wrap="square" rtlCol="0">
              <a:spAutoFit/>
            </a:bodyPr>
            <a:lstStyle/>
            <a:p>
              <a:pPr algn="ctr"/>
              <a:r>
                <a:rPr lang="en-IN" sz="1400" b="1" i="1" dirty="0" smtClean="0"/>
                <a:t>Bob’s Public Key</a:t>
              </a:r>
              <a:endParaRPr lang="en-IN" sz="1400" b="1" i="1" dirty="0"/>
            </a:p>
          </p:txBody>
        </p:sp>
        <p:sp>
          <p:nvSpPr>
            <p:cNvPr id="26" name="TextBox 25"/>
            <p:cNvSpPr txBox="1"/>
            <p:nvPr/>
          </p:nvSpPr>
          <p:spPr>
            <a:xfrm>
              <a:off x="6012160" y="4581128"/>
              <a:ext cx="1368152" cy="369332"/>
            </a:xfrm>
            <a:prstGeom prst="rect">
              <a:avLst/>
            </a:prstGeom>
            <a:solidFill>
              <a:srgbClr val="FFFF00"/>
            </a:solidFill>
            <a:ln>
              <a:solidFill>
                <a:schemeClr val="tx1"/>
              </a:solidFill>
            </a:ln>
          </p:spPr>
          <p:txBody>
            <a:bodyPr wrap="square" rtlCol="0">
              <a:spAutoFit/>
            </a:bodyPr>
            <a:lstStyle/>
            <a:p>
              <a:pPr algn="ctr"/>
              <a:r>
                <a:rPr lang="en-IN" b="1" dirty="0" smtClean="0"/>
                <a:t>Hash Code</a:t>
              </a:r>
              <a:endParaRPr lang="en-IN" b="1" dirty="0"/>
            </a:p>
          </p:txBody>
        </p:sp>
        <p:cxnSp>
          <p:nvCxnSpPr>
            <p:cNvPr id="28" name="Shape 27"/>
            <p:cNvCxnSpPr>
              <a:stCxn id="9" idx="3"/>
              <a:endCxn id="26" idx="0"/>
            </p:cNvCxnSpPr>
            <p:nvPr/>
          </p:nvCxnSpPr>
          <p:spPr>
            <a:xfrm>
              <a:off x="5220072" y="3536142"/>
              <a:ext cx="1476164" cy="1044986"/>
            </a:xfrm>
            <a:prstGeom prst="bentConnector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rot="10800000">
              <a:off x="6012160" y="4797152"/>
              <a:ext cx="288032" cy="986422"/>
            </a:xfrm>
            <a:prstGeom prst="bentConnector3">
              <a:avLst>
                <a:gd name="adj1" fmla="val 179366"/>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4" name="Group 46"/>
          <p:cNvGrpSpPr/>
          <p:nvPr/>
        </p:nvGrpSpPr>
        <p:grpSpPr>
          <a:xfrm>
            <a:off x="311313" y="1628800"/>
            <a:ext cx="8149119" cy="1274078"/>
            <a:chOff x="311313" y="1628800"/>
            <a:chExt cx="8149119" cy="1274078"/>
          </a:xfrm>
        </p:grpSpPr>
        <p:pic>
          <p:nvPicPr>
            <p:cNvPr id="43" name="Picture 16" descr="http://www.clipartbest.com/cliparts/acq/z4k/acqz4kBxi.jpeg"/>
            <p:cNvPicPr>
              <a:picLocks noChangeAspect="1" noChangeArrowheads="1"/>
            </p:cNvPicPr>
            <p:nvPr/>
          </p:nvPicPr>
          <p:blipFill>
            <a:blip r:embed="rId4" cstate="print"/>
            <a:srcRect/>
            <a:stretch>
              <a:fillRect/>
            </a:stretch>
          </p:blipFill>
          <p:spPr bwMode="auto">
            <a:xfrm>
              <a:off x="391683" y="1628800"/>
              <a:ext cx="723933" cy="590145"/>
            </a:xfrm>
            <a:prstGeom prst="rect">
              <a:avLst/>
            </a:prstGeom>
            <a:noFill/>
          </p:spPr>
        </p:pic>
        <p:sp>
          <p:nvSpPr>
            <p:cNvPr id="44" name="TextBox 43"/>
            <p:cNvSpPr txBox="1"/>
            <p:nvPr/>
          </p:nvSpPr>
          <p:spPr>
            <a:xfrm>
              <a:off x="311313" y="2235770"/>
              <a:ext cx="787175" cy="667108"/>
            </a:xfrm>
            <a:prstGeom prst="rect">
              <a:avLst/>
            </a:prstGeom>
            <a:noFill/>
          </p:spPr>
          <p:txBody>
            <a:bodyPr wrap="none" rtlCol="0">
              <a:spAutoFit/>
            </a:bodyPr>
            <a:lstStyle/>
            <a:p>
              <a:pPr algn="ctr"/>
              <a:r>
                <a:rPr lang="en-IN" b="1" dirty="0" smtClean="0"/>
                <a:t>Bob</a:t>
              </a:r>
            </a:p>
            <a:p>
              <a:endParaRPr lang="en-IN" sz="1200" b="1" dirty="0"/>
            </a:p>
          </p:txBody>
        </p:sp>
        <p:pic>
          <p:nvPicPr>
            <p:cNvPr id="45" name="Picture 18" descr="http://vector.me/files/images/1/6/162062/female_user_icon_clip_art.jpg"/>
            <p:cNvPicPr>
              <a:picLocks noChangeAspect="1" noChangeArrowheads="1"/>
            </p:cNvPicPr>
            <p:nvPr/>
          </p:nvPicPr>
          <p:blipFill>
            <a:blip r:embed="rId5" cstate="print"/>
            <a:srcRect/>
            <a:stretch>
              <a:fillRect/>
            </a:stretch>
          </p:blipFill>
          <p:spPr bwMode="auto">
            <a:xfrm>
              <a:off x="7653942" y="1628800"/>
              <a:ext cx="650853" cy="602227"/>
            </a:xfrm>
            <a:prstGeom prst="rect">
              <a:avLst/>
            </a:prstGeom>
            <a:noFill/>
          </p:spPr>
        </p:pic>
        <p:sp>
          <p:nvSpPr>
            <p:cNvPr id="46" name="TextBox 45"/>
            <p:cNvSpPr txBox="1"/>
            <p:nvPr/>
          </p:nvSpPr>
          <p:spPr>
            <a:xfrm>
              <a:off x="7452320" y="2187053"/>
              <a:ext cx="1008112" cy="715825"/>
            </a:xfrm>
            <a:prstGeom prst="rect">
              <a:avLst/>
            </a:prstGeom>
            <a:noFill/>
          </p:spPr>
          <p:txBody>
            <a:bodyPr wrap="square" rtlCol="0">
              <a:spAutoFit/>
            </a:bodyPr>
            <a:lstStyle/>
            <a:p>
              <a:pPr algn="ctr"/>
              <a:r>
                <a:rPr lang="en-IN" b="1" dirty="0" smtClean="0"/>
                <a:t>Alice</a:t>
              </a:r>
            </a:p>
            <a:p>
              <a:endParaRPr lang="en-IN" sz="1200" b="1" dirty="0"/>
            </a:p>
          </p:txBody>
        </p:sp>
      </p:grpSp>
    </p:spTree>
    <p:extLst>
      <p:ext uri="{BB962C8B-B14F-4D97-AF65-F5344CB8AC3E}">
        <p14:creationId xmlns="" xmlns:p14="http://schemas.microsoft.com/office/powerpoint/2010/main" val="176690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smtClean="0"/>
              <a:t>… </a:t>
            </a:r>
            <a:r>
              <a:rPr lang="en-IN" dirty="0" smtClean="0">
                <a:sym typeface="Wingdings" pitchFamily="2" charset="2"/>
              </a:rPr>
              <a:t></a:t>
            </a:r>
            <a:endParaRPr lang="en-IN" dirty="0"/>
          </a:p>
        </p:txBody>
      </p:sp>
      <p:sp>
        <p:nvSpPr>
          <p:cNvPr id="3" name="Content Placeholder 2"/>
          <p:cNvSpPr>
            <a:spLocks noGrp="1"/>
          </p:cNvSpPr>
          <p:nvPr>
            <p:ph idx="1"/>
          </p:nvPr>
        </p:nvSpPr>
        <p:spPr/>
        <p:txBody>
          <a:bodyPr/>
          <a:lstStyle/>
          <a:p>
            <a:r>
              <a:rPr lang="en-IN" dirty="0" smtClean="0"/>
              <a:t>Q&amp;A</a:t>
            </a:r>
          </a:p>
          <a:p>
            <a:r>
              <a:rPr lang="en-IN" dirty="0" smtClean="0"/>
              <a:t>Suggestions / Feedback</a:t>
            </a:r>
            <a:endParaRPr lang="en-IN" dirty="0"/>
          </a:p>
        </p:txBody>
      </p:sp>
    </p:spTree>
    <p:extLst>
      <p:ext uri="{BB962C8B-B14F-4D97-AF65-F5344CB8AC3E}">
        <p14:creationId xmlns="" xmlns:p14="http://schemas.microsoft.com/office/powerpoint/2010/main" val="39562474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8001</TotalTime>
  <Words>4010</Words>
  <Application>Microsoft Office PowerPoint</Application>
  <PresentationFormat>On-screen Show (4:3)</PresentationFormat>
  <Paragraphs>428</Paragraphs>
  <Slides>39</Slides>
  <Notes>1</Notes>
  <HiddenSlides>0</HiddenSlides>
  <MMClips>0</MMClips>
  <ScaleCrop>false</ScaleCrop>
  <HeadingPairs>
    <vt:vector size="4" baseType="variant">
      <vt:variant>
        <vt:lpstr>Theme</vt:lpstr>
      </vt:variant>
      <vt:variant>
        <vt:i4>2</vt:i4>
      </vt:variant>
      <vt:variant>
        <vt:lpstr>Slide Titles</vt:lpstr>
      </vt:variant>
      <vt:variant>
        <vt:i4>39</vt:i4>
      </vt:variant>
    </vt:vector>
  </HeadingPairs>
  <TitlesOfParts>
    <vt:vector size="41" baseType="lpstr">
      <vt:lpstr>Office Theme</vt:lpstr>
      <vt:lpstr>1_Office Theme</vt:lpstr>
      <vt:lpstr>Course Name :  Network Security</vt:lpstr>
      <vt:lpstr>Session#10 </vt:lpstr>
      <vt:lpstr>Key management</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Thank You… </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BITS11</cp:lastModifiedBy>
  <cp:revision>203</cp:revision>
  <dcterms:created xsi:type="dcterms:W3CDTF">2012-01-02T05:05:52Z</dcterms:created>
  <dcterms:modified xsi:type="dcterms:W3CDTF">2018-07-22T07:15:03Z</dcterms:modified>
</cp:coreProperties>
</file>