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56"/>
  </p:notesMasterIdLst>
  <p:sldIdLst>
    <p:sldId id="279" r:id="rId4"/>
    <p:sldId id="319" r:id="rId5"/>
    <p:sldId id="884" r:id="rId6"/>
    <p:sldId id="915" r:id="rId7"/>
    <p:sldId id="916" r:id="rId8"/>
    <p:sldId id="917" r:id="rId9"/>
    <p:sldId id="918" r:id="rId10"/>
    <p:sldId id="919" r:id="rId11"/>
    <p:sldId id="920" r:id="rId12"/>
    <p:sldId id="921" r:id="rId13"/>
    <p:sldId id="922" r:id="rId14"/>
    <p:sldId id="923" r:id="rId15"/>
    <p:sldId id="924" r:id="rId16"/>
    <p:sldId id="925" r:id="rId17"/>
    <p:sldId id="926" r:id="rId18"/>
    <p:sldId id="927" r:id="rId19"/>
    <p:sldId id="928" r:id="rId20"/>
    <p:sldId id="929" r:id="rId21"/>
    <p:sldId id="930" r:id="rId22"/>
    <p:sldId id="931" r:id="rId23"/>
    <p:sldId id="932" r:id="rId24"/>
    <p:sldId id="934" r:id="rId25"/>
    <p:sldId id="936" r:id="rId26"/>
    <p:sldId id="935" r:id="rId27"/>
    <p:sldId id="937" r:id="rId28"/>
    <p:sldId id="938" r:id="rId29"/>
    <p:sldId id="939" r:id="rId30"/>
    <p:sldId id="940" r:id="rId31"/>
    <p:sldId id="941" r:id="rId32"/>
    <p:sldId id="942" r:id="rId33"/>
    <p:sldId id="943" r:id="rId34"/>
    <p:sldId id="944" r:id="rId35"/>
    <p:sldId id="945" r:id="rId36"/>
    <p:sldId id="946" r:id="rId37"/>
    <p:sldId id="947" r:id="rId38"/>
    <p:sldId id="953" r:id="rId39"/>
    <p:sldId id="952" r:id="rId40"/>
    <p:sldId id="954" r:id="rId41"/>
    <p:sldId id="955" r:id="rId42"/>
    <p:sldId id="956" r:id="rId43"/>
    <p:sldId id="965" r:id="rId44"/>
    <p:sldId id="957" r:id="rId45"/>
    <p:sldId id="958" r:id="rId46"/>
    <p:sldId id="966" r:id="rId47"/>
    <p:sldId id="959" r:id="rId48"/>
    <p:sldId id="967" r:id="rId49"/>
    <p:sldId id="961" r:id="rId50"/>
    <p:sldId id="964" r:id="rId51"/>
    <p:sldId id="962" r:id="rId52"/>
    <p:sldId id="963" r:id="rId53"/>
    <p:sldId id="968" r:id="rId54"/>
    <p:sldId id="347"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4" autoAdjust="0"/>
    <p:restoredTop sz="94660"/>
  </p:normalViewPr>
  <p:slideViewPr>
    <p:cSldViewPr>
      <p:cViewPr varScale="1">
        <p:scale>
          <a:sx n="75" d="100"/>
          <a:sy n="75" d="100"/>
        </p:scale>
        <p:origin x="135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02-02-2020</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dirty="0"/>
          </a:p>
        </p:txBody>
      </p:sp>
    </p:spTree>
    <p:extLst>
      <p:ext uri="{BB962C8B-B14F-4D97-AF65-F5344CB8AC3E}">
        <p14:creationId xmlns:p14="http://schemas.microsoft.com/office/powerpoint/2010/main" val="322886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52</a:t>
            </a:fld>
            <a:endParaRPr lang="en-IN"/>
          </a:p>
        </p:txBody>
      </p:sp>
    </p:spTree>
    <p:extLst>
      <p:ext uri="{BB962C8B-B14F-4D97-AF65-F5344CB8AC3E}">
        <p14:creationId xmlns:p14="http://schemas.microsoft.com/office/powerpoint/2010/main" val="246330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3624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p14="http://schemas.microsoft.com/office/powerpoint/2010/main" val="13704787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p14="http://schemas.microsoft.com/office/powerpoint/2010/main" val="3466858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28023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97800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6649574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6234704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2839729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792908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1206733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p14="http://schemas.microsoft.com/office/powerpoint/2010/main" val="264490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p14="http://schemas.microsoft.com/office/powerpoint/2010/main" val="255628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3"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SS ZG516 -Computer Organization and Software Systems</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6444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Vijayalakshmi Anand </a:t>
            </a:r>
          </a:p>
        </p:txBody>
      </p:sp>
    </p:spTree>
    <p:extLst>
      <p:ext uri="{BB962C8B-B14F-4D97-AF65-F5344CB8AC3E}">
        <p14:creationId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dirty="0" smtClean="0"/>
              <a:t>Session#8</a:t>
            </a:r>
            <a:endParaRPr lang="en-IN" dirty="0"/>
          </a:p>
        </p:txBody>
      </p:sp>
      <p:sp>
        <p:nvSpPr>
          <p:cNvPr id="3" name="Content Placeholder 2"/>
          <p:cNvSpPr>
            <a:spLocks noGrp="1"/>
          </p:cNvSpPr>
          <p:nvPr>
            <p:ph idx="1"/>
          </p:nvPr>
        </p:nvSpPr>
        <p:spPr>
          <a:xfrm>
            <a:off x="457200" y="1484784"/>
            <a:ext cx="8229600" cy="5040560"/>
          </a:xfrm>
        </p:spPr>
        <p:txBody>
          <a:bodyPr>
            <a:normAutofit fontScale="92500" lnSpcReduction="10000"/>
          </a:bodyPr>
          <a:lstStyle/>
          <a:p>
            <a:pPr>
              <a:buFont typeface="Wingdings" pitchFamily="2" charset="2"/>
              <a:buChar char="q"/>
            </a:pPr>
            <a:r>
              <a:rPr lang="en-IN" sz="3300" dirty="0" smtClean="0"/>
              <a:t>Random number &amp;Pseudo random number</a:t>
            </a:r>
          </a:p>
          <a:p>
            <a:pPr>
              <a:buFont typeface="Wingdings" pitchFamily="2" charset="2"/>
              <a:buChar char="q"/>
            </a:pPr>
            <a:r>
              <a:rPr lang="en-IN" sz="3300" dirty="0" smtClean="0"/>
              <a:t>Pseudo random generator techniques</a:t>
            </a:r>
          </a:p>
          <a:p>
            <a:pPr lvl="2">
              <a:buFont typeface="Wingdings" pitchFamily="2" charset="2"/>
              <a:buChar char="Ø"/>
            </a:pPr>
            <a:r>
              <a:rPr lang="en-US" altLang="en-US" sz="2500" dirty="0" smtClean="0">
                <a:solidFill>
                  <a:prstClr val="black"/>
                </a:solidFill>
              </a:rPr>
              <a:t>Linear </a:t>
            </a:r>
            <a:r>
              <a:rPr lang="en-US" altLang="en-US" sz="2500" dirty="0" err="1" smtClean="0">
                <a:solidFill>
                  <a:prstClr val="black"/>
                </a:solidFill>
              </a:rPr>
              <a:t>Congruential</a:t>
            </a:r>
            <a:r>
              <a:rPr lang="en-US" altLang="en-US" sz="2500" dirty="0" smtClean="0">
                <a:solidFill>
                  <a:prstClr val="black"/>
                </a:solidFill>
              </a:rPr>
              <a:t> Generator</a:t>
            </a:r>
          </a:p>
          <a:p>
            <a:pPr lvl="2">
              <a:buFont typeface="Wingdings" pitchFamily="2" charset="2"/>
              <a:buChar char="Ø"/>
            </a:pPr>
            <a:r>
              <a:rPr lang="en-US" altLang="en-US" sz="2500" dirty="0" smtClean="0">
                <a:solidFill>
                  <a:prstClr val="black"/>
                </a:solidFill>
              </a:rPr>
              <a:t>Blum </a:t>
            </a:r>
            <a:r>
              <a:rPr lang="en-US" altLang="en-US" sz="2500" dirty="0" err="1" smtClean="0">
                <a:solidFill>
                  <a:prstClr val="black"/>
                </a:solidFill>
              </a:rPr>
              <a:t>Blum</a:t>
            </a:r>
            <a:r>
              <a:rPr lang="en-US" altLang="en-US" sz="2500" dirty="0" smtClean="0">
                <a:solidFill>
                  <a:prstClr val="black"/>
                </a:solidFill>
              </a:rPr>
              <a:t> </a:t>
            </a:r>
            <a:r>
              <a:rPr lang="en-US" altLang="en-US" sz="2500" dirty="0" err="1" smtClean="0">
                <a:solidFill>
                  <a:prstClr val="black"/>
                </a:solidFill>
              </a:rPr>
              <a:t>Shub</a:t>
            </a:r>
            <a:r>
              <a:rPr lang="en-US" altLang="en-US" sz="2500" dirty="0" smtClean="0">
                <a:solidFill>
                  <a:prstClr val="black"/>
                </a:solidFill>
              </a:rPr>
              <a:t> Generator</a:t>
            </a:r>
            <a:r>
              <a:rPr lang="en-IN" dirty="0" smtClean="0"/>
              <a:t>            </a:t>
            </a:r>
          </a:p>
          <a:p>
            <a:pPr>
              <a:buFont typeface="Wingdings" pitchFamily="2" charset="2"/>
              <a:buChar char="q"/>
            </a:pPr>
            <a:r>
              <a:rPr lang="en-IN" dirty="0" smtClean="0"/>
              <a:t>Stream cipher</a:t>
            </a:r>
          </a:p>
          <a:p>
            <a:pPr lvl="2">
              <a:buFont typeface="Wingdings" pitchFamily="2" charset="2"/>
              <a:buChar char="Ø"/>
            </a:pPr>
            <a:r>
              <a:rPr lang="en-IN" dirty="0" smtClean="0"/>
              <a:t>  RC4 algorithm and example</a:t>
            </a:r>
          </a:p>
          <a:p>
            <a:pPr>
              <a:buFont typeface="Wingdings" pitchFamily="2" charset="2"/>
              <a:buChar char="q"/>
            </a:pPr>
            <a:r>
              <a:rPr lang="en-IN" dirty="0" smtClean="0"/>
              <a:t>Prime numbers</a:t>
            </a:r>
          </a:p>
          <a:p>
            <a:pPr>
              <a:buFont typeface="Wingdings" pitchFamily="2" charset="2"/>
              <a:buChar char="q"/>
            </a:pPr>
            <a:r>
              <a:rPr lang="en-IN" dirty="0" err="1" smtClean="0"/>
              <a:t>Fermet’s</a:t>
            </a:r>
            <a:r>
              <a:rPr lang="en-IN" dirty="0" smtClean="0"/>
              <a:t> theorem</a:t>
            </a:r>
          </a:p>
          <a:p>
            <a:pPr>
              <a:buFont typeface="Wingdings" pitchFamily="2" charset="2"/>
              <a:buChar char="q"/>
            </a:pPr>
            <a:r>
              <a:rPr lang="en-IN" dirty="0" smtClean="0"/>
              <a:t>Euler’s theorem</a:t>
            </a:r>
          </a:p>
          <a:p>
            <a:pPr>
              <a:buFont typeface="Wingdings" pitchFamily="2" charset="2"/>
              <a:buChar char="q"/>
            </a:pPr>
            <a:r>
              <a:rPr lang="en-IN" dirty="0" smtClean="0"/>
              <a:t>Primitive root</a:t>
            </a:r>
          </a:p>
          <a:p>
            <a:pPr>
              <a:buNone/>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20000"/>
          </a:bodyPr>
          <a:lstStyle/>
          <a:p>
            <a:pPr>
              <a:buChar char="•"/>
            </a:pPr>
            <a:r>
              <a:rPr lang="en-US" sz="3900" dirty="0"/>
              <a:t>M</a:t>
            </a:r>
            <a:r>
              <a:rPr lang="en-US" sz="3900" dirty="0" smtClean="0"/>
              <a:t>any </a:t>
            </a:r>
            <a:r>
              <a:rPr lang="en-US" sz="3900" dirty="0"/>
              <a:t>uses of random numbers in cryptography </a:t>
            </a:r>
          </a:p>
          <a:p>
            <a:pPr lvl="1"/>
            <a:r>
              <a:rPr lang="en-US" dirty="0" err="1"/>
              <a:t>nonces</a:t>
            </a:r>
            <a:r>
              <a:rPr lang="en-US" dirty="0"/>
              <a:t> in authentication protocols to prevent replay</a:t>
            </a:r>
          </a:p>
          <a:p>
            <a:pPr lvl="1"/>
            <a:r>
              <a:rPr lang="en-US" dirty="0" smtClean="0"/>
              <a:t>session </a:t>
            </a:r>
            <a:r>
              <a:rPr lang="en-US" sz="2900" dirty="0"/>
              <a:t>keys (Cryptographic Key Generation)</a:t>
            </a:r>
          </a:p>
          <a:p>
            <a:pPr lvl="1"/>
            <a:r>
              <a:rPr lang="en-US" dirty="0" smtClean="0"/>
              <a:t>public </a:t>
            </a:r>
            <a:r>
              <a:rPr lang="en-US" dirty="0"/>
              <a:t>key </a:t>
            </a:r>
            <a:r>
              <a:rPr lang="en-US" dirty="0" smtClean="0"/>
              <a:t>generation </a:t>
            </a:r>
            <a:endParaRPr lang="en-US" dirty="0"/>
          </a:p>
          <a:p>
            <a:pPr lvl="1"/>
            <a:r>
              <a:rPr lang="en-US" dirty="0"/>
              <a:t>keystream for a one-time </a:t>
            </a:r>
            <a:r>
              <a:rPr lang="en-US" dirty="0" smtClean="0"/>
              <a:t>pad [</a:t>
            </a:r>
            <a:r>
              <a:rPr lang="en-US" dirty="0"/>
              <a:t>Stream </a:t>
            </a:r>
            <a:r>
              <a:rPr lang="en-US" dirty="0" smtClean="0"/>
              <a:t>Ciphering]</a:t>
            </a:r>
            <a:endParaRPr lang="en-US" dirty="0"/>
          </a:p>
          <a:p>
            <a:pPr>
              <a:buChar char="•"/>
            </a:pPr>
            <a:r>
              <a:rPr lang="en-US" sz="3900" dirty="0"/>
              <a:t>in all cases its critical that these values be </a:t>
            </a:r>
          </a:p>
          <a:p>
            <a:pPr lvl="1"/>
            <a:r>
              <a:rPr lang="en-US" dirty="0"/>
              <a:t>statistically random, uniform distribution, independent</a:t>
            </a:r>
          </a:p>
          <a:p>
            <a:pPr lvl="1"/>
            <a:r>
              <a:rPr lang="en-US" dirty="0"/>
              <a:t>unpredictability of future values from previous values</a:t>
            </a:r>
          </a:p>
          <a:p>
            <a:pPr>
              <a:buClrTx/>
              <a:buChar char="•"/>
            </a:pPr>
            <a:r>
              <a:rPr lang="en-US" sz="3900" dirty="0" smtClean="0"/>
              <a:t>Care </a:t>
            </a:r>
            <a:r>
              <a:rPr lang="en-US" sz="3900" dirty="0"/>
              <a:t>needed with generated random </a:t>
            </a:r>
            <a:r>
              <a:rPr lang="en-US" sz="3900" dirty="0" smtClean="0"/>
              <a:t>numbers</a:t>
            </a:r>
          </a:p>
          <a:p>
            <a:pPr marL="0" indent="0"/>
            <a:endParaRPr lang="en-US" sz="3900" dirty="0">
              <a:solidFill>
                <a:prstClr val="black"/>
              </a:solidFill>
            </a:endParaRPr>
          </a:p>
        </p:txBody>
      </p:sp>
      <p:sp>
        <p:nvSpPr>
          <p:cNvPr id="3" name="Content Placeholder 2"/>
          <p:cNvSpPr>
            <a:spLocks noGrp="1"/>
          </p:cNvSpPr>
          <p:nvPr>
            <p:ph sz="quarter" idx="10"/>
          </p:nvPr>
        </p:nvSpPr>
        <p:spPr>
          <a:xfrm>
            <a:off x="304800" y="332656"/>
            <a:ext cx="6324600" cy="674712"/>
          </a:xfrm>
        </p:spPr>
        <p:txBody>
          <a:bodyPr vert="horz" lIns="91440" tIns="45720" rIns="91440" bIns="45720" rtlCol="0" anchor="ctr" anchorCtr="0">
            <a:normAutofit/>
          </a:bodyPr>
          <a:lstStyle/>
          <a:p>
            <a:pPr>
              <a:spcBef>
                <a:spcPct val="0"/>
              </a:spcBef>
            </a:pPr>
            <a:r>
              <a:rPr lang="en-AU" sz="3200" dirty="0"/>
              <a:t>Random </a:t>
            </a:r>
            <a:r>
              <a:rPr lang="en-AU" sz="3200" dirty="0" smtClean="0"/>
              <a:t>Numbers</a:t>
            </a:r>
            <a:endParaRPr lang="en-AU" sz="3200" dirty="0"/>
          </a:p>
        </p:txBody>
      </p:sp>
    </p:spTree>
    <p:extLst>
      <p:ext uri="{BB962C8B-B14F-4D97-AF65-F5344CB8AC3E}">
        <p14:creationId xmlns:p14="http://schemas.microsoft.com/office/powerpoint/2010/main" val="177217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5112568"/>
          </a:xfrm>
        </p:spPr>
        <p:txBody>
          <a:bodyPr vert="horz" lIns="91440" tIns="45720" rIns="91440" bIns="45720" rtlCol="0">
            <a:normAutofit fontScale="77500" lnSpcReduction="20000"/>
          </a:bodyPr>
          <a:lstStyle/>
          <a:p>
            <a:pPr>
              <a:buChar char="•"/>
            </a:pPr>
            <a:r>
              <a:rPr lang="en-IN" sz="3900" dirty="0">
                <a:solidFill>
                  <a:prstClr val="black"/>
                </a:solidFill>
              </a:rPr>
              <a:t>The following two criteria are used to validate that a sequence of numbers is random:</a:t>
            </a:r>
          </a:p>
          <a:p>
            <a:pPr>
              <a:buChar char="•"/>
            </a:pPr>
            <a:r>
              <a:rPr lang="en-IN" sz="3900" dirty="0">
                <a:solidFill>
                  <a:prstClr val="black"/>
                </a:solidFill>
              </a:rPr>
              <a:t>Uniform Distribution</a:t>
            </a:r>
          </a:p>
          <a:p>
            <a:pPr lvl="1"/>
            <a:endParaRPr lang="en-IN" dirty="0"/>
          </a:p>
          <a:p>
            <a:pPr lvl="1"/>
            <a:r>
              <a:rPr lang="en-IN" dirty="0"/>
              <a:t>Example:    111111111011111</a:t>
            </a:r>
          </a:p>
          <a:p>
            <a:pPr lvl="1"/>
            <a:r>
              <a:rPr lang="en-IN" dirty="0"/>
              <a:t>Probability of occurring 1 is higher so it can not be claimed </a:t>
            </a:r>
            <a:r>
              <a:rPr lang="en-IN" dirty="0" smtClean="0"/>
              <a:t>random</a:t>
            </a:r>
          </a:p>
          <a:p>
            <a:pPr marL="457200" lvl="1" indent="0">
              <a:buNone/>
            </a:pPr>
            <a:endParaRPr lang="en-IN" dirty="0" smtClean="0"/>
          </a:p>
          <a:p>
            <a:pPr marL="342900" lvl="1" indent="-342900">
              <a:buClr>
                <a:srgbClr val="101141"/>
              </a:buClr>
              <a:buFont typeface="Arial" pitchFamily="34" charset="0"/>
              <a:buChar char="•"/>
            </a:pPr>
            <a:r>
              <a:rPr lang="en-IN" sz="3900" dirty="0">
                <a:solidFill>
                  <a:prstClr val="black"/>
                </a:solidFill>
              </a:rPr>
              <a:t>Independence</a:t>
            </a:r>
          </a:p>
          <a:p>
            <a:pPr lvl="1"/>
            <a:endParaRPr lang="en-IN" dirty="0"/>
          </a:p>
          <a:p>
            <a:pPr lvl="1"/>
            <a:r>
              <a:rPr lang="en-IN" dirty="0"/>
              <a:t>Example: 4, 8, 12, 16, ….</a:t>
            </a:r>
          </a:p>
          <a:p>
            <a:pPr lvl="1"/>
            <a:r>
              <a:rPr lang="en-IN" dirty="0"/>
              <a:t>The next random number can be guessed. Generation is not independent.</a:t>
            </a:r>
          </a:p>
          <a:p>
            <a:pPr lvl="1"/>
            <a:endParaRPr lang="en-IN" dirty="0"/>
          </a:p>
          <a:p>
            <a:pPr lvl="1"/>
            <a:endParaRPr lang="en-IN" dirty="0"/>
          </a:p>
          <a:p>
            <a:pPr lvl="1"/>
            <a:endParaRPr lang="en-IN" dirty="0"/>
          </a:p>
          <a:p>
            <a:pPr lvl="1"/>
            <a:endParaRPr lang="en-IN" dirty="0"/>
          </a:p>
        </p:txBody>
      </p:sp>
      <p:sp>
        <p:nvSpPr>
          <p:cNvPr id="3" name="Content Placeholder 2"/>
          <p:cNvSpPr>
            <a:spLocks noGrp="1"/>
          </p:cNvSpPr>
          <p:nvPr>
            <p:ph sz="quarter" idx="10"/>
          </p:nvPr>
        </p:nvSpPr>
        <p:spPr>
          <a:xfrm>
            <a:off x="304800" y="332656"/>
            <a:ext cx="6324600" cy="720080"/>
          </a:xfrm>
        </p:spPr>
        <p:txBody>
          <a:bodyPr vert="horz" lIns="91440" tIns="45720" rIns="91440" bIns="45720" rtlCol="0" anchor="ctr" anchorCtr="0">
            <a:normAutofit/>
          </a:bodyPr>
          <a:lstStyle/>
          <a:p>
            <a:pPr>
              <a:spcBef>
                <a:spcPct val="0"/>
              </a:spcBef>
            </a:pPr>
            <a:r>
              <a:rPr lang="en-IN" sz="3200" dirty="0"/>
              <a:t>Randomness</a:t>
            </a:r>
          </a:p>
        </p:txBody>
      </p:sp>
    </p:spTree>
    <p:extLst>
      <p:ext uri="{BB962C8B-B14F-4D97-AF65-F5344CB8AC3E}">
        <p14:creationId xmlns:p14="http://schemas.microsoft.com/office/powerpoint/2010/main" val="381108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412" y="1556792"/>
            <a:ext cx="8229600" cy="4525963"/>
          </a:xfrm>
        </p:spPr>
        <p:txBody>
          <a:bodyPr vert="horz" lIns="91440" tIns="45720" rIns="91440" bIns="45720" rtlCol="0">
            <a:normAutofit lnSpcReduction="10000"/>
          </a:bodyPr>
          <a:lstStyle/>
          <a:p>
            <a:pPr>
              <a:buChar char="•"/>
            </a:pPr>
            <a:r>
              <a:rPr lang="en-US" sz="3900" dirty="0">
                <a:solidFill>
                  <a:prstClr val="black"/>
                </a:solidFill>
              </a:rPr>
              <a:t>often use deterministic algorithmic techniques to create “random numbers”</a:t>
            </a:r>
          </a:p>
          <a:p>
            <a:pPr lvl="1"/>
            <a:r>
              <a:rPr lang="en-US" dirty="0"/>
              <a:t>although are not truly random</a:t>
            </a:r>
          </a:p>
          <a:p>
            <a:pPr lvl="1"/>
            <a:r>
              <a:rPr lang="en-US" dirty="0"/>
              <a:t>can pass many tests of “randomness”</a:t>
            </a:r>
          </a:p>
          <a:p>
            <a:pPr>
              <a:buChar char="•"/>
            </a:pPr>
            <a:r>
              <a:rPr lang="en-US" sz="3900" dirty="0">
                <a:solidFill>
                  <a:prstClr val="black"/>
                </a:solidFill>
              </a:rPr>
              <a:t>known as “pseudorandom numbers”</a:t>
            </a:r>
          </a:p>
          <a:p>
            <a:pPr>
              <a:buChar char="•"/>
            </a:pPr>
            <a:r>
              <a:rPr lang="en-US" sz="3900" dirty="0">
                <a:solidFill>
                  <a:prstClr val="black"/>
                </a:solidFill>
              </a:rPr>
              <a:t>created by “Pseudorandom Number Generators (PRNGs)”</a:t>
            </a:r>
          </a:p>
          <a:p>
            <a:pPr>
              <a:buChar char="•"/>
            </a:pPr>
            <a:endParaRPr lang="en-US" sz="3900" dirty="0">
              <a:solidFill>
                <a:prstClr val="black"/>
              </a:solidFill>
            </a:endParaRPr>
          </a:p>
        </p:txBody>
      </p:sp>
      <p:sp>
        <p:nvSpPr>
          <p:cNvPr id="3" name="Content Placeholder 2"/>
          <p:cNvSpPr>
            <a:spLocks noGrp="1"/>
          </p:cNvSpPr>
          <p:nvPr>
            <p:ph sz="quarter" idx="10"/>
          </p:nvPr>
        </p:nvSpPr>
        <p:spPr>
          <a:xfrm>
            <a:off x="384412" y="188640"/>
            <a:ext cx="7003504" cy="1008112"/>
          </a:xfrm>
        </p:spPr>
        <p:txBody>
          <a:bodyPr vert="horz" lIns="91440" tIns="45720" rIns="91440" bIns="45720" rtlCol="0" anchor="ctr" anchorCtr="0">
            <a:normAutofit/>
          </a:bodyPr>
          <a:lstStyle/>
          <a:p>
            <a:pPr>
              <a:spcBef>
                <a:spcPct val="0"/>
              </a:spcBef>
            </a:pPr>
            <a:r>
              <a:rPr lang="en-AU" sz="3200" dirty="0"/>
              <a:t>Pseudorandom </a:t>
            </a:r>
            <a:r>
              <a:rPr lang="en-AU" sz="3200" dirty="0" smtClean="0"/>
              <a:t>Number</a:t>
            </a:r>
          </a:p>
          <a:p>
            <a:pPr>
              <a:spcBef>
                <a:spcPct val="0"/>
              </a:spcBef>
            </a:pPr>
            <a:r>
              <a:rPr lang="en-AU" sz="3200" dirty="0" smtClean="0"/>
              <a:t>(PRNs</a:t>
            </a:r>
            <a:r>
              <a:rPr lang="en-AU" sz="3200" dirty="0"/>
              <a:t>)</a:t>
            </a:r>
          </a:p>
        </p:txBody>
      </p:sp>
    </p:spTree>
    <p:extLst>
      <p:ext uri="{BB962C8B-B14F-4D97-AF65-F5344CB8AC3E}">
        <p14:creationId xmlns:p14="http://schemas.microsoft.com/office/powerpoint/2010/main" val="271076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AU" sz="3200" dirty="0"/>
              <a:t>Random &amp; Pseudorandom Number Generators</a:t>
            </a:r>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solidFill>
              </a:rPr>
              <a:pPr/>
              <a:t>6</a:t>
            </a:fld>
            <a:endParaRPr lang="en-US" dirty="0">
              <a:solidFill>
                <a:prstClr val="black"/>
              </a:solidFill>
            </a:endParaRPr>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1663" y="2042533"/>
            <a:ext cx="6615873" cy="342857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47551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77500" lnSpcReduction="20000"/>
          </a:bodyPr>
          <a:lstStyle/>
          <a:p>
            <a:pPr>
              <a:buChar char="•"/>
            </a:pPr>
            <a:r>
              <a:rPr lang="en-US" altLang="en-US" sz="3900" dirty="0">
                <a:solidFill>
                  <a:prstClr val="black"/>
                </a:solidFill>
              </a:rPr>
              <a:t>Figure contrasts a true random number generator(TRNG) with 2 forms of Pseudo random number generators. TRNG takes input as a source that is effectively random, the source is often </a:t>
            </a:r>
            <a:r>
              <a:rPr lang="en-US" altLang="en-US" sz="3900" dirty="0" smtClean="0">
                <a:solidFill>
                  <a:prstClr val="black"/>
                </a:solidFill>
              </a:rPr>
              <a:t>referred </a:t>
            </a:r>
            <a:r>
              <a:rPr lang="en-US" altLang="en-US" sz="3900" dirty="0">
                <a:solidFill>
                  <a:prstClr val="black"/>
                </a:solidFill>
              </a:rPr>
              <a:t>to as an entropy source.</a:t>
            </a:r>
          </a:p>
          <a:p>
            <a:pPr>
              <a:buChar char="•"/>
            </a:pPr>
            <a:endParaRPr lang="en-US" altLang="en-US" sz="3900" dirty="0">
              <a:solidFill>
                <a:prstClr val="black"/>
              </a:solidFill>
            </a:endParaRPr>
          </a:p>
          <a:p>
            <a:pPr>
              <a:buChar char="•"/>
            </a:pPr>
            <a:r>
              <a:rPr lang="en-US" altLang="en-US" sz="3900" dirty="0">
                <a:solidFill>
                  <a:prstClr val="black"/>
                </a:solidFill>
              </a:rPr>
              <a:t>In </a:t>
            </a:r>
            <a:r>
              <a:rPr lang="en-US" altLang="en-US" sz="3900" dirty="0" smtClean="0">
                <a:solidFill>
                  <a:prstClr val="black"/>
                </a:solidFill>
              </a:rPr>
              <a:t>essence </a:t>
            </a:r>
            <a:r>
              <a:rPr lang="en-US" altLang="en-US" sz="3900" dirty="0">
                <a:solidFill>
                  <a:prstClr val="black"/>
                </a:solidFill>
              </a:rPr>
              <a:t>the </a:t>
            </a:r>
            <a:r>
              <a:rPr lang="en-US" altLang="en-US" sz="3900" dirty="0" smtClean="0">
                <a:solidFill>
                  <a:prstClr val="black"/>
                </a:solidFill>
              </a:rPr>
              <a:t>entropy source </a:t>
            </a:r>
            <a:r>
              <a:rPr lang="en-US" altLang="en-US" sz="3900" dirty="0">
                <a:solidFill>
                  <a:prstClr val="black"/>
                </a:solidFill>
              </a:rPr>
              <a:t>is drawn from physical environment of the computer and could include things such as keystroke timing patterns</a:t>
            </a:r>
            <a:r>
              <a:rPr lang="en-US" altLang="en-US" sz="3900" dirty="0" smtClean="0">
                <a:solidFill>
                  <a:prstClr val="black"/>
                </a:solidFill>
              </a:rPr>
              <a:t>, disk </a:t>
            </a:r>
            <a:r>
              <a:rPr lang="en-US" altLang="en-US" sz="3900" dirty="0">
                <a:solidFill>
                  <a:prstClr val="black"/>
                </a:solidFill>
              </a:rPr>
              <a:t>electrical activity etc.</a:t>
            </a: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smtClean="0"/>
              <a:t>TRNG</a:t>
            </a:r>
            <a:endParaRPr lang="en-US" sz="3200" dirty="0"/>
          </a:p>
        </p:txBody>
      </p:sp>
    </p:spTree>
    <p:extLst>
      <p:ext uri="{BB962C8B-B14F-4D97-AF65-F5344CB8AC3E}">
        <p14:creationId xmlns:p14="http://schemas.microsoft.com/office/powerpoint/2010/main" val="3578934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85000" lnSpcReduction="20000"/>
          </a:bodyPr>
          <a:lstStyle/>
          <a:p>
            <a:pPr>
              <a:buChar char="•"/>
            </a:pPr>
            <a:r>
              <a:rPr lang="en-US" altLang="en-US" sz="3900" dirty="0">
                <a:solidFill>
                  <a:prstClr val="black"/>
                </a:solidFill>
              </a:rPr>
              <a:t>The source or </a:t>
            </a:r>
            <a:r>
              <a:rPr lang="en-US" altLang="en-US" sz="3900" dirty="0" smtClean="0">
                <a:solidFill>
                  <a:prstClr val="black"/>
                </a:solidFill>
              </a:rPr>
              <a:t>combination </a:t>
            </a:r>
            <a:r>
              <a:rPr lang="en-US" altLang="en-US" sz="3900" dirty="0">
                <a:solidFill>
                  <a:prstClr val="black"/>
                </a:solidFill>
              </a:rPr>
              <a:t>of sources serves as input to an algorithm that produces random binary output.</a:t>
            </a:r>
          </a:p>
          <a:p>
            <a:pPr>
              <a:buChar char="•"/>
            </a:pPr>
            <a:endParaRPr lang="en-US" altLang="en-US" sz="3900" dirty="0">
              <a:solidFill>
                <a:prstClr val="black"/>
              </a:solidFill>
            </a:endParaRPr>
          </a:p>
          <a:p>
            <a:pPr>
              <a:buChar char="•"/>
            </a:pPr>
            <a:r>
              <a:rPr lang="en-US" altLang="en-US" sz="3900" dirty="0">
                <a:solidFill>
                  <a:prstClr val="black"/>
                </a:solidFill>
              </a:rPr>
              <a:t>In contrast a PRNG takes as input a fixed value, called the seed and produces a sequence of output bits using a deterministic algorithm. Quite often the seed is generated by TRNG.</a:t>
            </a:r>
          </a:p>
          <a:p>
            <a:pPr>
              <a:buChar char="•"/>
            </a:pPr>
            <a:r>
              <a:rPr lang="en-US" altLang="en-US" sz="3900" dirty="0">
                <a:solidFill>
                  <a:prstClr val="black"/>
                </a:solidFill>
              </a:rPr>
              <a:t>As shown there is a feedback path included</a:t>
            </a: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a:t>P</a:t>
            </a:r>
            <a:r>
              <a:rPr lang="en-US" sz="3200" dirty="0" smtClean="0"/>
              <a:t>RNG</a:t>
            </a:r>
            <a:endParaRPr lang="en-US" sz="3200" dirty="0"/>
          </a:p>
        </p:txBody>
      </p:sp>
    </p:spTree>
    <p:extLst>
      <p:ext uri="{BB962C8B-B14F-4D97-AF65-F5344CB8AC3E}">
        <p14:creationId xmlns:p14="http://schemas.microsoft.com/office/powerpoint/2010/main" val="312070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fontScale="77500" lnSpcReduction="20000"/>
          </a:bodyPr>
          <a:lstStyle/>
          <a:p>
            <a:pPr>
              <a:buChar char="•"/>
            </a:pPr>
            <a:r>
              <a:rPr lang="en-US" altLang="en-US" sz="3900" dirty="0">
                <a:solidFill>
                  <a:prstClr val="black"/>
                </a:solidFill>
              </a:rPr>
              <a:t>One important thing to note is that the output bit stream is determined solely by the input value so that an adversary who knows the algorithm and the seed and re produce the entire bit stream.</a:t>
            </a:r>
          </a:p>
          <a:p>
            <a:pPr>
              <a:buChar char="•"/>
            </a:pPr>
            <a:endParaRPr lang="en-US" altLang="en-US" sz="3900" dirty="0">
              <a:solidFill>
                <a:prstClr val="black"/>
              </a:solidFill>
            </a:endParaRPr>
          </a:p>
          <a:p>
            <a:pPr>
              <a:buChar char="•"/>
            </a:pPr>
            <a:r>
              <a:rPr lang="en-US" altLang="en-US" sz="3900" dirty="0" smtClean="0">
                <a:solidFill>
                  <a:prstClr val="black"/>
                </a:solidFill>
              </a:rPr>
              <a:t>Pseudorandom </a:t>
            </a:r>
            <a:r>
              <a:rPr lang="en-US" altLang="en-US" sz="3900" dirty="0">
                <a:solidFill>
                  <a:prstClr val="black"/>
                </a:solidFill>
              </a:rPr>
              <a:t>Number Generator:- An algorithm is used to produce an open ended sequence of bits is </a:t>
            </a:r>
            <a:r>
              <a:rPr lang="en-US" altLang="en-US" sz="3900" dirty="0" smtClean="0">
                <a:solidFill>
                  <a:prstClr val="black"/>
                </a:solidFill>
              </a:rPr>
              <a:t>referred </a:t>
            </a:r>
            <a:r>
              <a:rPr lang="en-US" altLang="en-US" sz="3900" dirty="0">
                <a:solidFill>
                  <a:prstClr val="black"/>
                </a:solidFill>
              </a:rPr>
              <a:t>to as a PRNG. A common application for an open ended sequence of bits is as input to a symmetric stream cipher</a:t>
            </a:r>
          </a:p>
          <a:p>
            <a:pPr marL="0" indent="0"/>
            <a:endParaRPr lang="en-US" altLang="en-US" sz="3900" dirty="0">
              <a:solidFill>
                <a:prstClr val="black"/>
              </a:solidFill>
            </a:endParaRP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smtClean="0"/>
              <a:t>PRNG Contd...</a:t>
            </a:r>
            <a:endParaRPr lang="en-US" sz="3200" dirty="0"/>
          </a:p>
        </p:txBody>
      </p:sp>
    </p:spTree>
    <p:extLst>
      <p:ext uri="{BB962C8B-B14F-4D97-AF65-F5344CB8AC3E}">
        <p14:creationId xmlns:p14="http://schemas.microsoft.com/office/powerpoint/2010/main" val="2769336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fontScale="70000" lnSpcReduction="20000"/>
          </a:bodyPr>
          <a:lstStyle/>
          <a:p>
            <a:pPr>
              <a:buChar char="•"/>
            </a:pPr>
            <a:r>
              <a:rPr lang="en-US" altLang="en-US" sz="3900" dirty="0">
                <a:solidFill>
                  <a:prstClr val="black"/>
                </a:solidFill>
              </a:rPr>
              <a:t>Pseudorandom Function (PRF) :- A PRF is used to produce  a pseudorandom stream of bits of some fixed length. Examples are Symmetric Keys and </a:t>
            </a:r>
            <a:r>
              <a:rPr lang="en-US" altLang="en-US" sz="3900" dirty="0" err="1">
                <a:solidFill>
                  <a:prstClr val="black"/>
                </a:solidFill>
              </a:rPr>
              <a:t>nonces</a:t>
            </a:r>
            <a:r>
              <a:rPr lang="en-US" altLang="en-US" sz="3900" dirty="0">
                <a:solidFill>
                  <a:prstClr val="black"/>
                </a:solidFill>
              </a:rPr>
              <a:t>. Typically a PRF takes as input a seed plus some context specific values, such as a user ID or an application ID.</a:t>
            </a:r>
          </a:p>
          <a:p>
            <a:pPr>
              <a:buChar char="•"/>
            </a:pPr>
            <a:endParaRPr lang="en-US" altLang="en-US" sz="3900" dirty="0">
              <a:solidFill>
                <a:prstClr val="black"/>
              </a:solidFill>
            </a:endParaRPr>
          </a:p>
          <a:p>
            <a:pPr>
              <a:buChar char="•"/>
            </a:pPr>
            <a:r>
              <a:rPr lang="en-US" altLang="en-US" sz="3900" dirty="0">
                <a:solidFill>
                  <a:prstClr val="black"/>
                </a:solidFill>
              </a:rPr>
              <a:t>Other than number of bits produced, there is no difference between PRNG and PRF. Same algorithm can be used in both applications. Both required a </a:t>
            </a:r>
            <a:r>
              <a:rPr lang="en-US" altLang="en-US" sz="3900" dirty="0" smtClean="0">
                <a:solidFill>
                  <a:prstClr val="black"/>
                </a:solidFill>
              </a:rPr>
              <a:t>seed and </a:t>
            </a:r>
            <a:r>
              <a:rPr lang="en-US" altLang="en-US" sz="3900" dirty="0">
                <a:solidFill>
                  <a:prstClr val="black"/>
                </a:solidFill>
              </a:rPr>
              <a:t>both must </a:t>
            </a:r>
            <a:r>
              <a:rPr lang="en-US" altLang="en-US" sz="3900" dirty="0" smtClean="0">
                <a:solidFill>
                  <a:prstClr val="black"/>
                </a:solidFill>
              </a:rPr>
              <a:t>exhibit </a:t>
            </a:r>
            <a:r>
              <a:rPr lang="en-US" altLang="en-US" sz="3900" dirty="0">
                <a:solidFill>
                  <a:prstClr val="black"/>
                </a:solidFill>
              </a:rPr>
              <a:t>randomness and unpredictability.</a:t>
            </a:r>
          </a:p>
          <a:p>
            <a:pPr marL="0" indent="0"/>
            <a:endParaRPr lang="en-US" altLang="en-US" sz="3900" dirty="0">
              <a:solidFill>
                <a:prstClr val="black"/>
              </a:solidFill>
            </a:endParaRP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smtClean="0"/>
              <a:t>PRF</a:t>
            </a:r>
            <a:endParaRPr lang="en-US" sz="3200" dirty="0"/>
          </a:p>
        </p:txBody>
      </p:sp>
    </p:spTree>
    <p:extLst>
      <p:ext uri="{BB962C8B-B14F-4D97-AF65-F5344CB8AC3E}">
        <p14:creationId xmlns:p14="http://schemas.microsoft.com/office/powerpoint/2010/main" val="612088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fontScale="92500" lnSpcReduction="20000"/>
          </a:bodyPr>
          <a:lstStyle/>
          <a:p>
            <a:pPr>
              <a:buChar char="•"/>
            </a:pPr>
            <a:r>
              <a:rPr lang="en-US" altLang="en-US" sz="3900" dirty="0">
                <a:solidFill>
                  <a:prstClr val="black"/>
                </a:solidFill>
              </a:rPr>
              <a:t>Randomness</a:t>
            </a:r>
          </a:p>
          <a:p>
            <a:pPr lvl="1"/>
            <a:r>
              <a:rPr lang="en-US" altLang="en-US" dirty="0"/>
              <a:t>uniformity, scalability, consistency</a:t>
            </a:r>
          </a:p>
          <a:p>
            <a:pPr>
              <a:buChar char="•"/>
            </a:pPr>
            <a:r>
              <a:rPr lang="en-US" altLang="en-US" sz="3900" dirty="0">
                <a:solidFill>
                  <a:prstClr val="black"/>
                </a:solidFill>
              </a:rPr>
              <a:t>unpredictability</a:t>
            </a:r>
          </a:p>
          <a:p>
            <a:pPr lvl="1"/>
            <a:r>
              <a:rPr lang="en-US" altLang="en-US" dirty="0"/>
              <a:t>forward &amp; backward unpredictability</a:t>
            </a:r>
          </a:p>
          <a:p>
            <a:pPr>
              <a:buChar char="•"/>
            </a:pPr>
            <a:r>
              <a:rPr lang="en-US" altLang="en-US" sz="3900" dirty="0">
                <a:solidFill>
                  <a:prstClr val="black"/>
                </a:solidFill>
              </a:rPr>
              <a:t>use same tests to check</a:t>
            </a:r>
          </a:p>
          <a:p>
            <a:pPr>
              <a:buChar char="•"/>
            </a:pPr>
            <a:r>
              <a:rPr lang="en-US" altLang="en-US" sz="3900" dirty="0">
                <a:solidFill>
                  <a:prstClr val="black"/>
                </a:solidFill>
              </a:rPr>
              <a:t>characteristics of the seed</a:t>
            </a:r>
          </a:p>
          <a:p>
            <a:pPr lvl="1"/>
            <a:r>
              <a:rPr lang="en-US" altLang="en-US" dirty="0"/>
              <a:t>secure</a:t>
            </a:r>
          </a:p>
          <a:p>
            <a:pPr lvl="1"/>
            <a:r>
              <a:rPr lang="en-US" altLang="en-US" dirty="0"/>
              <a:t>if known adversary can determine output</a:t>
            </a:r>
          </a:p>
          <a:p>
            <a:pPr lvl="1"/>
            <a:r>
              <a:rPr lang="en-US" altLang="en-US" dirty="0"/>
              <a:t>so must be random or pseudorandom number</a:t>
            </a: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a:t>PRNG </a:t>
            </a:r>
            <a:r>
              <a:rPr lang="en-US" sz="3200" dirty="0" smtClean="0"/>
              <a:t>Requirements</a:t>
            </a:r>
            <a:endParaRPr lang="en-US" sz="3200" dirty="0"/>
          </a:p>
        </p:txBody>
      </p:sp>
    </p:spTree>
    <p:extLst>
      <p:ext uri="{BB962C8B-B14F-4D97-AF65-F5344CB8AC3E}">
        <p14:creationId xmlns:p14="http://schemas.microsoft.com/office/powerpoint/2010/main" val="2263931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altLang="en-US" sz="3200" dirty="0"/>
              <a:t>Generation of Seed Input to PRNG</a:t>
            </a:r>
            <a:endParaRPr lang="en-US" sz="32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1988840"/>
            <a:ext cx="3095625" cy="40227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2251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fontScale="85000" lnSpcReduction="10000"/>
          </a:bodyPr>
          <a:lstStyle/>
          <a:p>
            <a:pPr>
              <a:buChar char="•"/>
            </a:pPr>
            <a:r>
              <a:rPr lang="en-US" altLang="en-US" sz="3900" dirty="0">
                <a:solidFill>
                  <a:prstClr val="black"/>
                </a:solidFill>
              </a:rPr>
              <a:t>For cryptographic applications, the seed that serves as input to </a:t>
            </a:r>
            <a:r>
              <a:rPr lang="en-US" altLang="en-US" sz="3900" dirty="0" smtClean="0">
                <a:solidFill>
                  <a:prstClr val="black"/>
                </a:solidFill>
              </a:rPr>
              <a:t>PRNG must </a:t>
            </a:r>
            <a:r>
              <a:rPr lang="en-US" altLang="en-US" sz="3900" dirty="0">
                <a:solidFill>
                  <a:prstClr val="black"/>
                </a:solidFill>
              </a:rPr>
              <a:t>be secure.</a:t>
            </a:r>
          </a:p>
          <a:p>
            <a:pPr>
              <a:buChar char="•"/>
            </a:pPr>
            <a:r>
              <a:rPr lang="en-US" altLang="en-US" sz="3900" dirty="0">
                <a:solidFill>
                  <a:prstClr val="black"/>
                </a:solidFill>
              </a:rPr>
              <a:t>Because the PRNG is deterministic algorithm, if the adversary can deduce the seed, then the output can also be determined.</a:t>
            </a:r>
          </a:p>
          <a:p>
            <a:pPr>
              <a:buChar char="•"/>
            </a:pPr>
            <a:r>
              <a:rPr lang="en-US" altLang="en-US" sz="3900" dirty="0">
                <a:solidFill>
                  <a:prstClr val="black"/>
                </a:solidFill>
              </a:rPr>
              <a:t>Therefore the seed must be unpredictable. In Fact the seed itself must be a random or pseudo random </a:t>
            </a:r>
            <a:r>
              <a:rPr lang="en-US" altLang="en-US" sz="3900" dirty="0" smtClean="0">
                <a:solidFill>
                  <a:prstClr val="black"/>
                </a:solidFill>
              </a:rPr>
              <a:t>number.</a:t>
            </a: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altLang="en-US" sz="3200" dirty="0"/>
              <a:t>Generation of Seed Input to </a:t>
            </a:r>
            <a:r>
              <a:rPr lang="en-US" altLang="en-US" sz="3200" dirty="0" smtClean="0"/>
              <a:t>PRNG</a:t>
            </a:r>
            <a:endParaRPr lang="en-US" sz="3200" dirty="0"/>
          </a:p>
        </p:txBody>
      </p:sp>
    </p:spTree>
    <p:extLst>
      <p:ext uri="{BB962C8B-B14F-4D97-AF65-F5344CB8AC3E}">
        <p14:creationId xmlns:p14="http://schemas.microsoft.com/office/powerpoint/2010/main" val="1786363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a:bodyPr>
          <a:lstStyle/>
          <a:p>
            <a:pPr>
              <a:buChar char="•"/>
            </a:pPr>
            <a:r>
              <a:rPr lang="en-US" altLang="en-US" sz="3900" dirty="0">
                <a:solidFill>
                  <a:prstClr val="black"/>
                </a:solidFill>
              </a:rPr>
              <a:t>Linear Congruential Generator</a:t>
            </a:r>
          </a:p>
          <a:p>
            <a:pPr>
              <a:buChar char="•"/>
            </a:pPr>
            <a:r>
              <a:rPr lang="en-US" altLang="en-US" sz="3900" dirty="0">
                <a:solidFill>
                  <a:prstClr val="black"/>
                </a:solidFill>
              </a:rPr>
              <a:t>Blum </a:t>
            </a:r>
            <a:r>
              <a:rPr lang="en-US" altLang="en-US" sz="3900" dirty="0" err="1">
                <a:solidFill>
                  <a:prstClr val="black"/>
                </a:solidFill>
              </a:rPr>
              <a:t>Blum</a:t>
            </a:r>
            <a:r>
              <a:rPr lang="en-US" altLang="en-US" sz="3900" dirty="0">
                <a:solidFill>
                  <a:prstClr val="black"/>
                </a:solidFill>
              </a:rPr>
              <a:t> </a:t>
            </a:r>
            <a:r>
              <a:rPr lang="en-US" altLang="en-US" sz="3900" dirty="0" err="1">
                <a:solidFill>
                  <a:prstClr val="black"/>
                </a:solidFill>
              </a:rPr>
              <a:t>Shub</a:t>
            </a:r>
            <a:r>
              <a:rPr lang="en-US" altLang="en-US" sz="3900" dirty="0">
                <a:solidFill>
                  <a:prstClr val="black"/>
                </a:solidFill>
              </a:rPr>
              <a:t> Generator</a:t>
            </a:r>
          </a:p>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04800" y="332656"/>
            <a:ext cx="6324600" cy="684312"/>
          </a:xfrm>
        </p:spPr>
        <p:txBody>
          <a:bodyPr vert="horz" lIns="91440" tIns="45720" rIns="91440" bIns="45720" rtlCol="0" anchor="ctr" anchorCtr="0">
            <a:normAutofit/>
          </a:bodyPr>
          <a:lstStyle/>
          <a:p>
            <a:pPr>
              <a:spcBef>
                <a:spcPct val="0"/>
              </a:spcBef>
            </a:pPr>
            <a:r>
              <a:rPr lang="en-US" sz="3200" dirty="0" smtClean="0"/>
              <a:t>PSRN generation techniques</a:t>
            </a:r>
            <a:endParaRPr lang="en-US" sz="3200" dirty="0"/>
          </a:p>
        </p:txBody>
      </p:sp>
    </p:spTree>
    <p:extLst>
      <p:ext uri="{BB962C8B-B14F-4D97-AF65-F5344CB8AC3E}">
        <p14:creationId xmlns:p14="http://schemas.microsoft.com/office/powerpoint/2010/main" val="2895240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t>Linear </a:t>
            </a:r>
            <a:r>
              <a:rPr lang="en-US" sz="3200" dirty="0" smtClean="0"/>
              <a:t>Congruential Generator</a:t>
            </a:r>
            <a:endParaRPr lang="en-US" sz="3200" dirty="0"/>
          </a:p>
        </p:txBody>
      </p:sp>
      <p:sp>
        <p:nvSpPr>
          <p:cNvPr id="6" name="Rectangle 5"/>
          <p:cNvSpPr/>
          <p:nvPr/>
        </p:nvSpPr>
        <p:spPr>
          <a:xfrm>
            <a:off x="304800" y="1493836"/>
            <a:ext cx="7579568" cy="4815483"/>
          </a:xfrm>
          <a:prstGeom prst="rect">
            <a:avLst/>
          </a:prstGeom>
        </p:spPr>
        <p:txBody>
          <a:bodyPr vert="horz" lIns="91440" tIns="45720" rIns="91440" bIns="45720" rtlCol="0">
            <a:normAutofit fontScale="625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common iterative technique using:</a:t>
            </a:r>
          </a:p>
          <a:p>
            <a:pPr marL="1714500" lvl="3" indent="-342900">
              <a:spcBef>
                <a:spcPct val="20000"/>
              </a:spcBef>
              <a:buClr>
                <a:srgbClr val="101141"/>
              </a:buClr>
              <a:buFont typeface="Arial" pitchFamily="34" charset="0"/>
              <a:buChar char="•"/>
            </a:pPr>
            <a:r>
              <a:rPr lang="en-US" sz="3900" dirty="0">
                <a:solidFill>
                  <a:prstClr val="black"/>
                </a:solidFill>
                <a:cs typeface="Arial" pitchFamily="34" charset="0"/>
              </a:rPr>
              <a:t>X</a:t>
            </a:r>
            <a:r>
              <a:rPr lang="en-US" sz="3900" baseline="-25000" dirty="0">
                <a:solidFill>
                  <a:prstClr val="black"/>
                </a:solidFill>
                <a:cs typeface="Arial" pitchFamily="34" charset="0"/>
              </a:rPr>
              <a:t>n+1</a:t>
            </a:r>
            <a:r>
              <a:rPr lang="en-US" sz="3900" dirty="0">
                <a:solidFill>
                  <a:prstClr val="black"/>
                </a:solidFill>
                <a:cs typeface="Arial" pitchFamily="34" charset="0"/>
              </a:rPr>
              <a:t> = (</a:t>
            </a:r>
            <a:r>
              <a:rPr lang="en-US" sz="3900" dirty="0" err="1">
                <a:solidFill>
                  <a:prstClr val="black"/>
                </a:solidFill>
                <a:cs typeface="Arial" pitchFamily="34" charset="0"/>
              </a:rPr>
              <a:t>aX</a:t>
            </a:r>
            <a:r>
              <a:rPr lang="en-US" sz="3900" baseline="-25000" dirty="0" err="1">
                <a:solidFill>
                  <a:prstClr val="black"/>
                </a:solidFill>
                <a:cs typeface="Arial" pitchFamily="34" charset="0"/>
              </a:rPr>
              <a:t>n</a:t>
            </a:r>
            <a:r>
              <a:rPr lang="en-US" sz="3900" dirty="0">
                <a:solidFill>
                  <a:prstClr val="black"/>
                </a:solidFill>
                <a:cs typeface="Arial" pitchFamily="34" charset="0"/>
              </a:rPr>
              <a:t> + c) mod m</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given suitable values of parameters can produce a long random-like sequence</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suitable criteria to have are:</a:t>
            </a:r>
          </a:p>
          <a:p>
            <a:pPr marL="1714500" lvl="3" indent="-342900">
              <a:spcBef>
                <a:spcPct val="20000"/>
              </a:spcBef>
              <a:buClr>
                <a:srgbClr val="101141"/>
              </a:buClr>
              <a:buFont typeface="Wingdings" pitchFamily="2" charset="2"/>
              <a:buChar char="Ø"/>
            </a:pPr>
            <a:r>
              <a:rPr lang="en-US" sz="3900" dirty="0">
                <a:solidFill>
                  <a:prstClr val="black"/>
                </a:solidFill>
                <a:cs typeface="Arial" pitchFamily="34" charset="0"/>
              </a:rPr>
              <a:t>function generates a full-period</a:t>
            </a:r>
          </a:p>
          <a:p>
            <a:pPr marL="1714500" lvl="3" indent="-342900">
              <a:spcBef>
                <a:spcPct val="20000"/>
              </a:spcBef>
              <a:buClr>
                <a:srgbClr val="101141"/>
              </a:buClr>
              <a:buFont typeface="Wingdings" pitchFamily="2" charset="2"/>
              <a:buChar char="Ø"/>
            </a:pPr>
            <a:r>
              <a:rPr lang="en-US" sz="3900" dirty="0">
                <a:solidFill>
                  <a:prstClr val="black"/>
                </a:solidFill>
                <a:cs typeface="Arial" pitchFamily="34" charset="0"/>
              </a:rPr>
              <a:t>generated sequence should appear random</a:t>
            </a:r>
          </a:p>
          <a:p>
            <a:pPr marL="1714500" lvl="3" indent="-342900">
              <a:spcBef>
                <a:spcPct val="20000"/>
              </a:spcBef>
              <a:buClr>
                <a:srgbClr val="101141"/>
              </a:buClr>
              <a:buFont typeface="Wingdings" pitchFamily="2" charset="2"/>
              <a:buChar char="Ø"/>
            </a:pPr>
            <a:r>
              <a:rPr lang="en-US" sz="3900" dirty="0">
                <a:solidFill>
                  <a:prstClr val="black"/>
                </a:solidFill>
                <a:cs typeface="Arial" pitchFamily="34" charset="0"/>
              </a:rPr>
              <a:t>efficient implementation with 32-bit arithmetic</a:t>
            </a:r>
          </a:p>
          <a:p>
            <a:pPr marL="1714500" lvl="3" indent="-342900">
              <a:spcBef>
                <a:spcPct val="20000"/>
              </a:spcBef>
              <a:buClr>
                <a:srgbClr val="101141"/>
              </a:buClr>
              <a:buFont typeface="Wingdings" pitchFamily="2" charset="2"/>
              <a:buChar char="Ø"/>
            </a:pPr>
            <a:r>
              <a:rPr lang="en-US" sz="3900" dirty="0">
                <a:solidFill>
                  <a:prstClr val="black"/>
                </a:solidFill>
                <a:cs typeface="Arial" pitchFamily="34" charset="0"/>
              </a:rPr>
              <a:t>note that an attacker can reconstruct sequence given a small number of values</a:t>
            </a:r>
          </a:p>
          <a:p>
            <a:pPr marL="1714500" lvl="3" indent="-342900">
              <a:spcBef>
                <a:spcPct val="20000"/>
              </a:spcBef>
              <a:buClr>
                <a:srgbClr val="101141"/>
              </a:buClr>
              <a:buFont typeface="Wingdings" pitchFamily="2" charset="2"/>
              <a:buChar char="Ø"/>
            </a:pPr>
            <a:r>
              <a:rPr lang="en-US" sz="3900" dirty="0">
                <a:solidFill>
                  <a:prstClr val="black"/>
                </a:solidFill>
                <a:cs typeface="Arial" pitchFamily="34" charset="0"/>
              </a:rPr>
              <a:t>have possibilities for making this harder</a:t>
            </a:r>
          </a:p>
        </p:txBody>
      </p:sp>
    </p:spTree>
    <p:extLst>
      <p:ext uri="{BB962C8B-B14F-4D97-AF65-F5344CB8AC3E}">
        <p14:creationId xmlns:p14="http://schemas.microsoft.com/office/powerpoint/2010/main" val="2634557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t>Linear </a:t>
            </a:r>
            <a:r>
              <a:rPr lang="en-US" sz="3200" dirty="0" smtClean="0"/>
              <a:t>Congruential Generator Contd..</a:t>
            </a:r>
            <a:endParaRPr lang="en-US" sz="3200" dirty="0"/>
          </a:p>
        </p:txBody>
      </p:sp>
      <p:sp>
        <p:nvSpPr>
          <p:cNvPr id="6" name="Rectangle 5"/>
          <p:cNvSpPr/>
          <p:nvPr/>
        </p:nvSpPr>
        <p:spPr>
          <a:xfrm>
            <a:off x="304800" y="1493836"/>
            <a:ext cx="7579568" cy="4815483"/>
          </a:xfrm>
          <a:prstGeom prst="rect">
            <a:avLst/>
          </a:prstGeom>
        </p:spPr>
        <p:txBody>
          <a:bodyPr vert="horz" lIns="91440" tIns="45720" rIns="91440" bIns="45720" rtlCol="0">
            <a:normAutofit fontScale="700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m 	</a:t>
            </a:r>
            <a:r>
              <a:rPr lang="en-US" sz="3900" dirty="0" smtClean="0">
                <a:solidFill>
                  <a:prstClr val="black"/>
                </a:solidFill>
                <a:cs typeface="Arial" pitchFamily="34" charset="0"/>
              </a:rPr>
              <a:t>the </a:t>
            </a:r>
            <a:r>
              <a:rPr lang="en-US" sz="3900" dirty="0">
                <a:solidFill>
                  <a:prstClr val="black"/>
                </a:solidFill>
                <a:cs typeface="Arial" pitchFamily="34" charset="0"/>
              </a:rPr>
              <a:t>modulus 	</a:t>
            </a:r>
            <a:r>
              <a:rPr lang="en-US" sz="3900" dirty="0" smtClean="0">
                <a:solidFill>
                  <a:prstClr val="black"/>
                </a:solidFill>
                <a:cs typeface="Arial" pitchFamily="34" charset="0"/>
              </a:rPr>
              <a:t>    m&gt;0</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a	the </a:t>
            </a:r>
            <a:r>
              <a:rPr lang="en-US" sz="3900" dirty="0" smtClean="0">
                <a:solidFill>
                  <a:prstClr val="black"/>
                </a:solidFill>
                <a:cs typeface="Arial" pitchFamily="34" charset="0"/>
              </a:rPr>
              <a:t>multiplier   0&lt;a&lt;m</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smtClean="0">
                <a:solidFill>
                  <a:prstClr val="black"/>
                </a:solidFill>
                <a:cs typeface="Arial" pitchFamily="34" charset="0"/>
              </a:rPr>
              <a:t>c </a:t>
            </a:r>
            <a:r>
              <a:rPr lang="en-US" sz="3900" dirty="0">
                <a:solidFill>
                  <a:prstClr val="black"/>
                </a:solidFill>
                <a:cs typeface="Arial" pitchFamily="34" charset="0"/>
              </a:rPr>
              <a:t>the increment</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X</a:t>
            </a:r>
            <a:r>
              <a:rPr lang="en-US" sz="3900" baseline="-25000" dirty="0">
                <a:solidFill>
                  <a:prstClr val="black"/>
                </a:solidFill>
                <a:cs typeface="Arial" pitchFamily="34" charset="0"/>
              </a:rPr>
              <a:t>0 </a:t>
            </a:r>
            <a:r>
              <a:rPr lang="en-US" sz="3900" dirty="0">
                <a:solidFill>
                  <a:prstClr val="black"/>
                </a:solidFill>
                <a:cs typeface="Arial" pitchFamily="34" charset="0"/>
              </a:rPr>
              <a:t> the starting value or seed</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If </a:t>
            </a:r>
            <a:r>
              <a:rPr lang="en-US" sz="3900" dirty="0" err="1">
                <a:solidFill>
                  <a:prstClr val="black"/>
                </a:solidFill>
                <a:cs typeface="Arial" pitchFamily="34" charset="0"/>
              </a:rPr>
              <a:t>m,a,c</a:t>
            </a:r>
            <a:r>
              <a:rPr lang="en-US" sz="3900" dirty="0">
                <a:solidFill>
                  <a:prstClr val="black"/>
                </a:solidFill>
                <a:cs typeface="Arial" pitchFamily="34" charset="0"/>
              </a:rPr>
              <a:t> and x</a:t>
            </a:r>
            <a:r>
              <a:rPr lang="en-US" sz="3900" baseline="-25000" dirty="0">
                <a:solidFill>
                  <a:prstClr val="black"/>
                </a:solidFill>
                <a:cs typeface="Arial" pitchFamily="34" charset="0"/>
              </a:rPr>
              <a:t>o</a:t>
            </a:r>
            <a:r>
              <a:rPr lang="en-US" sz="3900" dirty="0">
                <a:solidFill>
                  <a:prstClr val="black"/>
                </a:solidFill>
                <a:cs typeface="Arial" pitchFamily="34" charset="0"/>
              </a:rPr>
              <a:t> are integers, then this technique will produce a sequence of integers with each integer in the range o&lt;</a:t>
            </a:r>
            <a:r>
              <a:rPr lang="en-US" sz="3900" dirty="0" err="1">
                <a:solidFill>
                  <a:prstClr val="black"/>
                </a:solidFill>
                <a:cs typeface="Arial" pitchFamily="34" charset="0"/>
              </a:rPr>
              <a:t>X</a:t>
            </a:r>
            <a:r>
              <a:rPr lang="en-US" sz="3900" baseline="-25000" dirty="0" err="1">
                <a:solidFill>
                  <a:prstClr val="black"/>
                </a:solidFill>
                <a:cs typeface="Arial" pitchFamily="34" charset="0"/>
              </a:rPr>
              <a:t>n</a:t>
            </a:r>
            <a:r>
              <a:rPr lang="en-US" sz="3900" dirty="0">
                <a:solidFill>
                  <a:prstClr val="black"/>
                </a:solidFill>
                <a:cs typeface="Arial" pitchFamily="34" charset="0"/>
              </a:rPr>
              <a:t>&lt;m</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The selection of values for a, c and m is critical in developing a good random number generator.</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94404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t>Linear </a:t>
            </a:r>
            <a:r>
              <a:rPr lang="en-US" sz="3200" dirty="0" smtClean="0"/>
              <a:t>Congruential Generator Contd..</a:t>
            </a:r>
            <a:endParaRPr lang="en-US" sz="3200" dirty="0"/>
          </a:p>
        </p:txBody>
      </p:sp>
      <p:sp>
        <p:nvSpPr>
          <p:cNvPr id="6" name="Rectangle 5"/>
          <p:cNvSpPr/>
          <p:nvPr/>
        </p:nvSpPr>
        <p:spPr>
          <a:xfrm>
            <a:off x="304800" y="1493836"/>
            <a:ext cx="7795592" cy="4815483"/>
          </a:xfrm>
          <a:prstGeom prst="rect">
            <a:avLst/>
          </a:prstGeom>
        </p:spPr>
        <p:txBody>
          <a:bodyPr vert="horz" lIns="91440" tIns="45720" rIns="91440" bIns="45720" rtlCol="0">
            <a:normAutofit fontScale="700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Consider a= c = 1. The sequence produced is obviously not satisfactory.</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Now consider values a=7, c=0 , m=32  and X0=1. This generates the sequence(7,17,23,1,7 </a:t>
            </a:r>
            <a:r>
              <a:rPr lang="en-US" sz="3900" dirty="0" smtClean="0">
                <a:solidFill>
                  <a:prstClr val="black"/>
                </a:solidFill>
                <a:cs typeface="Arial" pitchFamily="34" charset="0"/>
              </a:rPr>
              <a:t>etc.)</a:t>
            </a:r>
            <a:r>
              <a:rPr lang="en-US" sz="3900" dirty="0">
                <a:solidFill>
                  <a:prstClr val="black"/>
                </a:solidFill>
                <a:cs typeface="Arial" pitchFamily="34" charset="0"/>
              </a:rPr>
              <a:t>which is also clearly unsatisfactory. Of the 32 possible values, only 4 are </a:t>
            </a:r>
            <a:r>
              <a:rPr lang="en-US" sz="3900" dirty="0" smtClean="0">
                <a:solidFill>
                  <a:prstClr val="black"/>
                </a:solidFill>
                <a:cs typeface="Arial" pitchFamily="34" charset="0"/>
              </a:rPr>
              <a:t>used. Thus </a:t>
            </a:r>
            <a:r>
              <a:rPr lang="en-US" sz="3900" dirty="0">
                <a:solidFill>
                  <a:prstClr val="black"/>
                </a:solidFill>
                <a:cs typeface="Arial" pitchFamily="34" charset="0"/>
              </a:rPr>
              <a:t>the sequence is said to have a period of 4. If instead we change the value of a to 5, then the sequence is (5,25,29,17,21,9,13,1,5) which increases the period to 8</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We would like m to be very large so that there is the potential for producing a long series of distinct random numbers</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3793736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t>Blum </a:t>
            </a:r>
            <a:r>
              <a:rPr lang="en-US" sz="3200" dirty="0" err="1"/>
              <a:t>Blum</a:t>
            </a:r>
            <a:r>
              <a:rPr lang="en-US" sz="3200" dirty="0"/>
              <a:t> </a:t>
            </a:r>
            <a:r>
              <a:rPr lang="en-US" sz="3200" dirty="0" err="1"/>
              <a:t>Shub</a:t>
            </a:r>
            <a:r>
              <a:rPr lang="en-US" sz="3200" dirty="0"/>
              <a:t> Generator</a:t>
            </a:r>
          </a:p>
        </p:txBody>
      </p:sp>
      <p:sp>
        <p:nvSpPr>
          <p:cNvPr id="6" name="Rectangle 5"/>
          <p:cNvSpPr/>
          <p:nvPr/>
        </p:nvSpPr>
        <p:spPr>
          <a:xfrm>
            <a:off x="304800" y="1493836"/>
            <a:ext cx="7795592" cy="4815483"/>
          </a:xfrm>
          <a:prstGeom prst="rect">
            <a:avLst/>
          </a:prstGeom>
        </p:spPr>
        <p:txBody>
          <a:bodyPr vert="horz" lIns="91440" tIns="45720" rIns="91440" bIns="45720" rtlCol="0">
            <a:normAutofit fontScale="700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based on public key algorithms</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use least significant bit from iterative equation:</a:t>
            </a:r>
          </a:p>
          <a:p>
            <a:pPr marL="742950" lvl="1" indent="-285750">
              <a:spcBef>
                <a:spcPct val="20000"/>
              </a:spcBef>
            </a:pPr>
            <a:endParaRPr lang="en-US" sz="2800" dirty="0" smtClean="0">
              <a:solidFill>
                <a:srgbClr val="FF0000"/>
              </a:solidFill>
              <a:cs typeface="Arial" pitchFamily="34" charset="0"/>
            </a:endParaRPr>
          </a:p>
          <a:p>
            <a:pPr marL="742950" lvl="1" indent="-285750">
              <a:spcBef>
                <a:spcPct val="20000"/>
              </a:spcBef>
            </a:pPr>
            <a:endParaRPr lang="en-US" sz="2800" dirty="0" smtClean="0">
              <a:solidFill>
                <a:srgbClr val="FF0000"/>
              </a:solidFill>
              <a:cs typeface="Arial" pitchFamily="34" charset="0"/>
            </a:endParaRPr>
          </a:p>
          <a:p>
            <a:pPr marL="742950" lvl="1" indent="-285750">
              <a:spcBef>
                <a:spcPct val="20000"/>
              </a:spcBef>
            </a:pPr>
            <a:endParaRPr lang="en-US" sz="2800" dirty="0" smtClean="0">
              <a:solidFill>
                <a:srgbClr val="FF0000"/>
              </a:solidFill>
              <a:cs typeface="Arial" pitchFamily="34" charset="0"/>
            </a:endParaRPr>
          </a:p>
          <a:p>
            <a:pPr marL="742950" lvl="1" indent="-285750">
              <a:spcBef>
                <a:spcPct val="20000"/>
              </a:spcBef>
            </a:pPr>
            <a:endParaRPr lang="en-US" sz="2800" dirty="0" smtClean="0">
              <a:solidFill>
                <a:srgbClr val="FF0000"/>
              </a:solidFill>
              <a:cs typeface="Arial" pitchFamily="34" charset="0"/>
            </a:endParaRPr>
          </a:p>
          <a:p>
            <a:pPr marL="742950" lvl="1" indent="-285750">
              <a:spcBef>
                <a:spcPct val="20000"/>
              </a:spcBef>
            </a:pPr>
            <a:endParaRPr lang="en-US" sz="2800" dirty="0" smtClean="0">
              <a:solidFill>
                <a:srgbClr val="FF0000"/>
              </a:solidFill>
              <a:cs typeface="Arial" pitchFamily="34" charset="0"/>
            </a:endParaRPr>
          </a:p>
          <a:p>
            <a:pPr marL="742950" lvl="1" indent="-285750">
              <a:spcBef>
                <a:spcPct val="20000"/>
              </a:spcBef>
            </a:pPr>
            <a:endParaRPr lang="en-US" sz="2800" dirty="0">
              <a:solidFill>
                <a:srgbClr val="FF0000"/>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unpredictable, passes next-bit test</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security rests on difficulty of factoring N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is unpredictable given any run of bits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slow, since very large numbers must be used</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too slow for cipher use, good for key generation </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pic>
        <p:nvPicPr>
          <p:cNvPr id="2050" name="Picture 2"/>
          <p:cNvPicPr>
            <a:picLocks noChangeAspect="1" noChangeArrowheads="1"/>
          </p:cNvPicPr>
          <p:nvPr/>
        </p:nvPicPr>
        <p:blipFill>
          <a:blip r:embed="rId2"/>
          <a:srcRect/>
          <a:stretch>
            <a:fillRect/>
          </a:stretch>
        </p:blipFill>
        <p:spPr bwMode="auto">
          <a:xfrm>
            <a:off x="1643042" y="2357430"/>
            <a:ext cx="3609975" cy="1647825"/>
          </a:xfrm>
          <a:prstGeom prst="rect">
            <a:avLst/>
          </a:prstGeom>
          <a:noFill/>
          <a:ln w="9525">
            <a:noFill/>
            <a:miter lim="800000"/>
            <a:headEnd/>
            <a:tailEnd/>
          </a:ln>
          <a:effectLst/>
        </p:spPr>
      </p:pic>
    </p:spTree>
    <p:extLst>
      <p:ext uri="{BB962C8B-B14F-4D97-AF65-F5344CB8AC3E}">
        <p14:creationId xmlns:p14="http://schemas.microsoft.com/office/powerpoint/2010/main" val="1168992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a:t>Blum </a:t>
            </a:r>
            <a:r>
              <a:rPr lang="en-US" sz="3200" dirty="0" err="1"/>
              <a:t>Blum</a:t>
            </a:r>
            <a:r>
              <a:rPr lang="en-US" sz="3200" dirty="0"/>
              <a:t> </a:t>
            </a:r>
            <a:r>
              <a:rPr lang="en-US" sz="3200" dirty="0" err="1"/>
              <a:t>Shub</a:t>
            </a:r>
            <a:r>
              <a:rPr lang="en-US" sz="3200" dirty="0"/>
              <a:t> </a:t>
            </a:r>
            <a:r>
              <a:rPr lang="en-US" sz="3200" dirty="0" smtClean="0"/>
              <a:t>Generator </a:t>
            </a:r>
            <a:r>
              <a:rPr lang="en-US" sz="3200" dirty="0" err="1" smtClean="0"/>
              <a:t>Contd</a:t>
            </a:r>
            <a:r>
              <a:rPr lang="en-US" sz="3200" dirty="0" smtClean="0"/>
              <a:t>…</a:t>
            </a:r>
            <a:endParaRPr lang="en-US" sz="3200" dirty="0"/>
          </a:p>
        </p:txBody>
      </p:sp>
      <p:sp>
        <p:nvSpPr>
          <p:cNvPr id="6" name="Rectangle 5"/>
          <p:cNvSpPr/>
          <p:nvPr/>
        </p:nvSpPr>
        <p:spPr>
          <a:xfrm>
            <a:off x="304800" y="1493837"/>
            <a:ext cx="8371656" cy="927051"/>
          </a:xfrm>
          <a:prstGeom prst="rect">
            <a:avLst/>
          </a:prstGeom>
        </p:spPr>
        <p:txBody>
          <a:bodyPr vert="horz" lIns="91440" tIns="45720" rIns="91440" bIns="45720" rtlCol="0">
            <a:normAutofit fontScale="775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Table shows an example of BBS operation, Hence n=192649 = 383 * 503 and seed s = 101355</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476684"/>
            <a:ext cx="7223125" cy="371298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6287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a:t>
            </a:r>
            <a:r>
              <a:rPr lang="en-US" sz="3200" dirty="0" smtClean="0"/>
              <a:t>Ciphers</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85000" lnSpcReduction="1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process message bit by bit (as a stream)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have a pseudo random keystream</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combined (XOR) with plaintext bit by bit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randomness of stream key completely destroys statistically properties in message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Ci = </a:t>
            </a:r>
            <a:r>
              <a:rPr lang="en-US" sz="3900" dirty="0" smtClean="0">
                <a:solidFill>
                  <a:prstClr val="black"/>
                </a:solidFill>
                <a:cs typeface="Arial" pitchFamily="34" charset="0"/>
              </a:rPr>
              <a:t>P</a:t>
            </a:r>
            <a:r>
              <a:rPr lang="en-US" sz="3900" baseline="-25000" dirty="0" smtClean="0">
                <a:solidFill>
                  <a:prstClr val="black"/>
                </a:solidFill>
                <a:cs typeface="Arial" pitchFamily="34" charset="0"/>
              </a:rPr>
              <a:t>i </a:t>
            </a:r>
            <a:r>
              <a:rPr lang="en-US" sz="3600" dirty="0" smtClean="0">
                <a:sym typeface="Symbol" pitchFamily="18" charset="2"/>
              </a:rPr>
              <a:t></a:t>
            </a:r>
            <a:r>
              <a:rPr lang="en-US" sz="3900" dirty="0" smtClean="0">
                <a:solidFill>
                  <a:prstClr val="black"/>
                </a:solidFill>
                <a:cs typeface="Arial" pitchFamily="34" charset="0"/>
              </a:rPr>
              <a:t>Stream (</a:t>
            </a:r>
            <a:r>
              <a:rPr lang="en-US" sz="3900" dirty="0" err="1" smtClean="0">
                <a:solidFill>
                  <a:prstClr val="black"/>
                </a:solidFill>
                <a:cs typeface="Arial" pitchFamily="34" charset="0"/>
              </a:rPr>
              <a:t>Key</a:t>
            </a:r>
            <a:r>
              <a:rPr lang="en-US" sz="3900" baseline="-25000" dirty="0" err="1" smtClean="0">
                <a:solidFill>
                  <a:prstClr val="black"/>
                </a:solidFill>
                <a:cs typeface="Arial" pitchFamily="34" charset="0"/>
              </a:rPr>
              <a:t>i</a:t>
            </a:r>
            <a:r>
              <a:rPr lang="en-US" sz="3900" baseline="-25000" dirty="0" smtClean="0">
                <a:solidFill>
                  <a:prstClr val="black"/>
                </a:solidFill>
                <a:cs typeface="Arial" pitchFamily="34" charset="0"/>
              </a:rPr>
              <a:t> </a:t>
            </a:r>
            <a:r>
              <a:rPr lang="en-US" sz="3900" normalizeH="1" dirty="0" smtClean="0">
                <a:solidFill>
                  <a:prstClr val="black"/>
                </a:solidFill>
                <a:cs typeface="Arial" pitchFamily="34" charset="0"/>
              </a:rPr>
              <a:t>)</a:t>
            </a:r>
            <a:r>
              <a:rPr lang="en-US" sz="3900" dirty="0" smtClean="0">
                <a:solidFill>
                  <a:prstClr val="black"/>
                </a:solidFill>
                <a:cs typeface="Arial" pitchFamily="34" charset="0"/>
              </a:rPr>
              <a:t> </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but must never reuse stream key</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otherwise can recover </a:t>
            </a:r>
            <a:r>
              <a:rPr lang="en-US" sz="3900" dirty="0" smtClean="0">
                <a:solidFill>
                  <a:prstClr val="black"/>
                </a:solidFill>
                <a:cs typeface="Arial" pitchFamily="34" charset="0"/>
              </a:rPr>
              <a:t>messages</a:t>
            </a:r>
            <a:endParaRPr lang="en-US" sz="3900" dirty="0">
              <a:solidFill>
                <a:prstClr val="black"/>
              </a:solidFill>
              <a:cs typeface="Arial" pitchFamily="34" charset="0"/>
            </a:endParaRPr>
          </a:p>
        </p:txBody>
      </p:sp>
    </p:spTree>
    <p:extLst>
      <p:ext uri="{BB962C8B-B14F-4D97-AF65-F5344CB8AC3E}">
        <p14:creationId xmlns:p14="http://schemas.microsoft.com/office/powerpoint/2010/main" val="2645935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a:t>
            </a:r>
            <a:r>
              <a:rPr lang="en-US" sz="3200" dirty="0" smtClean="0"/>
              <a:t>Ciphers</a:t>
            </a:r>
            <a:endParaRPr lang="en-US" sz="3200"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03" y="1761330"/>
            <a:ext cx="8216900" cy="3990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9642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Cipher Properties</a:t>
            </a:r>
          </a:p>
        </p:txBody>
      </p:sp>
      <p:sp>
        <p:nvSpPr>
          <p:cNvPr id="6" name="Rectangle 5"/>
          <p:cNvSpPr/>
          <p:nvPr/>
        </p:nvSpPr>
        <p:spPr>
          <a:xfrm>
            <a:off x="395536" y="1513716"/>
            <a:ext cx="8371656" cy="4671467"/>
          </a:xfrm>
          <a:prstGeom prst="rect">
            <a:avLst/>
          </a:prstGeom>
        </p:spPr>
        <p:txBody>
          <a:bodyPr vert="horz" lIns="91440" tIns="45720" rIns="91440" bIns="45720" rtlCol="0">
            <a:normAutofit lnSpcReduction="1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some design considerations are:</a:t>
            </a:r>
          </a:p>
          <a:p>
            <a:pPr marL="742950" lvl="1" indent="-285750">
              <a:spcBef>
                <a:spcPct val="20000"/>
              </a:spcBef>
              <a:buFont typeface="Arial" pitchFamily="34" charset="0"/>
              <a:buChar char="–"/>
            </a:pPr>
            <a:r>
              <a:rPr lang="en-US" sz="2800" dirty="0">
                <a:cs typeface="Arial" pitchFamily="34" charset="0"/>
              </a:rPr>
              <a:t>long period with no repetitions </a:t>
            </a:r>
          </a:p>
          <a:p>
            <a:pPr marL="742950" lvl="1" indent="-285750">
              <a:spcBef>
                <a:spcPct val="20000"/>
              </a:spcBef>
              <a:buFont typeface="Arial" pitchFamily="34" charset="0"/>
              <a:buChar char="–"/>
            </a:pPr>
            <a:r>
              <a:rPr lang="en-US" sz="2800" dirty="0">
                <a:cs typeface="Arial" pitchFamily="34" charset="0"/>
              </a:rPr>
              <a:t>statistically random </a:t>
            </a:r>
          </a:p>
          <a:p>
            <a:pPr marL="742950" lvl="1" indent="-285750">
              <a:spcBef>
                <a:spcPct val="20000"/>
              </a:spcBef>
              <a:buFont typeface="Arial" pitchFamily="34" charset="0"/>
              <a:buChar char="–"/>
            </a:pPr>
            <a:r>
              <a:rPr lang="en-US" sz="2800" dirty="0">
                <a:cs typeface="Arial" pitchFamily="34" charset="0"/>
              </a:rPr>
              <a:t>depends on large enough key</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large linear complexity</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properly designed, can be as secure as a block cipher with same size key</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but usually simpler &amp; faster</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2662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Cipher </a:t>
            </a:r>
            <a:r>
              <a:rPr lang="en-US" sz="3200" dirty="0" smtClean="0"/>
              <a:t>Using PRNG</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85000" lnSpcReduction="1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With a properly designed pseudorandom number generator, a stream cipher can be as secure as block cipher of comparable key length.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The primary advantage of a stream cipher is that stream ciphers are almost always faster and use far less code than do block ciphers.</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 A stream cipher can be constructed with any cryptographically strong </a:t>
            </a:r>
            <a:r>
              <a:rPr lang="en-US" sz="3900" dirty="0" smtClean="0">
                <a:solidFill>
                  <a:prstClr val="black"/>
                </a:solidFill>
                <a:cs typeface="Arial" pitchFamily="34" charset="0"/>
              </a:rPr>
              <a:t>PRNG</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3803334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Cipher </a:t>
            </a:r>
            <a:r>
              <a:rPr lang="en-US" sz="3200" dirty="0" smtClean="0"/>
              <a:t>Example</a:t>
            </a:r>
            <a:endParaRPr lang="en-US" sz="3200" dirty="0"/>
          </a:p>
        </p:txBody>
      </p:sp>
      <p:grpSp>
        <p:nvGrpSpPr>
          <p:cNvPr id="5" name="Group 2"/>
          <p:cNvGrpSpPr>
            <a:grpSpLocks/>
          </p:cNvGrpSpPr>
          <p:nvPr/>
        </p:nvGrpSpPr>
        <p:grpSpPr bwMode="auto">
          <a:xfrm>
            <a:off x="712787" y="2278062"/>
            <a:ext cx="7413625" cy="2957512"/>
            <a:chOff x="432" y="1163"/>
            <a:chExt cx="4670" cy="1863"/>
          </a:xfrm>
        </p:grpSpPr>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1163"/>
              <a:ext cx="4670" cy="18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Text Box 4"/>
            <p:cNvSpPr txBox="1">
              <a:spLocks noChangeArrowheads="1"/>
            </p:cNvSpPr>
            <p:nvPr/>
          </p:nvSpPr>
          <p:spPr bwMode="auto">
            <a:xfrm>
              <a:off x="432" y="1163"/>
              <a:ext cx="4670" cy="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tLang="en-US"/>
            </a:p>
          </p:txBody>
        </p:sp>
      </p:grpSp>
    </p:spTree>
    <p:extLst>
      <p:ext uri="{BB962C8B-B14F-4D97-AF65-F5344CB8AC3E}">
        <p14:creationId xmlns:p14="http://schemas.microsoft.com/office/powerpoint/2010/main" val="749255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a:t>
            </a:r>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85000" lnSpcReduction="20000"/>
          </a:bodyPr>
          <a:lstStyle/>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a proprietary cipher owned by RSA DSI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another Ron </a:t>
            </a:r>
            <a:r>
              <a:rPr lang="en-US" sz="3900" dirty="0" err="1">
                <a:solidFill>
                  <a:prstClr val="black"/>
                </a:solidFill>
                <a:cs typeface="Arial" pitchFamily="34" charset="0"/>
              </a:rPr>
              <a:t>Rivest</a:t>
            </a:r>
            <a:r>
              <a:rPr lang="en-US" sz="3900" dirty="0">
                <a:solidFill>
                  <a:prstClr val="black"/>
                </a:solidFill>
                <a:cs typeface="Arial" pitchFamily="34" charset="0"/>
              </a:rPr>
              <a:t> design, simple but effective variable key size, byte-oriented stream cipher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Secure Sockets layer/Transport Layer security</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widely used (web SSL/TLS, wireless WEP/WPA) </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key forms random permutation of all 8-bit values  uses that permutation to scramble input info processed a byte at a time </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542007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smtClean="0"/>
              <a:t>RC4 Contd..</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85000" lnSpcReduction="20000"/>
          </a:bodyPr>
          <a:lstStyle/>
          <a:p>
            <a:pPr marL="342900" indent="-342900">
              <a:spcBef>
                <a:spcPct val="20000"/>
              </a:spcBef>
              <a:buFont typeface="Arial" pitchFamily="34" charset="0"/>
              <a:buChar char="•"/>
            </a:pPr>
            <a:r>
              <a:rPr lang="en-US" sz="3900" dirty="0">
                <a:solidFill>
                  <a:prstClr val="black"/>
                </a:solidFill>
                <a:cs typeface="Arial" pitchFamily="34" charset="0"/>
              </a:rPr>
              <a:t>The algorithm is based on the use of a random </a:t>
            </a:r>
            <a:r>
              <a:rPr lang="en-US" sz="3900" dirty="0" smtClean="0">
                <a:solidFill>
                  <a:prstClr val="black"/>
                </a:solidFill>
                <a:cs typeface="Arial" pitchFamily="34" charset="0"/>
              </a:rPr>
              <a:t>permutation</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Analysis shows that the period of the cipher is overwhelmingly likely to be greater than </a:t>
            </a:r>
            <a:r>
              <a:rPr lang="en-US" sz="3900" dirty="0" smtClean="0">
                <a:solidFill>
                  <a:prstClr val="black"/>
                </a:solidFill>
                <a:cs typeface="Arial" pitchFamily="34" charset="0"/>
              </a:rPr>
              <a:t>10^100</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Eight to sixteen machine operations are required per output byte, and the cipher can be expected to run very quickly in software.</a:t>
            </a:r>
          </a:p>
          <a:p>
            <a:pPr marL="342900" indent="-342900">
              <a:spcBef>
                <a:spcPct val="20000"/>
              </a:spcBef>
              <a:buClr>
                <a:srgbClr val="101141"/>
              </a:buClr>
              <a:buFont typeface="Arial" pitchFamily="34" charset="0"/>
              <a:buChar char="•"/>
            </a:pPr>
            <a:r>
              <a:rPr lang="en-US" sz="3900" dirty="0" smtClean="0">
                <a:solidFill>
                  <a:prstClr val="black"/>
                </a:solidFill>
                <a:cs typeface="Arial" pitchFamily="34" charset="0"/>
              </a:rPr>
              <a:t>RC4 </a:t>
            </a:r>
            <a:r>
              <a:rPr lang="en-US" sz="3900" dirty="0">
                <a:solidFill>
                  <a:prstClr val="black"/>
                </a:solidFill>
                <a:cs typeface="Arial" pitchFamily="34" charset="0"/>
              </a:rPr>
              <a:t>is probably the most widely used stream </a:t>
            </a:r>
            <a:r>
              <a:rPr lang="en-US" sz="3900" dirty="0" smtClean="0">
                <a:solidFill>
                  <a:prstClr val="black"/>
                </a:solidFill>
                <a:cs typeface="Arial" pitchFamily="34" charset="0"/>
              </a:rPr>
              <a:t>cipher</a:t>
            </a:r>
            <a:endParaRPr lang="en-US" sz="3900" dirty="0">
              <a:solidFill>
                <a:prstClr val="black"/>
              </a:solidFill>
              <a:cs typeface="Arial" pitchFamily="34" charset="0"/>
            </a:endParaRP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496490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 Key Schedule </a:t>
            </a:r>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92500"/>
          </a:bodyPr>
          <a:lstStyle/>
          <a:p>
            <a:pPr marL="342900" indent="-342900">
              <a:spcBef>
                <a:spcPct val="20000"/>
              </a:spcBef>
              <a:buFont typeface="Arial" pitchFamily="34" charset="0"/>
              <a:buChar char="•"/>
            </a:pPr>
            <a:r>
              <a:rPr lang="en-US" sz="3900" dirty="0" smtClean="0">
                <a:solidFill>
                  <a:prstClr val="black"/>
                </a:solidFill>
                <a:cs typeface="Arial" pitchFamily="34" charset="0"/>
              </a:rPr>
              <a:t>Starts </a:t>
            </a:r>
            <a:r>
              <a:rPr lang="en-US" sz="3900" dirty="0">
                <a:solidFill>
                  <a:prstClr val="black"/>
                </a:solidFill>
                <a:cs typeface="Arial" pitchFamily="34" charset="0"/>
              </a:rPr>
              <a:t>with an array S of numbers: 0..255 </a:t>
            </a:r>
          </a:p>
          <a:p>
            <a:pPr marL="342900" indent="-342900">
              <a:spcBef>
                <a:spcPct val="20000"/>
              </a:spcBef>
              <a:buFont typeface="Arial" pitchFamily="34" charset="0"/>
              <a:buChar char="•"/>
            </a:pPr>
            <a:r>
              <a:rPr lang="en-US" sz="3900" dirty="0">
                <a:solidFill>
                  <a:prstClr val="black"/>
                </a:solidFill>
                <a:cs typeface="Arial" pitchFamily="34" charset="0"/>
              </a:rPr>
              <a:t>use key to well and truly shuffle </a:t>
            </a:r>
          </a:p>
          <a:p>
            <a:pPr marL="342900" indent="-342900">
              <a:spcBef>
                <a:spcPct val="20000"/>
              </a:spcBef>
              <a:buFont typeface="Arial" pitchFamily="34" charset="0"/>
              <a:buChar char="•"/>
            </a:pPr>
            <a:r>
              <a:rPr lang="en-US" sz="3900" dirty="0">
                <a:solidFill>
                  <a:prstClr val="black"/>
                </a:solidFill>
                <a:cs typeface="Arial" pitchFamily="34" charset="0"/>
              </a:rPr>
              <a:t>S forms internal state of the cipher </a:t>
            </a:r>
          </a:p>
          <a:p>
            <a:pPr>
              <a:spcBef>
                <a:spcPct val="20000"/>
              </a:spcBef>
            </a:pPr>
            <a:r>
              <a:rPr lang="en-US" sz="3900" dirty="0" smtClean="0">
                <a:solidFill>
                  <a:prstClr val="black"/>
                </a:solidFill>
                <a:cs typeface="Arial" pitchFamily="34" charset="0"/>
              </a:rPr>
              <a:t>	/*</a:t>
            </a:r>
            <a:r>
              <a:rPr lang="en-US" sz="3900" dirty="0">
                <a:solidFill>
                  <a:prstClr val="black"/>
                </a:solidFill>
                <a:cs typeface="Arial" pitchFamily="34" charset="0"/>
              </a:rPr>
              <a:t>Initialization */</a:t>
            </a:r>
          </a:p>
          <a:p>
            <a:pPr>
              <a:spcBef>
                <a:spcPct val="20000"/>
              </a:spcBef>
            </a:pPr>
            <a:r>
              <a:rPr lang="en-US" sz="3900" dirty="0" smtClean="0">
                <a:solidFill>
                  <a:prstClr val="black"/>
                </a:solidFill>
                <a:cs typeface="Arial" pitchFamily="34" charset="0"/>
              </a:rPr>
              <a:t>	for </a:t>
            </a:r>
            <a:r>
              <a:rPr lang="en-US" sz="3900" dirty="0" err="1">
                <a:solidFill>
                  <a:prstClr val="black"/>
                </a:solidFill>
                <a:cs typeface="Arial" pitchFamily="34" charset="0"/>
              </a:rPr>
              <a:t>i</a:t>
            </a:r>
            <a:r>
              <a:rPr lang="en-US" sz="3900" dirty="0">
                <a:solidFill>
                  <a:prstClr val="black"/>
                </a:solidFill>
                <a:cs typeface="Arial" pitchFamily="34" charset="0"/>
              </a:rPr>
              <a:t> = 0 to 255 do</a:t>
            </a:r>
          </a:p>
          <a:p>
            <a:pPr>
              <a:spcBef>
                <a:spcPct val="20000"/>
              </a:spcBef>
            </a:pPr>
            <a:r>
              <a:rPr lang="en-US" sz="3900" dirty="0" smtClean="0">
                <a:solidFill>
                  <a:prstClr val="black"/>
                </a:solidFill>
                <a:cs typeface="Arial" pitchFamily="34" charset="0"/>
              </a:rPr>
              <a:t>	S[</a:t>
            </a:r>
            <a:r>
              <a:rPr lang="en-US" sz="3900" dirty="0" err="1" smtClean="0">
                <a:solidFill>
                  <a:prstClr val="black"/>
                </a:solidFill>
                <a:cs typeface="Arial" pitchFamily="34" charset="0"/>
              </a:rPr>
              <a:t>i</a:t>
            </a:r>
            <a:r>
              <a:rPr lang="en-US" sz="3900" dirty="0">
                <a:solidFill>
                  <a:prstClr val="black"/>
                </a:solidFill>
                <a:cs typeface="Arial" pitchFamily="34" charset="0"/>
              </a:rPr>
              <a:t>] = </a:t>
            </a:r>
            <a:r>
              <a:rPr lang="en-US" sz="3900" dirty="0" err="1">
                <a:solidFill>
                  <a:prstClr val="black"/>
                </a:solidFill>
                <a:cs typeface="Arial" pitchFamily="34" charset="0"/>
              </a:rPr>
              <a:t>i</a:t>
            </a:r>
            <a:endParaRPr lang="en-US" sz="3900" dirty="0">
              <a:solidFill>
                <a:prstClr val="black"/>
              </a:solidFill>
              <a:cs typeface="Arial" pitchFamily="34" charset="0"/>
            </a:endParaRPr>
          </a:p>
          <a:p>
            <a:pPr>
              <a:spcBef>
                <a:spcPct val="20000"/>
              </a:spcBef>
            </a:pPr>
            <a:r>
              <a:rPr lang="en-US" sz="3900" dirty="0" smtClean="0">
                <a:solidFill>
                  <a:prstClr val="black"/>
                </a:solidFill>
                <a:cs typeface="Arial" pitchFamily="34" charset="0"/>
              </a:rPr>
              <a:t>	T[</a:t>
            </a:r>
            <a:r>
              <a:rPr lang="en-US" sz="3900" dirty="0" err="1" smtClean="0">
                <a:solidFill>
                  <a:prstClr val="black"/>
                </a:solidFill>
                <a:cs typeface="Arial" pitchFamily="34" charset="0"/>
              </a:rPr>
              <a:t>i</a:t>
            </a:r>
            <a:r>
              <a:rPr lang="en-US" sz="3900" dirty="0">
                <a:solidFill>
                  <a:prstClr val="black"/>
                </a:solidFill>
                <a:cs typeface="Arial" pitchFamily="34" charset="0"/>
              </a:rPr>
              <a:t>] = K[</a:t>
            </a:r>
            <a:r>
              <a:rPr lang="en-US" sz="3900" dirty="0" err="1">
                <a:solidFill>
                  <a:prstClr val="black"/>
                </a:solidFill>
                <a:cs typeface="Arial" pitchFamily="34" charset="0"/>
              </a:rPr>
              <a:t>i</a:t>
            </a:r>
            <a:r>
              <a:rPr lang="en-US" sz="3900" dirty="0">
                <a:solidFill>
                  <a:prstClr val="black"/>
                </a:solidFill>
                <a:cs typeface="Arial" pitchFamily="34" charset="0"/>
              </a:rPr>
              <a:t> mod </a:t>
            </a:r>
            <a:r>
              <a:rPr lang="en-US" sz="3900" dirty="0" err="1">
                <a:solidFill>
                  <a:prstClr val="black"/>
                </a:solidFill>
                <a:cs typeface="Arial" pitchFamily="34" charset="0"/>
              </a:rPr>
              <a:t>keylen</a:t>
            </a:r>
            <a:r>
              <a:rPr lang="en-US" sz="3900" dirty="0">
                <a:solidFill>
                  <a:prstClr val="black"/>
                </a:solidFill>
                <a:cs typeface="Arial" pitchFamily="34" charset="0"/>
              </a:rPr>
              <a:t>])</a:t>
            </a:r>
          </a:p>
          <a:p>
            <a:pPr marL="342900" indent="-342900">
              <a:spcBef>
                <a:spcPct val="20000"/>
              </a:spcBef>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164897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marL="0" indent="0"/>
            <a:r>
              <a:rPr lang="en-US" altLang="en-US" sz="3900" dirty="0" smtClean="0">
                <a:solidFill>
                  <a:prstClr val="black"/>
                </a:solidFill>
              </a:rPr>
              <a:t>	</a:t>
            </a: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 Key Schedule </a:t>
            </a:r>
            <a:r>
              <a:rPr lang="en-US" sz="3200" dirty="0" smtClean="0"/>
              <a:t> Contd..</a:t>
            </a:r>
            <a:endParaRPr lang="en-US" sz="3200" dirty="0"/>
          </a:p>
        </p:txBody>
      </p:sp>
      <p:sp>
        <p:nvSpPr>
          <p:cNvPr id="6" name="Rectangle 5"/>
          <p:cNvSpPr/>
          <p:nvPr/>
        </p:nvSpPr>
        <p:spPr>
          <a:xfrm>
            <a:off x="395536" y="1744267"/>
            <a:ext cx="8371656" cy="4671467"/>
          </a:xfrm>
          <a:prstGeom prst="rect">
            <a:avLst/>
          </a:prstGeom>
        </p:spPr>
        <p:txBody>
          <a:bodyPr vert="horz" lIns="91440" tIns="45720" rIns="91440" bIns="45720" rtlCol="0">
            <a:normAutofit lnSpcReduction="10000"/>
          </a:bodyPr>
          <a:lstStyle/>
          <a:p>
            <a:pPr>
              <a:spcBef>
                <a:spcPct val="20000"/>
              </a:spcBef>
              <a:buClr>
                <a:srgbClr val="101141"/>
              </a:buClr>
            </a:pPr>
            <a:r>
              <a:rPr lang="en-US" sz="3900" dirty="0" smtClean="0">
                <a:solidFill>
                  <a:prstClr val="black"/>
                </a:solidFill>
                <a:cs typeface="Arial" pitchFamily="34" charset="0"/>
              </a:rPr>
              <a:t>	/*</a:t>
            </a:r>
            <a:r>
              <a:rPr lang="en-US" sz="3900" dirty="0">
                <a:solidFill>
                  <a:prstClr val="black"/>
                </a:solidFill>
                <a:cs typeface="Arial" pitchFamily="34" charset="0"/>
              </a:rPr>
              <a:t>Initial permutation of s*/</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j </a:t>
            </a:r>
            <a:r>
              <a:rPr lang="pl-PL" sz="3900" dirty="0">
                <a:solidFill>
                  <a:prstClr val="black"/>
                </a:solidFill>
                <a:cs typeface="Arial" pitchFamily="34" charset="0"/>
              </a:rPr>
              <a:t>= 0</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for </a:t>
            </a:r>
            <a:r>
              <a:rPr lang="pl-PL" sz="3900" dirty="0">
                <a:solidFill>
                  <a:prstClr val="black"/>
                </a:solidFill>
                <a:cs typeface="Arial" pitchFamily="34" charset="0"/>
              </a:rPr>
              <a:t>i = 0 to 255 do </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j </a:t>
            </a:r>
            <a:r>
              <a:rPr lang="pl-PL" sz="3900" dirty="0">
                <a:solidFill>
                  <a:prstClr val="black"/>
                </a:solidFill>
                <a:cs typeface="Arial" pitchFamily="34" charset="0"/>
              </a:rPr>
              <a:t>= (j + S[i] + T[i])(mod 256) </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swap </a:t>
            </a:r>
            <a:r>
              <a:rPr lang="pl-PL" sz="3900" dirty="0">
                <a:solidFill>
                  <a:prstClr val="black"/>
                </a:solidFill>
                <a:cs typeface="Arial" pitchFamily="34" charset="0"/>
              </a:rPr>
              <a:t>(S[i], S[j])</a:t>
            </a:r>
          </a:p>
          <a:p>
            <a:pPr>
              <a:spcBef>
                <a:spcPct val="20000"/>
              </a:spcBef>
              <a:buClr>
                <a:srgbClr val="101141"/>
              </a:buClr>
            </a:pPr>
            <a:endParaRPr lang="en-US" sz="3900" dirty="0" smtClean="0">
              <a:solidFill>
                <a:prstClr val="black"/>
              </a:solidFill>
              <a:cs typeface="Arial" pitchFamily="34" charset="0"/>
            </a:endParaRPr>
          </a:p>
          <a:p>
            <a:pPr>
              <a:spcBef>
                <a:spcPct val="20000"/>
              </a:spcBef>
              <a:buClr>
                <a:srgbClr val="101141"/>
              </a:buClr>
            </a:pPr>
            <a:r>
              <a:rPr lang="en-US" sz="3900" dirty="0" smtClean="0">
                <a:solidFill>
                  <a:prstClr val="black"/>
                </a:solidFill>
                <a:cs typeface="Arial" pitchFamily="34" charset="0"/>
              </a:rPr>
              <a:t>	</a:t>
            </a:r>
            <a:endParaRPr lang="en-US" sz="3900" dirty="0">
              <a:solidFill>
                <a:prstClr val="black"/>
              </a:solidFill>
              <a:cs typeface="Arial" pitchFamily="34" charset="0"/>
            </a:endParaRPr>
          </a:p>
        </p:txBody>
      </p:sp>
    </p:spTree>
    <p:extLst>
      <p:ext uri="{BB962C8B-B14F-4D97-AF65-F5344CB8AC3E}">
        <p14:creationId xmlns:p14="http://schemas.microsoft.com/office/powerpoint/2010/main" val="2854382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 Encryption</a:t>
            </a:r>
          </a:p>
        </p:txBody>
      </p:sp>
      <p:sp>
        <p:nvSpPr>
          <p:cNvPr id="6" name="Rectangle 5"/>
          <p:cNvSpPr/>
          <p:nvPr/>
        </p:nvSpPr>
        <p:spPr>
          <a:xfrm>
            <a:off x="395536" y="1513716"/>
            <a:ext cx="8371656" cy="4671467"/>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900" dirty="0">
                <a:solidFill>
                  <a:prstClr val="black"/>
                </a:solidFill>
                <a:cs typeface="Arial" pitchFamily="34" charset="0"/>
              </a:rPr>
              <a:t>Encryption continues shuffling array values</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Sum of shuffled pair selects "stream key" value from permutation</a:t>
            </a:r>
          </a:p>
          <a:p>
            <a:pPr marL="342900" indent="-342900">
              <a:spcBef>
                <a:spcPct val="20000"/>
              </a:spcBef>
              <a:buClr>
                <a:srgbClr val="101141"/>
              </a:buClr>
              <a:buFont typeface="Arial" pitchFamily="34" charset="0"/>
              <a:buChar char="•"/>
            </a:pPr>
            <a:r>
              <a:rPr lang="en-US" sz="3900" dirty="0">
                <a:solidFill>
                  <a:prstClr val="black"/>
                </a:solidFill>
                <a:cs typeface="Arial" pitchFamily="34" charset="0"/>
              </a:rPr>
              <a:t>XOR S[t] with next byte of message to encrypt/decrypt</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446818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Stream Generation</a:t>
            </a:r>
          </a:p>
        </p:txBody>
      </p:sp>
      <p:sp>
        <p:nvSpPr>
          <p:cNvPr id="6" name="Rectangle 5"/>
          <p:cNvSpPr/>
          <p:nvPr/>
        </p:nvSpPr>
        <p:spPr>
          <a:xfrm>
            <a:off x="395536" y="1513716"/>
            <a:ext cx="8371656" cy="4671467"/>
          </a:xfrm>
          <a:prstGeom prst="rect">
            <a:avLst/>
          </a:prstGeom>
        </p:spPr>
        <p:txBody>
          <a:bodyPr vert="horz" lIns="91440" tIns="45720" rIns="91440" bIns="45720" rtlCol="0">
            <a:normAutofit lnSpcReduction="10000"/>
          </a:bodyPr>
          <a:lstStyle/>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i </a:t>
            </a:r>
            <a:r>
              <a:rPr lang="pl-PL" sz="3900" dirty="0">
                <a:solidFill>
                  <a:prstClr val="black"/>
                </a:solidFill>
                <a:cs typeface="Arial" pitchFamily="34" charset="0"/>
              </a:rPr>
              <a:t>= j = 0 </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for </a:t>
            </a:r>
            <a:r>
              <a:rPr lang="pl-PL" sz="3900" dirty="0">
                <a:solidFill>
                  <a:prstClr val="black"/>
                </a:solidFill>
                <a:cs typeface="Arial" pitchFamily="34" charset="0"/>
              </a:rPr>
              <a:t>each message byte </a:t>
            </a:r>
            <a:r>
              <a:rPr lang="en-US" sz="3900" dirty="0" smtClean="0">
                <a:solidFill>
                  <a:prstClr val="black"/>
                </a:solidFill>
                <a:cs typeface="Arial" pitchFamily="34" charset="0"/>
              </a:rPr>
              <a:t>P</a:t>
            </a:r>
            <a:r>
              <a:rPr lang="pl-PL" sz="3900" dirty="0" smtClean="0">
                <a:solidFill>
                  <a:prstClr val="black"/>
                </a:solidFill>
                <a:cs typeface="Arial" pitchFamily="34" charset="0"/>
              </a:rPr>
              <a:t>i</a:t>
            </a:r>
            <a:endParaRPr lang="pl-PL" sz="3900" dirty="0">
              <a:solidFill>
                <a:prstClr val="black"/>
              </a:solidFill>
              <a:cs typeface="Arial" pitchFamily="34" charset="0"/>
            </a:endParaRP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i </a:t>
            </a:r>
            <a:r>
              <a:rPr lang="pl-PL" sz="3900" dirty="0">
                <a:solidFill>
                  <a:prstClr val="black"/>
                </a:solidFill>
                <a:cs typeface="Arial" pitchFamily="34" charset="0"/>
              </a:rPr>
              <a:t>= (i + 1) (mod 256)</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j </a:t>
            </a:r>
            <a:r>
              <a:rPr lang="pl-PL" sz="3900" dirty="0">
                <a:solidFill>
                  <a:prstClr val="black"/>
                </a:solidFill>
                <a:cs typeface="Arial" pitchFamily="34" charset="0"/>
              </a:rPr>
              <a:t>= (j + S[i]) (mod 256)</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swap(S[i</a:t>
            </a:r>
            <a:r>
              <a:rPr lang="pl-PL" sz="3900" dirty="0">
                <a:solidFill>
                  <a:prstClr val="black"/>
                </a:solidFill>
                <a:cs typeface="Arial" pitchFamily="34" charset="0"/>
              </a:rPr>
              <a:t>], S[j])</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t </a:t>
            </a:r>
            <a:r>
              <a:rPr lang="pl-PL" sz="3900" dirty="0">
                <a:solidFill>
                  <a:prstClr val="black"/>
                </a:solidFill>
                <a:cs typeface="Arial" pitchFamily="34" charset="0"/>
              </a:rPr>
              <a:t>= (S[i] + S[j]) (mod 256) </a:t>
            </a:r>
          </a:p>
          <a:p>
            <a:pPr>
              <a:spcBef>
                <a:spcPct val="20000"/>
              </a:spcBef>
              <a:buClr>
                <a:srgbClr val="101141"/>
              </a:buClr>
            </a:pPr>
            <a:r>
              <a:rPr lang="en-US" sz="3900" dirty="0" smtClean="0">
                <a:solidFill>
                  <a:prstClr val="black"/>
                </a:solidFill>
                <a:cs typeface="Arial" pitchFamily="34" charset="0"/>
              </a:rPr>
              <a:t>	</a:t>
            </a:r>
            <a:r>
              <a:rPr lang="pl-PL" sz="3900" dirty="0" smtClean="0">
                <a:solidFill>
                  <a:prstClr val="black"/>
                </a:solidFill>
                <a:cs typeface="Arial" pitchFamily="34" charset="0"/>
              </a:rPr>
              <a:t>Ci </a:t>
            </a:r>
            <a:r>
              <a:rPr lang="pl-PL" sz="3900" dirty="0">
                <a:solidFill>
                  <a:prstClr val="black"/>
                </a:solidFill>
                <a:cs typeface="Arial" pitchFamily="34" charset="0"/>
              </a:rPr>
              <a:t>= </a:t>
            </a:r>
            <a:r>
              <a:rPr lang="en-US" sz="3900" dirty="0" smtClean="0">
                <a:solidFill>
                  <a:prstClr val="black"/>
                </a:solidFill>
                <a:cs typeface="Arial" pitchFamily="34" charset="0"/>
              </a:rPr>
              <a:t>P</a:t>
            </a:r>
            <a:r>
              <a:rPr lang="pl-PL" sz="3900" dirty="0" smtClean="0">
                <a:solidFill>
                  <a:prstClr val="black"/>
                </a:solidFill>
                <a:cs typeface="Arial" pitchFamily="34" charset="0"/>
              </a:rPr>
              <a:t>i </a:t>
            </a:r>
            <a:r>
              <a:rPr lang="pl-PL" sz="3900" dirty="0">
                <a:solidFill>
                  <a:prstClr val="black"/>
                </a:solidFill>
                <a:cs typeface="Arial" pitchFamily="34" charset="0"/>
              </a:rPr>
              <a:t>XOR S[t]</a:t>
            </a:r>
          </a:p>
          <a:p>
            <a:pPr marL="342900" indent="-342900">
              <a:spcBef>
                <a:spcPct val="20000"/>
              </a:spcBef>
              <a:buClr>
                <a:srgbClr val="101141"/>
              </a:buClr>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2173788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 Overview</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98" y="1556792"/>
            <a:ext cx="8244408" cy="475252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73410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a:t>RC4 Security</a:t>
            </a:r>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92500" lnSpcReduction="10000"/>
          </a:bodyPr>
          <a:lstStyle/>
          <a:p>
            <a:pPr marL="342900" indent="-342900">
              <a:spcBef>
                <a:spcPct val="20000"/>
              </a:spcBef>
              <a:buFont typeface="Arial" pitchFamily="34" charset="0"/>
              <a:buChar char="•"/>
            </a:pPr>
            <a:r>
              <a:rPr lang="en-US" sz="3900" dirty="0" smtClean="0">
                <a:solidFill>
                  <a:prstClr val="black"/>
                </a:solidFill>
                <a:cs typeface="Arial" pitchFamily="34" charset="0"/>
              </a:rPr>
              <a:t>Claimed </a:t>
            </a:r>
            <a:r>
              <a:rPr lang="en-US" sz="3900" dirty="0">
                <a:solidFill>
                  <a:prstClr val="black"/>
                </a:solidFill>
                <a:cs typeface="Arial" pitchFamily="34" charset="0"/>
              </a:rPr>
              <a:t>secure against known attacks</a:t>
            </a:r>
          </a:p>
          <a:p>
            <a:pPr marL="742950" lvl="1" indent="-285750">
              <a:spcBef>
                <a:spcPct val="20000"/>
              </a:spcBef>
              <a:buFont typeface="Arial" pitchFamily="34" charset="0"/>
              <a:buChar char="–"/>
            </a:pPr>
            <a:r>
              <a:rPr lang="en-US" sz="2800" dirty="0">
                <a:cs typeface="Arial" pitchFamily="34" charset="0"/>
              </a:rPr>
              <a:t>have some analyses, none practical </a:t>
            </a:r>
          </a:p>
          <a:p>
            <a:pPr marL="342900" indent="-342900">
              <a:spcBef>
                <a:spcPct val="20000"/>
              </a:spcBef>
              <a:buFont typeface="Arial" pitchFamily="34" charset="0"/>
              <a:buChar char="•"/>
            </a:pPr>
            <a:r>
              <a:rPr lang="en-US" sz="3900" dirty="0" smtClean="0">
                <a:solidFill>
                  <a:prstClr val="black"/>
                </a:solidFill>
                <a:cs typeface="Arial" pitchFamily="34" charset="0"/>
              </a:rPr>
              <a:t>Result </a:t>
            </a:r>
            <a:r>
              <a:rPr lang="en-US" sz="3900" dirty="0">
                <a:solidFill>
                  <a:prstClr val="black"/>
                </a:solidFill>
                <a:cs typeface="Arial" pitchFamily="34" charset="0"/>
              </a:rPr>
              <a:t>is very non-linear </a:t>
            </a:r>
          </a:p>
          <a:p>
            <a:pPr marL="342900" indent="-342900">
              <a:spcBef>
                <a:spcPct val="20000"/>
              </a:spcBef>
              <a:buFont typeface="Arial" pitchFamily="34" charset="0"/>
              <a:buChar char="•"/>
            </a:pPr>
            <a:r>
              <a:rPr lang="en-US" sz="3900" dirty="0" smtClean="0">
                <a:solidFill>
                  <a:prstClr val="black"/>
                </a:solidFill>
                <a:cs typeface="Arial" pitchFamily="34" charset="0"/>
              </a:rPr>
              <a:t>Since </a:t>
            </a:r>
            <a:r>
              <a:rPr lang="en-US" sz="3900" dirty="0">
                <a:solidFill>
                  <a:prstClr val="black"/>
                </a:solidFill>
                <a:cs typeface="Arial" pitchFamily="34" charset="0"/>
              </a:rPr>
              <a:t>RC4 is a stream cipher, must never reuse a key </a:t>
            </a:r>
          </a:p>
          <a:p>
            <a:pPr marL="342900" indent="-342900">
              <a:spcBef>
                <a:spcPct val="20000"/>
              </a:spcBef>
              <a:buFont typeface="Arial" pitchFamily="34" charset="0"/>
              <a:buChar char="•"/>
            </a:pPr>
            <a:r>
              <a:rPr lang="en-US" sz="3900" dirty="0" smtClean="0">
                <a:solidFill>
                  <a:prstClr val="black"/>
                </a:solidFill>
                <a:cs typeface="Arial" pitchFamily="34" charset="0"/>
              </a:rPr>
              <a:t>Have </a:t>
            </a:r>
            <a:r>
              <a:rPr lang="en-US" sz="3900" dirty="0">
                <a:solidFill>
                  <a:prstClr val="black"/>
                </a:solidFill>
                <a:cs typeface="Arial" pitchFamily="34" charset="0"/>
              </a:rPr>
              <a:t>a concern with </a:t>
            </a:r>
            <a:r>
              <a:rPr lang="en-US" sz="3900" dirty="0" smtClean="0">
                <a:solidFill>
                  <a:prstClr val="black"/>
                </a:solidFill>
                <a:cs typeface="Arial" pitchFamily="34" charset="0"/>
              </a:rPr>
              <a:t>WEP (</a:t>
            </a:r>
            <a:r>
              <a:rPr lang="en-US" sz="4000" dirty="0"/>
              <a:t>Wired Equivalent </a:t>
            </a:r>
            <a:r>
              <a:rPr lang="en-US" sz="4000" dirty="0" smtClean="0"/>
              <a:t>Privacy)</a:t>
            </a:r>
            <a:r>
              <a:rPr lang="en-US" sz="3900" dirty="0" smtClean="0">
                <a:solidFill>
                  <a:prstClr val="black"/>
                </a:solidFill>
                <a:cs typeface="Arial" pitchFamily="34" charset="0"/>
              </a:rPr>
              <a:t>, </a:t>
            </a:r>
            <a:r>
              <a:rPr lang="en-US" sz="3900" dirty="0">
                <a:solidFill>
                  <a:prstClr val="black"/>
                </a:solidFill>
                <a:cs typeface="Arial" pitchFamily="34" charset="0"/>
              </a:rPr>
              <a:t>but due to key handling rather than RC4 itself </a:t>
            </a:r>
          </a:p>
          <a:p>
            <a:pPr marL="342900" indent="-342900">
              <a:spcBef>
                <a:spcPct val="20000"/>
              </a:spcBef>
              <a:buFont typeface="Arial" pitchFamily="34" charset="0"/>
              <a:buChar char="•"/>
            </a:pPr>
            <a:endParaRPr lang="en-US" sz="3900" dirty="0">
              <a:solidFill>
                <a:prstClr val="black"/>
              </a:solidFill>
              <a:cs typeface="Arial" pitchFamily="34" charset="0"/>
            </a:endParaRPr>
          </a:p>
        </p:txBody>
      </p:sp>
    </p:spTree>
    <p:extLst>
      <p:ext uri="{BB962C8B-B14F-4D97-AF65-F5344CB8AC3E}">
        <p14:creationId xmlns:p14="http://schemas.microsoft.com/office/powerpoint/2010/main" val="773314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altLang="en-US" sz="3900" dirty="0">
              <a:solidFill>
                <a:prstClr val="black"/>
              </a:solidFill>
            </a:endParaRPr>
          </a:p>
          <a:p>
            <a:pPr>
              <a:buChar char="•"/>
            </a:pPr>
            <a:endParaRPr lang="en-US" altLang="en-US" sz="3900" dirty="0">
              <a:solidFill>
                <a:prstClr val="black"/>
              </a:solidFill>
            </a:endParaRPr>
          </a:p>
        </p:txBody>
      </p:sp>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smtClean="0"/>
              <a:t>RC4 Example</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900" dirty="0" smtClean="0">
                <a:solidFill>
                  <a:prstClr val="black"/>
                </a:solidFill>
                <a:cs typeface="Arial" pitchFamily="34" charset="0"/>
              </a:rPr>
              <a:t>Consider the plain text is P=[1,2,2,2]</a:t>
            </a:r>
          </a:p>
          <a:p>
            <a:pPr marL="342900" indent="-342900">
              <a:spcBef>
                <a:spcPct val="20000"/>
              </a:spcBef>
              <a:buFont typeface="Arial" pitchFamily="34" charset="0"/>
              <a:buChar char="•"/>
            </a:pPr>
            <a:r>
              <a:rPr lang="en-US" sz="3900" dirty="0" smtClean="0">
                <a:solidFill>
                  <a:prstClr val="black"/>
                </a:solidFill>
                <a:cs typeface="Arial" pitchFamily="34" charset="0"/>
              </a:rPr>
              <a:t>Key i.e. K=[1,3]</a:t>
            </a:r>
          </a:p>
          <a:p>
            <a:pPr marL="342900" indent="-342900">
              <a:spcBef>
                <a:spcPct val="20000"/>
              </a:spcBef>
              <a:buFont typeface="Arial" pitchFamily="34" charset="0"/>
              <a:buChar char="•"/>
            </a:pPr>
            <a:r>
              <a:rPr lang="en-US" sz="3900" dirty="0" smtClean="0">
                <a:solidFill>
                  <a:prstClr val="black"/>
                </a:solidFill>
                <a:cs typeface="Arial" pitchFamily="34" charset="0"/>
              </a:rPr>
              <a:t>S=[1,2,3,4]</a:t>
            </a:r>
          </a:p>
          <a:p>
            <a:pPr marL="342900" indent="-342900">
              <a:spcBef>
                <a:spcPct val="20000"/>
              </a:spcBef>
              <a:buFont typeface="Arial" pitchFamily="34" charset="0"/>
              <a:buChar char="•"/>
            </a:pPr>
            <a:r>
              <a:rPr lang="en-US" sz="3900" dirty="0" smtClean="0">
                <a:solidFill>
                  <a:prstClr val="black"/>
                </a:solidFill>
                <a:cs typeface="Arial" pitchFamily="34" charset="0"/>
              </a:rPr>
              <a:t>T=[1,3,1,3]</a:t>
            </a:r>
          </a:p>
          <a:p>
            <a:pPr marL="342900" indent="-342900">
              <a:spcBef>
                <a:spcPct val="20000"/>
              </a:spcBef>
              <a:buFont typeface="Arial" pitchFamily="34" charset="0"/>
              <a:buChar char="•"/>
            </a:pPr>
            <a:r>
              <a:rPr lang="en-US" sz="3900" dirty="0" smtClean="0">
                <a:solidFill>
                  <a:prstClr val="black"/>
                </a:solidFill>
                <a:cs typeface="Arial" pitchFamily="34" charset="0"/>
              </a:rPr>
              <a:t>Encrypt this plain text using RC4 stream cipher</a:t>
            </a:r>
            <a:endParaRPr lang="en-US" sz="3900" dirty="0">
              <a:solidFill>
                <a:prstClr val="black"/>
              </a:solidFill>
              <a:cs typeface="Arial" pitchFamily="34" charset="0"/>
            </a:endParaRPr>
          </a:p>
        </p:txBody>
      </p:sp>
    </p:spTree>
    <p:extLst>
      <p:ext uri="{BB962C8B-B14F-4D97-AF65-F5344CB8AC3E}">
        <p14:creationId xmlns:p14="http://schemas.microsoft.com/office/powerpoint/2010/main" val="204398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smtClean="0"/>
              <a:t>RC4 Example</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77500" lnSpcReduction="20000"/>
          </a:bodyPr>
          <a:lstStyle/>
          <a:p>
            <a:pPr marL="342900" indent="-342900">
              <a:spcBef>
                <a:spcPct val="20000"/>
              </a:spcBef>
              <a:buFont typeface="Arial" pitchFamily="34" charset="0"/>
              <a:buChar char="•"/>
            </a:pPr>
            <a:r>
              <a:rPr lang="en-US" sz="3900" dirty="0" smtClean="0">
                <a:solidFill>
                  <a:prstClr val="black"/>
                </a:solidFill>
                <a:cs typeface="Arial" pitchFamily="34" charset="0"/>
              </a:rPr>
              <a:t>Initial Permutation of S</a:t>
            </a:r>
          </a:p>
          <a:p>
            <a:pPr lvl="1">
              <a:spcBef>
                <a:spcPct val="20000"/>
              </a:spcBef>
            </a:pPr>
            <a:r>
              <a:rPr lang="en-US" sz="3900" dirty="0" smtClean="0">
                <a:solidFill>
                  <a:prstClr val="black"/>
                </a:solidFill>
                <a:cs typeface="Arial" pitchFamily="34" charset="0"/>
              </a:rPr>
              <a:t>j=0</a:t>
            </a:r>
          </a:p>
          <a:p>
            <a:pPr lvl="1">
              <a:spcBef>
                <a:spcPct val="20000"/>
              </a:spcBef>
            </a:pPr>
            <a:r>
              <a:rPr lang="en-US" sz="3900" dirty="0" smtClean="0">
                <a:solidFill>
                  <a:prstClr val="black"/>
                </a:solidFill>
                <a:cs typeface="Arial" pitchFamily="34" charset="0"/>
              </a:rPr>
              <a:t>For </a:t>
            </a:r>
            <a:r>
              <a:rPr lang="en-US" sz="3900" dirty="0" err="1" smtClean="0">
                <a:solidFill>
                  <a:prstClr val="black"/>
                </a:solidFill>
                <a:cs typeface="Arial" pitchFamily="34" charset="0"/>
              </a:rPr>
              <a:t>i</a:t>
            </a:r>
            <a:r>
              <a:rPr lang="en-US" sz="3900" dirty="0" smtClean="0">
                <a:solidFill>
                  <a:prstClr val="black"/>
                </a:solidFill>
                <a:cs typeface="Arial" pitchFamily="34" charset="0"/>
              </a:rPr>
              <a:t>=0 to 3 do</a:t>
            </a:r>
          </a:p>
          <a:p>
            <a:pPr lvl="1">
              <a:spcBef>
                <a:spcPct val="20000"/>
              </a:spcBef>
            </a:pPr>
            <a:r>
              <a:rPr lang="en-US" sz="3900" dirty="0" smtClean="0">
                <a:solidFill>
                  <a:prstClr val="black"/>
                </a:solidFill>
                <a:cs typeface="Arial" pitchFamily="34" charset="0"/>
              </a:rPr>
              <a:t>j=(j + S[</a:t>
            </a:r>
            <a:r>
              <a:rPr lang="en-US" sz="3900" dirty="0" err="1" smtClean="0">
                <a:solidFill>
                  <a:prstClr val="black"/>
                </a:solidFill>
                <a:cs typeface="Arial" pitchFamily="34" charset="0"/>
              </a:rPr>
              <a:t>i</a:t>
            </a:r>
            <a:r>
              <a:rPr lang="en-US" sz="3900" dirty="0" smtClean="0">
                <a:solidFill>
                  <a:prstClr val="black"/>
                </a:solidFill>
                <a:cs typeface="Arial" pitchFamily="34" charset="0"/>
              </a:rPr>
              <a:t>] + T[</a:t>
            </a:r>
            <a:r>
              <a:rPr lang="en-US" sz="3900" dirty="0" err="1" smtClean="0">
                <a:solidFill>
                  <a:prstClr val="black"/>
                </a:solidFill>
                <a:cs typeface="Arial" pitchFamily="34" charset="0"/>
              </a:rPr>
              <a:t>i</a:t>
            </a:r>
            <a:r>
              <a:rPr lang="en-US" sz="3900" dirty="0" smtClean="0">
                <a:solidFill>
                  <a:prstClr val="black"/>
                </a:solidFill>
                <a:cs typeface="Arial" pitchFamily="34" charset="0"/>
              </a:rPr>
              <a:t>])mod 4</a:t>
            </a:r>
          </a:p>
          <a:p>
            <a:pPr lvl="1">
              <a:spcBef>
                <a:spcPct val="20000"/>
              </a:spcBef>
            </a:pPr>
            <a:r>
              <a:rPr lang="en-US" sz="3900" dirty="0" smtClean="0">
                <a:solidFill>
                  <a:prstClr val="black"/>
                </a:solidFill>
                <a:cs typeface="Arial" pitchFamily="34" charset="0"/>
              </a:rPr>
              <a:t>Swap(S[</a:t>
            </a:r>
            <a:r>
              <a:rPr lang="en-US" sz="3900" dirty="0" err="1" smtClean="0">
                <a:solidFill>
                  <a:prstClr val="black"/>
                </a:solidFill>
                <a:cs typeface="Arial" pitchFamily="34" charset="0"/>
              </a:rPr>
              <a:t>i</a:t>
            </a:r>
            <a:r>
              <a:rPr lang="en-US" sz="3900" dirty="0" smtClean="0">
                <a:solidFill>
                  <a:prstClr val="black"/>
                </a:solidFill>
                <a:cs typeface="Arial" pitchFamily="34" charset="0"/>
              </a:rPr>
              <a:t>], S[j])</a:t>
            </a:r>
            <a:endParaRPr lang="en-US" sz="3900" dirty="0">
              <a:solidFill>
                <a:prstClr val="black"/>
              </a:solidFill>
              <a:cs typeface="Arial" pitchFamily="34" charset="0"/>
            </a:endParaRPr>
          </a:p>
          <a:p>
            <a:pPr lvl="1">
              <a:spcBef>
                <a:spcPct val="20000"/>
              </a:spcBef>
            </a:pPr>
            <a:endParaRPr lang="en-US" sz="3900" dirty="0">
              <a:solidFill>
                <a:prstClr val="black"/>
              </a:solidFill>
              <a:cs typeface="Arial" pitchFamily="34" charset="0"/>
            </a:endParaRPr>
          </a:p>
          <a:p>
            <a:pPr lvl="1">
              <a:spcBef>
                <a:spcPct val="20000"/>
              </a:spcBef>
            </a:pPr>
            <a:r>
              <a:rPr lang="en-US" sz="3900" dirty="0" smtClean="0">
                <a:solidFill>
                  <a:prstClr val="black"/>
                </a:solidFill>
                <a:cs typeface="Arial" pitchFamily="34" charset="0"/>
              </a:rPr>
              <a:t>If we see for first iteration with </a:t>
            </a:r>
            <a:r>
              <a:rPr lang="en-US" sz="3900" dirty="0" err="1" smtClean="0">
                <a:solidFill>
                  <a:prstClr val="black"/>
                </a:solidFill>
                <a:cs typeface="Arial" pitchFamily="34" charset="0"/>
              </a:rPr>
              <a:t>i</a:t>
            </a:r>
            <a:r>
              <a:rPr lang="en-US" sz="3900" dirty="0" smtClean="0">
                <a:solidFill>
                  <a:prstClr val="black"/>
                </a:solidFill>
                <a:cs typeface="Arial" pitchFamily="34" charset="0"/>
              </a:rPr>
              <a:t>=0 S=[3,2,1,4]</a:t>
            </a:r>
          </a:p>
          <a:p>
            <a:pPr lvl="1">
              <a:spcBef>
                <a:spcPct val="20000"/>
              </a:spcBef>
            </a:pPr>
            <a:r>
              <a:rPr lang="en-US" sz="3900" dirty="0" smtClean="0">
                <a:solidFill>
                  <a:prstClr val="black"/>
                </a:solidFill>
                <a:cs typeface="Arial" pitchFamily="34" charset="0"/>
              </a:rPr>
              <a:t>Likewise till </a:t>
            </a:r>
            <a:r>
              <a:rPr lang="en-US" sz="3900" dirty="0" err="1" smtClean="0">
                <a:solidFill>
                  <a:prstClr val="black"/>
                </a:solidFill>
                <a:cs typeface="Arial" pitchFamily="34" charset="0"/>
              </a:rPr>
              <a:t>i</a:t>
            </a:r>
            <a:r>
              <a:rPr lang="en-US" sz="3900" dirty="0" smtClean="0">
                <a:solidFill>
                  <a:prstClr val="black"/>
                </a:solidFill>
                <a:cs typeface="Arial" pitchFamily="34" charset="0"/>
              </a:rPr>
              <a:t>=3</a:t>
            </a:r>
          </a:p>
          <a:p>
            <a:pPr lvl="1">
              <a:spcBef>
                <a:spcPct val="20000"/>
              </a:spcBef>
            </a:pPr>
            <a:r>
              <a:rPr lang="en-US" sz="3900" dirty="0" smtClean="0">
                <a:solidFill>
                  <a:prstClr val="black"/>
                </a:solidFill>
                <a:cs typeface="Arial" pitchFamily="34" charset="0"/>
              </a:rPr>
              <a:t>Final S</a:t>
            </a:r>
            <a:r>
              <a:rPr lang="en-US" sz="3900" smtClean="0">
                <a:solidFill>
                  <a:prstClr val="black"/>
                </a:solidFill>
                <a:cs typeface="Arial" pitchFamily="34" charset="0"/>
              </a:rPr>
              <a:t>=[3,4,1,2</a:t>
            </a:r>
            <a:r>
              <a:rPr lang="en-US" sz="3900" dirty="0" smtClean="0">
                <a:solidFill>
                  <a:prstClr val="black"/>
                </a:solidFill>
                <a:cs typeface="Arial" pitchFamily="34" charset="0"/>
              </a:rPr>
              <a:t>]</a:t>
            </a:r>
          </a:p>
        </p:txBody>
      </p:sp>
    </p:spTree>
    <p:extLst>
      <p:ext uri="{BB962C8B-B14F-4D97-AF65-F5344CB8AC3E}">
        <p14:creationId xmlns:p14="http://schemas.microsoft.com/office/powerpoint/2010/main" val="2807718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sz="3200" dirty="0" smtClean="0"/>
              <a:t>RC4 Example</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40000" lnSpcReduction="20000"/>
          </a:bodyPr>
          <a:lstStyle/>
          <a:p>
            <a:pPr marL="342900" indent="-342900">
              <a:spcBef>
                <a:spcPct val="20000"/>
              </a:spcBef>
              <a:buFont typeface="Arial" pitchFamily="34" charset="0"/>
              <a:buChar char="•"/>
            </a:pPr>
            <a:r>
              <a:rPr lang="en-US" sz="3900" dirty="0" smtClean="0">
                <a:solidFill>
                  <a:prstClr val="black"/>
                </a:solidFill>
                <a:cs typeface="Arial" pitchFamily="34" charset="0"/>
              </a:rPr>
              <a:t>Stream Generation</a:t>
            </a:r>
          </a:p>
          <a:p>
            <a:pPr lvl="1">
              <a:spcBef>
                <a:spcPct val="20000"/>
              </a:spcBef>
            </a:pPr>
            <a:r>
              <a:rPr lang="en-US" sz="3900" dirty="0" err="1" smtClean="0">
                <a:solidFill>
                  <a:prstClr val="black"/>
                </a:solidFill>
                <a:cs typeface="Arial" pitchFamily="34" charset="0"/>
              </a:rPr>
              <a:t>i</a:t>
            </a:r>
            <a:r>
              <a:rPr lang="en-US" sz="3900" dirty="0" smtClean="0">
                <a:solidFill>
                  <a:prstClr val="black"/>
                </a:solidFill>
                <a:cs typeface="Arial" pitchFamily="34" charset="0"/>
              </a:rPr>
              <a:t>, j=0</a:t>
            </a:r>
          </a:p>
          <a:p>
            <a:pPr lvl="1">
              <a:spcBef>
                <a:spcPct val="20000"/>
              </a:spcBef>
            </a:pPr>
            <a:r>
              <a:rPr lang="en-US" sz="3900" dirty="0" smtClean="0">
                <a:solidFill>
                  <a:prstClr val="black"/>
                </a:solidFill>
                <a:cs typeface="Arial" pitchFamily="34" charset="0"/>
              </a:rPr>
              <a:t>while(true)</a:t>
            </a:r>
          </a:p>
          <a:p>
            <a:pPr lvl="1">
              <a:spcBef>
                <a:spcPct val="20000"/>
              </a:spcBef>
            </a:pPr>
            <a:r>
              <a:rPr lang="en-US" sz="3900" dirty="0" err="1" smtClean="0">
                <a:solidFill>
                  <a:prstClr val="black"/>
                </a:solidFill>
                <a:cs typeface="Arial" pitchFamily="34" charset="0"/>
              </a:rPr>
              <a:t>i</a:t>
            </a:r>
            <a:r>
              <a:rPr lang="en-US" sz="3900" dirty="0" smtClean="0">
                <a:solidFill>
                  <a:prstClr val="black"/>
                </a:solidFill>
                <a:cs typeface="Arial" pitchFamily="34" charset="0"/>
              </a:rPr>
              <a:t>=(i+1) mod 4,</a:t>
            </a:r>
          </a:p>
          <a:p>
            <a:pPr lvl="1">
              <a:spcBef>
                <a:spcPct val="20000"/>
              </a:spcBef>
            </a:pPr>
            <a:r>
              <a:rPr lang="en-US" sz="3900" dirty="0" smtClean="0">
                <a:solidFill>
                  <a:prstClr val="black"/>
                </a:solidFill>
                <a:cs typeface="Arial" pitchFamily="34" charset="0"/>
              </a:rPr>
              <a:t>j=(j + S[</a:t>
            </a:r>
            <a:r>
              <a:rPr lang="en-US" sz="3900" dirty="0" err="1" smtClean="0">
                <a:solidFill>
                  <a:prstClr val="black"/>
                </a:solidFill>
                <a:cs typeface="Arial" pitchFamily="34" charset="0"/>
              </a:rPr>
              <a:t>i</a:t>
            </a:r>
            <a:r>
              <a:rPr lang="en-US" sz="3900" dirty="0" smtClean="0">
                <a:solidFill>
                  <a:prstClr val="black"/>
                </a:solidFill>
                <a:cs typeface="Arial" pitchFamily="34" charset="0"/>
              </a:rPr>
              <a:t>]) mod 4,</a:t>
            </a:r>
          </a:p>
          <a:p>
            <a:pPr lvl="1">
              <a:spcBef>
                <a:spcPct val="20000"/>
              </a:spcBef>
            </a:pPr>
            <a:r>
              <a:rPr lang="en-US" sz="3900" dirty="0" smtClean="0">
                <a:solidFill>
                  <a:prstClr val="black"/>
                </a:solidFill>
                <a:cs typeface="Arial" pitchFamily="34" charset="0"/>
              </a:rPr>
              <a:t>Swap ( S[</a:t>
            </a:r>
            <a:r>
              <a:rPr lang="en-US" sz="3900" dirty="0" err="1" smtClean="0">
                <a:solidFill>
                  <a:prstClr val="black"/>
                </a:solidFill>
                <a:cs typeface="Arial" pitchFamily="34" charset="0"/>
              </a:rPr>
              <a:t>i</a:t>
            </a:r>
            <a:r>
              <a:rPr lang="en-US" sz="3900" dirty="0" smtClean="0">
                <a:solidFill>
                  <a:prstClr val="black"/>
                </a:solidFill>
                <a:cs typeface="Arial" pitchFamily="34" charset="0"/>
              </a:rPr>
              <a:t>], S[j]),</a:t>
            </a:r>
          </a:p>
          <a:p>
            <a:pPr lvl="1">
              <a:spcBef>
                <a:spcPct val="20000"/>
              </a:spcBef>
            </a:pPr>
            <a:r>
              <a:rPr lang="en-US" sz="3900" dirty="0">
                <a:solidFill>
                  <a:prstClr val="black"/>
                </a:solidFill>
                <a:cs typeface="Arial" pitchFamily="34" charset="0"/>
              </a:rPr>
              <a:t>t</a:t>
            </a:r>
            <a:r>
              <a:rPr lang="en-US" sz="3900" dirty="0" smtClean="0">
                <a:solidFill>
                  <a:prstClr val="black"/>
                </a:solidFill>
                <a:cs typeface="Arial" pitchFamily="34" charset="0"/>
              </a:rPr>
              <a:t>=(S[</a:t>
            </a:r>
            <a:r>
              <a:rPr lang="en-US" sz="3900" dirty="0" err="1" smtClean="0">
                <a:solidFill>
                  <a:prstClr val="black"/>
                </a:solidFill>
                <a:cs typeface="Arial" pitchFamily="34" charset="0"/>
              </a:rPr>
              <a:t>i</a:t>
            </a:r>
            <a:r>
              <a:rPr lang="en-US" sz="3900" dirty="0" smtClean="0">
                <a:solidFill>
                  <a:prstClr val="black"/>
                </a:solidFill>
                <a:cs typeface="Arial" pitchFamily="34" charset="0"/>
              </a:rPr>
              <a:t>] + S[j])</a:t>
            </a:r>
            <a:r>
              <a:rPr lang="en-US" sz="3900" dirty="0">
                <a:solidFill>
                  <a:prstClr val="black"/>
                </a:solidFill>
                <a:cs typeface="Arial" pitchFamily="34" charset="0"/>
              </a:rPr>
              <a:t> </a:t>
            </a:r>
            <a:r>
              <a:rPr lang="en-US" sz="3900" dirty="0" smtClean="0">
                <a:solidFill>
                  <a:prstClr val="black"/>
                </a:solidFill>
                <a:cs typeface="Arial" pitchFamily="34" charset="0"/>
              </a:rPr>
              <a:t>mod 4,</a:t>
            </a:r>
          </a:p>
          <a:p>
            <a:pPr lvl="1">
              <a:spcBef>
                <a:spcPct val="20000"/>
              </a:spcBef>
            </a:pPr>
            <a:r>
              <a:rPr lang="en-US" sz="3900" dirty="0" smtClean="0">
                <a:solidFill>
                  <a:prstClr val="black"/>
                </a:solidFill>
                <a:cs typeface="Arial" pitchFamily="34" charset="0"/>
              </a:rPr>
              <a:t>K = S[t]</a:t>
            </a:r>
          </a:p>
          <a:p>
            <a:pPr lvl="1">
              <a:spcBef>
                <a:spcPct val="20000"/>
              </a:spcBef>
            </a:pPr>
            <a:r>
              <a:rPr lang="en-US" sz="3900" dirty="0" smtClean="0">
                <a:solidFill>
                  <a:prstClr val="black"/>
                </a:solidFill>
                <a:cs typeface="Arial" pitchFamily="34" charset="0"/>
              </a:rPr>
              <a:t>C = P XOR K</a:t>
            </a:r>
          </a:p>
          <a:p>
            <a:pPr lvl="1">
              <a:spcBef>
                <a:spcPct val="20000"/>
              </a:spcBef>
            </a:pPr>
            <a:endParaRPr lang="en-US" sz="3900" dirty="0" smtClean="0">
              <a:solidFill>
                <a:prstClr val="black"/>
              </a:solidFill>
              <a:cs typeface="Arial" pitchFamily="34" charset="0"/>
            </a:endParaRPr>
          </a:p>
          <a:p>
            <a:pPr lvl="1">
              <a:spcBef>
                <a:spcPct val="20000"/>
              </a:spcBef>
            </a:pPr>
            <a:r>
              <a:rPr lang="en-US" sz="3900" dirty="0">
                <a:solidFill>
                  <a:prstClr val="black"/>
                </a:solidFill>
                <a:cs typeface="Arial" pitchFamily="34" charset="0"/>
              </a:rPr>
              <a:t>Here for first iteration with </a:t>
            </a:r>
            <a:r>
              <a:rPr lang="en-US" sz="3900" dirty="0" err="1">
                <a:solidFill>
                  <a:prstClr val="black"/>
                </a:solidFill>
                <a:cs typeface="Arial" pitchFamily="34" charset="0"/>
              </a:rPr>
              <a:t>i</a:t>
            </a:r>
            <a:r>
              <a:rPr lang="en-US" sz="3900" dirty="0">
                <a:solidFill>
                  <a:prstClr val="black"/>
                </a:solidFill>
                <a:cs typeface="Arial" pitchFamily="34" charset="0"/>
              </a:rPr>
              <a:t>=0 and j=0</a:t>
            </a:r>
          </a:p>
          <a:p>
            <a:pPr lvl="1">
              <a:spcBef>
                <a:spcPct val="20000"/>
              </a:spcBef>
            </a:pPr>
            <a:r>
              <a:rPr lang="en-US" sz="3900" dirty="0">
                <a:solidFill>
                  <a:prstClr val="black"/>
                </a:solidFill>
                <a:cs typeface="Arial" pitchFamily="34" charset="0"/>
              </a:rPr>
              <a:t>We will get </a:t>
            </a:r>
            <a:r>
              <a:rPr lang="en-US" sz="3900" dirty="0" err="1">
                <a:solidFill>
                  <a:prstClr val="black"/>
                </a:solidFill>
                <a:cs typeface="Arial" pitchFamily="34" charset="0"/>
              </a:rPr>
              <a:t>i</a:t>
            </a:r>
            <a:r>
              <a:rPr lang="en-US" sz="3900" dirty="0">
                <a:solidFill>
                  <a:prstClr val="black"/>
                </a:solidFill>
                <a:cs typeface="Arial" pitchFamily="34" charset="0"/>
              </a:rPr>
              <a:t>=1 and j=1 so after doing swap operation there wont be any change in this iteration </a:t>
            </a:r>
          </a:p>
          <a:p>
            <a:pPr lvl="1">
              <a:spcBef>
                <a:spcPct val="20000"/>
              </a:spcBef>
            </a:pPr>
            <a:r>
              <a:rPr lang="en-US" sz="3900" dirty="0">
                <a:solidFill>
                  <a:prstClr val="black"/>
                </a:solidFill>
                <a:cs typeface="Arial" pitchFamily="34" charset="0"/>
              </a:rPr>
              <a:t>Next t=2 mod 4 = </a:t>
            </a:r>
            <a:r>
              <a:rPr lang="en-US" sz="3900" dirty="0" smtClean="0">
                <a:solidFill>
                  <a:prstClr val="black"/>
                </a:solidFill>
                <a:cs typeface="Arial" pitchFamily="34" charset="0"/>
              </a:rPr>
              <a:t>2 and k = S[2] = 4</a:t>
            </a:r>
            <a:endParaRPr lang="en-US" sz="3900" dirty="0">
              <a:solidFill>
                <a:prstClr val="black"/>
              </a:solidFill>
              <a:cs typeface="Arial" pitchFamily="34" charset="0"/>
            </a:endParaRPr>
          </a:p>
          <a:p>
            <a:pPr lvl="1">
              <a:spcBef>
                <a:spcPct val="20000"/>
              </a:spcBef>
            </a:pPr>
            <a:r>
              <a:rPr lang="en-US" sz="3900" dirty="0">
                <a:solidFill>
                  <a:prstClr val="black"/>
                </a:solidFill>
                <a:cs typeface="Arial" pitchFamily="34" charset="0"/>
              </a:rPr>
              <a:t>And </a:t>
            </a:r>
            <a:r>
              <a:rPr lang="en-US" sz="3900" dirty="0" err="1">
                <a:solidFill>
                  <a:prstClr val="black"/>
                </a:solidFill>
                <a:cs typeface="Arial" pitchFamily="34" charset="0"/>
              </a:rPr>
              <a:t>Ciphertext</a:t>
            </a:r>
            <a:r>
              <a:rPr lang="en-US" sz="3900" dirty="0">
                <a:solidFill>
                  <a:prstClr val="black"/>
                </a:solidFill>
                <a:cs typeface="Arial" pitchFamily="34" charset="0"/>
              </a:rPr>
              <a:t> for first bit will be </a:t>
            </a:r>
          </a:p>
          <a:p>
            <a:pPr lvl="1">
              <a:spcBef>
                <a:spcPct val="20000"/>
              </a:spcBef>
            </a:pPr>
            <a:r>
              <a:rPr lang="en-US" sz="3900" dirty="0" smtClean="0">
                <a:solidFill>
                  <a:prstClr val="black"/>
                </a:solidFill>
                <a:cs typeface="Arial" pitchFamily="34" charset="0"/>
              </a:rPr>
              <a:t>So, C = 1 XOR 4           0001</a:t>
            </a:r>
          </a:p>
          <a:p>
            <a:pPr lvl="1">
              <a:spcBef>
                <a:spcPct val="20000"/>
              </a:spcBef>
            </a:pPr>
            <a:r>
              <a:rPr lang="en-US" sz="3900" dirty="0">
                <a:solidFill>
                  <a:prstClr val="black"/>
                </a:solidFill>
                <a:cs typeface="Arial" pitchFamily="34" charset="0"/>
              </a:rPr>
              <a:t>	</a:t>
            </a:r>
            <a:r>
              <a:rPr lang="en-US" sz="3900" dirty="0" smtClean="0">
                <a:solidFill>
                  <a:prstClr val="black"/>
                </a:solidFill>
                <a:cs typeface="Arial" pitchFamily="34" charset="0"/>
              </a:rPr>
              <a:t>                            0100</a:t>
            </a:r>
          </a:p>
          <a:p>
            <a:pPr lvl="1">
              <a:spcBef>
                <a:spcPct val="20000"/>
              </a:spcBef>
            </a:pPr>
            <a:r>
              <a:rPr lang="en-US" sz="3900" dirty="0" smtClean="0">
                <a:solidFill>
                  <a:prstClr val="black"/>
                </a:solidFill>
                <a:cs typeface="Arial" pitchFamily="34" charset="0"/>
              </a:rPr>
              <a:t>		</a:t>
            </a:r>
          </a:p>
          <a:p>
            <a:pPr lvl="1">
              <a:spcBef>
                <a:spcPct val="20000"/>
              </a:spcBef>
            </a:pPr>
            <a:r>
              <a:rPr lang="en-US" sz="3900" dirty="0">
                <a:solidFill>
                  <a:prstClr val="black"/>
                </a:solidFill>
                <a:cs typeface="Arial" pitchFamily="34" charset="0"/>
              </a:rPr>
              <a:t>	</a:t>
            </a:r>
            <a:r>
              <a:rPr lang="en-US" sz="3900" dirty="0" smtClean="0">
                <a:solidFill>
                  <a:prstClr val="black"/>
                </a:solidFill>
                <a:cs typeface="Arial" pitchFamily="34" charset="0"/>
              </a:rPr>
              <a:t>	        0101 = 5</a:t>
            </a:r>
          </a:p>
        </p:txBody>
      </p:sp>
      <p:cxnSp>
        <p:nvCxnSpPr>
          <p:cNvPr id="4" name="Straight Connector 3"/>
          <p:cNvCxnSpPr/>
          <p:nvPr/>
        </p:nvCxnSpPr>
        <p:spPr>
          <a:xfrm>
            <a:off x="2411760" y="5661248"/>
            <a:ext cx="1080120" cy="0"/>
          </a:xfrm>
          <a:prstGeom prst="line">
            <a:avLst/>
          </a:prstGeom>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4355976" y="5157192"/>
            <a:ext cx="2736304" cy="646331"/>
          </a:xfrm>
          <a:prstGeom prst="rect">
            <a:avLst/>
          </a:prstGeom>
          <a:noFill/>
        </p:spPr>
        <p:txBody>
          <a:bodyPr wrap="square" rtlCol="0">
            <a:spAutoFit/>
          </a:bodyPr>
          <a:lstStyle/>
          <a:p>
            <a:r>
              <a:rPr lang="en-US" dirty="0" smtClean="0"/>
              <a:t>Likewise Cipher text will be = [5,2,4,3]</a:t>
            </a:r>
            <a:endParaRPr lang="en-US" dirty="0"/>
          </a:p>
        </p:txBody>
      </p:sp>
    </p:spTree>
    <p:extLst>
      <p:ext uri="{BB962C8B-B14F-4D97-AF65-F5344CB8AC3E}">
        <p14:creationId xmlns:p14="http://schemas.microsoft.com/office/powerpoint/2010/main" val="3056084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1331640" y="3429000"/>
            <a:ext cx="6324600" cy="720080"/>
          </a:xfrm>
        </p:spPr>
        <p:txBody>
          <a:bodyPr vert="horz" lIns="91440" tIns="45720" rIns="91440" bIns="45720" rtlCol="0" anchor="ctr" anchorCtr="0">
            <a:normAutofit/>
          </a:bodyPr>
          <a:lstStyle/>
          <a:p>
            <a:pPr algn="ctr">
              <a:spcBef>
                <a:spcPct val="0"/>
              </a:spcBef>
            </a:pPr>
            <a:r>
              <a:rPr lang="en-US" sz="3200" dirty="0" smtClean="0"/>
              <a:t>RECAP</a:t>
            </a:r>
            <a:endParaRPr lang="en-US" sz="3200" dirty="0"/>
          </a:p>
        </p:txBody>
      </p:sp>
    </p:spTree>
    <p:extLst>
      <p:ext uri="{BB962C8B-B14F-4D97-AF65-F5344CB8AC3E}">
        <p14:creationId xmlns:p14="http://schemas.microsoft.com/office/powerpoint/2010/main" val="3716598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altLang="en-US" sz="3200" dirty="0"/>
              <a:t>Prime Numbers</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900" dirty="0">
                <a:solidFill>
                  <a:prstClr val="black"/>
                </a:solidFill>
                <a:cs typeface="Arial" pitchFamily="34" charset="0"/>
              </a:rPr>
              <a:t>A prime number is divisible only by 1 and itself</a:t>
            </a:r>
          </a:p>
          <a:p>
            <a:pPr marL="342900" indent="-342900">
              <a:spcBef>
                <a:spcPct val="20000"/>
              </a:spcBef>
              <a:buFont typeface="Arial" pitchFamily="34" charset="0"/>
              <a:buChar char="•"/>
            </a:pPr>
            <a:r>
              <a:rPr lang="en-US" sz="3900" dirty="0">
                <a:solidFill>
                  <a:prstClr val="black"/>
                </a:solidFill>
                <a:cs typeface="Arial" pitchFamily="34" charset="0"/>
              </a:rPr>
              <a:t>For example:  {2, 3, 5, 7, 11, 13, 17, …}</a:t>
            </a:r>
          </a:p>
          <a:p>
            <a:pPr marL="342900" indent="-342900">
              <a:spcBef>
                <a:spcPct val="20000"/>
              </a:spcBef>
              <a:buFont typeface="Arial" pitchFamily="34" charset="0"/>
              <a:buChar char="•"/>
            </a:pPr>
            <a:r>
              <a:rPr lang="en-US" sz="3900" dirty="0">
                <a:solidFill>
                  <a:prstClr val="black"/>
                </a:solidFill>
                <a:cs typeface="Arial" pitchFamily="34" charset="0"/>
              </a:rPr>
              <a:t>1 could also be considered prime, but it’s not very </a:t>
            </a:r>
            <a:r>
              <a:rPr lang="en-US" sz="3900" dirty="0" smtClean="0">
                <a:solidFill>
                  <a:prstClr val="black"/>
                </a:solidFill>
                <a:cs typeface="Arial" pitchFamily="34" charset="0"/>
              </a:rPr>
              <a:t>useful</a:t>
            </a:r>
            <a:endParaRPr lang="en-US" sz="3900" dirty="0">
              <a:solidFill>
                <a:prstClr val="black"/>
              </a:solidFill>
              <a:cs typeface="Arial" pitchFamily="34" charset="0"/>
            </a:endParaRPr>
          </a:p>
          <a:p>
            <a:pPr>
              <a:spcBef>
                <a:spcPct val="20000"/>
              </a:spcBef>
            </a:pPr>
            <a:endParaRPr lang="en-US" sz="3900" dirty="0" smtClean="0">
              <a:solidFill>
                <a:prstClr val="black"/>
              </a:solidFill>
              <a:cs typeface="Arial" pitchFamily="34" charset="0"/>
            </a:endParaRPr>
          </a:p>
        </p:txBody>
      </p:sp>
    </p:spTree>
    <p:extLst>
      <p:ext uri="{BB962C8B-B14F-4D97-AF65-F5344CB8AC3E}">
        <p14:creationId xmlns:p14="http://schemas.microsoft.com/office/powerpoint/2010/main" val="4148378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altLang="en-US" sz="3200" dirty="0"/>
              <a:t>Prime Factorization</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fontScale="92500"/>
          </a:bodyPr>
          <a:lstStyle/>
          <a:p>
            <a:pPr marL="342900" indent="-342900">
              <a:spcBef>
                <a:spcPct val="20000"/>
              </a:spcBef>
              <a:buFont typeface="Arial" pitchFamily="34" charset="0"/>
              <a:buChar char="•"/>
            </a:pPr>
            <a:r>
              <a:rPr lang="en-US" sz="3900" dirty="0">
                <a:solidFill>
                  <a:prstClr val="black"/>
                </a:solidFill>
                <a:cs typeface="Arial" pitchFamily="34" charset="0"/>
              </a:rPr>
              <a:t>To factor a number n is to write it as a product of other numbers.</a:t>
            </a:r>
          </a:p>
          <a:p>
            <a:pPr marL="342900" indent="-342900">
              <a:spcBef>
                <a:spcPct val="20000"/>
              </a:spcBef>
              <a:buFont typeface="Arial" pitchFamily="34" charset="0"/>
              <a:buChar char="•"/>
            </a:pPr>
            <a:r>
              <a:rPr lang="en-US" sz="3900" dirty="0">
                <a:solidFill>
                  <a:prstClr val="black"/>
                </a:solidFill>
                <a:cs typeface="Arial" pitchFamily="34" charset="0"/>
              </a:rPr>
              <a:t> n = a * b * c</a:t>
            </a:r>
          </a:p>
          <a:p>
            <a:pPr marL="342900" indent="-342900">
              <a:spcBef>
                <a:spcPct val="20000"/>
              </a:spcBef>
              <a:buFont typeface="Arial" pitchFamily="34" charset="0"/>
              <a:buChar char="•"/>
            </a:pPr>
            <a:r>
              <a:rPr lang="en-US" sz="3900" dirty="0">
                <a:solidFill>
                  <a:prstClr val="black"/>
                </a:solidFill>
                <a:cs typeface="Arial" pitchFamily="34" charset="0"/>
              </a:rPr>
              <a:t>Or, 100 = 5 * 5 * 2 * 2</a:t>
            </a:r>
          </a:p>
          <a:p>
            <a:pPr marL="342900" indent="-342900">
              <a:spcBef>
                <a:spcPct val="20000"/>
              </a:spcBef>
              <a:buFont typeface="Arial" pitchFamily="34" charset="0"/>
              <a:buChar char="•"/>
            </a:pPr>
            <a:r>
              <a:rPr lang="en-US" sz="3900" dirty="0">
                <a:solidFill>
                  <a:prstClr val="black"/>
                </a:solidFill>
                <a:cs typeface="Arial" pitchFamily="34" charset="0"/>
              </a:rPr>
              <a:t>Prime factorization of a number n is writing it as a product of prime numbers.</a:t>
            </a:r>
          </a:p>
          <a:p>
            <a:pPr marL="342900" indent="-342900">
              <a:spcBef>
                <a:spcPct val="20000"/>
              </a:spcBef>
              <a:buFont typeface="Arial" pitchFamily="34" charset="0"/>
              <a:buChar char="•"/>
            </a:pPr>
            <a:r>
              <a:rPr lang="en-US" sz="3900" dirty="0">
                <a:solidFill>
                  <a:prstClr val="black"/>
                </a:solidFill>
                <a:cs typeface="Arial" pitchFamily="34" charset="0"/>
              </a:rPr>
              <a:t>143 = 11 * 13</a:t>
            </a:r>
          </a:p>
          <a:p>
            <a:pPr>
              <a:spcBef>
                <a:spcPct val="20000"/>
              </a:spcBef>
            </a:pPr>
            <a:endParaRPr lang="en-US" sz="3900" dirty="0" smtClean="0">
              <a:solidFill>
                <a:prstClr val="black"/>
              </a:solidFill>
              <a:cs typeface="Arial" pitchFamily="34" charset="0"/>
            </a:endParaRPr>
          </a:p>
        </p:txBody>
      </p:sp>
    </p:spTree>
    <p:extLst>
      <p:ext uri="{BB962C8B-B14F-4D97-AF65-F5344CB8AC3E}">
        <p14:creationId xmlns:p14="http://schemas.microsoft.com/office/powerpoint/2010/main" val="962934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57158" y="357166"/>
            <a:ext cx="6324600" cy="720080"/>
          </a:xfrm>
        </p:spPr>
        <p:txBody>
          <a:bodyPr vert="horz" lIns="91440" tIns="45720" rIns="91440" bIns="45720" rtlCol="0" anchor="ctr" anchorCtr="0">
            <a:normAutofit/>
          </a:bodyPr>
          <a:lstStyle/>
          <a:p>
            <a:pPr>
              <a:spcBef>
                <a:spcPct val="0"/>
              </a:spcBef>
            </a:pPr>
            <a:r>
              <a:rPr lang="en-US" altLang="en-US" sz="3200" dirty="0"/>
              <a:t>Relatively Prime Numbers</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900" dirty="0">
                <a:solidFill>
                  <a:prstClr val="black"/>
                </a:solidFill>
                <a:cs typeface="Arial" pitchFamily="34" charset="0"/>
              </a:rPr>
              <a:t>Two numbers are relatively prime if they have no common divisors other than </a:t>
            </a:r>
            <a:r>
              <a:rPr lang="en-US" sz="3900" dirty="0" smtClean="0">
                <a:solidFill>
                  <a:prstClr val="black"/>
                </a:solidFill>
                <a:cs typeface="Arial" pitchFamily="34" charset="0"/>
              </a:rPr>
              <a:t>1</a:t>
            </a:r>
            <a:endParaRPr lang="en-US" sz="3900" dirty="0">
              <a:solidFill>
                <a:prstClr val="black"/>
              </a:solidFill>
              <a:cs typeface="Arial" pitchFamily="34" charset="0"/>
            </a:endParaRPr>
          </a:p>
          <a:p>
            <a:pPr marL="342900" indent="-342900">
              <a:spcBef>
                <a:spcPct val="20000"/>
              </a:spcBef>
              <a:buFont typeface="Arial" pitchFamily="34" charset="0"/>
              <a:buChar char="•"/>
            </a:pPr>
            <a:r>
              <a:rPr lang="en-US" sz="3900" dirty="0">
                <a:solidFill>
                  <a:prstClr val="black"/>
                </a:solidFill>
                <a:cs typeface="Arial" pitchFamily="34" charset="0"/>
              </a:rPr>
              <a:t>10 and 21 are relatively prime, in respect to each other, as 10 has factors of 1, 2, 5, 10 and 21 has factors of 1, 3, 7, </a:t>
            </a:r>
            <a:r>
              <a:rPr lang="en-US" sz="3900" dirty="0" smtClean="0">
                <a:solidFill>
                  <a:prstClr val="black"/>
                </a:solidFill>
                <a:cs typeface="Arial" pitchFamily="34" charset="0"/>
              </a:rPr>
              <a:t>21</a:t>
            </a:r>
            <a:endParaRPr lang="en-US" sz="3900" dirty="0">
              <a:solidFill>
                <a:prstClr val="black"/>
              </a:solidFill>
              <a:cs typeface="Arial" pitchFamily="34" charset="0"/>
            </a:endParaRPr>
          </a:p>
          <a:p>
            <a:pPr>
              <a:spcBef>
                <a:spcPct val="20000"/>
              </a:spcBef>
            </a:pPr>
            <a:endParaRPr lang="en-US" sz="3900" dirty="0" smtClean="0">
              <a:solidFill>
                <a:prstClr val="black"/>
              </a:solidFill>
              <a:cs typeface="Arial" pitchFamily="34" charset="0"/>
            </a:endParaRPr>
          </a:p>
        </p:txBody>
      </p:sp>
    </p:spTree>
    <p:extLst>
      <p:ext uri="{BB962C8B-B14F-4D97-AF65-F5344CB8AC3E}">
        <p14:creationId xmlns:p14="http://schemas.microsoft.com/office/powerpoint/2010/main" val="2318244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95536" y="377823"/>
            <a:ext cx="6324600" cy="720080"/>
          </a:xfrm>
        </p:spPr>
        <p:txBody>
          <a:bodyPr vert="horz" lIns="91440" tIns="45720" rIns="91440" bIns="45720" rtlCol="0" anchor="ctr" anchorCtr="0">
            <a:normAutofit/>
          </a:bodyPr>
          <a:lstStyle/>
          <a:p>
            <a:pPr>
              <a:spcBef>
                <a:spcPct val="0"/>
              </a:spcBef>
            </a:pPr>
            <a:r>
              <a:rPr lang="en-US" altLang="en-US" sz="3200" dirty="0" smtClean="0"/>
              <a:t>Relatively Prime Numbers -GCD</a:t>
            </a:r>
            <a:endParaRPr lang="en-US" sz="3200" dirty="0"/>
          </a:p>
        </p:txBody>
      </p:sp>
      <p:sp>
        <p:nvSpPr>
          <p:cNvPr id="6" name="Rectangle 5"/>
          <p:cNvSpPr/>
          <p:nvPr/>
        </p:nvSpPr>
        <p:spPr>
          <a:xfrm>
            <a:off x="395536" y="1513716"/>
            <a:ext cx="8371656" cy="4671467"/>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3900" dirty="0" smtClean="0">
                <a:solidFill>
                  <a:prstClr val="black"/>
                </a:solidFill>
                <a:cs typeface="Arial" pitchFamily="34" charset="0"/>
              </a:rPr>
              <a:t>Consider </a:t>
            </a:r>
            <a:r>
              <a:rPr lang="en-US" sz="3900" dirty="0">
                <a:solidFill>
                  <a:prstClr val="black"/>
                </a:solidFill>
                <a:cs typeface="Arial" pitchFamily="34" charset="0"/>
              </a:rPr>
              <a:t>the following:  10(1, 2, 5, 10) and 21(1, 3, 7, 21)</a:t>
            </a:r>
          </a:p>
          <a:p>
            <a:pPr marL="342900" indent="-342900">
              <a:spcBef>
                <a:spcPct val="20000"/>
              </a:spcBef>
              <a:buFont typeface="Arial" pitchFamily="34" charset="0"/>
              <a:buChar char="•"/>
            </a:pPr>
            <a:r>
              <a:rPr lang="en-US" sz="3900" dirty="0">
                <a:solidFill>
                  <a:prstClr val="black"/>
                </a:solidFill>
                <a:cs typeface="Arial" pitchFamily="34" charset="0"/>
              </a:rPr>
              <a:t>GCD(10, 21) = 1</a:t>
            </a:r>
          </a:p>
          <a:p>
            <a:pPr marL="342900" indent="-342900">
              <a:spcBef>
                <a:spcPct val="20000"/>
              </a:spcBef>
              <a:buFont typeface="Arial" pitchFamily="34" charset="0"/>
              <a:buChar char="•"/>
            </a:pPr>
            <a:r>
              <a:rPr lang="en-US" sz="3900" dirty="0">
                <a:solidFill>
                  <a:prstClr val="black"/>
                </a:solidFill>
                <a:cs typeface="Arial" pitchFamily="34" charset="0"/>
              </a:rPr>
              <a:t>It then follows, that a prime number is also relatively prime to any other number other than itself and </a:t>
            </a:r>
            <a:r>
              <a:rPr lang="en-US" sz="3900" dirty="0" smtClean="0">
                <a:solidFill>
                  <a:prstClr val="black"/>
                </a:solidFill>
                <a:cs typeface="Arial" pitchFamily="34" charset="0"/>
              </a:rPr>
              <a:t>1</a:t>
            </a:r>
            <a:endParaRPr lang="en-US" sz="3900" dirty="0">
              <a:solidFill>
                <a:prstClr val="black"/>
              </a:solidFill>
              <a:cs typeface="Arial" pitchFamily="34" charset="0"/>
            </a:endParaRPr>
          </a:p>
          <a:p>
            <a:pPr marL="342900" indent="-342900">
              <a:spcBef>
                <a:spcPct val="20000"/>
              </a:spcBef>
              <a:buFont typeface="Arial" pitchFamily="34" charset="0"/>
              <a:buChar char="•"/>
            </a:pPr>
            <a:endParaRPr lang="en-US" sz="3900" dirty="0" smtClean="0">
              <a:solidFill>
                <a:prstClr val="black"/>
              </a:solidFill>
              <a:cs typeface="Arial" pitchFamily="34" charset="0"/>
            </a:endParaRPr>
          </a:p>
        </p:txBody>
      </p:sp>
    </p:spTree>
    <p:extLst>
      <p:ext uri="{BB962C8B-B14F-4D97-AF65-F5344CB8AC3E}">
        <p14:creationId xmlns:p14="http://schemas.microsoft.com/office/powerpoint/2010/main" val="989478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    Two theorems that play important roles in public-key cryptography are</a:t>
            </a:r>
          </a:p>
          <a:p>
            <a:pPr>
              <a:buFont typeface="Wingdings" pitchFamily="2" charset="2"/>
              <a:buChar char="Ø"/>
            </a:pPr>
            <a:r>
              <a:rPr lang="en-IN" dirty="0" smtClean="0"/>
              <a:t>        Fermat's theorem </a:t>
            </a:r>
          </a:p>
          <a:p>
            <a:pPr>
              <a:buFont typeface="Wingdings" pitchFamily="2" charset="2"/>
              <a:buChar char="Ø"/>
            </a:pPr>
            <a:r>
              <a:rPr lang="en-IN" dirty="0" smtClean="0"/>
              <a:t>        Euler's theorem.</a:t>
            </a:r>
            <a:endParaRPr lang="en-IN" dirty="0"/>
          </a:p>
        </p:txBody>
      </p:sp>
      <p:sp>
        <p:nvSpPr>
          <p:cNvPr id="3" name="Content Placeholder 2"/>
          <p:cNvSpPr>
            <a:spLocks noGrp="1"/>
          </p:cNvSpPr>
          <p:nvPr>
            <p:ph sz="quarter" idx="10"/>
          </p:nvPr>
        </p:nvSpPr>
        <p:spPr/>
        <p:txBody>
          <a:bodyPr/>
          <a:lstStyle/>
          <a:p>
            <a:r>
              <a:rPr lang="en-IN" dirty="0" smtClean="0"/>
              <a:t>Some theorems</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solidFill>
              </a:rPr>
              <a:pPr/>
              <a:t>41</a:t>
            </a:fld>
            <a:endParaRPr lang="en-US" dirty="0">
              <a:solidFill>
                <a:prstClr val="blac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28800"/>
            <a:ext cx="8229600" cy="4525963"/>
          </a:xfrm>
        </p:spPr>
        <p:txBody>
          <a:bodyPr vert="horz" lIns="91440" tIns="45720" rIns="91440" bIns="45720" rtlCol="0">
            <a:normAutofit fontScale="77500" lnSpcReduction="20000"/>
          </a:bodyPr>
          <a:lstStyle/>
          <a:p>
            <a:pPr>
              <a:buChar char="•"/>
            </a:pPr>
            <a:r>
              <a:rPr lang="en-IN" sz="3900" dirty="0">
                <a:solidFill>
                  <a:prstClr val="black"/>
                </a:solidFill>
              </a:rPr>
              <a:t>Named after 17th century French mathematician Pierre de Fermat.</a:t>
            </a:r>
          </a:p>
          <a:p>
            <a:pPr>
              <a:buChar char="•"/>
            </a:pPr>
            <a:r>
              <a:rPr lang="en-IN" sz="3900" dirty="0">
                <a:solidFill>
                  <a:prstClr val="black"/>
                </a:solidFill>
              </a:rPr>
              <a:t>Also called Fermat’s Little Theorem.</a:t>
            </a:r>
          </a:p>
          <a:p>
            <a:pPr>
              <a:buChar char="•"/>
            </a:pPr>
            <a:r>
              <a:rPr lang="en-IN" sz="3900" dirty="0">
                <a:solidFill>
                  <a:prstClr val="black"/>
                </a:solidFill>
              </a:rPr>
              <a:t>It states that if p is a prime number and a is a positive integer not divisible by p then</a:t>
            </a:r>
            <a:r>
              <a:rPr lang="en-IN" sz="3900" dirty="0" smtClean="0">
                <a:solidFill>
                  <a:prstClr val="black"/>
                </a:solidFill>
              </a:rPr>
              <a:t>:</a:t>
            </a:r>
          </a:p>
          <a:p>
            <a:pPr>
              <a:buChar char="•"/>
            </a:pPr>
            <a:r>
              <a:rPr lang="en-US" altLang="en-US" sz="4000" dirty="0"/>
              <a:t>This theorem is useful in public key (RSA) and primality testing</a:t>
            </a:r>
            <a:endParaRPr lang="en-IN" sz="3900" dirty="0">
              <a:solidFill>
                <a:prstClr val="black"/>
              </a:solidFill>
            </a:endParaRPr>
          </a:p>
          <a:p>
            <a:pPr>
              <a:buChar char="•"/>
            </a:pPr>
            <a:endParaRPr lang="en-IN" sz="3900" dirty="0">
              <a:solidFill>
                <a:prstClr val="black"/>
              </a:solidFill>
            </a:endParaRPr>
          </a:p>
          <a:p>
            <a:pPr marL="0" indent="0"/>
            <a:r>
              <a:rPr lang="en-IN" sz="3900" dirty="0">
                <a:solidFill>
                  <a:prstClr val="black"/>
                </a:solidFill>
              </a:rPr>
              <a:t> 	a</a:t>
            </a:r>
            <a:r>
              <a:rPr lang="en-IN" sz="3900" baseline="30000" dirty="0">
                <a:solidFill>
                  <a:prstClr val="black"/>
                </a:solidFill>
              </a:rPr>
              <a:t>p-1</a:t>
            </a:r>
            <a:r>
              <a:rPr lang="en-IN" sz="3900" dirty="0">
                <a:solidFill>
                  <a:prstClr val="black"/>
                </a:solidFill>
              </a:rPr>
              <a:t> </a:t>
            </a:r>
            <a:r>
              <a:rPr lang="en-US" sz="3900" dirty="0">
                <a:solidFill>
                  <a:prstClr val="black"/>
                </a:solidFill>
              </a:rPr>
              <a:t>≡ 1 (mod p) -------------------1st Version </a:t>
            </a:r>
          </a:p>
          <a:p>
            <a:pPr marL="0" indent="0"/>
            <a:r>
              <a:rPr lang="en-US" sz="3900" dirty="0">
                <a:solidFill>
                  <a:prstClr val="black"/>
                </a:solidFill>
              </a:rPr>
              <a:t>	</a:t>
            </a:r>
            <a:r>
              <a:rPr lang="en-IN" sz="3900" dirty="0" err="1">
                <a:solidFill>
                  <a:prstClr val="black"/>
                </a:solidFill>
              </a:rPr>
              <a:t>a</a:t>
            </a:r>
            <a:r>
              <a:rPr lang="en-IN" sz="3900" baseline="30000" dirty="0" err="1">
                <a:solidFill>
                  <a:prstClr val="black"/>
                </a:solidFill>
              </a:rPr>
              <a:t>p</a:t>
            </a:r>
            <a:r>
              <a:rPr lang="en-IN" sz="3900" dirty="0">
                <a:solidFill>
                  <a:prstClr val="black"/>
                </a:solidFill>
              </a:rPr>
              <a:t> </a:t>
            </a:r>
            <a:r>
              <a:rPr lang="en-US" sz="3900" dirty="0">
                <a:solidFill>
                  <a:prstClr val="black"/>
                </a:solidFill>
              </a:rPr>
              <a:t>≡ a (mod p)   </a:t>
            </a:r>
            <a:r>
              <a:rPr lang="en-US" sz="3900" dirty="0" smtClean="0">
                <a:solidFill>
                  <a:prstClr val="black"/>
                </a:solidFill>
              </a:rPr>
              <a:t>-------------------2nd </a:t>
            </a:r>
            <a:r>
              <a:rPr lang="en-US" sz="3900" dirty="0">
                <a:solidFill>
                  <a:prstClr val="black"/>
                </a:solidFill>
              </a:rPr>
              <a:t>Version</a:t>
            </a:r>
            <a:endParaRPr lang="en-IN" sz="3900" dirty="0">
              <a:solidFill>
                <a:prstClr val="black"/>
              </a:solidFill>
            </a:endParaRPr>
          </a:p>
        </p:txBody>
      </p:sp>
      <p:sp>
        <p:nvSpPr>
          <p:cNvPr id="3" name="Content Placeholder 2"/>
          <p:cNvSpPr>
            <a:spLocks noGrp="1"/>
          </p:cNvSpPr>
          <p:nvPr>
            <p:ph sz="quarter" idx="10"/>
          </p:nvPr>
        </p:nvSpPr>
        <p:spPr>
          <a:xfrm>
            <a:off x="304800" y="253069"/>
            <a:ext cx="6324600" cy="900336"/>
          </a:xfrm>
        </p:spPr>
        <p:txBody>
          <a:bodyPr vert="horz" lIns="91440" tIns="45720" rIns="91440" bIns="45720" rtlCol="0" anchor="ctr" anchorCtr="0">
            <a:normAutofit/>
          </a:bodyPr>
          <a:lstStyle/>
          <a:p>
            <a:pPr>
              <a:spcBef>
                <a:spcPct val="0"/>
              </a:spcBef>
            </a:pPr>
            <a:r>
              <a:rPr lang="en-IN" sz="3200" dirty="0"/>
              <a:t>Fermat’s Theorem</a:t>
            </a:r>
          </a:p>
        </p:txBody>
      </p:sp>
      <p:pic>
        <p:nvPicPr>
          <p:cNvPr id="1026" name="Picture 2" descr="Pierre de Fermat.jpg"/>
          <p:cNvPicPr>
            <a:picLocks noChangeAspect="1" noChangeArrowheads="1"/>
          </p:cNvPicPr>
          <p:nvPr/>
        </p:nvPicPr>
        <p:blipFill>
          <a:blip r:embed="rId2" cstate="print"/>
          <a:srcRect/>
          <a:stretch>
            <a:fillRect/>
          </a:stretch>
        </p:blipFill>
        <p:spPr bwMode="auto">
          <a:xfrm>
            <a:off x="5292080" y="152400"/>
            <a:ext cx="936104" cy="1080319"/>
          </a:xfrm>
          <a:prstGeom prst="rect">
            <a:avLst/>
          </a:prstGeom>
          <a:noFill/>
        </p:spPr>
      </p:pic>
      <p:sp>
        <p:nvSpPr>
          <p:cNvPr id="6" name="Rectangle 5"/>
          <p:cNvSpPr/>
          <p:nvPr/>
        </p:nvSpPr>
        <p:spPr>
          <a:xfrm>
            <a:off x="1187624" y="4786611"/>
            <a:ext cx="7346776" cy="1368152"/>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39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IN" dirty="0" smtClean="0"/>
              <a:t>(1) Find the result of 6</a:t>
            </a:r>
            <a:r>
              <a:rPr lang="en-IN" baseline="30000" dirty="0" smtClean="0"/>
              <a:t>10</a:t>
            </a:r>
            <a:r>
              <a:rPr lang="en-IN" dirty="0" smtClean="0"/>
              <a:t> mod 11 </a:t>
            </a:r>
          </a:p>
          <a:p>
            <a:r>
              <a:rPr lang="en-IN" dirty="0" smtClean="0">
                <a:solidFill>
                  <a:srgbClr val="0070C0"/>
                </a:solidFill>
              </a:rPr>
              <a:t>	Comparing it with the 1</a:t>
            </a:r>
            <a:r>
              <a:rPr lang="en-IN" baseline="30000" dirty="0" smtClean="0">
                <a:solidFill>
                  <a:srgbClr val="0070C0"/>
                </a:solidFill>
              </a:rPr>
              <a:t>st</a:t>
            </a:r>
            <a:r>
              <a:rPr lang="en-IN" dirty="0" smtClean="0">
                <a:solidFill>
                  <a:srgbClr val="0070C0"/>
                </a:solidFill>
              </a:rPr>
              <a:t> version of Fermat’s theorem, </a:t>
            </a:r>
          </a:p>
          <a:p>
            <a:r>
              <a:rPr lang="en-IN" dirty="0">
                <a:solidFill>
                  <a:srgbClr val="0070C0"/>
                </a:solidFill>
              </a:rPr>
              <a:t>	</a:t>
            </a:r>
            <a:r>
              <a:rPr lang="en-IN" dirty="0" smtClean="0">
                <a:solidFill>
                  <a:srgbClr val="0070C0"/>
                </a:solidFill>
              </a:rPr>
              <a:t>a</a:t>
            </a:r>
            <a:r>
              <a:rPr lang="en-IN" baseline="30000" dirty="0" smtClean="0">
                <a:solidFill>
                  <a:srgbClr val="0070C0"/>
                </a:solidFill>
              </a:rPr>
              <a:t>p-1</a:t>
            </a:r>
            <a:r>
              <a:rPr lang="en-IN" dirty="0" smtClean="0">
                <a:solidFill>
                  <a:srgbClr val="0070C0"/>
                </a:solidFill>
              </a:rPr>
              <a:t> </a:t>
            </a:r>
            <a:r>
              <a:rPr lang="en-US" dirty="0" smtClean="0">
                <a:solidFill>
                  <a:srgbClr val="0070C0"/>
                </a:solidFill>
              </a:rPr>
              <a:t>≡</a:t>
            </a:r>
            <a:r>
              <a:rPr lang="en-US" b="1" i="1" dirty="0" smtClean="0">
                <a:solidFill>
                  <a:srgbClr val="0070C0"/>
                </a:solidFill>
              </a:rPr>
              <a:t> </a:t>
            </a:r>
            <a:r>
              <a:rPr lang="en-IN" dirty="0" smtClean="0">
                <a:solidFill>
                  <a:srgbClr val="0070C0"/>
                </a:solidFill>
              </a:rPr>
              <a:t>1 (mod p)</a:t>
            </a:r>
          </a:p>
          <a:p>
            <a:r>
              <a:rPr lang="en-IN" dirty="0" smtClean="0">
                <a:solidFill>
                  <a:srgbClr val="0070C0"/>
                </a:solidFill>
              </a:rPr>
              <a:t>	6</a:t>
            </a:r>
            <a:r>
              <a:rPr lang="en-IN" baseline="30000" dirty="0" smtClean="0">
                <a:solidFill>
                  <a:srgbClr val="0070C0"/>
                </a:solidFill>
              </a:rPr>
              <a:t>11-1</a:t>
            </a:r>
            <a:r>
              <a:rPr lang="en-IN" dirty="0" smtClean="0">
                <a:solidFill>
                  <a:srgbClr val="0070C0"/>
                </a:solidFill>
              </a:rPr>
              <a:t> </a:t>
            </a:r>
            <a:r>
              <a:rPr lang="en-US" dirty="0" smtClean="0">
                <a:solidFill>
                  <a:srgbClr val="0070C0"/>
                </a:solidFill>
              </a:rPr>
              <a:t>≡</a:t>
            </a:r>
            <a:r>
              <a:rPr lang="en-US" b="1" i="1" dirty="0" smtClean="0">
                <a:solidFill>
                  <a:srgbClr val="0070C0"/>
                </a:solidFill>
              </a:rPr>
              <a:t> </a:t>
            </a:r>
            <a:r>
              <a:rPr lang="en-IN" dirty="0" smtClean="0">
                <a:solidFill>
                  <a:srgbClr val="0070C0"/>
                </a:solidFill>
              </a:rPr>
              <a:t>1 (mod 11)</a:t>
            </a:r>
          </a:p>
          <a:p>
            <a:r>
              <a:rPr lang="en-IN" dirty="0" smtClean="0">
                <a:solidFill>
                  <a:srgbClr val="0070C0"/>
                </a:solidFill>
              </a:rPr>
              <a:t>	So, 6</a:t>
            </a:r>
            <a:r>
              <a:rPr lang="en-IN" baseline="30000" dirty="0" smtClean="0">
                <a:solidFill>
                  <a:srgbClr val="0070C0"/>
                </a:solidFill>
              </a:rPr>
              <a:t>10</a:t>
            </a:r>
            <a:r>
              <a:rPr lang="en-IN" dirty="0" smtClean="0">
                <a:solidFill>
                  <a:srgbClr val="0070C0"/>
                </a:solidFill>
              </a:rPr>
              <a:t> mod 11 = 1</a:t>
            </a:r>
          </a:p>
          <a:p>
            <a:endParaRPr lang="en-IN" dirty="0" smtClean="0">
              <a:solidFill>
                <a:srgbClr val="0070C0"/>
              </a:solidFill>
            </a:endParaRPr>
          </a:p>
          <a:p>
            <a:r>
              <a:rPr lang="en-IN" dirty="0" smtClean="0"/>
              <a:t>(2) Find the result of 4</a:t>
            </a:r>
            <a:r>
              <a:rPr lang="en-IN" baseline="30000" dirty="0" smtClean="0"/>
              <a:t>7</a:t>
            </a:r>
            <a:r>
              <a:rPr lang="en-IN" dirty="0" smtClean="0"/>
              <a:t> mod 7</a:t>
            </a:r>
          </a:p>
          <a:p>
            <a:r>
              <a:rPr lang="en-IN" dirty="0" smtClean="0">
                <a:solidFill>
                  <a:srgbClr val="0070C0"/>
                </a:solidFill>
              </a:rPr>
              <a:t>	Comparing it with the 2nd version of Fermat’s theorem, </a:t>
            </a:r>
            <a:r>
              <a:rPr lang="en-IN" dirty="0" err="1" smtClean="0">
                <a:solidFill>
                  <a:srgbClr val="0070C0"/>
                </a:solidFill>
              </a:rPr>
              <a:t>a</a:t>
            </a:r>
            <a:r>
              <a:rPr lang="en-IN" baseline="30000" dirty="0" err="1" smtClean="0">
                <a:solidFill>
                  <a:srgbClr val="0070C0"/>
                </a:solidFill>
              </a:rPr>
              <a:t>p</a:t>
            </a:r>
            <a:r>
              <a:rPr lang="en-IN" dirty="0" smtClean="0">
                <a:solidFill>
                  <a:srgbClr val="0070C0"/>
                </a:solidFill>
              </a:rPr>
              <a:t> </a:t>
            </a:r>
            <a:r>
              <a:rPr lang="en-US" dirty="0" smtClean="0">
                <a:solidFill>
                  <a:srgbClr val="0070C0"/>
                </a:solidFill>
              </a:rPr>
              <a:t>≡</a:t>
            </a:r>
            <a:r>
              <a:rPr lang="en-US" b="1" i="1" dirty="0" smtClean="0">
                <a:solidFill>
                  <a:srgbClr val="0070C0"/>
                </a:solidFill>
              </a:rPr>
              <a:t> </a:t>
            </a:r>
            <a:r>
              <a:rPr lang="en-IN" dirty="0" smtClean="0">
                <a:solidFill>
                  <a:srgbClr val="0070C0"/>
                </a:solidFill>
              </a:rPr>
              <a:t>a (mod p)</a:t>
            </a:r>
          </a:p>
          <a:p>
            <a:r>
              <a:rPr lang="en-IN" dirty="0" smtClean="0">
                <a:solidFill>
                  <a:srgbClr val="0070C0"/>
                </a:solidFill>
              </a:rPr>
              <a:t>	4</a:t>
            </a:r>
            <a:r>
              <a:rPr lang="en-IN" baseline="30000" dirty="0" smtClean="0">
                <a:solidFill>
                  <a:srgbClr val="0070C0"/>
                </a:solidFill>
              </a:rPr>
              <a:t>7</a:t>
            </a:r>
            <a:r>
              <a:rPr lang="en-IN" dirty="0" smtClean="0">
                <a:solidFill>
                  <a:srgbClr val="0070C0"/>
                </a:solidFill>
              </a:rPr>
              <a:t> mod 7 = 4</a:t>
            </a:r>
          </a:p>
          <a:p>
            <a:endParaRPr lang="en-IN" dirty="0" smtClean="0">
              <a:solidFill>
                <a:srgbClr val="0070C0"/>
              </a:solidFill>
            </a:endParaRPr>
          </a:p>
          <a:p>
            <a:endParaRPr lang="en-IN" dirty="0"/>
          </a:p>
        </p:txBody>
      </p:sp>
      <p:sp>
        <p:nvSpPr>
          <p:cNvPr id="3" name="Content Placeholder 2"/>
          <p:cNvSpPr>
            <a:spLocks noGrp="1"/>
          </p:cNvSpPr>
          <p:nvPr>
            <p:ph sz="quarter" idx="10"/>
          </p:nvPr>
        </p:nvSpPr>
        <p:spPr>
          <a:xfrm>
            <a:off x="304800" y="260648"/>
            <a:ext cx="6324600" cy="890736"/>
          </a:xfrm>
        </p:spPr>
        <p:txBody>
          <a:bodyPr vert="horz" lIns="91440" tIns="45720" rIns="91440" bIns="45720" rtlCol="0" anchor="ctr" anchorCtr="0">
            <a:normAutofit/>
          </a:bodyPr>
          <a:lstStyle/>
          <a:p>
            <a:pPr>
              <a:spcBef>
                <a:spcPct val="0"/>
              </a:spcBef>
            </a:pPr>
            <a:r>
              <a:rPr lang="en-IN" sz="3200" dirty="0"/>
              <a:t>Fermat’s </a:t>
            </a:r>
            <a:r>
              <a:rPr lang="en-IN" sz="3200" dirty="0" smtClean="0"/>
              <a:t>Theorem Examples</a:t>
            </a:r>
            <a:endParaRPr lang="en-IN" sz="3200" dirty="0"/>
          </a:p>
        </p:txBody>
      </p:sp>
    </p:spTree>
    <p:extLst>
      <p:ext uri="{BB962C8B-B14F-4D97-AF65-F5344CB8AC3E}">
        <p14:creationId xmlns:p14="http://schemas.microsoft.com/office/powerpoint/2010/main" val="416643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Find the result of 3</a:t>
            </a:r>
            <a:r>
              <a:rPr lang="en-IN" baseline="30000" dirty="0" smtClean="0"/>
              <a:t>12</a:t>
            </a:r>
            <a:r>
              <a:rPr lang="en-IN" dirty="0" smtClean="0"/>
              <a:t> mod 11</a:t>
            </a:r>
          </a:p>
          <a:p>
            <a:endParaRPr lang="en-IN" dirty="0" smtClean="0"/>
          </a:p>
          <a:p>
            <a:r>
              <a:rPr lang="en-IN" dirty="0" smtClean="0"/>
              <a:t>Ans:9 </a:t>
            </a:r>
            <a:endParaRPr lang="en-IN" dirty="0"/>
          </a:p>
        </p:txBody>
      </p:sp>
      <p:sp>
        <p:nvSpPr>
          <p:cNvPr id="3" name="Content Placeholder 2"/>
          <p:cNvSpPr>
            <a:spLocks noGrp="1"/>
          </p:cNvSpPr>
          <p:nvPr>
            <p:ph sz="quarter" idx="10"/>
          </p:nvPr>
        </p:nvSpPr>
        <p:spPr/>
        <p:txBody>
          <a:bodyPr/>
          <a:lstStyle/>
          <a:p>
            <a:r>
              <a:rPr lang="en-IN" dirty="0" smtClean="0"/>
              <a:t>Exercises</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solidFill>
              </a:rPr>
              <a:pPr/>
              <a:t>44</a:t>
            </a:fld>
            <a:endParaRPr lang="en-US" dirty="0">
              <a:solidFill>
                <a:prstClr val="black"/>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87680" cy="4959499"/>
          </a:xfrm>
        </p:spPr>
        <p:txBody>
          <a:bodyPr vert="horz" lIns="91440" tIns="45720" rIns="91440" bIns="45720" rtlCol="0">
            <a:normAutofit fontScale="47500" lnSpcReduction="20000"/>
          </a:bodyPr>
          <a:lstStyle/>
          <a:p>
            <a:pPr>
              <a:buFont typeface="Wingdings" pitchFamily="2" charset="2"/>
              <a:buChar char="Ø"/>
            </a:pPr>
            <a:r>
              <a:rPr lang="en-IN" sz="4400" dirty="0" smtClean="0"/>
              <a:t>Application of </a:t>
            </a:r>
            <a:r>
              <a:rPr lang="en-IN" sz="4400" dirty="0" err="1" smtClean="0"/>
              <a:t>Fermet’s</a:t>
            </a:r>
            <a:r>
              <a:rPr lang="en-IN" sz="4400" dirty="0" smtClean="0"/>
              <a:t> theorem is in finding some Multiplicative Inverses quickly if the modules is a prime. </a:t>
            </a:r>
            <a:r>
              <a:rPr lang="en-IN" sz="4400" dirty="0" smtClean="0">
                <a:solidFill>
                  <a:prstClr val="black"/>
                </a:solidFill>
              </a:rPr>
              <a:t>in </a:t>
            </a:r>
            <a:r>
              <a:rPr lang="en-IN" sz="4400" dirty="0">
                <a:solidFill>
                  <a:prstClr val="black"/>
                </a:solidFill>
              </a:rPr>
              <a:t>the following way:</a:t>
            </a:r>
          </a:p>
          <a:p>
            <a:pPr>
              <a:buChar char="•"/>
            </a:pPr>
            <a:endParaRPr lang="en-IN" sz="3900" dirty="0">
              <a:solidFill>
                <a:prstClr val="black"/>
              </a:solidFill>
            </a:endParaRPr>
          </a:p>
          <a:p>
            <a:pPr marL="0" indent="0"/>
            <a:r>
              <a:rPr lang="en-US" sz="3900" dirty="0">
                <a:solidFill>
                  <a:prstClr val="black"/>
                </a:solidFill>
              </a:rPr>
              <a:t>		</a:t>
            </a:r>
            <a:r>
              <a:rPr lang="en-US" sz="3900" b="1" dirty="0">
                <a:solidFill>
                  <a:srgbClr val="FF0000"/>
                </a:solidFill>
              </a:rPr>
              <a:t>a</a:t>
            </a:r>
            <a:r>
              <a:rPr lang="en-US" sz="3900" b="1" baseline="30000" dirty="0">
                <a:solidFill>
                  <a:srgbClr val="FF0000"/>
                </a:solidFill>
              </a:rPr>
              <a:t>−1</a:t>
            </a:r>
            <a:r>
              <a:rPr lang="en-US" sz="3900" b="1" dirty="0">
                <a:solidFill>
                  <a:srgbClr val="FF0000"/>
                </a:solidFill>
              </a:rPr>
              <a:t> mod p = </a:t>
            </a:r>
            <a:r>
              <a:rPr lang="en-US" sz="3900" b="1" dirty="0" err="1">
                <a:solidFill>
                  <a:srgbClr val="FF0000"/>
                </a:solidFill>
              </a:rPr>
              <a:t>a</a:t>
            </a:r>
            <a:r>
              <a:rPr lang="en-US" sz="3900" b="1" baseline="30000" dirty="0" err="1">
                <a:solidFill>
                  <a:srgbClr val="FF0000"/>
                </a:solidFill>
              </a:rPr>
              <a:t>p</a:t>
            </a:r>
            <a:r>
              <a:rPr lang="en-US" sz="3900" b="1" baseline="30000" dirty="0">
                <a:solidFill>
                  <a:srgbClr val="FF0000"/>
                </a:solidFill>
              </a:rPr>
              <a:t> − 2 </a:t>
            </a:r>
            <a:r>
              <a:rPr lang="en-US" sz="3900" b="1" dirty="0">
                <a:solidFill>
                  <a:srgbClr val="FF0000"/>
                </a:solidFill>
              </a:rPr>
              <a:t>mod p</a:t>
            </a:r>
          </a:p>
          <a:p>
            <a:pPr>
              <a:buChar char="•"/>
            </a:pPr>
            <a:endParaRPr lang="en-IN" sz="3900" dirty="0">
              <a:solidFill>
                <a:prstClr val="black"/>
              </a:solidFill>
            </a:endParaRPr>
          </a:p>
          <a:p>
            <a:pPr marL="0" indent="0"/>
            <a:r>
              <a:rPr lang="en-IN" sz="3900" dirty="0" smtClean="0">
                <a:solidFill>
                  <a:prstClr val="black"/>
                </a:solidFill>
              </a:rPr>
              <a:t>        </a:t>
            </a:r>
          </a:p>
          <a:p>
            <a:pPr marL="0" indent="0"/>
            <a:r>
              <a:rPr lang="en-IN" sz="4200" dirty="0" smtClean="0"/>
              <a:t>This application eliminates the use of extended Euclidean algorithm for finding some multiplicative inverse</a:t>
            </a:r>
            <a:r>
              <a:rPr lang="en-IN" sz="2400" dirty="0" smtClean="0"/>
              <a:t>. </a:t>
            </a:r>
          </a:p>
          <a:p>
            <a:pPr marL="0" indent="0"/>
            <a:r>
              <a:rPr lang="en-IN" sz="3900" b="1" dirty="0" smtClean="0">
                <a:solidFill>
                  <a:prstClr val="black"/>
                </a:solidFill>
              </a:rPr>
              <a:t>Example</a:t>
            </a:r>
            <a:r>
              <a:rPr lang="en-IN" sz="3900" dirty="0" smtClean="0">
                <a:solidFill>
                  <a:prstClr val="black"/>
                </a:solidFill>
              </a:rPr>
              <a:t>: </a:t>
            </a:r>
            <a:r>
              <a:rPr lang="en-IN" sz="3900" dirty="0">
                <a:solidFill>
                  <a:prstClr val="black"/>
                </a:solidFill>
              </a:rPr>
              <a:t>4</a:t>
            </a:r>
            <a:r>
              <a:rPr lang="en-IN" sz="3900" baseline="30000" dirty="0">
                <a:solidFill>
                  <a:prstClr val="black"/>
                </a:solidFill>
              </a:rPr>
              <a:t>-1</a:t>
            </a:r>
            <a:r>
              <a:rPr lang="en-IN" sz="3900" dirty="0">
                <a:solidFill>
                  <a:prstClr val="black"/>
                </a:solidFill>
              </a:rPr>
              <a:t> mod 5 = 4</a:t>
            </a:r>
            <a:r>
              <a:rPr lang="en-IN" sz="3900" baseline="30000" dirty="0">
                <a:solidFill>
                  <a:prstClr val="black"/>
                </a:solidFill>
              </a:rPr>
              <a:t>3</a:t>
            </a:r>
            <a:r>
              <a:rPr lang="en-IN" sz="3900" dirty="0">
                <a:solidFill>
                  <a:prstClr val="black"/>
                </a:solidFill>
              </a:rPr>
              <a:t> mod 5 = 4 (mod 5)</a:t>
            </a:r>
          </a:p>
          <a:p>
            <a:pPr>
              <a:buChar char="•"/>
            </a:pPr>
            <a:endParaRPr lang="en-IN" sz="3900" dirty="0">
              <a:solidFill>
                <a:prstClr val="black"/>
              </a:solidFill>
            </a:endParaRPr>
          </a:p>
          <a:p>
            <a:pPr marL="0" indent="0"/>
            <a:r>
              <a:rPr lang="en-IN" sz="3900" dirty="0">
                <a:solidFill>
                  <a:prstClr val="black"/>
                </a:solidFill>
              </a:rPr>
              <a:t> </a:t>
            </a:r>
            <a:r>
              <a:rPr lang="en-IN" sz="3900" dirty="0" smtClean="0">
                <a:solidFill>
                  <a:prstClr val="black"/>
                </a:solidFill>
              </a:rPr>
              <a:t>       How </a:t>
            </a:r>
            <a:r>
              <a:rPr lang="en-IN" sz="3900" dirty="0">
                <a:solidFill>
                  <a:prstClr val="black"/>
                </a:solidFill>
              </a:rPr>
              <a:t>it eliminates the need of Extended Euclidean </a:t>
            </a:r>
            <a:r>
              <a:rPr lang="en-IN" sz="3900" dirty="0" smtClean="0">
                <a:solidFill>
                  <a:prstClr val="black"/>
                </a:solidFill>
              </a:rPr>
              <a:t>Algorithm:</a:t>
            </a:r>
          </a:p>
          <a:p>
            <a:pPr marL="0" indent="0"/>
            <a:r>
              <a:rPr lang="en-IN" sz="3900" dirty="0">
                <a:solidFill>
                  <a:prstClr val="black"/>
                </a:solidFill>
              </a:rPr>
              <a:t> </a:t>
            </a:r>
            <a:r>
              <a:rPr lang="en-IN" sz="3900" dirty="0" smtClean="0">
                <a:solidFill>
                  <a:prstClr val="black"/>
                </a:solidFill>
              </a:rPr>
              <a:t>       Multiplying </a:t>
            </a:r>
            <a:r>
              <a:rPr lang="en-IN" sz="3900" dirty="0">
                <a:solidFill>
                  <a:prstClr val="black"/>
                </a:solidFill>
              </a:rPr>
              <a:t>both the sides with a</a:t>
            </a:r>
          </a:p>
          <a:p>
            <a:pPr marL="0" indent="0"/>
            <a:r>
              <a:rPr lang="en-IN" sz="3900" dirty="0">
                <a:solidFill>
                  <a:prstClr val="black"/>
                </a:solidFill>
              </a:rPr>
              <a:t> </a:t>
            </a:r>
            <a:r>
              <a:rPr lang="en-IN" sz="3900" dirty="0" smtClean="0">
                <a:solidFill>
                  <a:prstClr val="black"/>
                </a:solidFill>
              </a:rPr>
              <a:t>        a </a:t>
            </a:r>
            <a:r>
              <a:rPr lang="en-IN" sz="3900" dirty="0">
                <a:solidFill>
                  <a:prstClr val="black"/>
                </a:solidFill>
              </a:rPr>
              <a:t>x </a:t>
            </a:r>
            <a:r>
              <a:rPr lang="en-US" sz="3900" dirty="0">
                <a:solidFill>
                  <a:prstClr val="black"/>
                </a:solidFill>
              </a:rPr>
              <a:t>a</a:t>
            </a:r>
            <a:r>
              <a:rPr lang="en-US" sz="3900" baseline="30000" dirty="0">
                <a:solidFill>
                  <a:prstClr val="black"/>
                </a:solidFill>
              </a:rPr>
              <a:t>−1</a:t>
            </a:r>
            <a:r>
              <a:rPr lang="en-US" sz="3900" dirty="0">
                <a:solidFill>
                  <a:prstClr val="black"/>
                </a:solidFill>
              </a:rPr>
              <a:t> mod p  = a x </a:t>
            </a:r>
            <a:r>
              <a:rPr lang="en-US" sz="3900" dirty="0" err="1">
                <a:solidFill>
                  <a:prstClr val="black"/>
                </a:solidFill>
              </a:rPr>
              <a:t>a</a:t>
            </a:r>
            <a:r>
              <a:rPr lang="en-US" sz="3900" baseline="30000" dirty="0" err="1">
                <a:solidFill>
                  <a:prstClr val="black"/>
                </a:solidFill>
              </a:rPr>
              <a:t>p</a:t>
            </a:r>
            <a:r>
              <a:rPr lang="en-US" sz="3900" baseline="30000" dirty="0">
                <a:solidFill>
                  <a:prstClr val="black"/>
                </a:solidFill>
              </a:rPr>
              <a:t> − 2 </a:t>
            </a:r>
            <a:r>
              <a:rPr lang="en-US" sz="3900" dirty="0">
                <a:solidFill>
                  <a:prstClr val="black"/>
                </a:solidFill>
              </a:rPr>
              <a:t>mod p</a:t>
            </a:r>
          </a:p>
          <a:p>
            <a:pPr marL="0" indent="0"/>
            <a:r>
              <a:rPr lang="en-IN" sz="3900" dirty="0">
                <a:solidFill>
                  <a:prstClr val="black"/>
                </a:solidFill>
              </a:rPr>
              <a:t>	        </a:t>
            </a:r>
            <a:r>
              <a:rPr lang="en-IN" sz="3900" dirty="0" smtClean="0">
                <a:solidFill>
                  <a:prstClr val="black"/>
                </a:solidFill>
              </a:rPr>
              <a:t>           = </a:t>
            </a:r>
            <a:r>
              <a:rPr lang="en-IN" sz="3900" dirty="0">
                <a:solidFill>
                  <a:prstClr val="black"/>
                </a:solidFill>
              </a:rPr>
              <a:t>a</a:t>
            </a:r>
            <a:r>
              <a:rPr lang="en-IN" sz="3900" baseline="30000" dirty="0">
                <a:solidFill>
                  <a:prstClr val="black"/>
                </a:solidFill>
              </a:rPr>
              <a:t>p-1</a:t>
            </a:r>
            <a:r>
              <a:rPr lang="en-IN" sz="3900" dirty="0">
                <a:solidFill>
                  <a:prstClr val="black"/>
                </a:solidFill>
              </a:rPr>
              <a:t> mod p</a:t>
            </a:r>
          </a:p>
          <a:p>
            <a:pPr marL="0" indent="0"/>
            <a:r>
              <a:rPr lang="en-IN" sz="3900" dirty="0" smtClean="0">
                <a:solidFill>
                  <a:prstClr val="black"/>
                </a:solidFill>
              </a:rPr>
              <a:t>                       	    = </a:t>
            </a:r>
            <a:r>
              <a:rPr lang="en-IN" sz="3900" dirty="0">
                <a:solidFill>
                  <a:prstClr val="black"/>
                </a:solidFill>
              </a:rPr>
              <a:t>1 mod p (from Fermat’s Theorem 1st version)</a:t>
            </a:r>
          </a:p>
          <a:p>
            <a:pPr>
              <a:buChar char="•"/>
            </a:pPr>
            <a:endParaRPr lang="en-IN" sz="3900" dirty="0">
              <a:solidFill>
                <a:prstClr val="black"/>
              </a:solidFill>
            </a:endParaRPr>
          </a:p>
          <a:p>
            <a:pPr marL="0" indent="0"/>
            <a:r>
              <a:rPr lang="en-IN" sz="3900" dirty="0">
                <a:solidFill>
                  <a:prstClr val="black"/>
                </a:solidFill>
              </a:rPr>
              <a:t>Or, a x </a:t>
            </a:r>
            <a:r>
              <a:rPr lang="en-US" sz="3900" dirty="0">
                <a:solidFill>
                  <a:prstClr val="black"/>
                </a:solidFill>
              </a:rPr>
              <a:t>a</a:t>
            </a:r>
            <a:r>
              <a:rPr lang="en-US" sz="3900" baseline="30000" dirty="0">
                <a:solidFill>
                  <a:prstClr val="black"/>
                </a:solidFill>
              </a:rPr>
              <a:t>−1</a:t>
            </a:r>
            <a:r>
              <a:rPr lang="en-US" sz="3900" dirty="0">
                <a:solidFill>
                  <a:prstClr val="black"/>
                </a:solidFill>
              </a:rPr>
              <a:t> = 1 in modulus p;  the same as Extended Euclidean’s Algorithm.</a:t>
            </a:r>
            <a:endParaRPr lang="en-IN" sz="3900" dirty="0">
              <a:solidFill>
                <a:prstClr val="black"/>
              </a:solidFill>
            </a:endParaRPr>
          </a:p>
        </p:txBody>
      </p:sp>
      <p:sp>
        <p:nvSpPr>
          <p:cNvPr id="3" name="Content Placeholder 2"/>
          <p:cNvSpPr>
            <a:spLocks noGrp="1"/>
          </p:cNvSpPr>
          <p:nvPr>
            <p:ph sz="quarter" idx="10"/>
          </p:nvPr>
        </p:nvSpPr>
        <p:spPr>
          <a:xfrm>
            <a:off x="304800" y="260648"/>
            <a:ext cx="6324600" cy="828328"/>
          </a:xfrm>
        </p:spPr>
        <p:txBody>
          <a:bodyPr vert="horz" lIns="91440" tIns="45720" rIns="91440" bIns="45720" rtlCol="0" anchor="ctr" anchorCtr="0">
            <a:normAutofit/>
          </a:bodyPr>
          <a:lstStyle/>
          <a:p>
            <a:pPr>
              <a:spcBef>
                <a:spcPct val="0"/>
              </a:spcBef>
            </a:pPr>
            <a:r>
              <a:rPr lang="en-IN" sz="3200" dirty="0"/>
              <a:t>Fermat’s </a:t>
            </a:r>
            <a:r>
              <a:rPr lang="en-IN" sz="3200" dirty="0" smtClean="0"/>
              <a:t>Theorem Application</a:t>
            </a:r>
            <a:endParaRPr lang="en-IN" sz="3200" dirty="0"/>
          </a:p>
        </p:txBody>
      </p:sp>
      <p:sp>
        <p:nvSpPr>
          <p:cNvPr id="5" name="Rectangle 4"/>
          <p:cNvSpPr/>
          <p:nvPr/>
        </p:nvSpPr>
        <p:spPr>
          <a:xfrm>
            <a:off x="2143108" y="2285992"/>
            <a:ext cx="3725036" cy="571504"/>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6085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1.8</a:t>
            </a:r>
            <a:r>
              <a:rPr lang="en-IN" baseline="30000" dirty="0" smtClean="0"/>
              <a:t>-1</a:t>
            </a:r>
            <a:r>
              <a:rPr lang="en-IN" dirty="0" smtClean="0"/>
              <a:t>mod 17</a:t>
            </a:r>
          </a:p>
          <a:p>
            <a:r>
              <a:rPr lang="en-IN" dirty="0" smtClean="0"/>
              <a:t>2.5</a:t>
            </a:r>
            <a:r>
              <a:rPr lang="en-IN" baseline="30000" dirty="0" smtClean="0"/>
              <a:t>-1</a:t>
            </a:r>
            <a:r>
              <a:rPr lang="en-IN" dirty="0" smtClean="0"/>
              <a:t> mod23</a:t>
            </a:r>
            <a:endParaRPr lang="en-IN" dirty="0"/>
          </a:p>
        </p:txBody>
      </p:sp>
      <p:sp>
        <p:nvSpPr>
          <p:cNvPr id="3" name="Content Placeholder 2"/>
          <p:cNvSpPr>
            <a:spLocks noGrp="1"/>
          </p:cNvSpPr>
          <p:nvPr>
            <p:ph sz="quarter" idx="10"/>
          </p:nvPr>
        </p:nvSpPr>
        <p:spPr/>
        <p:txBody>
          <a:bodyPr/>
          <a:lstStyle/>
          <a:p>
            <a:r>
              <a:rPr lang="en-IN" dirty="0" smtClean="0"/>
              <a:t>Exercise</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solidFill>
              </a:rPr>
              <a:pPr/>
              <a:t>46</a:t>
            </a:fld>
            <a:endParaRPr lang="en-US" dirty="0">
              <a:solidFill>
                <a:prstClr val="black"/>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1484784"/>
            <a:ext cx="8587680" cy="4887491"/>
          </a:xfrm>
        </p:spPr>
        <p:txBody>
          <a:bodyPr>
            <a:normAutofit/>
          </a:bodyPr>
          <a:lstStyle/>
          <a:p>
            <a:pPr algn="just">
              <a:spcBef>
                <a:spcPts val="0"/>
              </a:spcBef>
              <a:buFont typeface="Arial" panose="020B0604020202020204" pitchFamily="34" charset="0"/>
              <a:buChar char="•"/>
            </a:pPr>
            <a:r>
              <a:rPr lang="en-US" sz="2000" dirty="0" smtClean="0"/>
              <a:t>Named after 18</a:t>
            </a:r>
            <a:r>
              <a:rPr lang="en-US" sz="2000" baseline="30000" dirty="0" smtClean="0"/>
              <a:t>th</a:t>
            </a:r>
            <a:r>
              <a:rPr lang="en-US" sz="2000" dirty="0" smtClean="0"/>
              <a:t> century Swiss mathematician </a:t>
            </a:r>
            <a:r>
              <a:rPr lang="en-US" sz="2000" b="1" i="1" dirty="0" smtClean="0"/>
              <a:t>Leonhard Euler</a:t>
            </a:r>
            <a:r>
              <a:rPr lang="en-US" sz="2000" dirty="0" smtClean="0"/>
              <a:t> who extensively worked in the area of prime numbers.</a:t>
            </a:r>
          </a:p>
          <a:p>
            <a:pPr algn="just">
              <a:spcBef>
                <a:spcPts val="0"/>
              </a:spcBef>
              <a:buFont typeface="Arial" panose="020B0604020202020204" pitchFamily="34" charset="0"/>
              <a:buChar char="•"/>
            </a:pPr>
            <a:endParaRPr lang="en-US" sz="2000" dirty="0" smtClean="0"/>
          </a:p>
          <a:p>
            <a:pPr algn="just">
              <a:spcBef>
                <a:spcPts val="0"/>
              </a:spcBef>
              <a:buFont typeface="Arial" panose="020B0604020202020204" pitchFamily="34" charset="0"/>
              <a:buChar char="•"/>
            </a:pPr>
            <a:r>
              <a:rPr lang="en-US" sz="2000" dirty="0" smtClean="0"/>
              <a:t>Euler’s Totient Function, </a:t>
            </a:r>
            <a:r>
              <a:rPr lang="en-US" sz="2000" dirty="0" smtClean="0">
                <a:latin typeface="Symbol" pitchFamily="18" charset="2"/>
              </a:rPr>
              <a:t>f</a:t>
            </a:r>
            <a:r>
              <a:rPr lang="en-US" sz="2000" dirty="0" smtClean="0"/>
              <a:t>(n), which is sometimes called the </a:t>
            </a:r>
            <a:r>
              <a:rPr lang="en-US" sz="2000" b="1" i="1" dirty="0" smtClean="0"/>
              <a:t>Euler’s Phi-Function</a:t>
            </a:r>
            <a:r>
              <a:rPr lang="en-US" sz="2000" dirty="0" smtClean="0"/>
              <a:t> plays a very important role in cryptography. </a:t>
            </a:r>
          </a:p>
          <a:p>
            <a:pPr algn="just">
              <a:spcBef>
                <a:spcPts val="0"/>
              </a:spcBef>
              <a:buFont typeface="Arial" panose="020B0604020202020204" pitchFamily="34" charset="0"/>
              <a:buChar char="•"/>
            </a:pPr>
            <a:endParaRPr lang="en-US" sz="2000" dirty="0" smtClean="0"/>
          </a:p>
          <a:p>
            <a:pPr algn="just">
              <a:spcBef>
                <a:spcPts val="0"/>
              </a:spcBef>
              <a:buFont typeface="Arial" panose="020B0604020202020204" pitchFamily="34" charset="0"/>
              <a:buChar char="•"/>
            </a:pPr>
            <a:r>
              <a:rPr lang="en-US" sz="2000" dirty="0" smtClean="0"/>
              <a:t>Euler’s Totient Function, </a:t>
            </a:r>
            <a:r>
              <a:rPr lang="en-US" sz="2000" dirty="0" smtClean="0">
                <a:latin typeface="Symbol" pitchFamily="18" charset="2"/>
              </a:rPr>
              <a:t>f</a:t>
            </a:r>
            <a:r>
              <a:rPr lang="en-US" sz="2000" dirty="0" smtClean="0"/>
              <a:t>(n) calculates the </a:t>
            </a:r>
            <a:r>
              <a:rPr lang="en-US" sz="2000" u="sng" dirty="0" smtClean="0"/>
              <a:t>count of elements</a:t>
            </a:r>
            <a:r>
              <a:rPr lang="en-US" sz="2000" dirty="0" smtClean="0"/>
              <a:t> in this set Z</a:t>
            </a:r>
            <a:r>
              <a:rPr lang="en-US" sz="2000" baseline="-25000" dirty="0" smtClean="0"/>
              <a:t>n</a:t>
            </a:r>
            <a:r>
              <a:rPr lang="en-US" sz="2000" dirty="0" smtClean="0"/>
              <a:t>*.</a:t>
            </a:r>
          </a:p>
          <a:p>
            <a:pPr marL="1257300" lvl="2" indent="-457200" algn="just">
              <a:spcBef>
                <a:spcPts val="0"/>
              </a:spcBef>
              <a:buFont typeface="+mj-lt"/>
              <a:buAutoNum type="arabicPeriod"/>
            </a:pPr>
            <a:r>
              <a:rPr lang="en-US" sz="2000" dirty="0" smtClean="0">
                <a:latin typeface="Symbol" pitchFamily="18" charset="2"/>
              </a:rPr>
              <a:t>f</a:t>
            </a:r>
            <a:r>
              <a:rPr lang="en-US" sz="2000" dirty="0" smtClean="0">
                <a:latin typeface="+mn-lt"/>
              </a:rPr>
              <a:t>(1) = 0</a:t>
            </a:r>
          </a:p>
          <a:p>
            <a:pPr marL="1257300" lvl="2" indent="-457200" algn="just">
              <a:spcBef>
                <a:spcPts val="0"/>
              </a:spcBef>
              <a:buFont typeface="+mj-lt"/>
              <a:buAutoNum type="arabicPeriod"/>
            </a:pPr>
            <a:r>
              <a:rPr lang="en-US" sz="2000" dirty="0" smtClean="0">
                <a:latin typeface="Symbol" pitchFamily="18" charset="2"/>
              </a:rPr>
              <a:t>f</a:t>
            </a:r>
            <a:r>
              <a:rPr lang="en-US" sz="2000" dirty="0" smtClean="0">
                <a:latin typeface="+mn-lt"/>
              </a:rPr>
              <a:t>(p) = p-1, if p is prime</a:t>
            </a:r>
          </a:p>
          <a:p>
            <a:pPr marL="1257300" lvl="2" indent="-457200" algn="just">
              <a:spcBef>
                <a:spcPts val="0"/>
              </a:spcBef>
              <a:buFont typeface="+mj-lt"/>
              <a:buAutoNum type="arabicPeriod"/>
            </a:pPr>
            <a:r>
              <a:rPr lang="en-US" sz="2000" dirty="0" smtClean="0">
                <a:latin typeface="Symbol" pitchFamily="18" charset="2"/>
              </a:rPr>
              <a:t>f</a:t>
            </a:r>
            <a:r>
              <a:rPr lang="en-US" sz="2000" dirty="0" smtClean="0">
                <a:latin typeface="+mn-lt"/>
              </a:rPr>
              <a:t>(m x n) = </a:t>
            </a:r>
            <a:r>
              <a:rPr lang="en-US" sz="2000" dirty="0" smtClean="0">
                <a:latin typeface="Symbol" pitchFamily="18" charset="2"/>
              </a:rPr>
              <a:t>f </a:t>
            </a:r>
            <a:r>
              <a:rPr lang="en-US" sz="2000" dirty="0" smtClean="0">
                <a:latin typeface="+mn-lt"/>
              </a:rPr>
              <a:t>(m) x </a:t>
            </a:r>
            <a:r>
              <a:rPr lang="en-US" sz="2000" dirty="0" smtClean="0">
                <a:latin typeface="Symbol" pitchFamily="18" charset="2"/>
              </a:rPr>
              <a:t>f </a:t>
            </a:r>
            <a:r>
              <a:rPr lang="en-US" sz="2000" dirty="0" smtClean="0">
                <a:latin typeface="+mn-lt"/>
              </a:rPr>
              <a:t>(n), if m and n are relatively prime</a:t>
            </a:r>
          </a:p>
          <a:p>
            <a:pPr marL="1257300" lvl="2" indent="-457200" algn="just">
              <a:spcBef>
                <a:spcPts val="0"/>
              </a:spcBef>
              <a:buFont typeface="+mj-lt"/>
              <a:buAutoNum type="arabicPeriod"/>
            </a:pPr>
            <a:r>
              <a:rPr lang="en-US" sz="2000" dirty="0" smtClean="0">
                <a:latin typeface="Symbol" pitchFamily="18" charset="2"/>
              </a:rPr>
              <a:t>f</a:t>
            </a:r>
            <a:r>
              <a:rPr lang="en-US" sz="2000" dirty="0" smtClean="0">
                <a:latin typeface="+mn-lt"/>
              </a:rPr>
              <a:t>(p</a:t>
            </a:r>
            <a:r>
              <a:rPr lang="en-US" sz="2000" baseline="30000" dirty="0" smtClean="0">
                <a:latin typeface="+mn-lt"/>
              </a:rPr>
              <a:t>a</a:t>
            </a:r>
            <a:r>
              <a:rPr lang="en-US" sz="2000" dirty="0" smtClean="0">
                <a:latin typeface="+mn-lt"/>
              </a:rPr>
              <a:t>) = p</a:t>
            </a:r>
            <a:r>
              <a:rPr lang="en-US" sz="2000" baseline="30000" dirty="0" smtClean="0">
                <a:latin typeface="+mn-lt"/>
              </a:rPr>
              <a:t>a</a:t>
            </a:r>
            <a:r>
              <a:rPr lang="en-US" sz="2000" dirty="0" smtClean="0">
                <a:latin typeface="+mn-lt"/>
              </a:rPr>
              <a:t> – p</a:t>
            </a:r>
            <a:r>
              <a:rPr lang="en-US" sz="2000" baseline="30000" dirty="0" smtClean="0">
                <a:latin typeface="+mn-lt"/>
              </a:rPr>
              <a:t>a-1</a:t>
            </a:r>
            <a:r>
              <a:rPr lang="en-US" sz="2000" dirty="0" smtClean="0">
                <a:latin typeface="+mn-lt"/>
              </a:rPr>
              <a:t>, if p is prime</a:t>
            </a:r>
            <a:endParaRPr lang="en-US" sz="1400" i="1" dirty="0" smtClean="0">
              <a:latin typeface="+mn-lt"/>
            </a:endParaRPr>
          </a:p>
          <a:p>
            <a:pPr marL="1257300" lvl="2" indent="-457200" algn="just">
              <a:spcBef>
                <a:spcPts val="0"/>
              </a:spcBef>
              <a:buNone/>
            </a:pPr>
            <a:endParaRPr lang="en-US" sz="2000" dirty="0" smtClean="0">
              <a:latin typeface="+mn-lt"/>
            </a:endParaRPr>
          </a:p>
          <a:p>
            <a:pPr marL="0" indent="-457200" algn="just">
              <a:spcBef>
                <a:spcPts val="0"/>
              </a:spcBef>
            </a:pPr>
            <a:r>
              <a:rPr lang="en-US" sz="1800" dirty="0" smtClean="0">
                <a:latin typeface="+mn-lt"/>
              </a:rPr>
              <a:t>Combining 3</a:t>
            </a:r>
            <a:r>
              <a:rPr lang="en-US" sz="1800" baseline="30000" dirty="0" smtClean="0">
                <a:latin typeface="+mn-lt"/>
              </a:rPr>
              <a:t>rd</a:t>
            </a:r>
            <a:r>
              <a:rPr lang="en-US" sz="1800" dirty="0" smtClean="0">
                <a:latin typeface="+mn-lt"/>
              </a:rPr>
              <a:t> and 4</a:t>
            </a:r>
            <a:r>
              <a:rPr lang="en-US" sz="1800" baseline="30000" dirty="0" smtClean="0">
                <a:latin typeface="+mn-lt"/>
              </a:rPr>
              <a:t>th</a:t>
            </a:r>
            <a:r>
              <a:rPr lang="en-US" sz="1800" dirty="0" smtClean="0">
                <a:latin typeface="+mn-lt"/>
              </a:rPr>
              <a:t> rule, </a:t>
            </a:r>
            <a:r>
              <a:rPr lang="en-US" sz="1800" b="1" dirty="0" smtClean="0">
                <a:latin typeface="Symbol" pitchFamily="18" charset="2"/>
              </a:rPr>
              <a:t>f</a:t>
            </a:r>
            <a:r>
              <a:rPr lang="en-US" sz="1800" b="1" dirty="0" smtClean="0">
                <a:latin typeface="+mn-lt"/>
              </a:rPr>
              <a:t>(q) = (p</a:t>
            </a:r>
            <a:r>
              <a:rPr lang="en-US" sz="1800" b="1" baseline="-25000" dirty="0" smtClean="0">
                <a:latin typeface="+mn-lt"/>
              </a:rPr>
              <a:t>1</a:t>
            </a:r>
            <a:r>
              <a:rPr lang="en-US" sz="1800" b="1" baseline="30000" dirty="0" smtClean="0"/>
              <a:t>a</a:t>
            </a:r>
            <a:r>
              <a:rPr lang="en-US" sz="1800" b="1" baseline="30000" dirty="0" smtClean="0">
                <a:latin typeface="+mn-lt"/>
              </a:rPr>
              <a:t>1</a:t>
            </a:r>
            <a:r>
              <a:rPr lang="en-US" sz="1800" b="1" dirty="0" smtClean="0">
                <a:latin typeface="+mn-lt"/>
              </a:rPr>
              <a:t> – p</a:t>
            </a:r>
            <a:r>
              <a:rPr lang="en-US" sz="1800" b="1" baseline="-25000" dirty="0" smtClean="0">
                <a:latin typeface="+mn-lt"/>
              </a:rPr>
              <a:t>1</a:t>
            </a:r>
            <a:r>
              <a:rPr lang="en-US" sz="1800" b="1" baseline="30000" dirty="0" smtClean="0"/>
              <a:t>a</a:t>
            </a:r>
            <a:r>
              <a:rPr lang="en-US" sz="1800" b="1" baseline="30000" dirty="0" smtClean="0">
                <a:latin typeface="+mn-lt"/>
              </a:rPr>
              <a:t>1-1</a:t>
            </a:r>
            <a:r>
              <a:rPr lang="en-US" sz="1800" b="1" dirty="0" smtClean="0">
                <a:latin typeface="+mn-lt"/>
              </a:rPr>
              <a:t>) x (p</a:t>
            </a:r>
            <a:r>
              <a:rPr lang="en-US" sz="1800" b="1" baseline="-25000" dirty="0" smtClean="0">
                <a:latin typeface="+mn-lt"/>
              </a:rPr>
              <a:t>2</a:t>
            </a:r>
            <a:r>
              <a:rPr lang="en-US" sz="1800" b="1" baseline="30000" dirty="0" smtClean="0"/>
              <a:t>a</a:t>
            </a:r>
            <a:r>
              <a:rPr lang="en-US" sz="1800" b="1" baseline="30000" dirty="0" smtClean="0">
                <a:latin typeface="+mn-lt"/>
              </a:rPr>
              <a:t>2</a:t>
            </a:r>
            <a:r>
              <a:rPr lang="en-US" sz="1800" b="1" dirty="0" smtClean="0">
                <a:latin typeface="+mn-lt"/>
              </a:rPr>
              <a:t> – p</a:t>
            </a:r>
            <a:r>
              <a:rPr lang="en-US" sz="1800" b="1" baseline="-25000" dirty="0" smtClean="0">
                <a:latin typeface="+mn-lt"/>
              </a:rPr>
              <a:t>2</a:t>
            </a:r>
            <a:r>
              <a:rPr lang="en-US" sz="1800" b="1" baseline="30000" dirty="0" smtClean="0"/>
              <a:t>a</a:t>
            </a:r>
            <a:r>
              <a:rPr lang="en-US" sz="1800" b="1" baseline="30000" dirty="0" smtClean="0">
                <a:latin typeface="+mn-lt"/>
              </a:rPr>
              <a:t>2-1</a:t>
            </a:r>
            <a:r>
              <a:rPr lang="en-US" sz="1800" b="1" dirty="0" smtClean="0">
                <a:latin typeface="+mn-lt"/>
              </a:rPr>
              <a:t>) x ………x (</a:t>
            </a:r>
            <a:r>
              <a:rPr lang="en-US" sz="1800" b="1" dirty="0" err="1" smtClean="0">
                <a:latin typeface="+mn-lt"/>
              </a:rPr>
              <a:t>p</a:t>
            </a:r>
            <a:r>
              <a:rPr lang="en-US" sz="1800" b="1" baseline="-25000" dirty="0" err="1" smtClean="0">
                <a:latin typeface="+mn-lt"/>
              </a:rPr>
              <a:t>n</a:t>
            </a:r>
            <a:r>
              <a:rPr lang="en-US" sz="1800" b="1" baseline="30000" dirty="0" err="1" smtClean="0"/>
              <a:t>a</a:t>
            </a:r>
            <a:r>
              <a:rPr lang="en-US" sz="1800" b="1" baseline="30000" dirty="0" err="1" smtClean="0">
                <a:latin typeface="+mn-lt"/>
              </a:rPr>
              <a:t>n</a:t>
            </a:r>
            <a:r>
              <a:rPr lang="en-US" sz="1800" b="1" dirty="0" smtClean="0">
                <a:latin typeface="+mn-lt"/>
              </a:rPr>
              <a:t> – p</a:t>
            </a:r>
            <a:r>
              <a:rPr lang="en-US" sz="1800" b="1" baseline="-25000" dirty="0" smtClean="0">
                <a:latin typeface="+mn-lt"/>
              </a:rPr>
              <a:t>n</a:t>
            </a:r>
            <a:r>
              <a:rPr lang="en-US" sz="1800" b="1" baseline="30000" dirty="0" smtClean="0"/>
              <a:t>a</a:t>
            </a:r>
            <a:r>
              <a:rPr lang="en-US" sz="1800" b="1" baseline="30000" dirty="0" smtClean="0">
                <a:latin typeface="+mn-lt"/>
              </a:rPr>
              <a:t>n-1</a:t>
            </a:r>
            <a:r>
              <a:rPr lang="en-US" sz="1800" b="1" dirty="0" smtClean="0">
                <a:latin typeface="+mn-lt"/>
              </a:rPr>
              <a:t>) </a:t>
            </a:r>
          </a:p>
          <a:p>
            <a:pPr marL="0" indent="-457200" algn="just">
              <a:spcBef>
                <a:spcPts val="0"/>
              </a:spcBef>
            </a:pPr>
            <a:r>
              <a:rPr lang="en-US" sz="1800" dirty="0" smtClean="0">
                <a:latin typeface="+mn-lt"/>
              </a:rPr>
              <a:t>as q can be factored as </a:t>
            </a:r>
            <a:r>
              <a:rPr lang="en-IN" sz="1800" dirty="0" smtClean="0"/>
              <a:t>p</a:t>
            </a:r>
            <a:r>
              <a:rPr lang="en-IN" sz="1800" baseline="-25000" dirty="0" smtClean="0"/>
              <a:t>1</a:t>
            </a:r>
            <a:r>
              <a:rPr lang="en-IN" sz="1800" baseline="30000" dirty="0" smtClean="0"/>
              <a:t>a1</a:t>
            </a:r>
            <a:r>
              <a:rPr lang="en-IN" sz="1800" dirty="0" smtClean="0"/>
              <a:t> x p</a:t>
            </a:r>
            <a:r>
              <a:rPr lang="en-IN" sz="1800" baseline="-25000" dirty="0" smtClean="0"/>
              <a:t>2</a:t>
            </a:r>
            <a:r>
              <a:rPr lang="en-IN" sz="1800" baseline="30000" dirty="0" smtClean="0"/>
              <a:t>a2</a:t>
            </a:r>
            <a:r>
              <a:rPr lang="en-IN" sz="1800" dirty="0" smtClean="0"/>
              <a:t> x p</a:t>
            </a:r>
            <a:r>
              <a:rPr lang="en-IN" sz="1800" baseline="-25000" dirty="0" smtClean="0"/>
              <a:t>3</a:t>
            </a:r>
            <a:r>
              <a:rPr lang="en-IN" sz="1800" baseline="30000" dirty="0" smtClean="0"/>
              <a:t>a3</a:t>
            </a:r>
            <a:r>
              <a:rPr lang="en-IN" sz="1800" dirty="0" smtClean="0"/>
              <a:t> x .........x </a:t>
            </a:r>
            <a:r>
              <a:rPr lang="en-IN" sz="1800" dirty="0" err="1" smtClean="0"/>
              <a:t>p</a:t>
            </a:r>
            <a:r>
              <a:rPr lang="en-IN" sz="1800" baseline="-25000" dirty="0" err="1" smtClean="0"/>
              <a:t>n</a:t>
            </a:r>
            <a:r>
              <a:rPr lang="en-IN" sz="1800" baseline="30000" dirty="0" err="1" smtClean="0"/>
              <a:t>an</a:t>
            </a:r>
            <a:endParaRPr lang="en-US" sz="1800" dirty="0" smtClean="0">
              <a:latin typeface="+mn-lt"/>
            </a:endParaRPr>
          </a:p>
          <a:p>
            <a:pPr marL="1257300" lvl="2" indent="-457200" algn="just">
              <a:spcBef>
                <a:spcPts val="0"/>
              </a:spcBef>
              <a:buNone/>
            </a:pPr>
            <a:endParaRPr lang="en-US" sz="2000" dirty="0" smtClean="0">
              <a:latin typeface="+mn-lt"/>
            </a:endParaRPr>
          </a:p>
          <a:p>
            <a:pPr marL="1257300" lvl="2" indent="-457200" algn="just">
              <a:spcBef>
                <a:spcPts val="0"/>
              </a:spcBef>
              <a:buFont typeface="+mj-lt"/>
              <a:buAutoNum type="arabicPeriod"/>
            </a:pPr>
            <a:endParaRPr lang="en-IN" sz="2000" dirty="0" smtClean="0">
              <a:latin typeface="+mn-lt"/>
            </a:endParaRPr>
          </a:p>
          <a:p>
            <a:endParaRPr lang="en-IN" sz="2000" dirty="0" smtClean="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t>Euler’s Totient Function</a:t>
            </a:r>
          </a:p>
          <a:p>
            <a:pPr>
              <a:spcBef>
                <a:spcPct val="0"/>
              </a:spcBef>
            </a:pPr>
            <a:r>
              <a:rPr lang="en-IN" sz="3200" dirty="0"/>
              <a:t>Basics</a:t>
            </a:r>
          </a:p>
        </p:txBody>
      </p:sp>
      <p:pic>
        <p:nvPicPr>
          <p:cNvPr id="7170" name="Picture 2" descr="https://encrypted-tbn1.gstatic.com/images?q=tbn:ANd9GcQ_GYIS6yx2cvTzB6vI69zVboyoeUworgrfTvMeECQE5TooKH6J"/>
          <p:cNvPicPr>
            <a:picLocks noChangeAspect="1" noChangeArrowheads="1"/>
          </p:cNvPicPr>
          <p:nvPr/>
        </p:nvPicPr>
        <p:blipFill>
          <a:blip r:embed="rId2" cstate="print"/>
          <a:srcRect/>
          <a:stretch>
            <a:fillRect/>
          </a:stretch>
        </p:blipFill>
        <p:spPr bwMode="auto">
          <a:xfrm>
            <a:off x="4788024" y="44624"/>
            <a:ext cx="875928" cy="1171554"/>
          </a:xfrm>
          <a:prstGeom prst="rect">
            <a:avLst/>
          </a:prstGeom>
          <a:noFill/>
        </p:spPr>
      </p:pic>
    </p:spTree>
    <p:extLst>
      <p:ext uri="{BB962C8B-B14F-4D97-AF65-F5344CB8AC3E}">
        <p14:creationId xmlns:p14="http://schemas.microsoft.com/office/powerpoint/2010/main" val="411318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87680" cy="2511227"/>
          </a:xfrm>
        </p:spPr>
        <p:txBody>
          <a:bodyPr>
            <a:normAutofit/>
          </a:bodyPr>
          <a:lstStyle/>
          <a:p>
            <a:pPr marL="0" indent="0" algn="just">
              <a:spcBef>
                <a:spcPts val="0"/>
              </a:spcBef>
            </a:pPr>
            <a:r>
              <a:rPr lang="en-IN" dirty="0" smtClean="0"/>
              <a:t>Euler’s theorem eliminates the need for Extended Euclidean’s Algorithm by calculating multiplicative inverse in the following way:</a:t>
            </a:r>
          </a:p>
          <a:p>
            <a:pPr marL="0" indent="0" algn="just">
              <a:spcBef>
                <a:spcPts val="0"/>
              </a:spcBef>
            </a:pPr>
            <a:endParaRPr lang="en-IN" dirty="0" smtClean="0"/>
          </a:p>
          <a:p>
            <a:pPr marL="0" indent="0" algn="just">
              <a:spcBef>
                <a:spcPts val="0"/>
              </a:spcBef>
            </a:pPr>
            <a:r>
              <a:rPr lang="en-US" b="1" dirty="0" smtClean="0"/>
              <a:t>		</a:t>
            </a:r>
            <a:r>
              <a:rPr lang="en-US" b="1" i="1" dirty="0" smtClean="0"/>
              <a:t>a</a:t>
            </a:r>
            <a:r>
              <a:rPr lang="en-US" b="1" i="1" baseline="30000" dirty="0" smtClean="0"/>
              <a:t>−1</a:t>
            </a:r>
            <a:r>
              <a:rPr lang="en-US" b="1" i="1" dirty="0" smtClean="0"/>
              <a:t> mod n = </a:t>
            </a:r>
            <a:r>
              <a:rPr lang="en-US" b="1" i="1" dirty="0" err="1" smtClean="0"/>
              <a:t>a</a:t>
            </a:r>
            <a:r>
              <a:rPr lang="en-US" b="1" baseline="30000" dirty="0" err="1" smtClean="0">
                <a:latin typeface="Symbol" pitchFamily="18" charset="2"/>
              </a:rPr>
              <a:t>f</a:t>
            </a:r>
            <a:r>
              <a:rPr lang="en-US" b="1" baseline="30000" dirty="0" smtClean="0">
                <a:latin typeface="Symbol" pitchFamily="18" charset="2"/>
              </a:rPr>
              <a:t>(</a:t>
            </a:r>
            <a:r>
              <a:rPr lang="en-US" b="1" baseline="30000" dirty="0" smtClean="0"/>
              <a:t>n)-1</a:t>
            </a:r>
            <a:r>
              <a:rPr lang="en-US" b="1" i="1" dirty="0" smtClean="0"/>
              <a:t> mod n</a:t>
            </a:r>
          </a:p>
          <a:p>
            <a:pPr marL="0" indent="0" algn="just">
              <a:spcBef>
                <a:spcPts val="0"/>
              </a:spcBef>
            </a:pPr>
            <a:endParaRPr lang="en-IN" i="1" u="sng" dirty="0" smtClean="0"/>
          </a:p>
        </p:txBody>
      </p:sp>
      <p:sp>
        <p:nvSpPr>
          <p:cNvPr id="3" name="Content Placeholder 2"/>
          <p:cNvSpPr>
            <a:spLocks noGrp="1"/>
          </p:cNvSpPr>
          <p:nvPr>
            <p:ph sz="quarter" idx="10"/>
          </p:nvPr>
        </p:nvSpPr>
        <p:spPr>
          <a:xfrm>
            <a:off x="319400" y="188640"/>
            <a:ext cx="6324600" cy="890736"/>
          </a:xfrm>
        </p:spPr>
        <p:txBody>
          <a:bodyPr vert="horz" lIns="91440" tIns="45720" rIns="91440" bIns="45720" rtlCol="0" anchor="ctr" anchorCtr="0">
            <a:normAutofit/>
          </a:bodyPr>
          <a:lstStyle/>
          <a:p>
            <a:pPr>
              <a:spcBef>
                <a:spcPct val="0"/>
              </a:spcBef>
            </a:pPr>
            <a:r>
              <a:rPr lang="en-IN" sz="3200" dirty="0"/>
              <a:t>Euler’s </a:t>
            </a:r>
            <a:r>
              <a:rPr lang="en-IN" sz="3200" dirty="0" smtClean="0"/>
              <a:t>Theorem Application</a:t>
            </a:r>
            <a:endParaRPr lang="en-IN" sz="3200" dirty="0"/>
          </a:p>
        </p:txBody>
      </p:sp>
      <p:sp>
        <p:nvSpPr>
          <p:cNvPr id="5" name="Rectangle 4"/>
          <p:cNvSpPr/>
          <p:nvPr/>
        </p:nvSpPr>
        <p:spPr>
          <a:xfrm>
            <a:off x="2051720" y="3140968"/>
            <a:ext cx="3816424" cy="648072"/>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323528" y="4293096"/>
            <a:ext cx="1728192" cy="1938992"/>
          </a:xfrm>
          <a:prstGeom prst="rect">
            <a:avLst/>
          </a:prstGeom>
        </p:spPr>
        <p:txBody>
          <a:bodyPr wrap="square">
            <a:spAutoFit/>
          </a:bodyPr>
          <a:lstStyle/>
          <a:p>
            <a:pPr algn="just"/>
            <a:r>
              <a:rPr lang="en-IN" sz="2000" b="1" u="sng" dirty="0" smtClean="0"/>
              <a:t>Examples: </a:t>
            </a:r>
          </a:p>
          <a:p>
            <a:pPr algn="just"/>
            <a:r>
              <a:rPr lang="en-IN" sz="2000" dirty="0" smtClean="0"/>
              <a:t>4</a:t>
            </a:r>
            <a:r>
              <a:rPr lang="en-IN" sz="2000" baseline="30000" dirty="0" smtClean="0"/>
              <a:t>-1</a:t>
            </a:r>
            <a:r>
              <a:rPr lang="en-IN" sz="2000" dirty="0" smtClean="0"/>
              <a:t> mod 5</a:t>
            </a:r>
          </a:p>
          <a:p>
            <a:pPr algn="just"/>
            <a:r>
              <a:rPr lang="en-IN" sz="2000" dirty="0" smtClean="0"/>
              <a:t>= 4</a:t>
            </a:r>
            <a:r>
              <a:rPr lang="en-US" sz="2000" baseline="30000" dirty="0" smtClean="0">
                <a:latin typeface="Symbol" pitchFamily="18" charset="2"/>
              </a:rPr>
              <a:t>f</a:t>
            </a:r>
            <a:r>
              <a:rPr lang="en-US" sz="2000" baseline="30000" dirty="0" smtClean="0"/>
              <a:t>(5)-1</a:t>
            </a:r>
            <a:r>
              <a:rPr lang="en-IN" sz="2000" dirty="0" smtClean="0"/>
              <a:t> mod 5</a:t>
            </a:r>
          </a:p>
          <a:p>
            <a:r>
              <a:rPr lang="en-IN" sz="2000" dirty="0" smtClean="0"/>
              <a:t>= 4</a:t>
            </a:r>
            <a:r>
              <a:rPr lang="en-IN" sz="2000" baseline="30000" dirty="0" smtClean="0"/>
              <a:t>4-1 </a:t>
            </a:r>
            <a:r>
              <a:rPr lang="en-IN" sz="2000" dirty="0" smtClean="0"/>
              <a:t>mod 5</a:t>
            </a:r>
          </a:p>
          <a:p>
            <a:r>
              <a:rPr lang="en-IN" sz="2000" dirty="0" smtClean="0"/>
              <a:t>= 64 mod 5</a:t>
            </a:r>
          </a:p>
          <a:p>
            <a:r>
              <a:rPr lang="en-IN" sz="2000" dirty="0" smtClean="0"/>
              <a:t>= 4</a:t>
            </a:r>
          </a:p>
        </p:txBody>
      </p:sp>
      <p:sp>
        <p:nvSpPr>
          <p:cNvPr id="7" name="Rectangle 6"/>
          <p:cNvSpPr/>
          <p:nvPr/>
        </p:nvSpPr>
        <p:spPr>
          <a:xfrm>
            <a:off x="2987824" y="4293096"/>
            <a:ext cx="2304256" cy="1938992"/>
          </a:xfrm>
          <a:prstGeom prst="rect">
            <a:avLst/>
          </a:prstGeom>
        </p:spPr>
        <p:txBody>
          <a:bodyPr wrap="square">
            <a:spAutoFit/>
          </a:bodyPr>
          <a:lstStyle/>
          <a:p>
            <a:pPr algn="just"/>
            <a:endParaRPr lang="en-IN" sz="2000" b="1" u="sng" dirty="0" smtClean="0"/>
          </a:p>
          <a:p>
            <a:pPr algn="just"/>
            <a:r>
              <a:rPr lang="en-IN" sz="2000" dirty="0" smtClean="0"/>
              <a:t>3</a:t>
            </a:r>
            <a:r>
              <a:rPr lang="en-IN" sz="2000" baseline="30000" dirty="0" smtClean="0"/>
              <a:t>-1</a:t>
            </a:r>
            <a:r>
              <a:rPr lang="en-IN" sz="2000" dirty="0" smtClean="0"/>
              <a:t> mod 11</a:t>
            </a:r>
          </a:p>
          <a:p>
            <a:pPr algn="just"/>
            <a:r>
              <a:rPr lang="en-IN" sz="2000" dirty="0" smtClean="0"/>
              <a:t>= 3</a:t>
            </a:r>
            <a:r>
              <a:rPr lang="en-US" sz="2000" baseline="30000" dirty="0" smtClean="0">
                <a:latin typeface="Symbol" pitchFamily="18" charset="2"/>
              </a:rPr>
              <a:t>f</a:t>
            </a:r>
            <a:r>
              <a:rPr lang="en-US" sz="2000" baseline="30000" dirty="0" smtClean="0"/>
              <a:t>(11)-1</a:t>
            </a:r>
            <a:r>
              <a:rPr lang="en-IN" sz="2000" dirty="0" smtClean="0"/>
              <a:t> mod 11</a:t>
            </a:r>
          </a:p>
          <a:p>
            <a:r>
              <a:rPr lang="en-IN" sz="2000" dirty="0" smtClean="0"/>
              <a:t>= 3</a:t>
            </a:r>
            <a:r>
              <a:rPr lang="en-IN" sz="2000" baseline="30000" dirty="0" smtClean="0"/>
              <a:t>10-1 </a:t>
            </a:r>
            <a:r>
              <a:rPr lang="en-IN" sz="2000" dirty="0" smtClean="0"/>
              <a:t>mod 11</a:t>
            </a:r>
          </a:p>
          <a:p>
            <a:r>
              <a:rPr lang="en-IN" sz="2000" dirty="0" smtClean="0"/>
              <a:t>= 3</a:t>
            </a:r>
            <a:r>
              <a:rPr lang="en-IN" sz="2000" baseline="30000" dirty="0" smtClean="0"/>
              <a:t>9</a:t>
            </a:r>
            <a:r>
              <a:rPr lang="en-IN" sz="2000" dirty="0" smtClean="0"/>
              <a:t> mod 11</a:t>
            </a:r>
          </a:p>
          <a:p>
            <a:r>
              <a:rPr lang="en-IN" sz="2000" dirty="0" smtClean="0"/>
              <a:t>= 4</a:t>
            </a:r>
          </a:p>
        </p:txBody>
      </p:sp>
    </p:spTree>
    <p:extLst>
      <p:ext uri="{BB962C8B-B14F-4D97-AF65-F5344CB8AC3E}">
        <p14:creationId xmlns:p14="http://schemas.microsoft.com/office/powerpoint/2010/main" val="249031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a:normAutofit fontScale="70000" lnSpcReduction="20000"/>
          </a:bodyPr>
          <a:lstStyle/>
          <a:p>
            <a:pPr marL="514350" indent="-514350"/>
            <a:r>
              <a:rPr lang="en-IN" b="1" u="sng" dirty="0" smtClean="0"/>
              <a:t>Example-1:</a:t>
            </a:r>
            <a:endParaRPr lang="en-US" b="1" u="sng" dirty="0" smtClean="0">
              <a:latin typeface="Symbol" pitchFamily="18" charset="2"/>
            </a:endParaRPr>
          </a:p>
          <a:p>
            <a:pPr marL="514350" indent="-514350"/>
            <a:r>
              <a:rPr lang="en-US" dirty="0" smtClean="0">
                <a:solidFill>
                  <a:srgbClr val="0070C0"/>
                </a:solidFill>
                <a:latin typeface="Symbol" pitchFamily="18" charset="2"/>
              </a:rPr>
              <a:t>f</a:t>
            </a:r>
            <a:r>
              <a:rPr lang="en-US" dirty="0" smtClean="0">
                <a:solidFill>
                  <a:srgbClr val="0070C0"/>
                </a:solidFill>
              </a:rPr>
              <a:t>(13) </a:t>
            </a:r>
          </a:p>
          <a:p>
            <a:pPr marL="514350" indent="-514350"/>
            <a:r>
              <a:rPr lang="en-US" dirty="0" smtClean="0">
                <a:solidFill>
                  <a:srgbClr val="0070C0"/>
                </a:solidFill>
              </a:rPr>
              <a:t>= 13- 1 = 12</a:t>
            </a:r>
          </a:p>
          <a:p>
            <a:pPr marL="514350" indent="-514350"/>
            <a:endParaRPr lang="en-US" dirty="0" smtClean="0"/>
          </a:p>
          <a:p>
            <a:pPr marL="514350" indent="-514350"/>
            <a:r>
              <a:rPr lang="en-IN" b="1" u="sng" dirty="0" smtClean="0"/>
              <a:t>Example-2:</a:t>
            </a:r>
            <a:endParaRPr lang="en-US" b="1" u="sng" dirty="0" smtClean="0"/>
          </a:p>
          <a:p>
            <a:pPr marL="514350" indent="-514350"/>
            <a:r>
              <a:rPr lang="en-US" dirty="0" smtClean="0">
                <a:solidFill>
                  <a:srgbClr val="0070C0"/>
                </a:solidFill>
                <a:latin typeface="Symbol" pitchFamily="18" charset="2"/>
              </a:rPr>
              <a:t>f</a:t>
            </a:r>
            <a:r>
              <a:rPr lang="en-US" dirty="0" smtClean="0">
                <a:solidFill>
                  <a:srgbClr val="0070C0"/>
                </a:solidFill>
              </a:rPr>
              <a:t>(10) </a:t>
            </a:r>
          </a:p>
          <a:p>
            <a:pPr marL="514350" indent="-514350"/>
            <a:r>
              <a:rPr lang="en-US" dirty="0" smtClean="0">
                <a:solidFill>
                  <a:srgbClr val="0070C0"/>
                </a:solidFill>
              </a:rPr>
              <a:t>= </a:t>
            </a:r>
            <a:r>
              <a:rPr lang="en-US" dirty="0" smtClean="0">
                <a:solidFill>
                  <a:srgbClr val="0070C0"/>
                </a:solidFill>
                <a:latin typeface="Symbol" pitchFamily="18" charset="2"/>
              </a:rPr>
              <a:t>f</a:t>
            </a:r>
            <a:r>
              <a:rPr lang="en-US" dirty="0" smtClean="0">
                <a:solidFill>
                  <a:srgbClr val="0070C0"/>
                </a:solidFill>
              </a:rPr>
              <a:t>(2) x </a:t>
            </a:r>
            <a:r>
              <a:rPr lang="en-US" dirty="0" smtClean="0">
                <a:solidFill>
                  <a:srgbClr val="0070C0"/>
                </a:solidFill>
                <a:latin typeface="Symbol" pitchFamily="18" charset="2"/>
              </a:rPr>
              <a:t>f</a:t>
            </a:r>
            <a:r>
              <a:rPr lang="en-US" dirty="0" smtClean="0">
                <a:solidFill>
                  <a:srgbClr val="0070C0"/>
                </a:solidFill>
              </a:rPr>
              <a:t>(5) = (2-1) x (5-1) = 1x4 = 4</a:t>
            </a:r>
          </a:p>
          <a:p>
            <a:pPr marL="514350" indent="-514350"/>
            <a:endParaRPr lang="en-US" dirty="0" smtClean="0"/>
          </a:p>
          <a:p>
            <a:pPr marL="514350" indent="-514350"/>
            <a:r>
              <a:rPr lang="en-IN" b="1" u="sng" dirty="0" smtClean="0"/>
              <a:t>Example-3:</a:t>
            </a:r>
            <a:endParaRPr lang="en-US" b="1" u="sng" dirty="0" smtClean="0"/>
          </a:p>
          <a:p>
            <a:pPr marL="514350" indent="-514350"/>
            <a:r>
              <a:rPr lang="en-US" dirty="0" smtClean="0">
                <a:solidFill>
                  <a:srgbClr val="0070C0"/>
                </a:solidFill>
              </a:rPr>
              <a:t>240 = 2</a:t>
            </a:r>
            <a:r>
              <a:rPr lang="en-US" baseline="30000" dirty="0" smtClean="0">
                <a:solidFill>
                  <a:srgbClr val="0070C0"/>
                </a:solidFill>
              </a:rPr>
              <a:t>4</a:t>
            </a:r>
            <a:r>
              <a:rPr lang="en-US" dirty="0" smtClean="0">
                <a:solidFill>
                  <a:srgbClr val="0070C0"/>
                </a:solidFill>
              </a:rPr>
              <a:t> x 3</a:t>
            </a:r>
            <a:r>
              <a:rPr lang="en-US" baseline="30000" dirty="0" smtClean="0">
                <a:solidFill>
                  <a:srgbClr val="0070C0"/>
                </a:solidFill>
              </a:rPr>
              <a:t>1</a:t>
            </a:r>
            <a:r>
              <a:rPr lang="en-US" dirty="0" smtClean="0">
                <a:solidFill>
                  <a:srgbClr val="0070C0"/>
                </a:solidFill>
              </a:rPr>
              <a:t> x 5</a:t>
            </a:r>
            <a:r>
              <a:rPr lang="en-US" baseline="30000" dirty="0" smtClean="0">
                <a:solidFill>
                  <a:srgbClr val="0070C0"/>
                </a:solidFill>
              </a:rPr>
              <a:t>1</a:t>
            </a:r>
          </a:p>
          <a:p>
            <a:pPr marL="514350" indent="-514350"/>
            <a:r>
              <a:rPr lang="en-US" dirty="0" smtClean="0">
                <a:solidFill>
                  <a:srgbClr val="0070C0"/>
                </a:solidFill>
              </a:rPr>
              <a:t>So, </a:t>
            </a:r>
            <a:r>
              <a:rPr lang="en-US" dirty="0" smtClean="0">
                <a:solidFill>
                  <a:srgbClr val="0070C0"/>
                </a:solidFill>
                <a:latin typeface="Symbol" pitchFamily="18" charset="2"/>
              </a:rPr>
              <a:t>f</a:t>
            </a:r>
            <a:r>
              <a:rPr lang="en-US" dirty="0" smtClean="0">
                <a:solidFill>
                  <a:srgbClr val="0070C0"/>
                </a:solidFill>
              </a:rPr>
              <a:t>(240) = (2</a:t>
            </a:r>
            <a:r>
              <a:rPr lang="en-US" baseline="30000" dirty="0" smtClean="0">
                <a:solidFill>
                  <a:srgbClr val="0070C0"/>
                </a:solidFill>
              </a:rPr>
              <a:t>4</a:t>
            </a:r>
            <a:r>
              <a:rPr lang="en-US" dirty="0" smtClean="0">
                <a:solidFill>
                  <a:srgbClr val="0070C0"/>
                </a:solidFill>
              </a:rPr>
              <a:t> – 2</a:t>
            </a:r>
            <a:r>
              <a:rPr lang="en-US" baseline="30000" dirty="0" smtClean="0">
                <a:solidFill>
                  <a:srgbClr val="0070C0"/>
                </a:solidFill>
              </a:rPr>
              <a:t>3</a:t>
            </a:r>
            <a:r>
              <a:rPr lang="en-US" dirty="0" smtClean="0">
                <a:solidFill>
                  <a:srgbClr val="0070C0"/>
                </a:solidFill>
              </a:rPr>
              <a:t>) x (3</a:t>
            </a:r>
            <a:r>
              <a:rPr lang="en-US" baseline="30000" dirty="0" smtClean="0">
                <a:solidFill>
                  <a:srgbClr val="0070C0"/>
                </a:solidFill>
              </a:rPr>
              <a:t>1</a:t>
            </a:r>
            <a:r>
              <a:rPr lang="en-US" dirty="0" smtClean="0">
                <a:solidFill>
                  <a:srgbClr val="0070C0"/>
                </a:solidFill>
              </a:rPr>
              <a:t>– 3</a:t>
            </a:r>
            <a:r>
              <a:rPr lang="en-US" baseline="30000" dirty="0" smtClean="0">
                <a:solidFill>
                  <a:srgbClr val="0070C0"/>
                </a:solidFill>
              </a:rPr>
              <a:t>0</a:t>
            </a:r>
            <a:r>
              <a:rPr lang="en-US" dirty="0" smtClean="0">
                <a:solidFill>
                  <a:srgbClr val="0070C0"/>
                </a:solidFill>
              </a:rPr>
              <a:t>) x (5</a:t>
            </a:r>
            <a:r>
              <a:rPr lang="en-US" baseline="30000" dirty="0" smtClean="0">
                <a:solidFill>
                  <a:srgbClr val="0070C0"/>
                </a:solidFill>
              </a:rPr>
              <a:t>1</a:t>
            </a:r>
            <a:r>
              <a:rPr lang="en-US" dirty="0" smtClean="0">
                <a:solidFill>
                  <a:srgbClr val="0070C0"/>
                </a:solidFill>
              </a:rPr>
              <a:t> – 5</a:t>
            </a:r>
            <a:r>
              <a:rPr lang="en-US" baseline="30000" dirty="0" smtClean="0">
                <a:solidFill>
                  <a:srgbClr val="0070C0"/>
                </a:solidFill>
              </a:rPr>
              <a:t>0</a:t>
            </a:r>
            <a:r>
              <a:rPr lang="en-US" dirty="0" smtClean="0">
                <a:solidFill>
                  <a:srgbClr val="0070C0"/>
                </a:solidFill>
              </a:rPr>
              <a:t>) = 8 x 2 x 4 = 64</a:t>
            </a:r>
          </a:p>
          <a:p>
            <a:pPr marL="514350" indent="-514350"/>
            <a:r>
              <a:rPr lang="en-US" baseline="30000" dirty="0" smtClean="0"/>
              <a:t>       </a:t>
            </a:r>
          </a:p>
          <a:p>
            <a:r>
              <a:rPr lang="en-IN" b="1" u="sng" dirty="0" smtClean="0"/>
              <a:t>Example-4:</a:t>
            </a:r>
            <a:endParaRPr lang="en-US" b="1" u="sng" dirty="0" smtClean="0"/>
          </a:p>
          <a:p>
            <a:r>
              <a:rPr lang="en-IN" dirty="0" smtClean="0">
                <a:solidFill>
                  <a:srgbClr val="0070C0"/>
                </a:solidFill>
              </a:rPr>
              <a:t>The number of elements in Z</a:t>
            </a:r>
            <a:r>
              <a:rPr lang="en-IN" baseline="-25000" dirty="0" smtClean="0">
                <a:solidFill>
                  <a:srgbClr val="0070C0"/>
                </a:solidFill>
              </a:rPr>
              <a:t>14</a:t>
            </a:r>
            <a:r>
              <a:rPr lang="en-IN" dirty="0" smtClean="0">
                <a:solidFill>
                  <a:srgbClr val="0070C0"/>
                </a:solidFill>
              </a:rPr>
              <a:t>*</a:t>
            </a:r>
          </a:p>
          <a:p>
            <a:pPr marL="514350" indent="-514350"/>
            <a:r>
              <a:rPr lang="en-US" dirty="0" smtClean="0">
                <a:solidFill>
                  <a:srgbClr val="0070C0"/>
                </a:solidFill>
                <a:latin typeface="Symbol" pitchFamily="18" charset="2"/>
              </a:rPr>
              <a:t>f</a:t>
            </a:r>
            <a:r>
              <a:rPr lang="en-US" dirty="0" smtClean="0">
                <a:solidFill>
                  <a:srgbClr val="0070C0"/>
                </a:solidFill>
              </a:rPr>
              <a:t>(14) </a:t>
            </a:r>
          </a:p>
          <a:p>
            <a:pPr marL="514350" indent="-514350"/>
            <a:r>
              <a:rPr lang="en-US" dirty="0" smtClean="0">
                <a:solidFill>
                  <a:srgbClr val="0070C0"/>
                </a:solidFill>
              </a:rPr>
              <a:t>= </a:t>
            </a:r>
            <a:r>
              <a:rPr lang="en-US" dirty="0" smtClean="0">
                <a:solidFill>
                  <a:srgbClr val="0070C0"/>
                </a:solidFill>
                <a:latin typeface="Symbol" pitchFamily="18" charset="2"/>
              </a:rPr>
              <a:t>f</a:t>
            </a:r>
            <a:r>
              <a:rPr lang="en-US" dirty="0" smtClean="0">
                <a:solidFill>
                  <a:srgbClr val="0070C0"/>
                </a:solidFill>
              </a:rPr>
              <a:t>(2) x </a:t>
            </a:r>
            <a:r>
              <a:rPr lang="en-US" dirty="0" smtClean="0">
                <a:solidFill>
                  <a:srgbClr val="0070C0"/>
                </a:solidFill>
                <a:latin typeface="Symbol" pitchFamily="18" charset="2"/>
              </a:rPr>
              <a:t>f</a:t>
            </a:r>
            <a:r>
              <a:rPr lang="en-US" dirty="0" smtClean="0">
                <a:solidFill>
                  <a:srgbClr val="0070C0"/>
                </a:solidFill>
              </a:rPr>
              <a:t>(7) = (2-1) x (7-1) = 1x6 = 6</a:t>
            </a:r>
          </a:p>
          <a:p>
            <a:endParaRPr lang="en-IN" dirty="0" smtClean="0"/>
          </a:p>
          <a:p>
            <a:endParaRPr lang="en-IN" dirty="0"/>
          </a:p>
        </p:txBody>
      </p:sp>
      <p:sp>
        <p:nvSpPr>
          <p:cNvPr id="3" name="Content Placeholder 2"/>
          <p:cNvSpPr>
            <a:spLocks noGrp="1"/>
          </p:cNvSpPr>
          <p:nvPr>
            <p:ph sz="quarter" idx="10"/>
          </p:nvPr>
        </p:nvSpPr>
        <p:spPr>
          <a:xfrm>
            <a:off x="308854" y="116632"/>
            <a:ext cx="6324600" cy="1034752"/>
          </a:xfrm>
        </p:spPr>
        <p:txBody>
          <a:bodyPr vert="horz" lIns="91440" tIns="45720" rIns="91440" bIns="45720" rtlCol="0" anchor="ctr" anchorCtr="0">
            <a:normAutofit/>
          </a:bodyPr>
          <a:lstStyle/>
          <a:p>
            <a:pPr>
              <a:spcBef>
                <a:spcPct val="0"/>
              </a:spcBef>
            </a:pPr>
            <a:r>
              <a:rPr lang="en-IN" sz="3200" dirty="0"/>
              <a:t>Euler’s Totient </a:t>
            </a:r>
            <a:r>
              <a:rPr lang="en-IN" sz="3200" dirty="0" smtClean="0"/>
              <a:t>Function Examples</a:t>
            </a:r>
            <a:endParaRPr lang="en-IN" sz="3200" dirty="0"/>
          </a:p>
        </p:txBody>
      </p:sp>
    </p:spTree>
    <p:extLst>
      <p:ext uri="{BB962C8B-B14F-4D97-AF65-F5344CB8AC3E}">
        <p14:creationId xmlns:p14="http://schemas.microsoft.com/office/powerpoint/2010/main" val="241886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spcBef>
                <a:spcPts val="0"/>
              </a:spcBef>
            </a:pPr>
            <a:r>
              <a:rPr lang="en-IN" sz="2000" dirty="0" smtClean="0"/>
              <a:t>For every </a:t>
            </a:r>
            <a:r>
              <a:rPr lang="en-IN" sz="2000" b="1" i="1" dirty="0" smtClean="0"/>
              <a:t>a</a:t>
            </a:r>
            <a:r>
              <a:rPr lang="en-IN" sz="2000" dirty="0" smtClean="0"/>
              <a:t> and </a:t>
            </a:r>
            <a:r>
              <a:rPr lang="en-IN" sz="2000" b="1" i="1" dirty="0" smtClean="0"/>
              <a:t>n</a:t>
            </a:r>
            <a:r>
              <a:rPr lang="en-IN" sz="2000" dirty="0" smtClean="0"/>
              <a:t> that are relatively prime, the following relationship exists:</a:t>
            </a:r>
          </a:p>
          <a:p>
            <a:pPr algn="just">
              <a:spcBef>
                <a:spcPts val="0"/>
              </a:spcBef>
              <a:buFont typeface="Wingdings" pitchFamily="2" charset="2"/>
              <a:buChar char="q"/>
            </a:pPr>
            <a:endParaRPr lang="en-IN" sz="2000" dirty="0" smtClean="0"/>
          </a:p>
          <a:p>
            <a:pPr lvl="2" algn="just">
              <a:spcBef>
                <a:spcPts val="0"/>
              </a:spcBef>
              <a:buNone/>
            </a:pPr>
            <a:r>
              <a:rPr lang="en-US" b="1" i="1" dirty="0" err="1" smtClean="0"/>
              <a:t>a</a:t>
            </a:r>
            <a:r>
              <a:rPr lang="en-US" b="1" i="1" baseline="30000" dirty="0" err="1" smtClean="0">
                <a:latin typeface="Symbol" pitchFamily="18" charset="2"/>
              </a:rPr>
              <a:t>f</a:t>
            </a:r>
            <a:r>
              <a:rPr lang="en-US" b="1" i="1" baseline="30000" dirty="0" smtClean="0"/>
              <a:t>(n)</a:t>
            </a:r>
            <a:r>
              <a:rPr lang="en-US" b="1" i="1" dirty="0" smtClean="0"/>
              <a:t> ≡ 1 (mod n)</a:t>
            </a:r>
            <a:r>
              <a:rPr lang="en-US" i="1" dirty="0" smtClean="0"/>
              <a:t> </a:t>
            </a:r>
            <a:r>
              <a:rPr lang="en-US" sz="1600" i="1" dirty="0" smtClean="0">
                <a:latin typeface="+mn-lt"/>
              </a:rPr>
              <a:t>----------------------------------- 1</a:t>
            </a:r>
            <a:r>
              <a:rPr lang="en-US" sz="1600" i="1" baseline="30000" dirty="0" smtClean="0">
                <a:latin typeface="+mn-lt"/>
              </a:rPr>
              <a:t>st</a:t>
            </a:r>
            <a:r>
              <a:rPr lang="en-US" sz="1600" i="1" dirty="0" smtClean="0">
                <a:latin typeface="+mn-lt"/>
              </a:rPr>
              <a:t> Version</a:t>
            </a:r>
            <a:r>
              <a:rPr lang="en-US" sz="1600" b="1" i="1" dirty="0" smtClean="0">
                <a:latin typeface="+mn-lt"/>
              </a:rPr>
              <a:t> </a:t>
            </a:r>
          </a:p>
          <a:p>
            <a:pPr lvl="2" algn="just">
              <a:spcBef>
                <a:spcPts val="0"/>
              </a:spcBef>
              <a:buNone/>
            </a:pPr>
            <a:r>
              <a:rPr lang="en-US" b="1" i="1" dirty="0" err="1" smtClean="0"/>
              <a:t>a</a:t>
            </a:r>
            <a:r>
              <a:rPr lang="en-US" b="1" i="1" baseline="30000" dirty="0" err="1" smtClean="0">
                <a:latin typeface="Symbol" pitchFamily="18" charset="2"/>
              </a:rPr>
              <a:t>f</a:t>
            </a:r>
            <a:r>
              <a:rPr lang="en-US" b="1" i="1" baseline="30000" dirty="0" smtClean="0"/>
              <a:t>(n)+1</a:t>
            </a:r>
            <a:r>
              <a:rPr lang="en-US" b="1" i="1" dirty="0" smtClean="0"/>
              <a:t> ≡  a (mod n) </a:t>
            </a:r>
            <a:r>
              <a:rPr lang="en-US" sz="1600" i="1" dirty="0" smtClean="0">
                <a:latin typeface="+mn-lt"/>
              </a:rPr>
              <a:t>------------------------------ 2</a:t>
            </a:r>
            <a:r>
              <a:rPr lang="en-US" sz="1600" i="1" baseline="30000" dirty="0" smtClean="0">
                <a:latin typeface="+mn-lt"/>
              </a:rPr>
              <a:t>nd</a:t>
            </a:r>
            <a:r>
              <a:rPr lang="en-US" sz="1600" i="1" dirty="0" smtClean="0">
                <a:latin typeface="+mn-lt"/>
              </a:rPr>
              <a:t> Version</a:t>
            </a:r>
            <a:r>
              <a:rPr lang="en-US" sz="1600" b="1" i="1" dirty="0" smtClean="0">
                <a:latin typeface="+mn-lt"/>
              </a:rPr>
              <a:t> </a:t>
            </a:r>
          </a:p>
          <a:p>
            <a:pPr lvl="2" algn="just">
              <a:spcBef>
                <a:spcPts val="0"/>
              </a:spcBef>
              <a:buNone/>
            </a:pPr>
            <a:endParaRPr lang="en-US" sz="1600" b="1" i="1" dirty="0" smtClean="0">
              <a:latin typeface="+mn-lt"/>
            </a:endParaRPr>
          </a:p>
          <a:p>
            <a:pPr algn="just">
              <a:spcBef>
                <a:spcPts val="0"/>
              </a:spcBef>
              <a:buFont typeface="Wingdings" pitchFamily="2" charset="2"/>
              <a:buChar char="q"/>
            </a:pPr>
            <a:endParaRPr lang="en-IN" sz="2000" dirty="0" smtClean="0"/>
          </a:p>
          <a:p>
            <a:pPr algn="just">
              <a:lnSpc>
                <a:spcPct val="120000"/>
              </a:lnSpc>
              <a:spcBef>
                <a:spcPts val="0"/>
              </a:spcBef>
            </a:pPr>
            <a:r>
              <a:rPr lang="en-IN" sz="1600" b="1" u="sng" dirty="0" smtClean="0"/>
              <a:t>Example-1: </a:t>
            </a:r>
          </a:p>
          <a:p>
            <a:pPr algn="just">
              <a:lnSpc>
                <a:spcPct val="120000"/>
              </a:lnSpc>
              <a:spcBef>
                <a:spcPts val="0"/>
              </a:spcBef>
            </a:pPr>
            <a:r>
              <a:rPr lang="en-IN" sz="1600" dirty="0" smtClean="0"/>
              <a:t>Find out the value of 6</a:t>
            </a:r>
            <a:r>
              <a:rPr lang="en-IN" sz="1600" baseline="30000" dirty="0" smtClean="0"/>
              <a:t>24</a:t>
            </a:r>
            <a:r>
              <a:rPr lang="en-IN" sz="1600" dirty="0" smtClean="0"/>
              <a:t> mod 35.</a:t>
            </a:r>
          </a:p>
          <a:p>
            <a:pPr algn="just">
              <a:lnSpc>
                <a:spcPct val="120000"/>
              </a:lnSpc>
              <a:spcBef>
                <a:spcPts val="0"/>
              </a:spcBef>
            </a:pPr>
            <a:r>
              <a:rPr lang="en-US" sz="1600" dirty="0" smtClean="0"/>
              <a:t>Because, </a:t>
            </a:r>
            <a:r>
              <a:rPr lang="en-US" sz="1600" dirty="0" smtClean="0">
                <a:latin typeface="Symbol" pitchFamily="18" charset="2"/>
              </a:rPr>
              <a:t>f</a:t>
            </a:r>
            <a:r>
              <a:rPr lang="en-US" sz="1600" dirty="0" smtClean="0"/>
              <a:t>(35) = </a:t>
            </a:r>
            <a:r>
              <a:rPr lang="en-US" sz="1600" dirty="0" smtClean="0">
                <a:latin typeface="Symbol" pitchFamily="18" charset="2"/>
              </a:rPr>
              <a:t>f</a:t>
            </a:r>
            <a:r>
              <a:rPr lang="en-US" sz="1600" dirty="0" smtClean="0"/>
              <a:t>(5) x </a:t>
            </a:r>
            <a:r>
              <a:rPr lang="en-US" sz="1600" dirty="0" smtClean="0">
                <a:latin typeface="Symbol" pitchFamily="18" charset="2"/>
              </a:rPr>
              <a:t>f</a:t>
            </a:r>
            <a:r>
              <a:rPr lang="en-US" sz="1600" dirty="0" smtClean="0"/>
              <a:t>(7) = 4 x 6 = 24</a:t>
            </a:r>
          </a:p>
          <a:p>
            <a:pPr algn="just">
              <a:lnSpc>
                <a:spcPct val="120000"/>
              </a:lnSpc>
              <a:spcBef>
                <a:spcPts val="0"/>
              </a:spcBef>
            </a:pPr>
            <a:r>
              <a:rPr lang="en-US" sz="1600" dirty="0" smtClean="0"/>
              <a:t>So, </a:t>
            </a:r>
            <a:r>
              <a:rPr lang="en-IN" sz="1600" dirty="0" smtClean="0"/>
              <a:t>6</a:t>
            </a:r>
            <a:r>
              <a:rPr lang="en-IN" sz="1600" baseline="30000" dirty="0" smtClean="0"/>
              <a:t>24</a:t>
            </a:r>
            <a:r>
              <a:rPr lang="en-IN" sz="1600" dirty="0" smtClean="0"/>
              <a:t> mod 35 = 6</a:t>
            </a:r>
            <a:r>
              <a:rPr lang="en-US" sz="1600" baseline="30000" dirty="0" smtClean="0">
                <a:latin typeface="Symbol" pitchFamily="18" charset="2"/>
              </a:rPr>
              <a:t>f</a:t>
            </a:r>
            <a:r>
              <a:rPr lang="en-US" sz="1600" baseline="30000" dirty="0" smtClean="0"/>
              <a:t>(35)</a:t>
            </a:r>
            <a:r>
              <a:rPr lang="en-IN" sz="1600" dirty="0" smtClean="0"/>
              <a:t> mod 35 = 1</a:t>
            </a:r>
          </a:p>
          <a:p>
            <a:pPr algn="just">
              <a:lnSpc>
                <a:spcPct val="120000"/>
              </a:lnSpc>
              <a:spcBef>
                <a:spcPts val="0"/>
              </a:spcBef>
            </a:pPr>
            <a:endParaRPr lang="en-IN" sz="1600" dirty="0" smtClean="0"/>
          </a:p>
          <a:p>
            <a:pPr algn="just">
              <a:lnSpc>
                <a:spcPct val="120000"/>
              </a:lnSpc>
              <a:spcBef>
                <a:spcPts val="0"/>
              </a:spcBef>
            </a:pPr>
            <a:r>
              <a:rPr lang="en-IN" sz="1700" b="1" u="sng" dirty="0" smtClean="0"/>
              <a:t>Example-2: </a:t>
            </a:r>
          </a:p>
          <a:p>
            <a:pPr algn="just">
              <a:lnSpc>
                <a:spcPct val="120000"/>
              </a:lnSpc>
              <a:spcBef>
                <a:spcPts val="0"/>
              </a:spcBef>
            </a:pPr>
            <a:r>
              <a:rPr lang="en-IN" sz="1700" dirty="0" smtClean="0"/>
              <a:t>Find out the value of 6</a:t>
            </a:r>
            <a:r>
              <a:rPr lang="en-IN" sz="1700" baseline="30000" dirty="0" smtClean="0"/>
              <a:t>61</a:t>
            </a:r>
            <a:r>
              <a:rPr lang="en-IN" sz="1700" dirty="0" smtClean="0"/>
              <a:t> mod 77.</a:t>
            </a:r>
          </a:p>
          <a:p>
            <a:pPr algn="just">
              <a:lnSpc>
                <a:spcPct val="120000"/>
              </a:lnSpc>
              <a:spcBef>
                <a:spcPts val="0"/>
              </a:spcBef>
            </a:pPr>
            <a:r>
              <a:rPr lang="en-US" sz="1700" dirty="0" smtClean="0"/>
              <a:t>Because, </a:t>
            </a:r>
            <a:r>
              <a:rPr lang="en-US" sz="1700" dirty="0" smtClean="0">
                <a:latin typeface="Symbol" pitchFamily="18" charset="2"/>
              </a:rPr>
              <a:t>f</a:t>
            </a:r>
            <a:r>
              <a:rPr lang="en-US" sz="1700" dirty="0" smtClean="0"/>
              <a:t>(77) = </a:t>
            </a:r>
            <a:r>
              <a:rPr lang="en-US" sz="1700" dirty="0" smtClean="0">
                <a:latin typeface="Symbol" pitchFamily="18" charset="2"/>
              </a:rPr>
              <a:t>f</a:t>
            </a:r>
            <a:r>
              <a:rPr lang="en-US" sz="1700" dirty="0" smtClean="0"/>
              <a:t>(7) x </a:t>
            </a:r>
            <a:r>
              <a:rPr lang="en-US" sz="1700" dirty="0" smtClean="0">
                <a:latin typeface="Symbol" pitchFamily="18" charset="2"/>
              </a:rPr>
              <a:t>f</a:t>
            </a:r>
            <a:r>
              <a:rPr lang="en-US" sz="1700" dirty="0" smtClean="0"/>
              <a:t>(11) = 6 x 10 = 60</a:t>
            </a:r>
          </a:p>
          <a:p>
            <a:pPr algn="just">
              <a:lnSpc>
                <a:spcPct val="120000"/>
              </a:lnSpc>
              <a:spcBef>
                <a:spcPts val="0"/>
              </a:spcBef>
            </a:pPr>
            <a:r>
              <a:rPr lang="en-US" sz="1700" dirty="0" smtClean="0"/>
              <a:t>So, </a:t>
            </a:r>
            <a:r>
              <a:rPr lang="en-IN" sz="1700" dirty="0" smtClean="0"/>
              <a:t>6</a:t>
            </a:r>
            <a:r>
              <a:rPr lang="en-IN" sz="1700" baseline="30000" dirty="0" smtClean="0"/>
              <a:t>61</a:t>
            </a:r>
            <a:r>
              <a:rPr lang="en-IN" sz="1700" dirty="0" smtClean="0"/>
              <a:t> mod 77 = 6</a:t>
            </a:r>
            <a:r>
              <a:rPr lang="en-US" sz="1700" baseline="30000" dirty="0" smtClean="0">
                <a:latin typeface="Symbol" pitchFamily="18" charset="2"/>
              </a:rPr>
              <a:t>f</a:t>
            </a:r>
            <a:r>
              <a:rPr lang="en-US" sz="1700" baseline="30000" dirty="0" smtClean="0"/>
              <a:t>(77)+1</a:t>
            </a:r>
            <a:r>
              <a:rPr lang="en-IN" sz="1700" dirty="0" smtClean="0"/>
              <a:t> mod 77 = 6</a:t>
            </a:r>
          </a:p>
          <a:p>
            <a:pPr algn="just">
              <a:lnSpc>
                <a:spcPct val="120000"/>
              </a:lnSpc>
              <a:spcBef>
                <a:spcPts val="0"/>
              </a:spcBef>
            </a:pPr>
            <a:endParaRPr lang="en-IN" dirty="0" smtClean="0"/>
          </a:p>
          <a:p>
            <a:pPr algn="just">
              <a:lnSpc>
                <a:spcPct val="120000"/>
              </a:lnSpc>
              <a:spcBef>
                <a:spcPts val="0"/>
              </a:spcBef>
            </a:pPr>
            <a:endParaRPr lang="en-IN" dirty="0" smtClean="0"/>
          </a:p>
          <a:p>
            <a:pPr algn="just">
              <a:lnSpc>
                <a:spcPct val="120000"/>
              </a:lnSpc>
              <a:spcBef>
                <a:spcPts val="0"/>
              </a:spcBef>
            </a:pPr>
            <a:endParaRPr lang="en-IN" dirty="0" smtClean="0"/>
          </a:p>
          <a:p>
            <a:pPr algn="just">
              <a:lnSpc>
                <a:spcPct val="120000"/>
              </a:lnSpc>
              <a:spcBef>
                <a:spcPts val="0"/>
              </a:spcBef>
            </a:pPr>
            <a:endParaRPr lang="en-US" dirty="0" smtClean="0"/>
          </a:p>
          <a:p>
            <a:endParaRPr lang="en-IN" dirty="0"/>
          </a:p>
        </p:txBody>
      </p:sp>
      <p:sp>
        <p:nvSpPr>
          <p:cNvPr id="3" name="Content Placeholder 2"/>
          <p:cNvSpPr>
            <a:spLocks noGrp="1"/>
          </p:cNvSpPr>
          <p:nvPr>
            <p:ph sz="quarter" idx="10"/>
          </p:nvPr>
        </p:nvSpPr>
        <p:spPr>
          <a:xfrm>
            <a:off x="304800" y="152400"/>
            <a:ext cx="6324600" cy="972344"/>
          </a:xfrm>
        </p:spPr>
        <p:txBody>
          <a:bodyPr vert="horz" lIns="91440" tIns="45720" rIns="91440" bIns="45720" rtlCol="0" anchor="ctr" anchorCtr="0">
            <a:normAutofit/>
          </a:bodyPr>
          <a:lstStyle/>
          <a:p>
            <a:pPr>
              <a:spcBef>
                <a:spcPct val="0"/>
              </a:spcBef>
            </a:pPr>
            <a:r>
              <a:rPr lang="en-IN" sz="3200" dirty="0"/>
              <a:t>Euler’s Theorem</a:t>
            </a:r>
          </a:p>
        </p:txBody>
      </p:sp>
      <p:sp>
        <p:nvSpPr>
          <p:cNvPr id="5" name="Rectangle 4"/>
          <p:cNvSpPr/>
          <p:nvPr/>
        </p:nvSpPr>
        <p:spPr>
          <a:xfrm>
            <a:off x="971600" y="1916832"/>
            <a:ext cx="6192688" cy="1008112"/>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5471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IN" dirty="0" smtClean="0"/>
              <a:t>Suppose a is primitive root of p if ,a </a:t>
            </a:r>
            <a:r>
              <a:rPr lang="en-IN" dirty="0" err="1" smtClean="0"/>
              <a:t>modp</a:t>
            </a:r>
            <a:r>
              <a:rPr lang="en-IN" dirty="0" smtClean="0"/>
              <a:t>, a</a:t>
            </a:r>
            <a:r>
              <a:rPr lang="en-IN" baseline="30000" dirty="0" smtClean="0"/>
              <a:t>2</a:t>
            </a:r>
            <a:r>
              <a:rPr lang="en-IN" dirty="0" smtClean="0"/>
              <a:t> modp,a</a:t>
            </a:r>
            <a:r>
              <a:rPr lang="en-IN" baseline="30000" dirty="0" smtClean="0"/>
              <a:t>3</a:t>
            </a:r>
            <a:r>
              <a:rPr lang="en-IN" dirty="0" smtClean="0"/>
              <a:t> mod p………….a</a:t>
            </a:r>
            <a:r>
              <a:rPr lang="en-IN" baseline="30000" dirty="0" smtClean="0"/>
              <a:t>p-1 </a:t>
            </a:r>
            <a:r>
              <a:rPr lang="en-IN" dirty="0" smtClean="0"/>
              <a:t>mod p =&gt; 1,2,3……p-1</a:t>
            </a:r>
          </a:p>
          <a:p>
            <a:r>
              <a:rPr lang="en-IN" dirty="0" smtClean="0"/>
              <a:t> </a:t>
            </a:r>
          </a:p>
          <a:p>
            <a:r>
              <a:rPr lang="en-IN" dirty="0" smtClean="0"/>
              <a:t>Prime no   Q=7                       Primitive root   =3</a:t>
            </a:r>
          </a:p>
          <a:p>
            <a:r>
              <a:rPr lang="en-IN" dirty="0" smtClean="0"/>
              <a:t> </a:t>
            </a:r>
          </a:p>
          <a:p>
            <a:r>
              <a:rPr lang="en-IN" dirty="0" smtClean="0"/>
              <a:t>3 </a:t>
            </a:r>
            <a:r>
              <a:rPr lang="en-IN" baseline="30000" dirty="0" smtClean="0"/>
              <a:t>1</a:t>
            </a:r>
            <a:r>
              <a:rPr lang="en-IN" dirty="0" smtClean="0"/>
              <a:t> mod7= 3 mod 7=3</a:t>
            </a:r>
          </a:p>
          <a:p>
            <a:r>
              <a:rPr lang="en-IN" dirty="0" smtClean="0"/>
              <a:t>3</a:t>
            </a:r>
            <a:r>
              <a:rPr lang="en-IN" baseline="30000" dirty="0" smtClean="0"/>
              <a:t> 2</a:t>
            </a:r>
            <a:r>
              <a:rPr lang="en-IN" dirty="0" smtClean="0"/>
              <a:t> mod 7=9mod 7=2</a:t>
            </a:r>
          </a:p>
          <a:p>
            <a:r>
              <a:rPr lang="en-IN" dirty="0" smtClean="0"/>
              <a:t>3 </a:t>
            </a:r>
            <a:r>
              <a:rPr lang="en-IN" baseline="30000" dirty="0" smtClean="0"/>
              <a:t>3</a:t>
            </a:r>
            <a:r>
              <a:rPr lang="en-IN" dirty="0" smtClean="0"/>
              <a:t>mod 7=27mod7 =6</a:t>
            </a:r>
          </a:p>
          <a:p>
            <a:r>
              <a:rPr lang="en-IN" dirty="0" smtClean="0"/>
              <a:t>3 </a:t>
            </a:r>
            <a:r>
              <a:rPr lang="en-IN" baseline="30000" dirty="0" smtClean="0"/>
              <a:t>4</a:t>
            </a:r>
            <a:r>
              <a:rPr lang="en-IN" dirty="0" smtClean="0"/>
              <a:t>mod 7 =81 mod 7=4</a:t>
            </a:r>
          </a:p>
          <a:p>
            <a:r>
              <a:rPr lang="en-IN" dirty="0" smtClean="0"/>
              <a:t>3 </a:t>
            </a:r>
            <a:r>
              <a:rPr lang="en-IN" baseline="30000" dirty="0" smtClean="0"/>
              <a:t>5 </a:t>
            </a:r>
            <a:r>
              <a:rPr lang="en-IN" dirty="0" smtClean="0"/>
              <a:t>mod7=243mod7=5</a:t>
            </a:r>
          </a:p>
          <a:p>
            <a:r>
              <a:rPr lang="en-IN" dirty="0" smtClean="0"/>
              <a:t>3 </a:t>
            </a:r>
            <a:r>
              <a:rPr lang="en-IN" baseline="30000" dirty="0" smtClean="0"/>
              <a:t>6</a:t>
            </a:r>
            <a:r>
              <a:rPr lang="en-IN" dirty="0" smtClean="0"/>
              <a:t> mod7 =729mod7 =1</a:t>
            </a:r>
          </a:p>
          <a:p>
            <a:r>
              <a:rPr lang="en-IN" dirty="0" smtClean="0"/>
              <a:t> </a:t>
            </a:r>
          </a:p>
          <a:p>
            <a:r>
              <a:rPr lang="en-IN" dirty="0" smtClean="0"/>
              <a:t> </a:t>
            </a:r>
          </a:p>
          <a:p>
            <a:r>
              <a:rPr lang="en-IN" dirty="0" smtClean="0"/>
              <a:t>So 3 is a primitive root of 7</a:t>
            </a:r>
          </a:p>
          <a:p>
            <a:endParaRPr lang="en-IN" dirty="0"/>
          </a:p>
        </p:txBody>
      </p:sp>
      <p:sp>
        <p:nvSpPr>
          <p:cNvPr id="3" name="Content Placeholder 2"/>
          <p:cNvSpPr>
            <a:spLocks noGrp="1"/>
          </p:cNvSpPr>
          <p:nvPr>
            <p:ph sz="quarter" idx="10"/>
          </p:nvPr>
        </p:nvSpPr>
        <p:spPr/>
        <p:txBody>
          <a:bodyPr/>
          <a:lstStyle/>
          <a:p>
            <a:r>
              <a:rPr lang="en-IN" dirty="0" smtClean="0"/>
              <a:t>Primitive root</a:t>
            </a:r>
            <a:endParaRPr lang="en-IN" dirty="0"/>
          </a:p>
        </p:txBody>
      </p:sp>
      <p:sp>
        <p:nvSpPr>
          <p:cNvPr id="4" name="Slide Number Placeholder 3"/>
          <p:cNvSpPr>
            <a:spLocks noGrp="1"/>
          </p:cNvSpPr>
          <p:nvPr>
            <p:ph type="sldNum" sz="quarter" idx="12"/>
          </p:nvPr>
        </p:nvSpPr>
        <p:spPr/>
        <p:txBody>
          <a:bodyPr/>
          <a:lstStyle/>
          <a:p>
            <a:fld id="{04252BD6-4F37-4D57-B6B7-636C2217F7DD}" type="slidenum">
              <a:rPr lang="en-US" smtClean="0">
                <a:solidFill>
                  <a:prstClr val="black"/>
                </a:solidFill>
              </a:rPr>
              <a:pPr/>
              <a:t>51</a:t>
            </a:fld>
            <a:endParaRPr lang="en-US" dirty="0">
              <a:solidFill>
                <a:prstClr val="black"/>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16450</TotalTime>
  <Words>2304</Words>
  <Application>Microsoft Office PowerPoint</Application>
  <PresentationFormat>On-screen Show (4:3)</PresentationFormat>
  <Paragraphs>380</Paragraphs>
  <Slides>52</Slides>
  <Notes>2</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52</vt:i4>
      </vt:variant>
    </vt:vector>
  </HeadingPairs>
  <TitlesOfParts>
    <vt:vector size="59" baseType="lpstr">
      <vt:lpstr>Arial</vt:lpstr>
      <vt:lpstr>Calibri</vt:lpstr>
      <vt:lpstr>Symbol</vt:lpstr>
      <vt:lpstr>Wingdings</vt:lpstr>
      <vt:lpstr>Office Theme</vt:lpstr>
      <vt:lpstr>1_Office Theme</vt:lpstr>
      <vt:lpstr>2_Office Theme</vt:lpstr>
      <vt:lpstr>Course Name :  Network Security</vt:lpstr>
      <vt:lpstr>Session#8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HP</cp:lastModifiedBy>
  <cp:revision>274</cp:revision>
  <dcterms:created xsi:type="dcterms:W3CDTF">2012-01-02T05:05:52Z</dcterms:created>
  <dcterms:modified xsi:type="dcterms:W3CDTF">2020-02-02T05:08:13Z</dcterms:modified>
</cp:coreProperties>
</file>