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52"/>
  </p:notesMasterIdLst>
  <p:sldIdLst>
    <p:sldId id="279" r:id="rId4"/>
    <p:sldId id="319" r:id="rId5"/>
    <p:sldId id="506" r:id="rId6"/>
    <p:sldId id="507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548" r:id="rId20"/>
    <p:sldId id="549" r:id="rId21"/>
    <p:sldId id="550" r:id="rId22"/>
    <p:sldId id="520" r:id="rId23"/>
    <p:sldId id="521" r:id="rId24"/>
    <p:sldId id="522" r:id="rId25"/>
    <p:sldId id="551" r:id="rId26"/>
    <p:sldId id="523" r:id="rId27"/>
    <p:sldId id="524" r:id="rId28"/>
    <p:sldId id="525" r:id="rId29"/>
    <p:sldId id="526" r:id="rId30"/>
    <p:sldId id="503" r:id="rId31"/>
    <p:sldId id="505" r:id="rId32"/>
    <p:sldId id="527" r:id="rId33"/>
    <p:sldId id="528" r:id="rId34"/>
    <p:sldId id="530" r:id="rId35"/>
    <p:sldId id="531" r:id="rId36"/>
    <p:sldId id="532" r:id="rId37"/>
    <p:sldId id="533" r:id="rId38"/>
    <p:sldId id="534" r:id="rId39"/>
    <p:sldId id="535" r:id="rId40"/>
    <p:sldId id="536" r:id="rId41"/>
    <p:sldId id="537" r:id="rId42"/>
    <p:sldId id="538" r:id="rId43"/>
    <p:sldId id="539" r:id="rId44"/>
    <p:sldId id="540" r:id="rId45"/>
    <p:sldId id="541" r:id="rId46"/>
    <p:sldId id="542" r:id="rId47"/>
    <p:sldId id="543" r:id="rId48"/>
    <p:sldId id="544" r:id="rId49"/>
    <p:sldId id="545" r:id="rId50"/>
    <p:sldId id="347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5" d="100"/>
          <a:sy n="7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08-02-2020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76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9D2F-5FCE-4B4F-80E6-E39EED6BD8E1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69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IN" smtClean="0"/>
              <a:t>25-07-2013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TA ZC164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9D2F-5FCE-4B4F-80E6-E39EED6BD8E1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589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B1F9F8-2F33-48A0-B6E1-CBD34DA86FA7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algn="ctr"/>
            <a:r>
              <a:rPr lang="en-US" smtClean="0"/>
              <a:t>SS ZG516 -Computer Organization and Software Systems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38AF320-491D-4762-9CEF-3E1E34D8F95D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2208E44-E056-4529-AB17-D5D4ED060997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9CFB88-53D3-4CA9-98AE-144A38B513BC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D0D0566-7D22-4575-A4D4-6F2EADBD37EA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F8992E-3A7A-498B-BA4F-ED4E9E99F9C5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4542FCF-AAF1-43F7-BF4B-ACFF6C5E1F9E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22291EF-5C9A-4DA0-9BCB-C3A40F654C61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F9511ED-0BE1-4F2B-B63D-1D3DD25330C5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5D982D4-3B7D-49CC-89D2-CE37596BBCA6}" type="datetime1">
              <a:rPr lang="en-IN" smtClean="0"/>
              <a:pPr/>
              <a:t>08-02-2020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870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2979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FFFF"/>
                </a:solidFill>
                <a:latin typeface="Arial"/>
                <a:cs typeface="Arial"/>
              </a:rPr>
              <a:t>Work Integrated Learning Programmes</a:t>
            </a:r>
            <a:endParaRPr lang="en-US" sz="120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0160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val="38923893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800">
                <a:latin typeface="+mn-lt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WILP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6804248" y="6093296"/>
            <a:ext cx="21336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04252BD6-4F37-4D57-B6B7-636C2217F7DD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343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WILP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5534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  <p:extLst>
      <p:ext uri="{BB962C8B-B14F-4D97-AF65-F5344CB8AC3E}">
        <p14:creationId xmlns:p14="http://schemas.microsoft.com/office/powerpoint/2010/main" val="30858215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  <p:extLst>
      <p:ext uri="{BB962C8B-B14F-4D97-AF65-F5344CB8AC3E}">
        <p14:creationId xmlns:p14="http://schemas.microsoft.com/office/powerpoint/2010/main" val="936652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WILP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2002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WILP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341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WILP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77153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6701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err="1" smtClean="0">
                <a:solidFill>
                  <a:srgbClr val="101141"/>
                </a:solidFill>
                <a:latin typeface="Arial"/>
                <a:cs typeface="Arial"/>
              </a:rPr>
              <a:t>Pilani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F2899A1-5BFA-4D14-B690-5DD6CFCAE8D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08-02-2020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&lt;Course Code&gt;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0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dip.sun.ac.za/courses/TW314/elgamal2.pdf" TargetMode="Externa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79712" y="3501008"/>
            <a:ext cx="6696744" cy="1832992"/>
          </a:xfrm>
        </p:spPr>
        <p:txBody>
          <a:bodyPr/>
          <a:lstStyle/>
          <a:p>
            <a:r>
              <a:rPr lang="en-US" sz="3600" dirty="0" smtClean="0"/>
              <a:t>Course Name : </a:t>
            </a:r>
            <a:br>
              <a:rPr lang="en-US" sz="3600" dirty="0" smtClean="0"/>
            </a:br>
            <a:r>
              <a:rPr lang="en-US" sz="3600" dirty="0" smtClean="0"/>
              <a:t>Network Security</a:t>
            </a:r>
            <a:endParaRPr lang="en-US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dirty="0" smtClean="0"/>
              <a:t>Vijayalakshmi Anand</a:t>
            </a:r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6336704" cy="850106"/>
          </a:xfrm>
        </p:spPr>
        <p:txBody>
          <a:bodyPr>
            <a:normAutofit/>
          </a:bodyPr>
          <a:lstStyle/>
          <a:p>
            <a:r>
              <a:rPr lang="en-IN" dirty="0" smtClean="0"/>
              <a:t>Session#9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dirty="0" smtClean="0"/>
              <a:t>Asymmetric key Encryption</a:t>
            </a:r>
          </a:p>
          <a:p>
            <a:pPr>
              <a:buFont typeface="Wingdings" pitchFamily="2" charset="2"/>
              <a:buChar char="q"/>
            </a:pPr>
            <a:r>
              <a:rPr lang="en-IN" dirty="0" smtClean="0"/>
              <a:t>RSA</a:t>
            </a:r>
          </a:p>
          <a:p>
            <a:pPr>
              <a:buFont typeface="Wingdings" pitchFamily="2" charset="2"/>
              <a:buChar char="q"/>
            </a:pPr>
            <a:r>
              <a:rPr lang="en-IN" dirty="0" err="1" smtClean="0"/>
              <a:t>ELGamal</a:t>
            </a:r>
            <a:endParaRPr lang="en-IN" dirty="0" smtClean="0"/>
          </a:p>
          <a:p>
            <a:pPr>
              <a:buFont typeface="Wingdings" pitchFamily="2" charset="2"/>
              <a:buChar char="q"/>
            </a:pPr>
            <a:r>
              <a:rPr lang="en-IN" dirty="0" err="1"/>
              <a:t>Diffie</a:t>
            </a:r>
            <a:r>
              <a:rPr lang="en-IN" dirty="0"/>
              <a:t>-Hellman Key Exchange </a:t>
            </a:r>
            <a:endParaRPr lang="en-IN" dirty="0" smtClean="0"/>
          </a:p>
          <a:p>
            <a:pPr>
              <a:buFont typeface="Wingdings" pitchFamily="2" charset="2"/>
              <a:buChar char="q"/>
            </a:pPr>
            <a:r>
              <a:rPr lang="en-IN" dirty="0" smtClean="0"/>
              <a:t>SHA</a:t>
            </a:r>
          </a:p>
          <a:p>
            <a:pPr>
              <a:buFont typeface="Wingdings" pitchFamily="2" charset="2"/>
              <a:buChar char="q"/>
            </a:pPr>
            <a:r>
              <a:rPr lang="en-IN" dirty="0" smtClean="0"/>
              <a:t>MAC</a:t>
            </a:r>
          </a:p>
          <a:p>
            <a:pPr>
              <a:buFont typeface="Wingdings" pitchFamily="2" charset="2"/>
              <a:buChar char="q"/>
            </a:pPr>
            <a:endParaRPr lang="en-IN" dirty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de-DE" dirty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5567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Asymmetric Key Encryption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Also called as Public Key Encryption</a:t>
            </a:r>
          </a:p>
          <a:p>
            <a:r>
              <a:rPr lang="en-US" altLang="en-US"/>
              <a:t>Each party has two keys</a:t>
            </a:r>
          </a:p>
          <a:p>
            <a:pPr lvl="1"/>
            <a:r>
              <a:rPr lang="en-US" altLang="en-US" sz="3200"/>
              <a:t>Public Key (say </a:t>
            </a:r>
            <a:r>
              <a:rPr lang="en-US" altLang="en-US" sz="3200" i="1"/>
              <a:t>K1</a:t>
            </a:r>
            <a:r>
              <a:rPr lang="en-US" altLang="en-US" sz="3200"/>
              <a:t>)</a:t>
            </a:r>
          </a:p>
          <a:p>
            <a:pPr lvl="1"/>
            <a:r>
              <a:rPr lang="en-US" altLang="en-US" sz="3200"/>
              <a:t>Private Key (say </a:t>
            </a:r>
            <a:r>
              <a:rPr lang="en-US" altLang="en-US" sz="3200" i="1"/>
              <a:t>K2</a:t>
            </a:r>
            <a:r>
              <a:rPr lang="en-US" altLang="en-US" sz="3200"/>
              <a:t>)</a:t>
            </a:r>
            <a:endParaRPr lang="en-US" altLang="en-US"/>
          </a:p>
          <a:p>
            <a:r>
              <a:rPr lang="en-US" altLang="en-US"/>
              <a:t>Public Key is known to everybody</a:t>
            </a:r>
          </a:p>
          <a:p>
            <a:r>
              <a:rPr lang="en-US" altLang="en-US"/>
              <a:t>Private Key must be kept secret</a:t>
            </a:r>
          </a:p>
          <a:p>
            <a:r>
              <a:rPr lang="en-US" altLang="en-US"/>
              <a:t>Encrypt with </a:t>
            </a:r>
            <a:r>
              <a:rPr lang="en-US" altLang="en-US" i="1"/>
              <a:t>K1</a:t>
            </a:r>
            <a:r>
              <a:rPr lang="en-US" altLang="en-US"/>
              <a:t>, Decrypt with </a:t>
            </a:r>
            <a:r>
              <a:rPr lang="en-US" altLang="en-US" i="1"/>
              <a:t>K2</a:t>
            </a:r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34294701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Asymmetric Key Encryption</a:t>
            </a:r>
          </a:p>
        </p:txBody>
      </p:sp>
      <p:pic>
        <p:nvPicPr>
          <p:cNvPr id="215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584" y="1844824"/>
            <a:ext cx="7323138" cy="409575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365339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Asymmetric Key Encryption: Example</a:t>
            </a:r>
          </a:p>
        </p:txBody>
      </p:sp>
      <p:sp>
        <p:nvSpPr>
          <p:cNvPr id="27651" name="AutoShape 3"/>
          <p:cNvSpPr>
            <a:spLocks noChangeArrowheads="1"/>
          </p:cNvSpPr>
          <p:nvPr/>
        </p:nvSpPr>
        <p:spPr bwMode="auto">
          <a:xfrm>
            <a:off x="4800600" y="5032043"/>
            <a:ext cx="304800" cy="457200"/>
          </a:xfrm>
          <a:prstGeom prst="upArrow">
            <a:avLst>
              <a:gd name="adj1" fmla="val 50000"/>
              <a:gd name="adj2" fmla="val 375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1447800" y="1762125"/>
            <a:ext cx="6172200" cy="4267200"/>
            <a:chOff x="912" y="1344"/>
            <a:chExt cx="3888" cy="2688"/>
          </a:xfrm>
        </p:grpSpPr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912" y="1344"/>
              <a:ext cx="1296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My name is John</a:t>
              </a:r>
            </a:p>
          </p:txBody>
        </p:sp>
        <p:sp>
          <p:nvSpPr>
            <p:cNvPr id="27654" name="Rectangle 6"/>
            <p:cNvSpPr>
              <a:spLocks noChangeArrowheads="1"/>
            </p:cNvSpPr>
            <p:nvPr/>
          </p:nvSpPr>
          <p:spPr bwMode="auto">
            <a:xfrm>
              <a:off x="2448" y="1344"/>
              <a:ext cx="912" cy="48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solidFill>
                    <a:srgbClr val="CCFFFF"/>
                  </a:solidFill>
                  <a:latin typeface="Tahoma" panose="020B0604030504040204" pitchFamily="34" charset="0"/>
                </a:rPr>
                <a:t>Encrypt</a:t>
              </a:r>
            </a:p>
          </p:txBody>
        </p:sp>
        <p:sp>
          <p:nvSpPr>
            <p:cNvPr id="27655" name="AutoShape 7"/>
            <p:cNvSpPr>
              <a:spLocks noChangeArrowheads="1"/>
            </p:cNvSpPr>
            <p:nvPr/>
          </p:nvSpPr>
          <p:spPr bwMode="auto">
            <a:xfrm>
              <a:off x="2448" y="1824"/>
              <a:ext cx="192" cy="288"/>
            </a:xfrm>
            <a:prstGeom prst="upArrow">
              <a:avLst>
                <a:gd name="adj1" fmla="val 50000"/>
                <a:gd name="adj2" fmla="val 375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AutoShape 8"/>
            <p:cNvSpPr>
              <a:spLocks noChangeArrowheads="1"/>
            </p:cNvSpPr>
            <p:nvPr/>
          </p:nvSpPr>
          <p:spPr bwMode="auto">
            <a:xfrm>
              <a:off x="3168" y="1824"/>
              <a:ext cx="192" cy="288"/>
            </a:xfrm>
            <a:prstGeom prst="upArrow">
              <a:avLst>
                <a:gd name="adj1" fmla="val 50000"/>
                <a:gd name="adj2" fmla="val 375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Rectangle 9"/>
            <p:cNvSpPr>
              <a:spLocks noChangeArrowheads="1"/>
            </p:cNvSpPr>
            <p:nvPr/>
          </p:nvSpPr>
          <p:spPr bwMode="auto">
            <a:xfrm>
              <a:off x="2208" y="2112"/>
              <a:ext cx="672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Algorithm</a:t>
              </a:r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3024" y="2112"/>
              <a:ext cx="48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ahoma" panose="020B0604030504040204" pitchFamily="34" charset="0"/>
                </a:rPr>
                <a:t>K1</a:t>
              </a:r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600" y="1344"/>
              <a:ext cx="1008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G%er@17*</a:t>
              </a:r>
            </a:p>
          </p:txBody>
        </p:sp>
        <p:sp>
          <p:nvSpPr>
            <p:cNvPr id="27660" name="Rectangle 12"/>
            <p:cNvSpPr>
              <a:spLocks noChangeArrowheads="1"/>
            </p:cNvSpPr>
            <p:nvPr/>
          </p:nvSpPr>
          <p:spPr bwMode="auto">
            <a:xfrm>
              <a:off x="3504" y="2928"/>
              <a:ext cx="1296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My name is John</a:t>
              </a:r>
            </a:p>
          </p:txBody>
        </p:sp>
        <p:sp>
          <p:nvSpPr>
            <p:cNvPr id="27661" name="Rectangle 13"/>
            <p:cNvSpPr>
              <a:spLocks noChangeArrowheads="1"/>
            </p:cNvSpPr>
            <p:nvPr/>
          </p:nvSpPr>
          <p:spPr bwMode="auto">
            <a:xfrm>
              <a:off x="2352" y="2928"/>
              <a:ext cx="912" cy="48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solidFill>
                    <a:srgbClr val="CCFFFF"/>
                  </a:solidFill>
                  <a:latin typeface="Tahoma" panose="020B0604030504040204" pitchFamily="34" charset="0"/>
                </a:rPr>
                <a:t>Decrypt</a:t>
              </a:r>
            </a:p>
          </p:txBody>
        </p:sp>
        <p:sp>
          <p:nvSpPr>
            <p:cNvPr id="27662" name="AutoShape 14"/>
            <p:cNvSpPr>
              <a:spLocks noChangeArrowheads="1"/>
            </p:cNvSpPr>
            <p:nvPr/>
          </p:nvSpPr>
          <p:spPr bwMode="auto">
            <a:xfrm>
              <a:off x="2352" y="3408"/>
              <a:ext cx="192" cy="288"/>
            </a:xfrm>
            <a:prstGeom prst="upArrow">
              <a:avLst>
                <a:gd name="adj1" fmla="val 50000"/>
                <a:gd name="adj2" fmla="val 375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15"/>
            <p:cNvSpPr>
              <a:spLocks noChangeArrowheads="1"/>
            </p:cNvSpPr>
            <p:nvPr/>
          </p:nvSpPr>
          <p:spPr bwMode="auto">
            <a:xfrm>
              <a:off x="2112" y="3696"/>
              <a:ext cx="672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Algorithm</a:t>
              </a:r>
            </a:p>
          </p:txBody>
        </p:sp>
        <p:sp>
          <p:nvSpPr>
            <p:cNvPr id="27664" name="Rectangle 16"/>
            <p:cNvSpPr>
              <a:spLocks noChangeArrowheads="1"/>
            </p:cNvSpPr>
            <p:nvPr/>
          </p:nvSpPr>
          <p:spPr bwMode="auto">
            <a:xfrm>
              <a:off x="2928" y="3696"/>
              <a:ext cx="480" cy="336"/>
            </a:xfrm>
            <a:prstGeom prst="rect">
              <a:avLst/>
            </a:prstGeom>
            <a:solidFill>
              <a:srgbClr val="FF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>
                  <a:latin typeface="Tahoma" panose="020B0604030504040204" pitchFamily="34" charset="0"/>
                </a:rPr>
                <a:t>K2</a:t>
              </a:r>
            </a:p>
          </p:txBody>
        </p:sp>
        <p:sp>
          <p:nvSpPr>
            <p:cNvPr id="27665" name="Rectangle 17"/>
            <p:cNvSpPr>
              <a:spLocks noChangeArrowheads="1"/>
            </p:cNvSpPr>
            <p:nvPr/>
          </p:nvSpPr>
          <p:spPr bwMode="auto">
            <a:xfrm>
              <a:off x="1104" y="2928"/>
              <a:ext cx="1008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Tahoma" panose="020B0604030504040204" pitchFamily="34" charset="0"/>
                </a:rPr>
                <a:t>G%er@17*</a:t>
              </a:r>
            </a:p>
          </p:txBody>
        </p:sp>
        <p:sp>
          <p:nvSpPr>
            <p:cNvPr id="27666" name="AutoShape 18"/>
            <p:cNvSpPr>
              <a:spLocks noChangeArrowheads="1"/>
            </p:cNvSpPr>
            <p:nvPr/>
          </p:nvSpPr>
          <p:spPr bwMode="auto">
            <a:xfrm>
              <a:off x="2208" y="1536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AutoShape 19"/>
            <p:cNvSpPr>
              <a:spLocks noChangeArrowheads="1"/>
            </p:cNvSpPr>
            <p:nvPr/>
          </p:nvSpPr>
          <p:spPr bwMode="auto">
            <a:xfrm>
              <a:off x="3360" y="1536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8" name="AutoShape 20"/>
            <p:cNvSpPr>
              <a:spLocks noChangeArrowheads="1"/>
            </p:cNvSpPr>
            <p:nvPr/>
          </p:nvSpPr>
          <p:spPr bwMode="auto">
            <a:xfrm>
              <a:off x="2112" y="312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69" name="AutoShape 21"/>
          <p:cNvSpPr>
            <a:spLocks noChangeArrowheads="1"/>
          </p:cNvSpPr>
          <p:nvPr/>
        </p:nvSpPr>
        <p:spPr bwMode="auto">
          <a:xfrm>
            <a:off x="5181600" y="49530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026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Symmetric /Asymmetric Key Encryption</a:t>
            </a:r>
          </a:p>
        </p:txBody>
      </p:sp>
      <p:graphicFrame>
        <p:nvGraphicFramePr>
          <p:cNvPr id="1741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01871"/>
              </p:ext>
            </p:extLst>
          </p:nvPr>
        </p:nvGraphicFramePr>
        <p:xfrm>
          <a:off x="683568" y="1772816"/>
          <a:ext cx="7543800" cy="4250373"/>
        </p:xfrm>
        <a:graphic>
          <a:graphicData uri="http://schemas.openxmlformats.org/drawingml/2006/table">
            <a:tbl>
              <a:tblPr/>
              <a:tblGrid>
                <a:gridCol w="3771900"/>
                <a:gridCol w="3771900"/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ahoma" panose="020B0604030504040204" pitchFamily="34" charset="0"/>
                        </a:rPr>
                        <a:t>Symmetric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FFFF"/>
                          </a:solidFill>
                          <a:effectLst/>
                          <a:latin typeface="Tahoma" panose="020B0604030504040204" pitchFamily="34" charset="0"/>
                        </a:rPr>
                        <a:t>Asymmetric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873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Faster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Slower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Problem of Key Exchange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 Problem of Key Exchange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Every Pair Needs a 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Only One Key-pair Per Party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Easier to implement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Practically more used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8243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Asymmetric Key Example</a:t>
            </a:r>
          </a:p>
        </p:txBody>
      </p:sp>
      <p:pic>
        <p:nvPicPr>
          <p:cNvPr id="256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568" y="1844824"/>
            <a:ext cx="7729538" cy="337502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93742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Asymmetric Key Encryption: Concept</a:t>
            </a:r>
          </a:p>
        </p:txBody>
      </p:sp>
      <p:sp>
        <p:nvSpPr>
          <p:cNvPr id="14339" name="computr1"/>
          <p:cNvSpPr>
            <a:spLocks noEditPoints="1" noChangeArrowheads="1"/>
          </p:cNvSpPr>
          <p:nvPr/>
        </p:nvSpPr>
        <p:spPr bwMode="auto">
          <a:xfrm>
            <a:off x="7242175" y="3616325"/>
            <a:ext cx="1100138" cy="803275"/>
          </a:xfrm>
          <a:custGeom>
            <a:avLst/>
            <a:gdLst>
              <a:gd name="T0" fmla="*/ 19535 w 21600"/>
              <a:gd name="T1" fmla="*/ 0 h 21600"/>
              <a:gd name="T2" fmla="*/ 10800 w 21600"/>
              <a:gd name="T3" fmla="*/ 0 h 21600"/>
              <a:gd name="T4" fmla="*/ 2065 w 21600"/>
              <a:gd name="T5" fmla="*/ 0 h 21600"/>
              <a:gd name="T6" fmla="*/ 0 w 21600"/>
              <a:gd name="T7" fmla="*/ 15388 h 21600"/>
              <a:gd name="T8" fmla="*/ 0 w 21600"/>
              <a:gd name="T9" fmla="*/ 21600 h 21600"/>
              <a:gd name="T10" fmla="*/ 10800 w 21600"/>
              <a:gd name="T11" fmla="*/ 21600 h 21600"/>
              <a:gd name="T12" fmla="*/ 21600 w 21600"/>
              <a:gd name="T13" fmla="*/ 21600 h 21600"/>
              <a:gd name="T14" fmla="*/ 21600 w 21600"/>
              <a:gd name="T15" fmla="*/ 15388 h 21600"/>
              <a:gd name="T16" fmla="*/ 19535 w 21600"/>
              <a:gd name="T17" fmla="*/ 13553 h 21600"/>
              <a:gd name="T18" fmla="*/ 2065 w 21600"/>
              <a:gd name="T19" fmla="*/ 13553 h 21600"/>
              <a:gd name="T20" fmla="*/ 2065 w 21600"/>
              <a:gd name="T21" fmla="*/ 6776 h 21600"/>
              <a:gd name="T22" fmla="*/ 19535 w 21600"/>
              <a:gd name="T23" fmla="*/ 6776 h 21600"/>
              <a:gd name="T24" fmla="*/ 0 w 21600"/>
              <a:gd name="T25" fmla="*/ 18494 h 21600"/>
              <a:gd name="T26" fmla="*/ 21600 w 21600"/>
              <a:gd name="T27" fmla="*/ 18494 h 21600"/>
              <a:gd name="T28" fmla="*/ 4923 w 21600"/>
              <a:gd name="T29" fmla="*/ 2541 h 21600"/>
              <a:gd name="T30" fmla="*/ 16756 w 21600"/>
              <a:gd name="T31" fmla="*/ 1115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T28" t="T29" r="T30" b="T31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r>
              <a:rPr lang="en-US" altLang="en-US" sz="1600" b="1"/>
              <a:t>Bank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1320800" y="2109788"/>
            <a:ext cx="6845300" cy="4003675"/>
            <a:chOff x="1088" y="1536"/>
            <a:chExt cx="3544" cy="2010"/>
          </a:xfrm>
        </p:grpSpPr>
        <p:sp>
          <p:nvSpPr>
            <p:cNvPr id="14341" name="computr1"/>
            <p:cNvSpPr>
              <a:spLocks noEditPoints="1" noChangeArrowheads="1"/>
            </p:cNvSpPr>
            <p:nvPr/>
          </p:nvSpPr>
          <p:spPr bwMode="auto">
            <a:xfrm>
              <a:off x="1088" y="1536"/>
              <a:ext cx="848" cy="589"/>
            </a:xfrm>
            <a:custGeom>
              <a:avLst/>
              <a:gdLst>
                <a:gd name="T0" fmla="*/ 19535 w 21600"/>
                <a:gd name="T1" fmla="*/ 0 h 21600"/>
                <a:gd name="T2" fmla="*/ 10800 w 21600"/>
                <a:gd name="T3" fmla="*/ 0 h 21600"/>
                <a:gd name="T4" fmla="*/ 2065 w 21600"/>
                <a:gd name="T5" fmla="*/ 0 h 21600"/>
                <a:gd name="T6" fmla="*/ 0 w 21600"/>
                <a:gd name="T7" fmla="*/ 15388 h 21600"/>
                <a:gd name="T8" fmla="*/ 0 w 21600"/>
                <a:gd name="T9" fmla="*/ 21600 h 21600"/>
                <a:gd name="T10" fmla="*/ 10800 w 21600"/>
                <a:gd name="T11" fmla="*/ 21600 h 21600"/>
                <a:gd name="T12" fmla="*/ 21600 w 21600"/>
                <a:gd name="T13" fmla="*/ 21600 h 21600"/>
                <a:gd name="T14" fmla="*/ 21600 w 21600"/>
                <a:gd name="T15" fmla="*/ 15388 h 21600"/>
                <a:gd name="T16" fmla="*/ 19535 w 21600"/>
                <a:gd name="T17" fmla="*/ 13553 h 21600"/>
                <a:gd name="T18" fmla="*/ 2065 w 21600"/>
                <a:gd name="T19" fmla="*/ 13553 h 21600"/>
                <a:gd name="T20" fmla="*/ 2065 w 21600"/>
                <a:gd name="T21" fmla="*/ 6776 h 21600"/>
                <a:gd name="T22" fmla="*/ 19535 w 21600"/>
                <a:gd name="T23" fmla="*/ 6776 h 21600"/>
                <a:gd name="T24" fmla="*/ 0 w 21600"/>
                <a:gd name="T25" fmla="*/ 18494 h 21600"/>
                <a:gd name="T26" fmla="*/ 21600 w 21600"/>
                <a:gd name="T27" fmla="*/ 18494 h 21600"/>
                <a:gd name="T28" fmla="*/ 4923 w 21600"/>
                <a:gd name="T29" fmla="*/ 2541 h 21600"/>
                <a:gd name="T30" fmla="*/ 16756 w 21600"/>
                <a:gd name="T31" fmla="*/ 1115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T28" t="T29" r="T30" b="T31"/>
              <a:pathLst>
                <a:path w="21600" h="21600" extrusionOk="0">
                  <a:moveTo>
                    <a:pt x="16994" y="15388"/>
                  </a:moveTo>
                  <a:lnTo>
                    <a:pt x="16994" y="13553"/>
                  </a:lnTo>
                  <a:lnTo>
                    <a:pt x="19535" y="13553"/>
                  </a:lnTo>
                  <a:lnTo>
                    <a:pt x="19535" y="10729"/>
                  </a:lnTo>
                  <a:lnTo>
                    <a:pt x="19535" y="6776"/>
                  </a:lnTo>
                  <a:lnTo>
                    <a:pt x="19535" y="0"/>
                  </a:lnTo>
                  <a:lnTo>
                    <a:pt x="10800" y="0"/>
                  </a:lnTo>
                  <a:lnTo>
                    <a:pt x="2065" y="0"/>
                  </a:lnTo>
                  <a:lnTo>
                    <a:pt x="2065" y="6776"/>
                  </a:lnTo>
                  <a:lnTo>
                    <a:pt x="2065" y="10729"/>
                  </a:lnTo>
                  <a:lnTo>
                    <a:pt x="2065" y="13553"/>
                  </a:lnTo>
                  <a:lnTo>
                    <a:pt x="4606" y="13553"/>
                  </a:lnTo>
                  <a:lnTo>
                    <a:pt x="4606" y="15388"/>
                  </a:lnTo>
                  <a:lnTo>
                    <a:pt x="0" y="15388"/>
                  </a:lnTo>
                  <a:lnTo>
                    <a:pt x="0" y="21600"/>
                  </a:lnTo>
                  <a:lnTo>
                    <a:pt x="10800" y="21600"/>
                  </a:lnTo>
                  <a:lnTo>
                    <a:pt x="21600" y="21600"/>
                  </a:lnTo>
                  <a:lnTo>
                    <a:pt x="21600" y="15388"/>
                  </a:lnTo>
                  <a:lnTo>
                    <a:pt x="16994" y="15388"/>
                  </a:lnTo>
                  <a:close/>
                </a:path>
                <a:path w="21600" h="21600" extrusionOk="0">
                  <a:moveTo>
                    <a:pt x="4606" y="15388"/>
                  </a:moveTo>
                  <a:lnTo>
                    <a:pt x="4606" y="13553"/>
                  </a:lnTo>
                  <a:lnTo>
                    <a:pt x="16994" y="13553"/>
                  </a:lnTo>
                  <a:lnTo>
                    <a:pt x="16994" y="15388"/>
                  </a:lnTo>
                  <a:lnTo>
                    <a:pt x="4606" y="15388"/>
                  </a:lnTo>
                </a:path>
                <a:path w="21600" h="21600" extrusionOk="0">
                  <a:moveTo>
                    <a:pt x="4606" y="11294"/>
                  </a:moveTo>
                  <a:lnTo>
                    <a:pt x="4606" y="2259"/>
                  </a:lnTo>
                  <a:lnTo>
                    <a:pt x="16994" y="2259"/>
                  </a:lnTo>
                  <a:lnTo>
                    <a:pt x="16994" y="11294"/>
                  </a:lnTo>
                  <a:lnTo>
                    <a:pt x="4606" y="11294"/>
                  </a:lnTo>
                  <a:moveTo>
                    <a:pt x="13976" y="17082"/>
                  </a:moveTo>
                  <a:lnTo>
                    <a:pt x="13976" y="16376"/>
                  </a:lnTo>
                  <a:lnTo>
                    <a:pt x="20171" y="16376"/>
                  </a:lnTo>
                  <a:lnTo>
                    <a:pt x="20171" y="17082"/>
                  </a:lnTo>
                  <a:lnTo>
                    <a:pt x="13976" y="17082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 sz="1400" b="1"/>
                <a:t>Customer A</a:t>
              </a:r>
            </a:p>
          </p:txBody>
        </p:sp>
        <p:sp>
          <p:nvSpPr>
            <p:cNvPr id="14342" name="computr1"/>
            <p:cNvSpPr>
              <a:spLocks noEditPoints="1" noChangeArrowheads="1"/>
            </p:cNvSpPr>
            <p:nvPr/>
          </p:nvSpPr>
          <p:spPr bwMode="auto">
            <a:xfrm>
              <a:off x="1113" y="2250"/>
              <a:ext cx="848" cy="589"/>
            </a:xfrm>
            <a:custGeom>
              <a:avLst/>
              <a:gdLst>
                <a:gd name="T0" fmla="*/ 19535 w 21600"/>
                <a:gd name="T1" fmla="*/ 0 h 21600"/>
                <a:gd name="T2" fmla="*/ 10800 w 21600"/>
                <a:gd name="T3" fmla="*/ 0 h 21600"/>
                <a:gd name="T4" fmla="*/ 2065 w 21600"/>
                <a:gd name="T5" fmla="*/ 0 h 21600"/>
                <a:gd name="T6" fmla="*/ 0 w 21600"/>
                <a:gd name="T7" fmla="*/ 15388 h 21600"/>
                <a:gd name="T8" fmla="*/ 0 w 21600"/>
                <a:gd name="T9" fmla="*/ 21600 h 21600"/>
                <a:gd name="T10" fmla="*/ 10800 w 21600"/>
                <a:gd name="T11" fmla="*/ 21600 h 21600"/>
                <a:gd name="T12" fmla="*/ 21600 w 21600"/>
                <a:gd name="T13" fmla="*/ 21600 h 21600"/>
                <a:gd name="T14" fmla="*/ 21600 w 21600"/>
                <a:gd name="T15" fmla="*/ 15388 h 21600"/>
                <a:gd name="T16" fmla="*/ 19535 w 21600"/>
                <a:gd name="T17" fmla="*/ 13553 h 21600"/>
                <a:gd name="T18" fmla="*/ 2065 w 21600"/>
                <a:gd name="T19" fmla="*/ 13553 h 21600"/>
                <a:gd name="T20" fmla="*/ 2065 w 21600"/>
                <a:gd name="T21" fmla="*/ 6776 h 21600"/>
                <a:gd name="T22" fmla="*/ 19535 w 21600"/>
                <a:gd name="T23" fmla="*/ 6776 h 21600"/>
                <a:gd name="T24" fmla="*/ 0 w 21600"/>
                <a:gd name="T25" fmla="*/ 18494 h 21600"/>
                <a:gd name="T26" fmla="*/ 21600 w 21600"/>
                <a:gd name="T27" fmla="*/ 18494 h 21600"/>
                <a:gd name="T28" fmla="*/ 4923 w 21600"/>
                <a:gd name="T29" fmla="*/ 2541 h 21600"/>
                <a:gd name="T30" fmla="*/ 16756 w 21600"/>
                <a:gd name="T31" fmla="*/ 1115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T28" t="T29" r="T30" b="T31"/>
              <a:pathLst>
                <a:path w="21600" h="21600" extrusionOk="0">
                  <a:moveTo>
                    <a:pt x="16994" y="15388"/>
                  </a:moveTo>
                  <a:lnTo>
                    <a:pt x="16994" y="13553"/>
                  </a:lnTo>
                  <a:lnTo>
                    <a:pt x="19535" y="13553"/>
                  </a:lnTo>
                  <a:lnTo>
                    <a:pt x="19535" y="10729"/>
                  </a:lnTo>
                  <a:lnTo>
                    <a:pt x="19535" y="6776"/>
                  </a:lnTo>
                  <a:lnTo>
                    <a:pt x="19535" y="0"/>
                  </a:lnTo>
                  <a:lnTo>
                    <a:pt x="10800" y="0"/>
                  </a:lnTo>
                  <a:lnTo>
                    <a:pt x="2065" y="0"/>
                  </a:lnTo>
                  <a:lnTo>
                    <a:pt x="2065" y="6776"/>
                  </a:lnTo>
                  <a:lnTo>
                    <a:pt x="2065" y="10729"/>
                  </a:lnTo>
                  <a:lnTo>
                    <a:pt x="2065" y="13553"/>
                  </a:lnTo>
                  <a:lnTo>
                    <a:pt x="4606" y="13553"/>
                  </a:lnTo>
                  <a:lnTo>
                    <a:pt x="4606" y="15388"/>
                  </a:lnTo>
                  <a:lnTo>
                    <a:pt x="0" y="15388"/>
                  </a:lnTo>
                  <a:lnTo>
                    <a:pt x="0" y="21600"/>
                  </a:lnTo>
                  <a:lnTo>
                    <a:pt x="10800" y="21600"/>
                  </a:lnTo>
                  <a:lnTo>
                    <a:pt x="21600" y="21600"/>
                  </a:lnTo>
                  <a:lnTo>
                    <a:pt x="21600" y="15388"/>
                  </a:lnTo>
                  <a:lnTo>
                    <a:pt x="16994" y="15388"/>
                  </a:lnTo>
                  <a:close/>
                </a:path>
                <a:path w="21600" h="21600" extrusionOk="0">
                  <a:moveTo>
                    <a:pt x="4606" y="15388"/>
                  </a:moveTo>
                  <a:lnTo>
                    <a:pt x="4606" y="13553"/>
                  </a:lnTo>
                  <a:lnTo>
                    <a:pt x="16994" y="13553"/>
                  </a:lnTo>
                  <a:lnTo>
                    <a:pt x="16994" y="15388"/>
                  </a:lnTo>
                  <a:lnTo>
                    <a:pt x="4606" y="15388"/>
                  </a:lnTo>
                </a:path>
                <a:path w="21600" h="21600" extrusionOk="0">
                  <a:moveTo>
                    <a:pt x="4606" y="11294"/>
                  </a:moveTo>
                  <a:lnTo>
                    <a:pt x="4606" y="2259"/>
                  </a:lnTo>
                  <a:lnTo>
                    <a:pt x="16994" y="2259"/>
                  </a:lnTo>
                  <a:lnTo>
                    <a:pt x="16994" y="11294"/>
                  </a:lnTo>
                  <a:lnTo>
                    <a:pt x="4606" y="11294"/>
                  </a:lnTo>
                  <a:moveTo>
                    <a:pt x="13976" y="17082"/>
                  </a:moveTo>
                  <a:lnTo>
                    <a:pt x="13976" y="16376"/>
                  </a:lnTo>
                  <a:lnTo>
                    <a:pt x="20171" y="16376"/>
                  </a:lnTo>
                  <a:lnTo>
                    <a:pt x="20171" y="17082"/>
                  </a:lnTo>
                  <a:lnTo>
                    <a:pt x="13976" y="17082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 sz="1400" b="1"/>
                <a:t>Customer B</a:t>
              </a:r>
            </a:p>
          </p:txBody>
        </p:sp>
        <p:sp>
          <p:nvSpPr>
            <p:cNvPr id="14343" name="computr1"/>
            <p:cNvSpPr>
              <a:spLocks noEditPoints="1" noChangeArrowheads="1"/>
            </p:cNvSpPr>
            <p:nvPr/>
          </p:nvSpPr>
          <p:spPr bwMode="auto">
            <a:xfrm>
              <a:off x="1088" y="2957"/>
              <a:ext cx="848" cy="589"/>
            </a:xfrm>
            <a:custGeom>
              <a:avLst/>
              <a:gdLst>
                <a:gd name="T0" fmla="*/ 19535 w 21600"/>
                <a:gd name="T1" fmla="*/ 0 h 21600"/>
                <a:gd name="T2" fmla="*/ 10800 w 21600"/>
                <a:gd name="T3" fmla="*/ 0 h 21600"/>
                <a:gd name="T4" fmla="*/ 2065 w 21600"/>
                <a:gd name="T5" fmla="*/ 0 h 21600"/>
                <a:gd name="T6" fmla="*/ 0 w 21600"/>
                <a:gd name="T7" fmla="*/ 15388 h 21600"/>
                <a:gd name="T8" fmla="*/ 0 w 21600"/>
                <a:gd name="T9" fmla="*/ 21600 h 21600"/>
                <a:gd name="T10" fmla="*/ 10800 w 21600"/>
                <a:gd name="T11" fmla="*/ 21600 h 21600"/>
                <a:gd name="T12" fmla="*/ 21600 w 21600"/>
                <a:gd name="T13" fmla="*/ 21600 h 21600"/>
                <a:gd name="T14" fmla="*/ 21600 w 21600"/>
                <a:gd name="T15" fmla="*/ 15388 h 21600"/>
                <a:gd name="T16" fmla="*/ 19535 w 21600"/>
                <a:gd name="T17" fmla="*/ 13553 h 21600"/>
                <a:gd name="T18" fmla="*/ 2065 w 21600"/>
                <a:gd name="T19" fmla="*/ 13553 h 21600"/>
                <a:gd name="T20" fmla="*/ 2065 w 21600"/>
                <a:gd name="T21" fmla="*/ 6776 h 21600"/>
                <a:gd name="T22" fmla="*/ 19535 w 21600"/>
                <a:gd name="T23" fmla="*/ 6776 h 21600"/>
                <a:gd name="T24" fmla="*/ 0 w 21600"/>
                <a:gd name="T25" fmla="*/ 18494 h 21600"/>
                <a:gd name="T26" fmla="*/ 21600 w 21600"/>
                <a:gd name="T27" fmla="*/ 18494 h 21600"/>
                <a:gd name="T28" fmla="*/ 4923 w 21600"/>
                <a:gd name="T29" fmla="*/ 2541 h 21600"/>
                <a:gd name="T30" fmla="*/ 16756 w 21600"/>
                <a:gd name="T31" fmla="*/ 1115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T28" t="T29" r="T30" b="T31"/>
              <a:pathLst>
                <a:path w="21600" h="21600" extrusionOk="0">
                  <a:moveTo>
                    <a:pt x="16994" y="15388"/>
                  </a:moveTo>
                  <a:lnTo>
                    <a:pt x="16994" y="13553"/>
                  </a:lnTo>
                  <a:lnTo>
                    <a:pt x="19535" y="13553"/>
                  </a:lnTo>
                  <a:lnTo>
                    <a:pt x="19535" y="10729"/>
                  </a:lnTo>
                  <a:lnTo>
                    <a:pt x="19535" y="6776"/>
                  </a:lnTo>
                  <a:lnTo>
                    <a:pt x="19535" y="0"/>
                  </a:lnTo>
                  <a:lnTo>
                    <a:pt x="10800" y="0"/>
                  </a:lnTo>
                  <a:lnTo>
                    <a:pt x="2065" y="0"/>
                  </a:lnTo>
                  <a:lnTo>
                    <a:pt x="2065" y="6776"/>
                  </a:lnTo>
                  <a:lnTo>
                    <a:pt x="2065" y="10729"/>
                  </a:lnTo>
                  <a:lnTo>
                    <a:pt x="2065" y="13553"/>
                  </a:lnTo>
                  <a:lnTo>
                    <a:pt x="4606" y="13553"/>
                  </a:lnTo>
                  <a:lnTo>
                    <a:pt x="4606" y="15388"/>
                  </a:lnTo>
                  <a:lnTo>
                    <a:pt x="0" y="15388"/>
                  </a:lnTo>
                  <a:lnTo>
                    <a:pt x="0" y="21600"/>
                  </a:lnTo>
                  <a:lnTo>
                    <a:pt x="10800" y="21600"/>
                  </a:lnTo>
                  <a:lnTo>
                    <a:pt x="21600" y="21600"/>
                  </a:lnTo>
                  <a:lnTo>
                    <a:pt x="21600" y="15388"/>
                  </a:lnTo>
                  <a:lnTo>
                    <a:pt x="16994" y="15388"/>
                  </a:lnTo>
                  <a:close/>
                </a:path>
                <a:path w="21600" h="21600" extrusionOk="0">
                  <a:moveTo>
                    <a:pt x="4606" y="15388"/>
                  </a:moveTo>
                  <a:lnTo>
                    <a:pt x="4606" y="13553"/>
                  </a:lnTo>
                  <a:lnTo>
                    <a:pt x="16994" y="13553"/>
                  </a:lnTo>
                  <a:lnTo>
                    <a:pt x="16994" y="15388"/>
                  </a:lnTo>
                  <a:lnTo>
                    <a:pt x="4606" y="15388"/>
                  </a:lnTo>
                </a:path>
                <a:path w="21600" h="21600" extrusionOk="0">
                  <a:moveTo>
                    <a:pt x="4606" y="11294"/>
                  </a:moveTo>
                  <a:lnTo>
                    <a:pt x="4606" y="2259"/>
                  </a:lnTo>
                  <a:lnTo>
                    <a:pt x="16994" y="2259"/>
                  </a:lnTo>
                  <a:lnTo>
                    <a:pt x="16994" y="11294"/>
                  </a:lnTo>
                  <a:lnTo>
                    <a:pt x="4606" y="11294"/>
                  </a:lnTo>
                  <a:moveTo>
                    <a:pt x="13976" y="17082"/>
                  </a:moveTo>
                  <a:lnTo>
                    <a:pt x="13976" y="16376"/>
                  </a:lnTo>
                  <a:lnTo>
                    <a:pt x="20171" y="16376"/>
                  </a:lnTo>
                  <a:lnTo>
                    <a:pt x="20171" y="17082"/>
                  </a:lnTo>
                  <a:lnTo>
                    <a:pt x="13976" y="17082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35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 sz="1400" b="1"/>
                <a:t>Customer C</a:t>
              </a:r>
            </a:p>
          </p:txBody>
        </p:sp>
        <p:sp>
          <p:nvSpPr>
            <p:cNvPr id="14344" name="Line 8"/>
            <p:cNvSpPr>
              <a:spLocks noChangeShapeType="1"/>
            </p:cNvSpPr>
            <p:nvPr/>
          </p:nvSpPr>
          <p:spPr bwMode="auto">
            <a:xfrm>
              <a:off x="1852" y="1747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Text Box 9"/>
            <p:cNvSpPr txBox="1">
              <a:spLocks noChangeArrowheads="1"/>
            </p:cNvSpPr>
            <p:nvPr/>
          </p:nvSpPr>
          <p:spPr bwMode="auto">
            <a:xfrm>
              <a:off x="2259" y="1588"/>
              <a:ext cx="677" cy="2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en-US" sz="1400" b="1"/>
                <a:t>Bank’s public key</a:t>
              </a:r>
            </a:p>
          </p:txBody>
        </p:sp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>
              <a:off x="1892" y="2482"/>
              <a:ext cx="4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2300" y="2322"/>
              <a:ext cx="677" cy="2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en-US" sz="1400" b="1"/>
                <a:t>Bank’s public key</a:t>
              </a:r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>
              <a:off x="1860" y="3182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Text Box 13"/>
            <p:cNvSpPr txBox="1">
              <a:spLocks noChangeArrowheads="1"/>
            </p:cNvSpPr>
            <p:nvPr/>
          </p:nvSpPr>
          <p:spPr bwMode="auto">
            <a:xfrm>
              <a:off x="2267" y="3022"/>
              <a:ext cx="677" cy="2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en-US" sz="1400" b="1"/>
                <a:t>Bank’s public key</a:t>
              </a:r>
            </a:p>
          </p:txBody>
        </p:sp>
        <p:sp>
          <p:nvSpPr>
            <p:cNvPr id="14350" name="Text Box 14"/>
            <p:cNvSpPr txBox="1">
              <a:spLocks noChangeArrowheads="1"/>
            </p:cNvSpPr>
            <p:nvPr/>
          </p:nvSpPr>
          <p:spPr bwMode="auto">
            <a:xfrm>
              <a:off x="3556" y="2329"/>
              <a:ext cx="717" cy="2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lang="en-US" altLang="en-US" sz="1400" b="1"/>
                <a:t>Bank’s private key</a:t>
              </a:r>
            </a:p>
            <a:p>
              <a:pPr eaLnBrk="0" hangingPunct="0"/>
              <a:endParaRPr lang="en-US" altLang="en-US" sz="1600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2936" y="1726"/>
              <a:ext cx="620" cy="7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>
              <a:off x="2985" y="2482"/>
              <a:ext cx="57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 flipV="1">
              <a:off x="2944" y="2565"/>
              <a:ext cx="612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>
              <a:off x="4273" y="2475"/>
              <a:ext cx="3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0851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5418356" cy="849832"/>
          </a:xfrm>
        </p:spPr>
        <p:txBody>
          <a:bodyPr anchor="ctr"/>
          <a:lstStyle/>
          <a:p>
            <a:pPr algn="l"/>
            <a:r>
              <a:rPr lang="en-US" altLang="en-US" sz="3200" dirty="0"/>
              <a:t>Matrix of Keys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914400" y="1900238"/>
            <a:ext cx="7162800" cy="3890962"/>
            <a:chOff x="-3" y="-3"/>
            <a:chExt cx="2401" cy="1926"/>
          </a:xfrm>
        </p:grpSpPr>
        <p:grpSp>
          <p:nvGrpSpPr>
            <p:cNvPr id="16388" name="Group 4"/>
            <p:cNvGrpSpPr>
              <a:grpSpLocks/>
            </p:cNvGrpSpPr>
            <p:nvPr/>
          </p:nvGrpSpPr>
          <p:grpSpPr bwMode="auto">
            <a:xfrm>
              <a:off x="0" y="0"/>
              <a:ext cx="2395" cy="1920"/>
              <a:chOff x="0" y="0"/>
              <a:chExt cx="2395" cy="1920"/>
            </a:xfrm>
          </p:grpSpPr>
          <p:grpSp>
            <p:nvGrpSpPr>
              <p:cNvPr id="16389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962" cy="384"/>
                <a:chOff x="0" y="0"/>
                <a:chExt cx="962" cy="384"/>
              </a:xfrm>
            </p:grpSpPr>
            <p:sp>
              <p:nvSpPr>
                <p:cNvPr id="16390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876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 b="1">
                      <a:cs typeface="Times New Roman" panose="02020603050405020304" pitchFamily="18" charset="0"/>
                    </a:rPr>
                    <a:t>Key details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391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392" name="Group 8"/>
              <p:cNvGrpSpPr>
                <a:grpSpLocks/>
              </p:cNvGrpSpPr>
              <p:nvPr/>
            </p:nvGrpSpPr>
            <p:grpSpPr bwMode="auto">
              <a:xfrm>
                <a:off x="962" y="0"/>
                <a:ext cx="655" cy="384"/>
                <a:chOff x="962" y="0"/>
                <a:chExt cx="655" cy="384"/>
              </a:xfrm>
            </p:grpSpPr>
            <p:sp>
              <p:nvSpPr>
                <p:cNvPr id="16393" name="Rectangle 9"/>
                <p:cNvSpPr>
                  <a:spLocks noChangeArrowheads="1"/>
                </p:cNvSpPr>
                <p:nvPr/>
              </p:nvSpPr>
              <p:spPr bwMode="auto">
                <a:xfrm>
                  <a:off x="1005" y="0"/>
                  <a:ext cx="56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 b="1" i="1">
                      <a:cs typeface="Times New Roman" panose="02020603050405020304" pitchFamily="18" charset="0"/>
                    </a:rPr>
                    <a:t>A</a:t>
                  </a:r>
                  <a:r>
                    <a:rPr lang="en-AU" altLang="en-US" sz="2000" b="1">
                      <a:cs typeface="Times New Roman" panose="02020603050405020304" pitchFamily="18" charset="0"/>
                    </a:rPr>
                    <a:t> should know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394" name="Rectangle 10"/>
                <p:cNvSpPr>
                  <a:spLocks noChangeArrowheads="1"/>
                </p:cNvSpPr>
                <p:nvPr/>
              </p:nvSpPr>
              <p:spPr bwMode="auto">
                <a:xfrm>
                  <a:off x="962" y="0"/>
                  <a:ext cx="65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395" name="Group 11"/>
              <p:cNvGrpSpPr>
                <a:grpSpLocks/>
              </p:cNvGrpSpPr>
              <p:nvPr/>
            </p:nvGrpSpPr>
            <p:grpSpPr bwMode="auto">
              <a:xfrm>
                <a:off x="1617" y="0"/>
                <a:ext cx="778" cy="384"/>
                <a:chOff x="1617" y="0"/>
                <a:chExt cx="778" cy="384"/>
              </a:xfrm>
            </p:grpSpPr>
            <p:sp>
              <p:nvSpPr>
                <p:cNvPr id="16396" name="Rectangle 12"/>
                <p:cNvSpPr>
                  <a:spLocks noChangeArrowheads="1"/>
                </p:cNvSpPr>
                <p:nvPr/>
              </p:nvSpPr>
              <p:spPr bwMode="auto">
                <a:xfrm>
                  <a:off x="1660" y="0"/>
                  <a:ext cx="6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 b="1" i="1">
                      <a:cs typeface="Times New Roman" panose="02020603050405020304" pitchFamily="18" charset="0"/>
                    </a:rPr>
                    <a:t>B</a:t>
                  </a:r>
                  <a:r>
                    <a:rPr lang="en-AU" altLang="en-US" sz="2000" b="1">
                      <a:cs typeface="Times New Roman" panose="02020603050405020304" pitchFamily="18" charset="0"/>
                    </a:rPr>
                    <a:t> should know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397" name="Rectangle 13"/>
                <p:cNvSpPr>
                  <a:spLocks noChangeArrowheads="1"/>
                </p:cNvSpPr>
                <p:nvPr/>
              </p:nvSpPr>
              <p:spPr bwMode="auto">
                <a:xfrm>
                  <a:off x="1617" y="0"/>
                  <a:ext cx="7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398" name="Group 14"/>
              <p:cNvGrpSpPr>
                <a:grpSpLocks/>
              </p:cNvGrpSpPr>
              <p:nvPr/>
            </p:nvGrpSpPr>
            <p:grpSpPr bwMode="auto">
              <a:xfrm>
                <a:off x="0" y="384"/>
                <a:ext cx="962" cy="384"/>
                <a:chOff x="0" y="384"/>
                <a:chExt cx="962" cy="384"/>
              </a:xfrm>
            </p:grpSpPr>
            <p:sp>
              <p:nvSpPr>
                <p:cNvPr id="16399" name="Rectangle 15"/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876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A’s private key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00" name="Rectangle 16"/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9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01" name="Group 17"/>
              <p:cNvGrpSpPr>
                <a:grpSpLocks/>
              </p:cNvGrpSpPr>
              <p:nvPr/>
            </p:nvGrpSpPr>
            <p:grpSpPr bwMode="auto">
              <a:xfrm>
                <a:off x="962" y="384"/>
                <a:ext cx="655" cy="384"/>
                <a:chOff x="962" y="384"/>
                <a:chExt cx="655" cy="384"/>
              </a:xfrm>
            </p:grpSpPr>
            <p:sp>
              <p:nvSpPr>
                <p:cNvPr id="16402" name="Rectangle 18"/>
                <p:cNvSpPr>
                  <a:spLocks noChangeArrowheads="1"/>
                </p:cNvSpPr>
                <p:nvPr/>
              </p:nvSpPr>
              <p:spPr bwMode="auto">
                <a:xfrm>
                  <a:off x="1005" y="384"/>
                  <a:ext cx="56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03" name="Rectangle 19"/>
                <p:cNvSpPr>
                  <a:spLocks noChangeArrowheads="1"/>
                </p:cNvSpPr>
                <p:nvPr/>
              </p:nvSpPr>
              <p:spPr bwMode="auto">
                <a:xfrm>
                  <a:off x="962" y="384"/>
                  <a:ext cx="65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04" name="Group 20"/>
              <p:cNvGrpSpPr>
                <a:grpSpLocks/>
              </p:cNvGrpSpPr>
              <p:nvPr/>
            </p:nvGrpSpPr>
            <p:grpSpPr bwMode="auto">
              <a:xfrm>
                <a:off x="1617" y="384"/>
                <a:ext cx="778" cy="384"/>
                <a:chOff x="1617" y="384"/>
                <a:chExt cx="778" cy="384"/>
              </a:xfrm>
            </p:grpSpPr>
            <p:sp>
              <p:nvSpPr>
                <p:cNvPr id="16405" name="Rectangle 21"/>
                <p:cNvSpPr>
                  <a:spLocks noChangeArrowheads="1"/>
                </p:cNvSpPr>
                <p:nvPr/>
              </p:nvSpPr>
              <p:spPr bwMode="auto">
                <a:xfrm>
                  <a:off x="1660" y="384"/>
                  <a:ext cx="6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No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06" name="Rectangle 22"/>
                <p:cNvSpPr>
                  <a:spLocks noChangeArrowheads="1"/>
                </p:cNvSpPr>
                <p:nvPr/>
              </p:nvSpPr>
              <p:spPr bwMode="auto">
                <a:xfrm>
                  <a:off x="1617" y="384"/>
                  <a:ext cx="7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07" name="Group 23"/>
              <p:cNvGrpSpPr>
                <a:grpSpLocks/>
              </p:cNvGrpSpPr>
              <p:nvPr/>
            </p:nvGrpSpPr>
            <p:grpSpPr bwMode="auto">
              <a:xfrm>
                <a:off x="0" y="768"/>
                <a:ext cx="962" cy="384"/>
                <a:chOff x="0" y="768"/>
                <a:chExt cx="962" cy="384"/>
              </a:xfrm>
            </p:grpSpPr>
            <p:sp>
              <p:nvSpPr>
                <p:cNvPr id="16408" name="Rectangle 24"/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876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A’s public key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09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9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0" name="Group 26"/>
              <p:cNvGrpSpPr>
                <a:grpSpLocks/>
              </p:cNvGrpSpPr>
              <p:nvPr/>
            </p:nvGrpSpPr>
            <p:grpSpPr bwMode="auto">
              <a:xfrm>
                <a:off x="962" y="768"/>
                <a:ext cx="655" cy="384"/>
                <a:chOff x="962" y="768"/>
                <a:chExt cx="655" cy="384"/>
              </a:xfrm>
            </p:grpSpPr>
            <p:sp>
              <p:nvSpPr>
                <p:cNvPr id="16411" name="Rectangle 27"/>
                <p:cNvSpPr>
                  <a:spLocks noChangeArrowheads="1"/>
                </p:cNvSpPr>
                <p:nvPr/>
              </p:nvSpPr>
              <p:spPr bwMode="auto">
                <a:xfrm>
                  <a:off x="1005" y="768"/>
                  <a:ext cx="56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12" name="Rectangle 28"/>
                <p:cNvSpPr>
                  <a:spLocks noChangeArrowheads="1"/>
                </p:cNvSpPr>
                <p:nvPr/>
              </p:nvSpPr>
              <p:spPr bwMode="auto">
                <a:xfrm>
                  <a:off x="962" y="768"/>
                  <a:ext cx="65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3" name="Group 29"/>
              <p:cNvGrpSpPr>
                <a:grpSpLocks/>
              </p:cNvGrpSpPr>
              <p:nvPr/>
            </p:nvGrpSpPr>
            <p:grpSpPr bwMode="auto">
              <a:xfrm>
                <a:off x="1617" y="768"/>
                <a:ext cx="778" cy="384"/>
                <a:chOff x="1617" y="768"/>
                <a:chExt cx="778" cy="384"/>
              </a:xfrm>
            </p:grpSpPr>
            <p:sp>
              <p:nvSpPr>
                <p:cNvPr id="16414" name="Rectangle 30"/>
                <p:cNvSpPr>
                  <a:spLocks noChangeArrowheads="1"/>
                </p:cNvSpPr>
                <p:nvPr/>
              </p:nvSpPr>
              <p:spPr bwMode="auto">
                <a:xfrm>
                  <a:off x="1660" y="768"/>
                  <a:ext cx="6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15" name="Rectangle 31"/>
                <p:cNvSpPr>
                  <a:spLocks noChangeArrowheads="1"/>
                </p:cNvSpPr>
                <p:nvPr/>
              </p:nvSpPr>
              <p:spPr bwMode="auto">
                <a:xfrm>
                  <a:off x="1617" y="768"/>
                  <a:ext cx="7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6" name="Group 32"/>
              <p:cNvGrpSpPr>
                <a:grpSpLocks/>
              </p:cNvGrpSpPr>
              <p:nvPr/>
            </p:nvGrpSpPr>
            <p:grpSpPr bwMode="auto">
              <a:xfrm>
                <a:off x="0" y="1152"/>
                <a:ext cx="962" cy="384"/>
                <a:chOff x="0" y="1152"/>
                <a:chExt cx="962" cy="384"/>
              </a:xfrm>
            </p:grpSpPr>
            <p:sp>
              <p:nvSpPr>
                <p:cNvPr id="16417" name="Rectangle 33"/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876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B’s private key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18" name="Rectangle 34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9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9" name="Group 35"/>
              <p:cNvGrpSpPr>
                <a:grpSpLocks/>
              </p:cNvGrpSpPr>
              <p:nvPr/>
            </p:nvGrpSpPr>
            <p:grpSpPr bwMode="auto">
              <a:xfrm>
                <a:off x="962" y="1152"/>
                <a:ext cx="655" cy="384"/>
                <a:chOff x="962" y="1152"/>
                <a:chExt cx="655" cy="384"/>
              </a:xfrm>
            </p:grpSpPr>
            <p:sp>
              <p:nvSpPr>
                <p:cNvPr id="16420" name="Rectangle 36"/>
                <p:cNvSpPr>
                  <a:spLocks noChangeArrowheads="1"/>
                </p:cNvSpPr>
                <p:nvPr/>
              </p:nvSpPr>
              <p:spPr bwMode="auto">
                <a:xfrm>
                  <a:off x="1005" y="1152"/>
                  <a:ext cx="56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No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21" name="Rectangle 37"/>
                <p:cNvSpPr>
                  <a:spLocks noChangeArrowheads="1"/>
                </p:cNvSpPr>
                <p:nvPr/>
              </p:nvSpPr>
              <p:spPr bwMode="auto">
                <a:xfrm>
                  <a:off x="962" y="1152"/>
                  <a:ext cx="65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2" name="Group 38"/>
              <p:cNvGrpSpPr>
                <a:grpSpLocks/>
              </p:cNvGrpSpPr>
              <p:nvPr/>
            </p:nvGrpSpPr>
            <p:grpSpPr bwMode="auto">
              <a:xfrm>
                <a:off x="1617" y="1152"/>
                <a:ext cx="778" cy="384"/>
                <a:chOff x="1617" y="1152"/>
                <a:chExt cx="778" cy="384"/>
              </a:xfrm>
            </p:grpSpPr>
            <p:sp>
              <p:nvSpPr>
                <p:cNvPr id="16423" name="Rectangle 39"/>
                <p:cNvSpPr>
                  <a:spLocks noChangeArrowheads="1"/>
                </p:cNvSpPr>
                <p:nvPr/>
              </p:nvSpPr>
              <p:spPr bwMode="auto">
                <a:xfrm>
                  <a:off x="1660" y="1152"/>
                  <a:ext cx="6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24" name="Rectangle 40"/>
                <p:cNvSpPr>
                  <a:spLocks noChangeArrowheads="1"/>
                </p:cNvSpPr>
                <p:nvPr/>
              </p:nvSpPr>
              <p:spPr bwMode="auto">
                <a:xfrm>
                  <a:off x="1617" y="1152"/>
                  <a:ext cx="7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5" name="Group 41"/>
              <p:cNvGrpSpPr>
                <a:grpSpLocks/>
              </p:cNvGrpSpPr>
              <p:nvPr/>
            </p:nvGrpSpPr>
            <p:grpSpPr bwMode="auto">
              <a:xfrm>
                <a:off x="0" y="1536"/>
                <a:ext cx="962" cy="384"/>
                <a:chOff x="0" y="1536"/>
                <a:chExt cx="962" cy="384"/>
              </a:xfrm>
            </p:grpSpPr>
            <p:sp>
              <p:nvSpPr>
                <p:cNvPr id="16426" name="Rectangle 42"/>
                <p:cNvSpPr>
                  <a:spLocks noChangeArrowheads="1"/>
                </p:cNvSpPr>
                <p:nvPr/>
              </p:nvSpPr>
              <p:spPr bwMode="auto">
                <a:xfrm>
                  <a:off x="43" y="1536"/>
                  <a:ext cx="876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B’s public key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27" name="Rectangle 43"/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962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8" name="Group 44"/>
              <p:cNvGrpSpPr>
                <a:grpSpLocks/>
              </p:cNvGrpSpPr>
              <p:nvPr/>
            </p:nvGrpSpPr>
            <p:grpSpPr bwMode="auto">
              <a:xfrm>
                <a:off x="962" y="1536"/>
                <a:ext cx="655" cy="384"/>
                <a:chOff x="962" y="1536"/>
                <a:chExt cx="655" cy="384"/>
              </a:xfrm>
            </p:grpSpPr>
            <p:sp>
              <p:nvSpPr>
                <p:cNvPr id="16429" name="Rectangle 45"/>
                <p:cNvSpPr>
                  <a:spLocks noChangeArrowheads="1"/>
                </p:cNvSpPr>
                <p:nvPr/>
              </p:nvSpPr>
              <p:spPr bwMode="auto">
                <a:xfrm>
                  <a:off x="1005" y="1536"/>
                  <a:ext cx="56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30" name="Rectangle 46"/>
                <p:cNvSpPr>
                  <a:spLocks noChangeArrowheads="1"/>
                </p:cNvSpPr>
                <p:nvPr/>
              </p:nvSpPr>
              <p:spPr bwMode="auto">
                <a:xfrm>
                  <a:off x="962" y="1536"/>
                  <a:ext cx="65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1" name="Group 47"/>
              <p:cNvGrpSpPr>
                <a:grpSpLocks/>
              </p:cNvGrpSpPr>
              <p:nvPr/>
            </p:nvGrpSpPr>
            <p:grpSpPr bwMode="auto">
              <a:xfrm>
                <a:off x="1617" y="1536"/>
                <a:ext cx="778" cy="384"/>
                <a:chOff x="1617" y="1536"/>
                <a:chExt cx="778" cy="384"/>
              </a:xfrm>
            </p:grpSpPr>
            <p:sp>
              <p:nvSpPr>
                <p:cNvPr id="16432" name="Rectangle 48"/>
                <p:cNvSpPr>
                  <a:spLocks noChangeArrowheads="1"/>
                </p:cNvSpPr>
                <p:nvPr/>
              </p:nvSpPr>
              <p:spPr bwMode="auto">
                <a:xfrm>
                  <a:off x="1660" y="1536"/>
                  <a:ext cx="6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AU" altLang="en-US" sz="2000">
                      <a:cs typeface="Times New Roman" panose="02020603050405020304" pitchFamily="18" charset="0"/>
                    </a:rPr>
                    <a:t>Yes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2000"/>
                </a:p>
              </p:txBody>
            </p:sp>
            <p:sp>
              <p:nvSpPr>
                <p:cNvPr id="16433" name="Rectangle 49"/>
                <p:cNvSpPr>
                  <a:spLocks noChangeArrowheads="1"/>
                </p:cNvSpPr>
                <p:nvPr/>
              </p:nvSpPr>
              <p:spPr bwMode="auto">
                <a:xfrm>
                  <a:off x="1617" y="1536"/>
                  <a:ext cx="7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434" name="Rectangle 50"/>
            <p:cNvSpPr>
              <a:spLocks noChangeArrowheads="1"/>
            </p:cNvSpPr>
            <p:nvPr/>
          </p:nvSpPr>
          <p:spPr bwMode="auto">
            <a:xfrm>
              <a:off x="-3" y="-3"/>
              <a:ext cx="2401" cy="192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1176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Asymmetric Key Cryptography</a:t>
            </a:r>
          </a:p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A  Reference Network Model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683568" y="2060848"/>
            <a:ext cx="7759774" cy="3672408"/>
            <a:chOff x="683568" y="897687"/>
            <a:chExt cx="7759774" cy="3672408"/>
          </a:xfrm>
        </p:grpSpPr>
        <p:grpSp>
          <p:nvGrpSpPr>
            <p:cNvPr id="5" name="Group 14"/>
            <p:cNvGrpSpPr/>
            <p:nvPr/>
          </p:nvGrpSpPr>
          <p:grpSpPr>
            <a:xfrm>
              <a:off x="683568" y="2996952"/>
              <a:ext cx="2880320" cy="1512168"/>
              <a:chOff x="611560" y="2132856"/>
              <a:chExt cx="2880320" cy="1512168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683568" y="3068960"/>
                <a:ext cx="792088" cy="276999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dirty="0" smtClean="0">
                    <a:solidFill>
                      <a:prstClr val="black"/>
                    </a:solidFill>
                  </a:rPr>
                  <a:t>Plaintext </a:t>
                </a:r>
                <a:endParaRPr lang="en-IN" sz="12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2555776" y="3068960"/>
                <a:ext cx="864096" cy="276999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dirty="0" smtClean="0">
                    <a:solidFill>
                      <a:prstClr val="white"/>
                    </a:solidFill>
                  </a:rPr>
                  <a:t>Ciphertext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" name="Group 9"/>
              <p:cNvGrpSpPr/>
              <p:nvPr/>
            </p:nvGrpSpPr>
            <p:grpSpPr>
              <a:xfrm>
                <a:off x="1547664" y="2780928"/>
                <a:ext cx="936104" cy="709047"/>
                <a:chOff x="1331640" y="3645024"/>
                <a:chExt cx="936104" cy="709047"/>
              </a:xfrm>
            </p:grpSpPr>
            <p:pic>
              <p:nvPicPr>
                <p:cNvPr id="41" name="Picture 2" descr="https://pixabay.com/static/uploads/photo/2014/09/30/15/15/gears-467261_640.png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1547664" y="3645024"/>
                  <a:ext cx="478110" cy="430957"/>
                </a:xfrm>
                <a:prstGeom prst="rect">
                  <a:avLst/>
                </a:prstGeom>
                <a:noFill/>
              </p:spPr>
            </p:pic>
            <p:sp>
              <p:nvSpPr>
                <p:cNvPr id="42" name="TextBox 41"/>
                <p:cNvSpPr txBox="1"/>
                <p:nvPr/>
              </p:nvSpPr>
              <p:spPr>
                <a:xfrm>
                  <a:off x="1331640" y="4077072"/>
                  <a:ext cx="9361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dirty="0" smtClean="0">
                      <a:solidFill>
                        <a:prstClr val="black"/>
                      </a:solidFill>
                    </a:rPr>
                    <a:t>Encryption</a:t>
                  </a:r>
                </a:p>
              </p:txBody>
            </p:sp>
          </p:grpSp>
          <p:grpSp>
            <p:nvGrpSpPr>
              <p:cNvPr id="8" name="Group 12"/>
              <p:cNvGrpSpPr/>
              <p:nvPr/>
            </p:nvGrpSpPr>
            <p:grpSpPr>
              <a:xfrm>
                <a:off x="1619672" y="2132856"/>
                <a:ext cx="936104" cy="637039"/>
                <a:chOff x="1619672" y="2132856"/>
                <a:chExt cx="936104" cy="637039"/>
              </a:xfrm>
            </p:grpSpPr>
            <p:pic>
              <p:nvPicPr>
                <p:cNvPr id="39" name="Picture 4" descr="http://image.shutterstock.com/display_pic_with_logo/134128/134128,1244606246,1/stock-photo-skeleton-key-symbol-31783060.jp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 b="21237"/>
                <a:stretch>
                  <a:fillRect/>
                </a:stretch>
              </p:blipFill>
              <p:spPr bwMode="auto">
                <a:xfrm>
                  <a:off x="1763688" y="2132856"/>
                  <a:ext cx="541327" cy="360040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TextBox 39"/>
                <p:cNvSpPr txBox="1"/>
                <p:nvPr/>
              </p:nvSpPr>
              <p:spPr>
                <a:xfrm>
                  <a:off x="1619672" y="2492896"/>
                  <a:ext cx="9361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 dirty="0" smtClean="0">
                      <a:solidFill>
                        <a:prstClr val="black"/>
                      </a:solidFill>
                    </a:rPr>
                    <a:t>Public Key</a:t>
                  </a:r>
                </a:p>
              </p:txBody>
            </p:sp>
          </p:grpSp>
          <p:sp>
            <p:nvSpPr>
              <p:cNvPr id="38" name="Rectangle 37"/>
              <p:cNvSpPr/>
              <p:nvPr/>
            </p:nvSpPr>
            <p:spPr>
              <a:xfrm>
                <a:off x="611560" y="2132856"/>
                <a:ext cx="2880320" cy="151216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9" name="Group 15"/>
            <p:cNvGrpSpPr/>
            <p:nvPr/>
          </p:nvGrpSpPr>
          <p:grpSpPr>
            <a:xfrm>
              <a:off x="5508104" y="1556792"/>
              <a:ext cx="2880320" cy="2880320"/>
              <a:chOff x="611560" y="764704"/>
              <a:chExt cx="2880320" cy="2880320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2555776" y="3140968"/>
                <a:ext cx="792088" cy="276999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dirty="0" smtClean="0">
                    <a:solidFill>
                      <a:prstClr val="black"/>
                    </a:solidFill>
                  </a:rPr>
                  <a:t>Plaintext </a:t>
                </a:r>
                <a:endParaRPr lang="en-IN" sz="12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83568" y="3140968"/>
                <a:ext cx="864096" cy="276999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dirty="0" smtClean="0">
                    <a:solidFill>
                      <a:prstClr val="white"/>
                    </a:solidFill>
                  </a:rPr>
                  <a:t>Ciphertext</a:t>
                </a:r>
                <a:endParaRPr lang="en-IN" sz="1200" b="1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TextBox 7"/>
              <p:cNvSpPr txBox="1"/>
              <p:nvPr/>
            </p:nvSpPr>
            <p:spPr>
              <a:xfrm>
                <a:off x="1547664" y="3212976"/>
                <a:ext cx="9361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 smtClean="0">
                    <a:solidFill>
                      <a:prstClr val="black"/>
                    </a:solidFill>
                  </a:rPr>
                  <a:t>Decryption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619672" y="2492896"/>
                <a:ext cx="9361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 smtClean="0">
                    <a:solidFill>
                      <a:srgbClr val="FF0000"/>
                    </a:solidFill>
                  </a:rPr>
                  <a:t>Private Key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11560" y="764704"/>
                <a:ext cx="2880320" cy="28803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1" name="Picture 4" descr="http://hartfordinformer.com/wp-content/uploads/2012/09/red-key-460x236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6660232" y="3053307"/>
              <a:ext cx="591928" cy="303685"/>
            </a:xfrm>
            <a:prstGeom prst="rect">
              <a:avLst/>
            </a:prstGeom>
            <a:noFill/>
          </p:spPr>
        </p:pic>
        <p:pic>
          <p:nvPicPr>
            <p:cNvPr id="12" name="Picture 2" descr="https://pixabay.com/static/uploads/photo/2014/09/30/15/15/gears-467261_640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6660232" y="3645024"/>
              <a:ext cx="478110" cy="430957"/>
            </a:xfrm>
            <a:prstGeom prst="rect">
              <a:avLst/>
            </a:prstGeom>
            <a:noFill/>
          </p:spPr>
        </p:pic>
        <p:pic>
          <p:nvPicPr>
            <p:cNvPr id="13" name="Picture 8" descr="https://svn.apache.org/repos/asf/incubator/ooo/symphony/trunk/main/extras/source/gallery/diagrams/Cycle01-Transparent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229275" y="1700808"/>
              <a:ext cx="502965" cy="50296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6732240" y="1772816"/>
              <a:ext cx="12241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prstClr val="black"/>
                  </a:solidFill>
                </a:rPr>
                <a:t>Key Generation procedure</a:t>
              </a:r>
              <a:endParaRPr lang="en-IN" sz="1200" b="1" dirty="0">
                <a:solidFill>
                  <a:prstClr val="black"/>
                </a:solidFill>
              </a:endParaRPr>
            </a:p>
          </p:txBody>
        </p:sp>
        <p:pic>
          <p:nvPicPr>
            <p:cNvPr id="15" name="Picture 10" descr="http://cdn.flaticon.com/png/256/52641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59832" y="1700808"/>
              <a:ext cx="494184" cy="494184"/>
            </a:xfrm>
            <a:prstGeom prst="rect">
              <a:avLst/>
            </a:prstGeom>
            <a:noFill/>
          </p:spPr>
        </p:pic>
        <p:sp>
          <p:nvSpPr>
            <p:cNvPr id="16" name="TextBox 15"/>
            <p:cNvSpPr txBox="1"/>
            <p:nvPr/>
          </p:nvSpPr>
          <p:spPr>
            <a:xfrm>
              <a:off x="3563888" y="1556792"/>
              <a:ext cx="122413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prstClr val="black"/>
                  </a:solidFill>
                </a:rPr>
                <a:t>Public Key Distribution Mechanism</a:t>
              </a:r>
              <a:endParaRPr lang="en-IN" sz="1200" b="1" dirty="0">
                <a:solidFill>
                  <a:prstClr val="black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87824" y="1556792"/>
              <a:ext cx="1800200" cy="7200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4932040" y="1916832"/>
              <a:ext cx="1152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2195736" y="2348880"/>
              <a:ext cx="1584176" cy="50405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1763688" y="2132856"/>
              <a:ext cx="1152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1763688" y="1772816"/>
              <a:ext cx="11521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7020272" y="2420888"/>
              <a:ext cx="0" cy="576064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11"/>
            <p:cNvPicPr>
              <a:picLocks noChangeAspect="1" noChangeArrowheads="1"/>
            </p:cNvPicPr>
            <p:nvPr/>
          </p:nvPicPr>
          <p:blipFill>
            <a:blip r:embed="rId7" cstate="print"/>
            <a:srcRect r="1820"/>
            <a:stretch>
              <a:fillRect/>
            </a:stretch>
          </p:blipFill>
          <p:spPr bwMode="auto">
            <a:xfrm>
              <a:off x="3707904" y="3845421"/>
              <a:ext cx="1584176" cy="447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4" name="Straight Connector 23"/>
            <p:cNvCxnSpPr/>
            <p:nvPr/>
          </p:nvCxnSpPr>
          <p:spPr>
            <a:xfrm>
              <a:off x="5220072" y="4077072"/>
              <a:ext cx="3600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491880" y="4077072"/>
              <a:ext cx="2880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779912" y="4293096"/>
              <a:ext cx="13681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prstClr val="black"/>
                  </a:solidFill>
                </a:rPr>
                <a:t>Insecure Channel</a:t>
              </a:r>
              <a:endParaRPr lang="en-IN" sz="1200" b="1" dirty="0">
                <a:solidFill>
                  <a:prstClr val="black"/>
                </a:solidFill>
              </a:endParaRPr>
            </a:p>
          </p:txBody>
        </p:sp>
        <p:pic>
          <p:nvPicPr>
            <p:cNvPr id="27" name="Picture 18" descr="http://vector.me/files/images/1/6/162062/female_user_icon_clip_art.jp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83568" y="2337847"/>
              <a:ext cx="573510" cy="574973"/>
            </a:xfrm>
            <a:prstGeom prst="rect">
              <a:avLst/>
            </a:prstGeom>
            <a:noFill/>
          </p:spPr>
        </p:pic>
        <p:pic>
          <p:nvPicPr>
            <p:cNvPr id="28" name="Picture 16" descr="http://www.clipartbest.com/cliparts/acq/z4k/acqz4kBxi.jpe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812360" y="897687"/>
              <a:ext cx="630982" cy="598976"/>
            </a:xfrm>
            <a:prstGeom prst="rect">
              <a:avLst/>
            </a:prstGeom>
            <a:noFill/>
          </p:spPr>
        </p:pic>
      </p:grpSp>
      <p:sp>
        <p:nvSpPr>
          <p:cNvPr id="43" name="TextBox 42"/>
          <p:cNvSpPr txBox="1"/>
          <p:nvPr/>
        </p:nvSpPr>
        <p:spPr>
          <a:xfrm>
            <a:off x="8316416" y="2204864"/>
            <a:ext cx="611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solidFill>
                  <a:prstClr val="black"/>
                </a:solidFill>
              </a:rPr>
              <a:t>Bob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7624" y="2647945"/>
            <a:ext cx="611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solidFill>
                  <a:prstClr val="black"/>
                </a:solidFill>
              </a:rPr>
              <a:t>Alice</a:t>
            </a:r>
          </a:p>
        </p:txBody>
      </p:sp>
    </p:spTree>
    <p:extLst>
      <p:ext uri="{BB962C8B-B14F-4D97-AF65-F5344CB8AC3E}">
        <p14:creationId xmlns:p14="http://schemas.microsoft.com/office/powerpoint/2010/main" val="294935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62747"/>
            <a:ext cx="8229600" cy="3162571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buChar char="•"/>
            </a:pPr>
            <a:r>
              <a:rPr lang="en-IN" sz="3200" dirty="0">
                <a:cs typeface="+mn-cs"/>
              </a:rPr>
              <a:t>Developed in 1977 by Ron Rivest, Adi Shamir, and Len Adleman at MIT.</a:t>
            </a:r>
          </a:p>
          <a:p>
            <a:pPr>
              <a:buChar char="•"/>
            </a:pPr>
            <a:r>
              <a:rPr lang="en-IN" sz="3200" dirty="0">
                <a:cs typeface="+mn-cs"/>
              </a:rPr>
              <a:t>The trio later founded a company RSA Security Inc in 1982 which is acquired by EMC Corporation in 2006.</a:t>
            </a:r>
          </a:p>
          <a:p>
            <a:pPr>
              <a:buChar char="•"/>
            </a:pPr>
            <a:r>
              <a:rPr lang="en-IN" sz="3200" dirty="0">
                <a:cs typeface="+mn-cs"/>
              </a:rPr>
              <a:t>It is considered as the most widely accepted and implemented general-purpose approach to public-key encryption.</a:t>
            </a:r>
          </a:p>
          <a:p>
            <a:pPr>
              <a:buChar char="•"/>
            </a:pPr>
            <a:r>
              <a:rPr lang="en-IN" sz="3200" dirty="0">
                <a:cs typeface="+mn-cs"/>
              </a:rPr>
              <a:t>It uses the Euler’s Totient Function and Euler’s Theorem.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Algorithm</a:t>
            </a:r>
          </a:p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Introduction</a:t>
            </a:r>
          </a:p>
        </p:txBody>
      </p:sp>
      <p:grpSp>
        <p:nvGrpSpPr>
          <p:cNvPr id="7" name="Group 10"/>
          <p:cNvGrpSpPr/>
          <p:nvPr/>
        </p:nvGrpSpPr>
        <p:grpSpPr>
          <a:xfrm>
            <a:off x="2051720" y="4656408"/>
            <a:ext cx="4680520" cy="1580904"/>
            <a:chOff x="1475656" y="4124968"/>
            <a:chExt cx="4680520" cy="1580904"/>
          </a:xfrm>
        </p:grpSpPr>
        <p:pic>
          <p:nvPicPr>
            <p:cNvPr id="5" name="Picture 2" descr="https://www.soldierx.com/system/files/hdb/Ronald_Rivest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75656" y="4293096"/>
              <a:ext cx="1368189" cy="1152551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1547664" y="5157192"/>
              <a:ext cx="12241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i="1" dirty="0" smtClean="0">
                  <a:solidFill>
                    <a:schemeClr val="bg1"/>
                  </a:solidFill>
                </a:rPr>
                <a:t>Ron Rivest</a:t>
              </a:r>
              <a:r>
                <a:rPr lang="en-IN" sz="1400" b="1" dirty="0" smtClean="0">
                  <a:solidFill>
                    <a:schemeClr val="bg1"/>
                  </a:solidFill>
                </a:rPr>
                <a:t> </a:t>
              </a:r>
              <a:endParaRPr lang="en-IN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026" name="Picture 2" descr="http://www.ae-info.org/attach/User/Shamir_Adi/adi_shamir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47864" y="4293096"/>
              <a:ext cx="1008112" cy="1311761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3275856" y="5326087"/>
              <a:ext cx="12241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i="1" dirty="0" smtClean="0">
                  <a:solidFill>
                    <a:schemeClr val="bg1"/>
                  </a:solidFill>
                </a:rPr>
                <a:t>Adi Shamir</a:t>
              </a:r>
              <a:endParaRPr lang="en-IN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028" name="Picture 4" descr="Len-mankin-pic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932040" y="4124968"/>
              <a:ext cx="1152128" cy="1580904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4932040" y="5373216"/>
              <a:ext cx="12241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i="1" dirty="0" smtClean="0">
                  <a:solidFill>
                    <a:schemeClr val="bg1"/>
                  </a:solidFill>
                </a:rPr>
                <a:t>Len Adleman</a:t>
              </a:r>
              <a:endParaRPr lang="en-IN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605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587680" cy="4959499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buChar char="•"/>
            </a:pPr>
            <a:r>
              <a:rPr lang="en-IN" sz="3200" dirty="0">
                <a:cs typeface="+mn-cs"/>
              </a:rPr>
              <a:t>Plaintext is encrypted in blocks. Each plaintext and ciphertext block is treated as integers.</a:t>
            </a:r>
          </a:p>
          <a:p>
            <a:pPr lvl="1"/>
            <a:r>
              <a:rPr lang="en-IN" dirty="0"/>
              <a:t>E.g. if the plaintext is ABC it is treated as 000102. That is, each character in two digit integers ranging from 00 to 25 for English language</a:t>
            </a:r>
            <a:r>
              <a:rPr lang="en-IN" dirty="0" smtClean="0"/>
              <a:t>.</a:t>
            </a:r>
          </a:p>
          <a:p>
            <a:pPr>
              <a:buChar char="•"/>
            </a:pPr>
            <a:r>
              <a:rPr lang="en-IN" sz="3200" dirty="0" smtClean="0">
                <a:cs typeface="+mn-cs"/>
              </a:rPr>
              <a:t>If </a:t>
            </a:r>
            <a:r>
              <a:rPr lang="en-IN" sz="3200" dirty="0">
                <a:cs typeface="+mn-cs"/>
              </a:rPr>
              <a:t>there is some plaintext block P and its corresponding ciphertext block is C then</a:t>
            </a:r>
            <a:r>
              <a:rPr lang="en-IN" sz="3200" dirty="0" smtClean="0">
                <a:cs typeface="+mn-cs"/>
              </a:rPr>
              <a:t>,</a:t>
            </a:r>
          </a:p>
          <a:p>
            <a:pPr marL="0" indent="0"/>
            <a:endParaRPr lang="en-IN" sz="3200" dirty="0">
              <a:cs typeface="+mn-cs"/>
            </a:endParaRPr>
          </a:p>
          <a:p>
            <a:pPr lvl="3"/>
            <a:r>
              <a:rPr lang="en-IN" dirty="0"/>
              <a:t>C = </a:t>
            </a:r>
            <a:r>
              <a:rPr lang="en-IN" dirty="0" err="1" smtClean="0"/>
              <a:t>P</a:t>
            </a:r>
            <a:r>
              <a:rPr lang="en-IN" baseline="30000" dirty="0" err="1" smtClean="0"/>
              <a:t>e</a:t>
            </a:r>
            <a:r>
              <a:rPr lang="en-IN" dirty="0" smtClean="0"/>
              <a:t> mod </a:t>
            </a:r>
            <a:r>
              <a:rPr lang="en-IN" dirty="0"/>
              <a:t>n</a:t>
            </a:r>
          </a:p>
          <a:p>
            <a:pPr lvl="3"/>
            <a:r>
              <a:rPr lang="en-IN" dirty="0"/>
              <a:t>P = C</a:t>
            </a:r>
            <a:r>
              <a:rPr lang="en-IN" baseline="30000" dirty="0"/>
              <a:t>d</a:t>
            </a:r>
            <a:r>
              <a:rPr lang="en-IN" dirty="0"/>
              <a:t> </a:t>
            </a:r>
            <a:r>
              <a:rPr lang="en-IN" dirty="0" smtClean="0"/>
              <a:t>mod </a:t>
            </a:r>
            <a:r>
              <a:rPr lang="en-IN" dirty="0"/>
              <a:t>n, or</a:t>
            </a:r>
          </a:p>
          <a:p>
            <a:pPr lvl="3"/>
            <a:r>
              <a:rPr lang="en-IN" dirty="0"/>
              <a:t>P = (</a:t>
            </a:r>
            <a:r>
              <a:rPr lang="en-IN" dirty="0" err="1"/>
              <a:t>P</a:t>
            </a:r>
            <a:r>
              <a:rPr lang="en-IN" baseline="30000" dirty="0" err="1"/>
              <a:t>e</a:t>
            </a:r>
            <a:r>
              <a:rPr lang="en-IN" dirty="0"/>
              <a:t> mod n)d mod n = </a:t>
            </a:r>
            <a:r>
              <a:rPr lang="en-IN" dirty="0" err="1"/>
              <a:t>P</a:t>
            </a:r>
            <a:r>
              <a:rPr lang="en-IN" baseline="30000" dirty="0" err="1"/>
              <a:t>ed</a:t>
            </a:r>
            <a:r>
              <a:rPr lang="en-IN" dirty="0"/>
              <a:t> mod n         </a:t>
            </a:r>
            <a:r>
              <a:rPr lang="en-IN" dirty="0" err="1"/>
              <a:t>E.g</a:t>
            </a:r>
            <a:r>
              <a:rPr lang="en-IN" dirty="0"/>
              <a:t> (2</a:t>
            </a:r>
            <a:r>
              <a:rPr lang="en-IN" baseline="30000" dirty="0"/>
              <a:t>3</a:t>
            </a:r>
            <a:r>
              <a:rPr lang="en-IN" dirty="0"/>
              <a:t> mod 5)</a:t>
            </a:r>
            <a:r>
              <a:rPr lang="en-IN" baseline="30000" dirty="0"/>
              <a:t>2</a:t>
            </a:r>
            <a:r>
              <a:rPr lang="en-IN" dirty="0"/>
              <a:t> mod 5 = 2</a:t>
            </a:r>
            <a:r>
              <a:rPr lang="en-IN" baseline="30000" dirty="0"/>
              <a:t>6</a:t>
            </a:r>
            <a:r>
              <a:rPr lang="en-IN" dirty="0"/>
              <a:t> mod 5  = 4</a:t>
            </a:r>
          </a:p>
          <a:p>
            <a:pPr lvl="2"/>
            <a:endParaRPr lang="en-IN" dirty="0"/>
          </a:p>
          <a:p>
            <a:pPr lvl="2"/>
            <a:r>
              <a:rPr lang="en-IN" dirty="0"/>
              <a:t>Where, both sender and receiver know the value of n, and</a:t>
            </a:r>
          </a:p>
          <a:p>
            <a:pPr lvl="2"/>
            <a:r>
              <a:rPr lang="en-IN" dirty="0"/>
              <a:t>the sender knows the value of e, and </a:t>
            </a:r>
          </a:p>
          <a:p>
            <a:pPr lvl="2"/>
            <a:r>
              <a:rPr lang="en-IN" dirty="0"/>
              <a:t>only the receiver knows the value of d</a:t>
            </a:r>
          </a:p>
          <a:p>
            <a:pPr marL="914400" lvl="2" indent="0">
              <a:buNone/>
            </a:pPr>
            <a:endParaRPr lang="en-IN" dirty="0"/>
          </a:p>
          <a:p>
            <a:pPr>
              <a:buFont typeface="Arial" pitchFamily="34" charset="0"/>
              <a:buChar char="•"/>
            </a:pPr>
            <a:r>
              <a:rPr lang="en-IN" sz="3100" dirty="0">
                <a:cs typeface="+mn-cs"/>
              </a:rPr>
              <a:t>This is a public-key (</a:t>
            </a:r>
            <a:r>
              <a:rPr lang="en-IN" sz="3500" dirty="0">
                <a:latin typeface="+mn-lt"/>
                <a:cs typeface="+mn-cs"/>
              </a:rPr>
              <a:t>or </a:t>
            </a:r>
            <a:r>
              <a:rPr lang="en-IN" sz="3100" dirty="0">
                <a:cs typeface="+mn-cs"/>
              </a:rPr>
              <a:t>asymmetric-key) encryption algorithm where public-key is PU = {e, n} and private key PR = {d, n}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>
              <a:buChar char="•"/>
            </a:pPr>
            <a:endParaRPr lang="en-IN" sz="3200" dirty="0">
              <a:cs typeface="+mn-cs"/>
            </a:endParaRPr>
          </a:p>
          <a:p>
            <a:pPr>
              <a:buChar char="•"/>
            </a:pPr>
            <a:endParaRPr lang="en-IN" sz="32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Algorithm Formulation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54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93837"/>
            <a:ext cx="8964488" cy="5031507"/>
          </a:xfrm>
        </p:spPr>
        <p:txBody>
          <a:bodyPr>
            <a:normAutofit/>
          </a:bodyPr>
          <a:lstStyle/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endParaRPr lang="en-IN" dirty="0" smtClean="0">
              <a:latin typeface="+mn-lt"/>
            </a:endParaRP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r>
              <a:rPr lang="en-IN" b="1" i="1" dirty="0" smtClean="0">
                <a:latin typeface="+mn-lt"/>
              </a:rPr>
              <a:t>P = </a:t>
            </a:r>
            <a:r>
              <a:rPr lang="en-IN" b="1" i="1" dirty="0" err="1" smtClean="0">
                <a:latin typeface="+mn-lt"/>
              </a:rPr>
              <a:t>P</a:t>
            </a:r>
            <a:r>
              <a:rPr lang="en-IN" b="1" i="1" baseline="30000" dirty="0" err="1" smtClean="0">
                <a:latin typeface="+mn-lt"/>
              </a:rPr>
              <a:t>ed</a:t>
            </a:r>
            <a:r>
              <a:rPr lang="en-IN" b="1" i="1" baseline="30000" dirty="0" smtClean="0">
                <a:latin typeface="+mn-lt"/>
              </a:rPr>
              <a:t> </a:t>
            </a:r>
            <a:r>
              <a:rPr lang="en-IN" b="1" i="1" dirty="0" smtClean="0">
                <a:latin typeface="+mn-lt"/>
              </a:rPr>
              <a:t>mod n, </a:t>
            </a:r>
            <a:r>
              <a:rPr lang="en-IN" dirty="0" smtClean="0">
                <a:latin typeface="+mn-lt"/>
              </a:rPr>
              <a:t>for this equation to be true, e and d are selected from Z</a:t>
            </a:r>
            <a:r>
              <a:rPr lang="en-US" baseline="-25000" dirty="0" smtClean="0">
                <a:latin typeface="Symbol" pitchFamily="18" charset="2"/>
              </a:rPr>
              <a:t>f</a:t>
            </a:r>
            <a:r>
              <a:rPr lang="en-US" sz="1600" baseline="-25000" dirty="0" smtClean="0">
                <a:latin typeface="+mn-lt"/>
              </a:rPr>
              <a:t>(n)</a:t>
            </a:r>
            <a:r>
              <a:rPr lang="en-US" sz="1600" dirty="0" smtClean="0">
                <a:latin typeface="+mn-lt"/>
              </a:rPr>
              <a:t>* in </a:t>
            </a:r>
            <a:r>
              <a:rPr lang="en-US" dirty="0" smtClean="0">
                <a:latin typeface="+mn-lt"/>
              </a:rPr>
              <a:t>such a way so that e and d are multiplicative inverse of each other in modulo 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sz="1600" dirty="0" smtClean="0"/>
              <a:t>(n):</a:t>
            </a: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endParaRPr lang="en-IN" dirty="0" smtClean="0">
              <a:latin typeface="+mn-lt"/>
            </a:endParaRP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None/>
            </a:pPr>
            <a:r>
              <a:rPr lang="en-US" sz="1600" dirty="0" smtClean="0"/>
              <a:t>	</a:t>
            </a:r>
            <a:r>
              <a:rPr lang="en-US" dirty="0" err="1" smtClean="0">
                <a:latin typeface="+mn-lt"/>
              </a:rPr>
              <a:t>ed</a:t>
            </a:r>
            <a:r>
              <a:rPr lang="en-US" dirty="0" smtClean="0">
                <a:latin typeface="+mn-lt"/>
              </a:rPr>
              <a:t> ≡</a:t>
            </a:r>
            <a:r>
              <a:rPr lang="en-US" b="1" i="1" dirty="0" smtClean="0"/>
              <a:t> </a:t>
            </a:r>
            <a:r>
              <a:rPr lang="en-US" dirty="0" smtClean="0">
                <a:latin typeface="+mn-lt"/>
              </a:rPr>
              <a:t>1 mod 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>
                <a:latin typeface="+mn-lt"/>
              </a:rPr>
              <a:t>(n),	</a:t>
            </a: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None/>
            </a:pPr>
            <a:r>
              <a:rPr lang="en-US" dirty="0" smtClean="0">
                <a:latin typeface="+mn-lt"/>
              </a:rPr>
              <a:t>	or</a:t>
            </a:r>
            <a:r>
              <a:rPr lang="en-US" b="1" i="1" dirty="0" smtClean="0">
                <a:latin typeface="+mn-lt"/>
              </a:rPr>
              <a:t>, d </a:t>
            </a:r>
            <a:r>
              <a:rPr lang="en-US" sz="1600" b="1" i="1" dirty="0" smtClean="0">
                <a:latin typeface="+mn-lt"/>
              </a:rPr>
              <a:t>≡</a:t>
            </a:r>
            <a:r>
              <a:rPr lang="en-US" b="1" i="1" dirty="0" smtClean="0">
                <a:latin typeface="+mn-lt"/>
              </a:rPr>
              <a:t> e</a:t>
            </a:r>
            <a:r>
              <a:rPr lang="en-US" b="1" i="1" baseline="30000" dirty="0" smtClean="0">
                <a:latin typeface="+mn-lt"/>
              </a:rPr>
              <a:t>-1</a:t>
            </a:r>
            <a:r>
              <a:rPr lang="en-US" b="1" i="1" dirty="0" smtClean="0">
                <a:latin typeface="+mn-lt"/>
              </a:rPr>
              <a:t> mod </a:t>
            </a:r>
            <a:r>
              <a:rPr lang="en-US" b="1" i="1" dirty="0" smtClean="0">
                <a:latin typeface="Symbol" pitchFamily="18" charset="2"/>
              </a:rPr>
              <a:t>f</a:t>
            </a:r>
            <a:r>
              <a:rPr lang="en-US" b="1" i="1" dirty="0" smtClean="0">
                <a:latin typeface="+mn-lt"/>
              </a:rPr>
              <a:t>(n)</a:t>
            </a: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None/>
            </a:pPr>
            <a:endParaRPr lang="en-US" dirty="0" smtClean="0">
              <a:latin typeface="+mn-lt"/>
            </a:endParaRP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r>
              <a:rPr lang="en-US" sz="2100" dirty="0" smtClean="0">
                <a:latin typeface="+mn-lt"/>
              </a:rPr>
              <a:t>In other terms, d (or e) is relatively prime to </a:t>
            </a:r>
            <a:r>
              <a:rPr lang="en-US" sz="2400" dirty="0" smtClean="0">
                <a:latin typeface="Symbol" pitchFamily="18" charset="2"/>
              </a:rPr>
              <a:t>f </a:t>
            </a:r>
            <a:r>
              <a:rPr lang="en-US" sz="2100" dirty="0" smtClean="0">
                <a:latin typeface="+mn-lt"/>
              </a:rPr>
              <a:t>(n). That is gcd (</a:t>
            </a:r>
            <a:r>
              <a:rPr lang="en-US" sz="2400" dirty="0" smtClean="0">
                <a:latin typeface="Symbol" pitchFamily="18" charset="2"/>
              </a:rPr>
              <a:t>f</a:t>
            </a:r>
            <a:r>
              <a:rPr lang="en-US" sz="2100" dirty="0" smtClean="0">
                <a:latin typeface="+mn-lt"/>
              </a:rPr>
              <a:t>(n), d) = 1 or gcd (</a:t>
            </a:r>
            <a:r>
              <a:rPr lang="en-US" sz="2400" dirty="0" smtClean="0">
                <a:latin typeface="Symbol" pitchFamily="18" charset="2"/>
              </a:rPr>
              <a:t>f</a:t>
            </a:r>
            <a:r>
              <a:rPr lang="en-US" sz="2100" dirty="0" smtClean="0">
                <a:latin typeface="+mn-lt"/>
              </a:rPr>
              <a:t>(n), e) = 1</a:t>
            </a:r>
          </a:p>
          <a:p>
            <a:pPr marL="342900" lvl="3" indent="-342900" algn="just">
              <a:spcBef>
                <a:spcPts val="0"/>
              </a:spcBef>
              <a:buClr>
                <a:srgbClr val="101141"/>
              </a:buClr>
              <a:buNone/>
            </a:pPr>
            <a:endParaRPr lang="en-IN" dirty="0" smtClean="0">
              <a:latin typeface="+mn-lt"/>
            </a:endParaRPr>
          </a:p>
          <a:p>
            <a:pPr marL="1714500" lvl="6" indent="-342900">
              <a:buClr>
                <a:srgbClr val="101141"/>
              </a:buClr>
              <a:buNone/>
            </a:pPr>
            <a:endParaRPr lang="en-IN" b="1" i="1" dirty="0" smtClean="0">
              <a:latin typeface="+mn-lt"/>
            </a:endParaRP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23528" y="260648"/>
            <a:ext cx="6324600" cy="962744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Algorithm Mathematics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062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5949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Select two distinct prime numbers p and q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Calculate n = p x q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Calculate 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/>
              <a:t>(n) = (p-1)(q-1)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 integer e such that gcd (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/>
              <a:t>(n), e) =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Calculate d such that d ≡ e</a:t>
            </a:r>
            <a:r>
              <a:rPr lang="en-US" baseline="30000" dirty="0" smtClean="0"/>
              <a:t>-1</a:t>
            </a:r>
            <a:r>
              <a:rPr lang="en-US" dirty="0" smtClean="0"/>
              <a:t> mod 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/>
              <a:t>(n)</a:t>
            </a:r>
          </a:p>
          <a:p>
            <a:pPr marL="914400" lvl="1" indent="-514350"/>
            <a:r>
              <a:rPr lang="en-US" dirty="0" smtClean="0"/>
              <a:t>This can be done by formula d= 1+k.</a:t>
            </a:r>
            <a:r>
              <a:rPr lang="en-US" dirty="0" smtClean="0">
                <a:latin typeface="Symbol" pitchFamily="18" charset="2"/>
              </a:rPr>
              <a:t>f</a:t>
            </a:r>
            <a:r>
              <a:rPr lang="en-US" dirty="0" smtClean="0"/>
              <a:t>(n)/e</a:t>
            </a:r>
          </a:p>
          <a:p>
            <a:pPr marL="914400" lvl="1" indent="-514350"/>
            <a:r>
              <a:rPr lang="en-US" dirty="0" smtClean="0"/>
              <a:t>Where you can start from k=0 to k&lt;=e and stop the iteration when you get the integer value and that integer value will be value of 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Public Key (PU) = {e, n}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Private Key (PR) = {d, n}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 encryption, ciphertext C = </a:t>
            </a:r>
            <a:r>
              <a:rPr lang="en-US" dirty="0" err="1" smtClean="0"/>
              <a:t>P</a:t>
            </a:r>
            <a:r>
              <a:rPr lang="en-US" baseline="30000" dirty="0" err="1" smtClean="0"/>
              <a:t>e</a:t>
            </a:r>
            <a:r>
              <a:rPr lang="en-US" dirty="0" smtClean="0"/>
              <a:t> mod 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 decryption, plaintext P = </a:t>
            </a:r>
            <a:r>
              <a:rPr lang="en-US" dirty="0" err="1" smtClean="0"/>
              <a:t>C</a:t>
            </a:r>
            <a:r>
              <a:rPr lang="en-US" baseline="30000" dirty="0" err="1" smtClean="0"/>
              <a:t>d</a:t>
            </a:r>
            <a:r>
              <a:rPr lang="en-US" dirty="0" smtClean="0"/>
              <a:t> mod n</a:t>
            </a:r>
          </a:p>
          <a:p>
            <a:pPr marL="514350" indent="-514350"/>
            <a:endParaRPr lang="en-US" dirty="0" smtClean="0"/>
          </a:p>
          <a:p>
            <a:pPr marL="514350" indent="-514350"/>
            <a:r>
              <a:rPr lang="en-US" sz="2600" b="1" u="sng" dirty="0" smtClean="0"/>
              <a:t>Note</a:t>
            </a:r>
            <a:r>
              <a:rPr lang="en-US" sz="2600" b="1" dirty="0" smtClean="0"/>
              <a:t>: </a:t>
            </a:r>
            <a:r>
              <a:rPr lang="en-US" sz="2600" dirty="0" smtClean="0"/>
              <a:t>All plaintext blocks P need to be selected so that P &lt; n</a:t>
            </a:r>
            <a:endParaRPr lang="en-IN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88640"/>
            <a:ext cx="6324600" cy="962744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Algorithm Procedure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695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buChar char="•"/>
            </a:pPr>
            <a:r>
              <a:rPr lang="en-US" sz="3200" dirty="0">
                <a:cs typeface="+mn-cs"/>
              </a:rPr>
              <a:t>Let us say p = 7 and q = 11, the two distinct prime numbers.</a:t>
            </a:r>
          </a:p>
          <a:p>
            <a:pPr>
              <a:buChar char="•"/>
            </a:pPr>
            <a:r>
              <a:rPr lang="en-US" sz="3200" dirty="0">
                <a:cs typeface="+mn-cs"/>
              </a:rPr>
              <a:t>n = p x q = 77</a:t>
            </a:r>
          </a:p>
          <a:p>
            <a:pPr>
              <a:buChar char="•"/>
            </a:pPr>
            <a:r>
              <a:rPr lang="en-US" dirty="0">
                <a:latin typeface="Symbol" pitchFamily="18" charset="2"/>
              </a:rPr>
              <a:t>f</a:t>
            </a:r>
            <a:r>
              <a:rPr lang="en-US" dirty="0"/>
              <a:t>(n) </a:t>
            </a:r>
            <a:r>
              <a:rPr lang="en-US" sz="3200" dirty="0" smtClean="0">
                <a:cs typeface="+mn-cs"/>
              </a:rPr>
              <a:t>= </a:t>
            </a:r>
            <a:r>
              <a:rPr lang="en-US" sz="3200" dirty="0">
                <a:cs typeface="+mn-cs"/>
              </a:rPr>
              <a:t>(7 − 1)(11 − 1) = 60</a:t>
            </a:r>
          </a:p>
          <a:p>
            <a:pPr>
              <a:buChar char="•"/>
            </a:pPr>
            <a:r>
              <a:rPr lang="en-US" sz="3200" dirty="0">
                <a:cs typeface="+mn-cs"/>
              </a:rPr>
              <a:t>Two values (e, d) are to be chosen from Z60∗ which are multiplicative inverse of each other.</a:t>
            </a:r>
          </a:p>
          <a:p>
            <a:pPr lvl="2"/>
            <a:r>
              <a:rPr lang="en-US" dirty="0" smtClean="0">
                <a:latin typeface="+mn-lt"/>
                <a:cs typeface="+mn-cs"/>
              </a:rPr>
              <a:t>Lets say e </a:t>
            </a:r>
            <a:r>
              <a:rPr lang="en-US" dirty="0">
                <a:latin typeface="+mn-lt"/>
                <a:cs typeface="+mn-cs"/>
              </a:rPr>
              <a:t>= </a:t>
            </a:r>
            <a:r>
              <a:rPr lang="en-US" dirty="0" smtClean="0">
                <a:latin typeface="+mn-lt"/>
                <a:cs typeface="+mn-cs"/>
              </a:rPr>
              <a:t>13 also check </a:t>
            </a:r>
            <a:r>
              <a:rPr lang="en-US" dirty="0" err="1" smtClean="0">
                <a:latin typeface="+mn-lt"/>
                <a:cs typeface="+mn-cs"/>
              </a:rPr>
              <a:t>gcd</a:t>
            </a:r>
            <a:r>
              <a:rPr lang="en-US" dirty="0" smtClean="0">
                <a:latin typeface="+mn-lt"/>
                <a:cs typeface="+mn-cs"/>
              </a:rPr>
              <a:t> (13,60) =1</a:t>
            </a:r>
            <a:endParaRPr lang="en-US" dirty="0">
              <a:latin typeface="+mn-lt"/>
              <a:cs typeface="+mn-cs"/>
            </a:endParaRPr>
          </a:p>
          <a:p>
            <a:pPr lvl="2"/>
            <a:r>
              <a:rPr lang="en-US" dirty="0">
                <a:latin typeface="+mn-lt"/>
                <a:cs typeface="+mn-cs"/>
              </a:rPr>
              <a:t>Calculate d d= </a:t>
            </a:r>
            <a:r>
              <a:rPr lang="en-US" dirty="0" smtClean="0">
                <a:latin typeface="+mn-lt"/>
                <a:cs typeface="+mn-cs"/>
              </a:rPr>
              <a:t>[1+k.f(n)] / e</a:t>
            </a:r>
          </a:p>
          <a:p>
            <a:pPr lvl="2"/>
            <a:r>
              <a:rPr lang="en-US" dirty="0" smtClean="0">
                <a:latin typeface="+mn-lt"/>
                <a:cs typeface="+mn-cs"/>
              </a:rPr>
              <a:t>and d </a:t>
            </a:r>
            <a:r>
              <a:rPr lang="en-US" dirty="0">
                <a:latin typeface="+mn-lt"/>
                <a:cs typeface="+mn-cs"/>
              </a:rPr>
              <a:t>= 37</a:t>
            </a:r>
          </a:p>
          <a:p>
            <a:pPr>
              <a:buChar char="•"/>
            </a:pPr>
            <a:r>
              <a:rPr lang="en-US" sz="3200" dirty="0">
                <a:cs typeface="+mn-cs"/>
              </a:rPr>
              <a:t>Let us say sender wants to send ‘F’ which can be represented as 05 as an integer.</a:t>
            </a:r>
          </a:p>
          <a:p>
            <a:pPr>
              <a:buChar char="•"/>
            </a:pPr>
            <a:r>
              <a:rPr lang="en-US" sz="3200" dirty="0">
                <a:cs typeface="+mn-cs"/>
              </a:rPr>
              <a:t>Sender will encrypt it as </a:t>
            </a:r>
            <a:r>
              <a:rPr lang="en-US" sz="3200" dirty="0" err="1">
                <a:cs typeface="+mn-cs"/>
              </a:rPr>
              <a:t>P</a:t>
            </a:r>
            <a:r>
              <a:rPr lang="en-US" sz="3200" baseline="30000" dirty="0" err="1">
                <a:cs typeface="+mn-cs"/>
              </a:rPr>
              <a:t>e</a:t>
            </a:r>
            <a:r>
              <a:rPr lang="en-US" sz="3200" baseline="30000" dirty="0">
                <a:cs typeface="+mn-cs"/>
              </a:rPr>
              <a:t> </a:t>
            </a:r>
            <a:r>
              <a:rPr lang="en-US" sz="3200" dirty="0">
                <a:cs typeface="+mn-cs"/>
              </a:rPr>
              <a:t>mod n =  (05)13 mod 77 = 26</a:t>
            </a:r>
          </a:p>
          <a:p>
            <a:pPr>
              <a:buChar char="•"/>
            </a:pPr>
            <a:r>
              <a:rPr lang="en-US" sz="3200" dirty="0">
                <a:cs typeface="+mn-cs"/>
              </a:rPr>
              <a:t>Receiver will decrypt it as </a:t>
            </a:r>
            <a:r>
              <a:rPr lang="en-US" sz="3200" dirty="0" err="1">
                <a:cs typeface="+mn-cs"/>
              </a:rPr>
              <a:t>C</a:t>
            </a:r>
            <a:r>
              <a:rPr lang="en-US" sz="3200" baseline="30000" dirty="0" err="1">
                <a:cs typeface="+mn-cs"/>
              </a:rPr>
              <a:t>d</a:t>
            </a:r>
            <a:r>
              <a:rPr lang="en-US" sz="3200" dirty="0">
                <a:cs typeface="+mn-cs"/>
              </a:rPr>
              <a:t> mod n = (26)37 mod 77 = 5</a:t>
            </a:r>
          </a:p>
          <a:p>
            <a:pPr>
              <a:buChar char="•"/>
            </a:pPr>
            <a:endParaRPr lang="en-IN" sz="32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Algorithm Example 1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761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887491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buChar char="•"/>
            </a:pPr>
            <a:r>
              <a:rPr lang="en-US" sz="3200" dirty="0">
                <a:cs typeface="+mn-cs"/>
              </a:rPr>
              <a:t>Let us say p = </a:t>
            </a:r>
            <a:r>
              <a:rPr lang="en-US" sz="3200" dirty="0" smtClean="0">
                <a:cs typeface="+mn-cs"/>
              </a:rPr>
              <a:t>3 </a:t>
            </a:r>
            <a:r>
              <a:rPr lang="en-US" sz="3200" dirty="0">
                <a:cs typeface="+mn-cs"/>
              </a:rPr>
              <a:t>and q = 5</a:t>
            </a:r>
            <a:r>
              <a:rPr lang="en-US" sz="3200" dirty="0" smtClean="0">
                <a:cs typeface="+mn-cs"/>
              </a:rPr>
              <a:t>, </a:t>
            </a:r>
            <a:r>
              <a:rPr lang="en-US" sz="3200" dirty="0">
                <a:cs typeface="+mn-cs"/>
              </a:rPr>
              <a:t>the two distinct prime numbers</a:t>
            </a:r>
            <a:r>
              <a:rPr lang="en-US" sz="3200" dirty="0" smtClean="0">
                <a:cs typeface="+mn-cs"/>
              </a:rPr>
              <a:t>. Encrypt the letter C by using RSA algorithm also cross check it by decrypting the cipher text</a:t>
            </a:r>
          </a:p>
          <a:p>
            <a:pPr>
              <a:buChar char="•"/>
            </a:pPr>
            <a:r>
              <a:rPr lang="en-US" sz="3200" dirty="0" smtClean="0">
                <a:solidFill>
                  <a:srgbClr val="0070C0"/>
                </a:solidFill>
                <a:cs typeface="+mn-cs"/>
              </a:rPr>
              <a:t>n = p x q = 15</a:t>
            </a:r>
          </a:p>
          <a:p>
            <a:pPr>
              <a:buChar char="•"/>
            </a:pPr>
            <a:r>
              <a:rPr lang="en-US" dirty="0" smtClean="0">
                <a:solidFill>
                  <a:srgbClr val="0070C0"/>
                </a:solidFill>
                <a:latin typeface="Symbol" pitchFamily="18" charset="2"/>
              </a:rPr>
              <a:t>f</a:t>
            </a:r>
            <a:r>
              <a:rPr lang="en-US" dirty="0" smtClean="0">
                <a:solidFill>
                  <a:srgbClr val="0070C0"/>
                </a:solidFill>
              </a:rPr>
              <a:t>(n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= (2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− 1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)(5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− 1) = 8</a:t>
            </a:r>
          </a:p>
          <a:p>
            <a:pPr>
              <a:buChar char="•"/>
            </a:pPr>
            <a:r>
              <a:rPr lang="en-US" sz="3200" dirty="0">
                <a:solidFill>
                  <a:srgbClr val="0070C0"/>
                </a:solidFill>
                <a:cs typeface="+mn-cs"/>
              </a:rPr>
              <a:t>Two values (e, d) are to be chosen from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Z8∗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which are multiplicative inverse of each other.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+mn-lt"/>
                <a:cs typeface="+mn-cs"/>
              </a:rPr>
              <a:t>e = 7</a:t>
            </a:r>
          </a:p>
          <a:p>
            <a:pPr lvl="2"/>
            <a:r>
              <a:rPr lang="en-US" dirty="0">
                <a:solidFill>
                  <a:srgbClr val="0070C0"/>
                </a:solidFill>
                <a:latin typeface="+mn-lt"/>
                <a:cs typeface="+mn-cs"/>
              </a:rPr>
              <a:t>d = 7</a:t>
            </a:r>
          </a:p>
          <a:p>
            <a:pPr>
              <a:buChar char="•"/>
            </a:pPr>
            <a:r>
              <a:rPr lang="en-US" sz="3200" dirty="0">
                <a:solidFill>
                  <a:srgbClr val="0070C0"/>
                </a:solidFill>
                <a:cs typeface="+mn-cs"/>
              </a:rPr>
              <a:t>Let us say sender wants to send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‘C’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which can be represented as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02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as an integer.</a:t>
            </a:r>
          </a:p>
          <a:p>
            <a:pPr>
              <a:buChar char="•"/>
            </a:pPr>
            <a:r>
              <a:rPr lang="en-US" sz="3200" dirty="0">
                <a:solidFill>
                  <a:srgbClr val="0070C0"/>
                </a:solidFill>
                <a:cs typeface="+mn-cs"/>
              </a:rPr>
              <a:t>Sender will encrypt it as </a:t>
            </a:r>
            <a:r>
              <a:rPr lang="en-US" sz="3200" dirty="0" err="1">
                <a:solidFill>
                  <a:srgbClr val="0070C0"/>
                </a:solidFill>
                <a:cs typeface="+mn-cs"/>
              </a:rPr>
              <a:t>P</a:t>
            </a:r>
            <a:r>
              <a:rPr lang="en-US" sz="3200" baseline="30000" dirty="0" err="1">
                <a:solidFill>
                  <a:srgbClr val="0070C0"/>
                </a:solidFill>
                <a:cs typeface="+mn-cs"/>
              </a:rPr>
              <a:t>e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 mod n =  (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02)</a:t>
            </a:r>
            <a:r>
              <a:rPr lang="en-US" sz="3200" baseline="30000" dirty="0" smtClean="0">
                <a:solidFill>
                  <a:srgbClr val="0070C0"/>
                </a:solidFill>
                <a:cs typeface="+mn-cs"/>
              </a:rPr>
              <a:t>7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mod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15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=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8 =&gt; 08 i.e. I </a:t>
            </a:r>
            <a:endParaRPr lang="en-US" sz="3200" dirty="0">
              <a:solidFill>
                <a:srgbClr val="0070C0"/>
              </a:solidFill>
              <a:cs typeface="+mn-cs"/>
            </a:endParaRPr>
          </a:p>
          <a:p>
            <a:pPr>
              <a:buChar char="•"/>
            </a:pPr>
            <a:r>
              <a:rPr lang="en-US" sz="3200" dirty="0">
                <a:solidFill>
                  <a:srgbClr val="0070C0"/>
                </a:solidFill>
                <a:cs typeface="+mn-cs"/>
              </a:rPr>
              <a:t>Receiver will decrypt it as C</a:t>
            </a:r>
            <a:r>
              <a:rPr lang="en-US" sz="3200" baseline="30000" dirty="0">
                <a:solidFill>
                  <a:srgbClr val="0070C0"/>
                </a:solidFill>
                <a:cs typeface="+mn-cs"/>
              </a:rPr>
              <a:t>d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 mod n =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(8)</a:t>
            </a:r>
            <a:r>
              <a:rPr lang="en-US" sz="3200" baseline="30000" dirty="0" smtClean="0">
                <a:solidFill>
                  <a:srgbClr val="0070C0"/>
                </a:solidFill>
                <a:cs typeface="+mn-cs"/>
              </a:rPr>
              <a:t>7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mod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15 </a:t>
            </a:r>
            <a:r>
              <a:rPr lang="en-US" sz="3200" dirty="0">
                <a:solidFill>
                  <a:srgbClr val="0070C0"/>
                </a:solidFill>
                <a:cs typeface="+mn-cs"/>
              </a:rPr>
              <a:t>= </a:t>
            </a:r>
            <a:r>
              <a:rPr lang="en-US" sz="3200" dirty="0" smtClean="0">
                <a:solidFill>
                  <a:srgbClr val="0070C0"/>
                </a:solidFill>
                <a:cs typeface="+mn-cs"/>
              </a:rPr>
              <a:t>2 i.e. B</a:t>
            </a:r>
            <a:endParaRPr lang="en-US" sz="3200" dirty="0">
              <a:solidFill>
                <a:srgbClr val="0070C0"/>
              </a:solidFill>
              <a:cs typeface="+mn-cs"/>
            </a:endParaRPr>
          </a:p>
          <a:p>
            <a:pPr>
              <a:buChar char="•"/>
            </a:pPr>
            <a:endParaRPr lang="en-IN" sz="32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The RSA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Algorithm Example 2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827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4282" y="1493837"/>
            <a:ext cx="8229600" cy="4525963"/>
          </a:xfrm>
        </p:spPr>
        <p:txBody>
          <a:bodyPr/>
          <a:lstStyle/>
          <a:p>
            <a:r>
              <a:rPr lang="en-US" altLang="zh-CN" sz="2400" dirty="0" smtClean="0">
                <a:ea typeface="宋体" pitchFamily="2" charset="-122"/>
              </a:rPr>
              <a:t>     Bob chooses 7 and 11 as </a:t>
            </a:r>
            <a:r>
              <a:rPr lang="en-US" altLang="zh-CN" sz="2400" i="1" dirty="0" smtClean="0">
                <a:ea typeface="宋体" pitchFamily="2" charset="-122"/>
              </a:rPr>
              <a:t>p</a:t>
            </a:r>
            <a:r>
              <a:rPr lang="en-US" altLang="zh-CN" sz="2400" dirty="0" smtClean="0">
                <a:ea typeface="宋体" pitchFamily="2" charset="-122"/>
              </a:rPr>
              <a:t> and </a:t>
            </a:r>
            <a:r>
              <a:rPr lang="en-US" altLang="zh-CN" sz="2400" i="1" dirty="0" smtClean="0">
                <a:ea typeface="宋体" pitchFamily="2" charset="-122"/>
              </a:rPr>
              <a:t>q</a:t>
            </a:r>
            <a:r>
              <a:rPr lang="en-US" altLang="zh-CN" sz="2400" dirty="0" smtClean="0">
                <a:ea typeface="宋体" pitchFamily="2" charset="-122"/>
              </a:rPr>
              <a:t> and calculates </a:t>
            </a:r>
            <a:r>
              <a:rPr lang="en-US" altLang="zh-CN" sz="2400" i="1" dirty="0" smtClean="0">
                <a:ea typeface="宋体" pitchFamily="2" charset="-122"/>
              </a:rPr>
              <a:t>n</a:t>
            </a:r>
            <a:r>
              <a:rPr lang="en-US" altLang="zh-CN" sz="2400" dirty="0" smtClean="0">
                <a:ea typeface="宋体" pitchFamily="2" charset="-122"/>
              </a:rPr>
              <a:t> = 77. The value of f(n) = (7 − 1)(11 − 1) or 60. Now he chooses two exponents, </a:t>
            </a:r>
            <a:r>
              <a:rPr lang="en-US" altLang="zh-CN" sz="2400" i="1" dirty="0" smtClean="0">
                <a:ea typeface="宋体" pitchFamily="2" charset="-122"/>
              </a:rPr>
              <a:t>e</a:t>
            </a:r>
            <a:r>
              <a:rPr lang="en-US" altLang="zh-CN" sz="2400" dirty="0" smtClean="0">
                <a:ea typeface="宋体" pitchFamily="2" charset="-122"/>
              </a:rPr>
              <a:t> and </a:t>
            </a:r>
            <a:r>
              <a:rPr lang="en-US" altLang="zh-CN" sz="2400" i="1" dirty="0" smtClean="0">
                <a:ea typeface="宋体" pitchFamily="2" charset="-122"/>
              </a:rPr>
              <a:t>d</a:t>
            </a:r>
            <a:r>
              <a:rPr lang="en-US" altLang="zh-CN" sz="2400" dirty="0" smtClean="0">
                <a:ea typeface="宋体" pitchFamily="2" charset="-122"/>
              </a:rPr>
              <a:t>, from Z</a:t>
            </a:r>
            <a:r>
              <a:rPr lang="en-US" altLang="zh-CN" sz="2400" baseline="-25000" dirty="0" smtClean="0">
                <a:ea typeface="宋体" pitchFamily="2" charset="-122"/>
              </a:rPr>
              <a:t>60</a:t>
            </a:r>
            <a:r>
              <a:rPr lang="en-US" altLang="zh-CN" sz="2400" dirty="0" smtClean="0">
                <a:ea typeface="宋体" pitchFamily="2" charset="-122"/>
              </a:rPr>
              <a:t>∗. If he chooses </a:t>
            </a:r>
            <a:r>
              <a:rPr lang="en-US" altLang="zh-CN" sz="2400" i="1" dirty="0" smtClean="0">
                <a:ea typeface="宋体" pitchFamily="2" charset="-122"/>
              </a:rPr>
              <a:t>e</a:t>
            </a:r>
            <a:r>
              <a:rPr lang="en-US" altLang="zh-CN" sz="2400" dirty="0" smtClean="0">
                <a:ea typeface="宋体" pitchFamily="2" charset="-122"/>
              </a:rPr>
              <a:t> to be 13, then d is 37. Note that </a:t>
            </a:r>
            <a:r>
              <a:rPr lang="en-US" altLang="zh-CN" sz="2400" i="1" dirty="0" smtClean="0">
                <a:ea typeface="宋体" pitchFamily="2" charset="-122"/>
              </a:rPr>
              <a:t>e</a:t>
            </a:r>
            <a:r>
              <a:rPr lang="en-US" altLang="zh-CN" sz="2400" dirty="0" smtClean="0">
                <a:ea typeface="宋体" pitchFamily="2" charset="-122"/>
              </a:rPr>
              <a:t> × </a:t>
            </a:r>
            <a:r>
              <a:rPr lang="en-US" altLang="zh-CN" sz="2400" i="1" dirty="0" smtClean="0">
                <a:ea typeface="宋体" pitchFamily="2" charset="-122"/>
              </a:rPr>
              <a:t>d</a:t>
            </a:r>
            <a:r>
              <a:rPr lang="en-US" altLang="zh-CN" sz="2400" dirty="0" smtClean="0">
                <a:ea typeface="宋体" pitchFamily="2" charset="-122"/>
              </a:rPr>
              <a:t> mod 60 = 1 (they are inverses of each )Now imagine that Alice wants to send the plaintext 5 to Bob. She uses the public exponent 13 to encrypt 5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52BD6-4F37-4D57-B6B7-636C2217F7DD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954" y="3857628"/>
            <a:ext cx="8153400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714348" y="4357694"/>
            <a:ext cx="78581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dirty="0" smtClean="0">
              <a:latin typeface="Arial" charset="0"/>
              <a:ea typeface="宋体" pitchFamily="2" charset="-122"/>
            </a:endParaRPr>
          </a:p>
          <a:p>
            <a:pPr algn="just"/>
            <a:r>
              <a:rPr lang="en-US" altLang="zh-CN" dirty="0" smtClean="0">
                <a:latin typeface="Arial" charset="0"/>
                <a:ea typeface="宋体" pitchFamily="2" charset="-122"/>
              </a:rPr>
              <a:t>Bob receives the cipher text 26 and uses the private key 37 to decipher the cipher text:</a:t>
            </a:r>
          </a:p>
          <a:p>
            <a:pPr algn="just"/>
            <a:endParaRPr lang="en-US" altLang="zh-CN" dirty="0" smtClean="0">
              <a:latin typeface="Arial" charset="0"/>
              <a:ea typeface="宋体" pitchFamily="2" charset="-122"/>
            </a:endParaRPr>
          </a:p>
          <a:p>
            <a:pPr algn="just"/>
            <a:endParaRPr lang="en-US" altLang="zh-CN" dirty="0" smtClean="0">
              <a:latin typeface="Arial" charset="0"/>
              <a:ea typeface="宋体" pitchFamily="2" charset="-122"/>
            </a:endParaRPr>
          </a:p>
          <a:p>
            <a:pPr algn="just"/>
            <a:endParaRPr lang="en-US" altLang="zh-CN" dirty="0" smtClean="0">
              <a:latin typeface="Arial" charset="0"/>
              <a:ea typeface="宋体" pitchFamily="2" charset="-122"/>
            </a:endParaRPr>
          </a:p>
          <a:p>
            <a:pPr algn="just"/>
            <a:endParaRPr lang="en-US" altLang="zh-CN" dirty="0">
              <a:latin typeface="Arial" charset="0"/>
              <a:ea typeface="宋体" pitchFamily="2" charset="-122"/>
            </a:endParaRPr>
          </a:p>
        </p:txBody>
      </p:sp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5500702"/>
            <a:ext cx="818197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CN" dirty="0" smtClean="0">
                <a:latin typeface="Arial" charset="0"/>
                <a:ea typeface="宋体" pitchFamily="2" charset="-122"/>
              </a:rPr>
              <a:t>    Now assume that another person, John, wants to send a message to Bob. John can use the same public key announced by Bob (probably on his website), 13; John’s plaintext is 63.  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Example 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52BD6-4F37-4D57-B6B7-636C2217F7DD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latin typeface="Arial" charset="0"/>
                <a:ea typeface="宋体" pitchFamily="2" charset="-122"/>
              </a:rPr>
              <a:t>Jennifer creates a pair of keys for herself. She chooses </a:t>
            </a:r>
            <a:r>
              <a:rPr lang="en-US" altLang="zh-CN" i="1" dirty="0" smtClean="0">
                <a:latin typeface="Arial" charset="0"/>
                <a:ea typeface="宋体" pitchFamily="2" charset="-122"/>
              </a:rPr>
              <a:t>p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 = 397 and </a:t>
            </a:r>
            <a:r>
              <a:rPr lang="en-US" altLang="zh-CN" i="1" dirty="0" smtClean="0">
                <a:latin typeface="Arial" charset="0"/>
                <a:ea typeface="宋体" pitchFamily="2" charset="-122"/>
              </a:rPr>
              <a:t>q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 = 401. She calculates </a:t>
            </a:r>
            <a:br>
              <a:rPr lang="en-US" altLang="zh-CN" dirty="0" smtClean="0">
                <a:latin typeface="Arial" charset="0"/>
                <a:ea typeface="宋体" pitchFamily="2" charset="-122"/>
              </a:rPr>
            </a:br>
            <a:r>
              <a:rPr lang="en-US" altLang="zh-CN" i="1" dirty="0" smtClean="0">
                <a:latin typeface="Arial" charset="0"/>
                <a:ea typeface="宋体" pitchFamily="2" charset="-122"/>
              </a:rPr>
              <a:t>n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 = 159197. She then calculates </a:t>
            </a:r>
            <a:r>
              <a:rPr lang="en-US" altLang="zh-CN" dirty="0" smtClean="0">
                <a:latin typeface="Symbol" pitchFamily="18" charset="2"/>
                <a:ea typeface="宋体" pitchFamily="2" charset="-122"/>
              </a:rPr>
              <a:t>f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(n) = 158400. She then chooses e = 343 and d = 12007. Show how Ted can send a message to Jennifer if he knows </a:t>
            </a:r>
            <a:r>
              <a:rPr lang="en-US" altLang="zh-CN" i="1" dirty="0" smtClean="0">
                <a:latin typeface="Arial" charset="0"/>
                <a:ea typeface="宋体" pitchFamily="2" charset="-122"/>
              </a:rPr>
              <a:t>e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 and </a:t>
            </a:r>
            <a:r>
              <a:rPr lang="en-US" altLang="zh-CN" i="1" dirty="0" smtClean="0">
                <a:latin typeface="Arial" charset="0"/>
                <a:ea typeface="宋体" pitchFamily="2" charset="-122"/>
              </a:rPr>
              <a:t>n</a:t>
            </a:r>
            <a:r>
              <a:rPr lang="en-US" altLang="zh-CN" dirty="0" smtClean="0">
                <a:latin typeface="Arial" charset="0"/>
                <a:ea typeface="宋体" pitchFamily="2" charset="-122"/>
              </a:rPr>
              <a:t>.</a:t>
            </a:r>
          </a:p>
          <a:p>
            <a:r>
              <a:rPr lang="en-US" altLang="zh-CN" dirty="0" smtClean="0">
                <a:latin typeface="Arial" charset="0"/>
                <a:ea typeface="宋体" pitchFamily="2" charset="-122"/>
              </a:rPr>
              <a:t>Suppose Ted wants to send the message “NO” to Jennifer. He changes each character to a number (from 00 to 25), with each character coded as two digits. He then concatenates the two coded characters and gets a four-digit number. The plaintext is 1314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Example3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52BD6-4F37-4D57-B6B7-636C2217F7DD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3951387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lvl="1"/>
            <a:r>
              <a:rPr lang="en-IN" dirty="0">
                <a:hlinkClick r:id="rId2"/>
              </a:rPr>
              <a:t>ElGamal Cryptosystems</a:t>
            </a:r>
            <a:r>
              <a:rPr lang="en-IN" dirty="0"/>
              <a:t> was developed in 1985 by Dr. Taher ElGamal, during his HP tenure. He is the present security CTO of salesforce.com.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It is a public-key scheme based on discrete logarithms.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The ElGamal Cryptosystem is used in many network security implementations like Digital Signature Standard (DSS) and the S/MIME e-mail.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88640"/>
            <a:ext cx="6324600" cy="900336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ElGamal Cryptographic System</a:t>
            </a:r>
          </a:p>
        </p:txBody>
      </p:sp>
      <p:grpSp>
        <p:nvGrpSpPr>
          <p:cNvPr id="5" name="Group 11"/>
          <p:cNvGrpSpPr/>
          <p:nvPr/>
        </p:nvGrpSpPr>
        <p:grpSpPr>
          <a:xfrm>
            <a:off x="6806208" y="4871181"/>
            <a:ext cx="1728192" cy="1544960"/>
            <a:chOff x="6012160" y="4437112"/>
            <a:chExt cx="2032094" cy="1905000"/>
          </a:xfrm>
        </p:grpSpPr>
        <p:pic>
          <p:nvPicPr>
            <p:cNvPr id="1030" name="Picture 6" descr="https://media.licdn.com/mpr/mpr/shrink_200_200/p/1/000/1cc/3ba/0b22cb9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12160" y="4437112"/>
              <a:ext cx="1905000" cy="1905000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6096832" y="5980254"/>
              <a:ext cx="1947422" cy="347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dirty="0" smtClean="0"/>
                <a:t>Dr Taher ElGamal</a:t>
              </a:r>
              <a:endParaRPr lang="en-IN" sz="14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8949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587680" cy="4959499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b="1" dirty="0" smtClean="0"/>
              <a:t>Key Generation</a:t>
            </a:r>
            <a:endParaRPr lang="en-IN" sz="2600" dirty="0" smtClean="0"/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Selects a large prime number </a:t>
            </a:r>
            <a:r>
              <a:rPr lang="en-IN" sz="2600" b="1" i="1" dirty="0" smtClean="0"/>
              <a:t>p</a:t>
            </a:r>
            <a:r>
              <a:rPr lang="en-IN" sz="2600" dirty="0" smtClean="0"/>
              <a:t> and </a:t>
            </a:r>
            <a:r>
              <a:rPr lang="en-IN" sz="2600" b="1" i="1" dirty="0" smtClean="0"/>
              <a:t>e</a:t>
            </a:r>
            <a:r>
              <a:rPr lang="en-IN" sz="2600" b="1" i="1" baseline="-25000" dirty="0" smtClean="0"/>
              <a:t>1</a:t>
            </a:r>
            <a:r>
              <a:rPr lang="en-IN" sz="2600" dirty="0" smtClean="0"/>
              <a:t> a primitive root of it.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Generates a random number </a:t>
            </a:r>
            <a:r>
              <a:rPr lang="en-IN" sz="2600" b="1" i="1" dirty="0" smtClean="0"/>
              <a:t>d</a:t>
            </a:r>
            <a:r>
              <a:rPr lang="en-IN" sz="2600" dirty="0" smtClean="0"/>
              <a:t> such that </a:t>
            </a:r>
            <a:r>
              <a:rPr lang="en-IN" sz="2600" b="1" i="1" dirty="0" smtClean="0"/>
              <a:t>1 &lt; d &lt;= p-1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Calculates </a:t>
            </a:r>
            <a:r>
              <a:rPr lang="en-IN" sz="2600" b="1" i="1" dirty="0" smtClean="0"/>
              <a:t>e</a:t>
            </a:r>
            <a:r>
              <a:rPr lang="en-IN" sz="2600" b="1" i="1" baseline="-25000" dirty="0" smtClean="0"/>
              <a:t>2 </a:t>
            </a:r>
            <a:r>
              <a:rPr lang="en-IN" sz="2600" b="1" i="1" dirty="0" smtClean="0"/>
              <a:t>= e</a:t>
            </a:r>
            <a:r>
              <a:rPr lang="en-IN" sz="2600" b="1" i="1" baseline="-25000" dirty="0" smtClean="0"/>
              <a:t>1</a:t>
            </a:r>
            <a:r>
              <a:rPr lang="en-IN" sz="2600" b="1" i="1" baseline="30000" dirty="0" smtClean="0"/>
              <a:t>d</a:t>
            </a:r>
            <a:r>
              <a:rPr lang="en-IN" sz="2600" b="1" i="1" dirty="0" smtClean="0"/>
              <a:t> mod p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The private key of the receiver </a:t>
            </a:r>
            <a:r>
              <a:rPr lang="en-IN" sz="2600" b="1" i="1" dirty="0" smtClean="0"/>
              <a:t>PR ={p, e</a:t>
            </a:r>
            <a:r>
              <a:rPr lang="en-IN" sz="2600" b="1" i="1" baseline="-25000" dirty="0" smtClean="0"/>
              <a:t>1</a:t>
            </a:r>
            <a:r>
              <a:rPr lang="en-IN" sz="2600" b="1" i="1" dirty="0" smtClean="0"/>
              <a:t>, e</a:t>
            </a:r>
            <a:r>
              <a:rPr lang="en-IN" sz="2600" b="1" i="1" baseline="-25000" dirty="0" smtClean="0"/>
              <a:t>2, </a:t>
            </a:r>
            <a:r>
              <a:rPr lang="en-IN" sz="2600" b="1" i="1" dirty="0" smtClean="0"/>
              <a:t>d}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The public key for the sender is </a:t>
            </a:r>
            <a:r>
              <a:rPr lang="en-IN" sz="2600" b="1" i="1" dirty="0" smtClean="0"/>
              <a:t>PU = {p, e</a:t>
            </a:r>
            <a:r>
              <a:rPr lang="en-IN" sz="2600" b="1" i="1" baseline="-25000" dirty="0" smtClean="0"/>
              <a:t>1</a:t>
            </a:r>
            <a:r>
              <a:rPr lang="en-IN" sz="2600" b="1" i="1" dirty="0" smtClean="0"/>
              <a:t>, e</a:t>
            </a:r>
            <a:r>
              <a:rPr lang="en-IN" sz="2600" b="1" i="1" baseline="-25000" dirty="0" smtClean="0"/>
              <a:t>2</a:t>
            </a:r>
            <a:r>
              <a:rPr lang="en-IN" sz="2600" b="1" i="1" dirty="0" smtClean="0"/>
              <a:t>}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None/>
            </a:pPr>
            <a:endParaRPr lang="en-IN" sz="2600" b="1" i="1" dirty="0" smtClean="0"/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b="1" dirty="0" smtClean="0"/>
              <a:t>Encryption</a:t>
            </a:r>
            <a:r>
              <a:rPr lang="en-IN" sz="2600" dirty="0" smtClean="0"/>
              <a:t>:</a:t>
            </a:r>
            <a:endParaRPr lang="en-IN" sz="2600" dirty="0" smtClean="0"/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Represents the message as an integer M in the range </a:t>
            </a:r>
            <a:r>
              <a:rPr lang="en-IN" sz="2600" b="1" i="1" dirty="0" smtClean="0"/>
              <a:t>0 &lt;= M &lt;= (p – 1)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Longer messages are sent as a sequence of blocks, with each block being an integer less than p.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Generates a random number r such that </a:t>
            </a:r>
            <a:r>
              <a:rPr lang="en-IN" sz="2600" b="1" i="1" dirty="0" smtClean="0"/>
              <a:t>1 &lt; r &lt;= p-1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Calculates two ciphertexts C1 and C2 as:</a:t>
            </a:r>
          </a:p>
          <a:p>
            <a:pPr marL="1485900" lvl="2" indent="-571500" algn="just">
              <a:lnSpc>
                <a:spcPct val="12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600" b="1" i="1" dirty="0" smtClean="0">
                <a:latin typeface="+mn-lt"/>
              </a:rPr>
              <a:t>C1 = e</a:t>
            </a:r>
            <a:r>
              <a:rPr lang="en-IN" sz="2600" b="1" i="1" baseline="-25000" dirty="0" smtClean="0">
                <a:latin typeface="+mn-lt"/>
              </a:rPr>
              <a:t>1</a:t>
            </a:r>
            <a:r>
              <a:rPr lang="en-IN" sz="2600" b="1" i="1" baseline="30000" dirty="0" smtClean="0">
                <a:latin typeface="+mn-lt"/>
              </a:rPr>
              <a:t>r</a:t>
            </a:r>
            <a:r>
              <a:rPr lang="en-IN" sz="2600" b="1" i="1" dirty="0" smtClean="0">
                <a:latin typeface="+mn-lt"/>
              </a:rPr>
              <a:t> mod p</a:t>
            </a:r>
          </a:p>
          <a:p>
            <a:pPr marL="1485900" lvl="2" indent="-571500" algn="just">
              <a:lnSpc>
                <a:spcPct val="12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IN" sz="2600" b="1" i="1" dirty="0" smtClean="0">
                <a:latin typeface="+mn-lt"/>
              </a:rPr>
              <a:t>C2 = (M x e</a:t>
            </a:r>
            <a:r>
              <a:rPr lang="en-IN" sz="2600" b="1" i="1" baseline="-25000" dirty="0" smtClean="0">
                <a:latin typeface="+mn-lt"/>
              </a:rPr>
              <a:t>2</a:t>
            </a:r>
            <a:r>
              <a:rPr lang="en-IN" sz="2600" b="1" i="1" baseline="30000" dirty="0" smtClean="0">
                <a:latin typeface="+mn-lt"/>
              </a:rPr>
              <a:t>r</a:t>
            </a:r>
            <a:r>
              <a:rPr lang="en-IN" sz="2600" b="1" i="1" dirty="0" smtClean="0">
                <a:latin typeface="+mn-lt"/>
              </a:rPr>
              <a:t>) mod p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Sends C1 and C2 to the receiver.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IN" sz="2600" dirty="0" smtClean="0"/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b="1" smtClean="0"/>
              <a:t>Decryption</a:t>
            </a:r>
            <a:r>
              <a:rPr lang="en-IN" sz="2600" smtClean="0"/>
              <a:t>:</a:t>
            </a:r>
            <a:endParaRPr lang="en-IN" sz="2600" dirty="0" smtClean="0"/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sz="2600" dirty="0" smtClean="0"/>
              <a:t>Restores the plaintext as </a:t>
            </a:r>
            <a:r>
              <a:rPr lang="en-IN" sz="2600" b="1" i="1" dirty="0" smtClean="0"/>
              <a:t>M = [C2 x (C1</a:t>
            </a:r>
            <a:r>
              <a:rPr lang="en-IN" sz="2600" b="1" i="1" baseline="30000" dirty="0" smtClean="0"/>
              <a:t>d</a:t>
            </a:r>
            <a:r>
              <a:rPr lang="en-IN" sz="2600" b="1" i="1" dirty="0" smtClean="0"/>
              <a:t>)</a:t>
            </a:r>
            <a:r>
              <a:rPr lang="en-IN" sz="2600" b="1" i="1" baseline="30000" dirty="0" smtClean="0"/>
              <a:t>-1</a:t>
            </a:r>
            <a:r>
              <a:rPr lang="en-IN" sz="2600" b="1" i="1" dirty="0" smtClean="0"/>
              <a:t>] mod p</a:t>
            </a:r>
          </a:p>
          <a:p>
            <a:pPr lvl="2" algn="just">
              <a:spcBef>
                <a:spcPts val="0"/>
              </a:spcBef>
              <a:buFont typeface="Courier New" pitchFamily="49" charset="0"/>
              <a:buChar char="o"/>
            </a:pPr>
            <a:endParaRPr lang="en-IN" sz="1800" dirty="0" smtClean="0">
              <a:latin typeface="+mn-lt"/>
            </a:endParaRPr>
          </a:p>
          <a:p>
            <a:pPr lvl="1" algn="just">
              <a:spcBef>
                <a:spcPts val="0"/>
              </a:spcBef>
              <a:buFont typeface="Wingdings" pitchFamily="2" charset="2"/>
              <a:buChar char="§"/>
            </a:pPr>
            <a:endParaRPr lang="en-IN" sz="2000" b="1" i="1" dirty="0" smtClean="0"/>
          </a:p>
          <a:p>
            <a:pPr lvl="1" algn="just">
              <a:spcBef>
                <a:spcPts val="0"/>
              </a:spcBef>
              <a:buNone/>
            </a:pPr>
            <a:endParaRPr lang="en-IN" sz="2000" dirty="0" smtClean="0"/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endParaRPr lang="en-IN" sz="2000" dirty="0" smtClean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044352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ElGamal Cryptographic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System Formulation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367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67146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Receiver selects a prime number p = 19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Primitive roots</a:t>
            </a:r>
            <a:r>
              <a:rPr lang="en-IN" sz="2600" baseline="30000" dirty="0" smtClean="0"/>
              <a:t>#</a:t>
            </a:r>
            <a:r>
              <a:rPr lang="en-IN" sz="2600" dirty="0" smtClean="0"/>
              <a:t> of 19 = {2, 3, 10, 13, 14, 15}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Receiver selects e</a:t>
            </a:r>
            <a:r>
              <a:rPr lang="en-IN" sz="2600" baseline="-25000" dirty="0" smtClean="0"/>
              <a:t>1</a:t>
            </a:r>
            <a:r>
              <a:rPr lang="en-IN" sz="2600" dirty="0" smtClean="0"/>
              <a:t> = 10 (one of the primitive roots) and a random number d = 5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Then, e</a:t>
            </a:r>
            <a:r>
              <a:rPr lang="en-IN" sz="2600" baseline="-25000" dirty="0" smtClean="0"/>
              <a:t>2</a:t>
            </a:r>
            <a:r>
              <a:rPr lang="en-IN" sz="2600" dirty="0" smtClean="0"/>
              <a:t> = e</a:t>
            </a:r>
            <a:r>
              <a:rPr lang="en-IN" sz="2600" baseline="-25000" dirty="0" smtClean="0"/>
              <a:t>1</a:t>
            </a:r>
            <a:r>
              <a:rPr lang="en-IN" sz="2600" baseline="30000" dirty="0" smtClean="0"/>
              <a:t>d</a:t>
            </a:r>
            <a:r>
              <a:rPr lang="en-IN" sz="2600" dirty="0" smtClean="0"/>
              <a:t> mod p = 10</a:t>
            </a:r>
            <a:r>
              <a:rPr lang="en-IN" sz="2600" baseline="30000" dirty="0" smtClean="0"/>
              <a:t>5</a:t>
            </a:r>
            <a:r>
              <a:rPr lang="en-IN" sz="2600" dirty="0" smtClean="0"/>
              <a:t> mod 19 = 3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The private key for the receiver PR = {19, 10, 3, 5}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The public key for the sender PU = {19, 10, 3}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The sender wants to send M = 17 and selects random number r = 6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Sender then calculates C1 and C2 as below:</a:t>
            </a:r>
          </a:p>
          <a:p>
            <a:pPr lvl="1">
              <a:buNone/>
            </a:pPr>
            <a:r>
              <a:rPr lang="en-IN" dirty="0" smtClean="0"/>
              <a:t>C1 = e</a:t>
            </a:r>
            <a:r>
              <a:rPr lang="en-IN" baseline="-25000" dirty="0" smtClean="0"/>
              <a:t>1</a:t>
            </a:r>
            <a:r>
              <a:rPr lang="en-IN" baseline="30000" dirty="0" smtClean="0"/>
              <a:t>r</a:t>
            </a:r>
            <a:r>
              <a:rPr lang="en-IN" dirty="0" smtClean="0"/>
              <a:t> mod p = 10</a:t>
            </a:r>
            <a:r>
              <a:rPr lang="en-IN" baseline="30000" dirty="0" smtClean="0"/>
              <a:t>6</a:t>
            </a:r>
            <a:r>
              <a:rPr lang="en-IN" dirty="0" smtClean="0"/>
              <a:t> mod 19 = 11</a:t>
            </a:r>
          </a:p>
          <a:p>
            <a:pPr lvl="1">
              <a:buNone/>
            </a:pPr>
            <a:r>
              <a:rPr lang="en-IN" dirty="0" smtClean="0"/>
              <a:t>C2 = (M x e</a:t>
            </a:r>
            <a:r>
              <a:rPr lang="en-IN" baseline="-25000" dirty="0" smtClean="0"/>
              <a:t>2</a:t>
            </a:r>
            <a:r>
              <a:rPr lang="en-IN" baseline="30000" dirty="0" smtClean="0"/>
              <a:t>r</a:t>
            </a:r>
            <a:r>
              <a:rPr lang="en-IN" dirty="0" smtClean="0"/>
              <a:t>) mod p = (17 x 3</a:t>
            </a:r>
            <a:r>
              <a:rPr lang="en-IN" baseline="30000" dirty="0" smtClean="0"/>
              <a:t>6</a:t>
            </a:r>
            <a:r>
              <a:rPr lang="en-IN" dirty="0" smtClean="0"/>
              <a:t>) mod 19 = 5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2600" dirty="0" smtClean="0"/>
              <a:t>The receiver decrypts C1 and C2 as:</a:t>
            </a:r>
          </a:p>
          <a:p>
            <a:pPr lvl="1">
              <a:buNone/>
            </a:pPr>
            <a:r>
              <a:rPr lang="en-IN" dirty="0" smtClean="0"/>
              <a:t>M = [C2 x (C1</a:t>
            </a:r>
            <a:r>
              <a:rPr lang="en-IN" baseline="30000" dirty="0" smtClean="0"/>
              <a:t>d</a:t>
            </a:r>
            <a:r>
              <a:rPr lang="en-IN" dirty="0" smtClean="0"/>
              <a:t>)</a:t>
            </a:r>
            <a:r>
              <a:rPr lang="en-IN" baseline="30000" dirty="0" smtClean="0"/>
              <a:t>-1</a:t>
            </a:r>
            <a:r>
              <a:rPr lang="en-IN" dirty="0" smtClean="0"/>
              <a:t>] mod p</a:t>
            </a:r>
          </a:p>
          <a:p>
            <a:pPr lvl="1">
              <a:buNone/>
            </a:pPr>
            <a:r>
              <a:rPr lang="en-IN" dirty="0" smtClean="0"/>
              <a:t>   = [5 x (11</a:t>
            </a:r>
            <a:r>
              <a:rPr lang="en-IN" baseline="30000" dirty="0" smtClean="0"/>
              <a:t>5</a:t>
            </a:r>
            <a:r>
              <a:rPr lang="en-IN" dirty="0" smtClean="0"/>
              <a:t>)</a:t>
            </a:r>
            <a:r>
              <a:rPr lang="en-IN" baseline="30000" dirty="0" smtClean="0"/>
              <a:t>-1</a:t>
            </a:r>
            <a:r>
              <a:rPr lang="en-IN" dirty="0" smtClean="0"/>
              <a:t>] mod 19</a:t>
            </a:r>
          </a:p>
          <a:p>
            <a:pPr lvl="1">
              <a:buNone/>
            </a:pPr>
            <a:r>
              <a:rPr lang="en-IN" dirty="0" smtClean="0"/>
              <a:t>   = [5 x 11] mod 19 </a:t>
            </a:r>
          </a:p>
          <a:p>
            <a:pPr lvl="1">
              <a:buNone/>
            </a:pPr>
            <a:r>
              <a:rPr lang="en-IN" dirty="0" smtClean="0"/>
              <a:t>   = 17  </a:t>
            </a:r>
            <a:r>
              <a:rPr lang="en-IN" sz="2000" dirty="0" smtClean="0"/>
              <a:t>(the original plaintext)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88640"/>
            <a:ext cx="6324600" cy="962744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ElGamal Cryptographic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System Example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9600" y="5085184"/>
            <a:ext cx="259228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i="1" u="sng" dirty="0" smtClean="0">
                <a:solidFill>
                  <a:srgbClr val="0070C0"/>
                </a:solidFill>
              </a:rPr>
              <a:t>Other way:</a:t>
            </a:r>
          </a:p>
          <a:p>
            <a:r>
              <a:rPr lang="en-IN" sz="1400" i="1" dirty="0" smtClean="0">
                <a:solidFill>
                  <a:srgbClr val="0070C0"/>
                </a:solidFill>
              </a:rPr>
              <a:t>M=C2(C1</a:t>
            </a:r>
            <a:r>
              <a:rPr lang="en-IN" sz="1400" i="1" baseline="30000" dirty="0" smtClean="0">
                <a:solidFill>
                  <a:srgbClr val="0070C0"/>
                </a:solidFill>
              </a:rPr>
              <a:t>p-1-d</a:t>
            </a:r>
            <a:r>
              <a:rPr lang="en-IN" sz="1400" i="1" dirty="0" smtClean="0">
                <a:solidFill>
                  <a:srgbClr val="0070C0"/>
                </a:solidFill>
              </a:rPr>
              <a:t> mod p)</a:t>
            </a:r>
          </a:p>
          <a:p>
            <a:r>
              <a:rPr lang="en-IN" sz="1400" i="1" dirty="0" smtClean="0">
                <a:solidFill>
                  <a:srgbClr val="0070C0"/>
                </a:solidFill>
              </a:rPr>
              <a:t>M = 5 (11</a:t>
            </a:r>
            <a:r>
              <a:rPr lang="en-IN" sz="1400" i="1" baseline="30000" dirty="0" smtClean="0">
                <a:solidFill>
                  <a:srgbClr val="0070C0"/>
                </a:solidFill>
              </a:rPr>
              <a:t>19-1-5</a:t>
            </a:r>
            <a:r>
              <a:rPr lang="en-IN" sz="1400" i="1" dirty="0">
                <a:solidFill>
                  <a:srgbClr val="0070C0"/>
                </a:solidFill>
              </a:rPr>
              <a:t> </a:t>
            </a:r>
            <a:r>
              <a:rPr lang="en-IN" sz="1400" i="1" dirty="0" smtClean="0">
                <a:solidFill>
                  <a:srgbClr val="0070C0"/>
                </a:solidFill>
              </a:rPr>
              <a:t>mod 19)</a:t>
            </a:r>
          </a:p>
          <a:p>
            <a:r>
              <a:rPr lang="en-IN" sz="1400" i="1" dirty="0" smtClean="0">
                <a:solidFill>
                  <a:srgbClr val="0070C0"/>
                </a:solidFill>
              </a:rPr>
              <a:t>M = 5 * [11^ 13 Mod 19]</a:t>
            </a:r>
          </a:p>
          <a:p>
            <a:r>
              <a:rPr lang="en-IN" sz="1400" i="1" dirty="0" smtClean="0">
                <a:solidFill>
                  <a:srgbClr val="0070C0"/>
                </a:solidFill>
              </a:rPr>
              <a:t>M = (5*11) mod 19 = 17</a:t>
            </a:r>
          </a:p>
        </p:txBody>
      </p:sp>
    </p:spTree>
    <p:extLst>
      <p:ext uri="{BB962C8B-B14F-4D97-AF65-F5344CB8AC3E}">
        <p14:creationId xmlns:p14="http://schemas.microsoft.com/office/powerpoint/2010/main" val="109484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 Bob’s El-</a:t>
            </a:r>
            <a:r>
              <a:rPr lang="en-IN" dirty="0" err="1" smtClean="0"/>
              <a:t>Gamal</a:t>
            </a:r>
            <a:r>
              <a:rPr lang="en-IN" dirty="0" smtClean="0"/>
              <a:t> public key is (83,5,52) and his secret key is a = 9. Bob receives the message (2,40) from Alice. Decipher it, simplifying your answer as much as possible.</a:t>
            </a:r>
          </a:p>
          <a:p>
            <a:r>
              <a:rPr lang="en-IN" dirty="0" smtClean="0"/>
              <a:t>The plaintext is (2 </a:t>
            </a:r>
            <a:r>
              <a:rPr lang="en-IN" baseline="30000" dirty="0" smtClean="0"/>
              <a:t>9</a:t>
            </a:r>
            <a:r>
              <a:rPr lang="en-IN" dirty="0" smtClean="0"/>
              <a:t> ) </a:t>
            </a:r>
            <a:r>
              <a:rPr lang="en-IN" baseline="30000" dirty="0" smtClean="0"/>
              <a:t>−1 </a:t>
            </a:r>
            <a:r>
              <a:rPr lang="en-IN" dirty="0" smtClean="0"/>
              <a:t>(40) (mod 83). We have 2 </a:t>
            </a:r>
            <a:r>
              <a:rPr lang="en-IN" baseline="30000" dirty="0" smtClean="0"/>
              <a:t>9</a:t>
            </a:r>
            <a:r>
              <a:rPr lang="en-IN" dirty="0" smtClean="0"/>
              <a:t> ≡ (128)(4) ≡ (45)(4) ≡ 14 (mod 83). So (2 </a:t>
            </a:r>
            <a:r>
              <a:rPr lang="en-IN" baseline="30000" dirty="0" smtClean="0"/>
              <a:t>9 </a:t>
            </a:r>
            <a:r>
              <a:rPr lang="en-IN" dirty="0" smtClean="0"/>
              <a:t>) −1 ≡ 6 (mod 83). Thus, the message is(6)(40) = 240 ≡ 74 (mod 83).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Example2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52BD6-4F37-4D57-B6B7-636C2217F7DD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40769"/>
            <a:ext cx="8229600" cy="5256584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Developed by </a:t>
            </a:r>
            <a:r>
              <a:rPr lang="en-IN" sz="1800" b="1" i="1" dirty="0" smtClean="0"/>
              <a:t>W. Diffie </a:t>
            </a:r>
            <a:r>
              <a:rPr lang="en-IN" sz="1800" dirty="0" smtClean="0"/>
              <a:t>and </a:t>
            </a:r>
            <a:r>
              <a:rPr lang="en-IN" sz="1800" b="1" i="1" dirty="0" smtClean="0"/>
              <a:t>M. E. Hellman </a:t>
            </a:r>
            <a:r>
              <a:rPr lang="en-IN" sz="1800" dirty="0" smtClean="0"/>
              <a:t>professors of Stanford university in 1976.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There are two publically known numbers: a prime number </a:t>
            </a:r>
            <a:r>
              <a:rPr lang="en-IN" sz="1800" b="1" i="1" dirty="0" smtClean="0"/>
              <a:t>p</a:t>
            </a:r>
            <a:r>
              <a:rPr lang="en-IN" sz="1800" dirty="0" smtClean="0"/>
              <a:t> and </a:t>
            </a:r>
            <a:r>
              <a:rPr lang="en-IN" sz="1800" b="1" i="1" dirty="0" smtClean="0"/>
              <a:t>e</a:t>
            </a:r>
            <a:r>
              <a:rPr lang="en-IN" sz="1800" dirty="0" smtClean="0"/>
              <a:t> a primitive root of it.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Users A and B want to create a shared secret key.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User A selects a random number </a:t>
            </a:r>
            <a:r>
              <a:rPr lang="en-IN" sz="1800" b="1" i="1" dirty="0" smtClean="0"/>
              <a:t>X</a:t>
            </a:r>
            <a:r>
              <a:rPr lang="en-IN" sz="1800" b="1" i="1" baseline="-25000" dirty="0" smtClean="0"/>
              <a:t>A</a:t>
            </a:r>
            <a:r>
              <a:rPr lang="en-IN" sz="1800" b="1" i="1" dirty="0" smtClean="0"/>
              <a:t> &lt; p </a:t>
            </a:r>
            <a:r>
              <a:rPr lang="en-IN" sz="1800" dirty="0" smtClean="0"/>
              <a:t>and calculates </a:t>
            </a:r>
            <a:r>
              <a:rPr lang="en-IN" sz="1800" b="1" i="1" dirty="0" smtClean="0"/>
              <a:t>Y</a:t>
            </a:r>
            <a:r>
              <a:rPr lang="en-IN" sz="1800" b="1" i="1" baseline="-25000" dirty="0" smtClean="0"/>
              <a:t>A</a:t>
            </a:r>
            <a:r>
              <a:rPr lang="en-IN" sz="1800" b="1" i="1" dirty="0" smtClean="0"/>
              <a:t> = </a:t>
            </a:r>
            <a:r>
              <a:rPr lang="en-IN" sz="1800" b="1" i="1" dirty="0" err="1" smtClean="0"/>
              <a:t>e</a:t>
            </a:r>
            <a:r>
              <a:rPr lang="en-IN" sz="1800" b="1" i="1" baseline="30000" dirty="0" err="1" smtClean="0"/>
              <a:t>XA</a:t>
            </a:r>
            <a:r>
              <a:rPr lang="en-IN" sz="1800" b="1" i="1" dirty="0" smtClean="0"/>
              <a:t> mod p.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Similarly, user B selects a random number </a:t>
            </a:r>
            <a:r>
              <a:rPr lang="en-IN" sz="1800" b="1" i="1" dirty="0" smtClean="0"/>
              <a:t>X</a:t>
            </a:r>
            <a:r>
              <a:rPr lang="en-IN" sz="1800" b="1" i="1" baseline="-25000" dirty="0" smtClean="0"/>
              <a:t>B</a:t>
            </a:r>
            <a:r>
              <a:rPr lang="en-IN" sz="1800" b="1" i="1" dirty="0" smtClean="0"/>
              <a:t> &lt; p </a:t>
            </a:r>
            <a:r>
              <a:rPr lang="en-IN" sz="1800" dirty="0" smtClean="0"/>
              <a:t>and calculates </a:t>
            </a:r>
            <a:r>
              <a:rPr lang="en-IN" sz="1800" b="1" i="1" dirty="0" smtClean="0"/>
              <a:t>Y</a:t>
            </a:r>
            <a:r>
              <a:rPr lang="en-IN" sz="1800" b="1" i="1" baseline="-25000" dirty="0" smtClean="0"/>
              <a:t>B</a:t>
            </a:r>
            <a:r>
              <a:rPr lang="en-IN" sz="1800" b="1" i="1" dirty="0" smtClean="0"/>
              <a:t> = </a:t>
            </a:r>
            <a:r>
              <a:rPr lang="en-IN" sz="1800" b="1" i="1" dirty="0" err="1" smtClean="0"/>
              <a:t>e</a:t>
            </a:r>
            <a:r>
              <a:rPr lang="en-IN" sz="1800" b="1" i="1" baseline="30000" dirty="0" err="1" smtClean="0"/>
              <a:t>XB</a:t>
            </a:r>
            <a:r>
              <a:rPr lang="en-IN" sz="1800" b="1" i="1" dirty="0" smtClean="0"/>
              <a:t> mod p.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Each side keeps the value of X secret and make the value of Y public to the other side. So X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is the private key for A and Y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is its corresponding public key. The same logic stands true for the values of X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and Y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for B.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Now A computes a key K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as: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b="1" i="1" dirty="0" smtClean="0"/>
              <a:t>K</a:t>
            </a:r>
            <a:r>
              <a:rPr lang="en-IN" sz="1800" b="1" i="1" baseline="-25000" dirty="0" smtClean="0"/>
              <a:t>A</a:t>
            </a:r>
            <a:r>
              <a:rPr lang="en-IN" sz="1800" b="1" i="1" dirty="0" smtClean="0"/>
              <a:t> = Y</a:t>
            </a:r>
            <a:r>
              <a:rPr lang="en-IN" sz="1800" b="1" i="1" baseline="-25000" dirty="0" smtClean="0"/>
              <a:t>B</a:t>
            </a:r>
            <a:r>
              <a:rPr lang="en-IN" sz="1800" b="1" i="1" baseline="30000" dirty="0" smtClean="0"/>
              <a:t>XA</a:t>
            </a:r>
            <a:r>
              <a:rPr lang="en-IN" sz="1800" b="1" i="1" dirty="0" smtClean="0"/>
              <a:t> mod p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B also computes a key K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as: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800" b="1" i="1" dirty="0" smtClean="0"/>
              <a:t>K</a:t>
            </a:r>
            <a:r>
              <a:rPr lang="en-IN" sz="1800" b="1" i="1" baseline="-25000" dirty="0" smtClean="0"/>
              <a:t>B</a:t>
            </a:r>
            <a:r>
              <a:rPr lang="en-IN" sz="1800" b="1" i="1" dirty="0" smtClean="0"/>
              <a:t> = Y</a:t>
            </a:r>
            <a:r>
              <a:rPr lang="en-IN" sz="1800" b="1" i="1" baseline="-25000" dirty="0" smtClean="0"/>
              <a:t>A</a:t>
            </a:r>
            <a:r>
              <a:rPr lang="en-IN" sz="1800" b="1" i="1" baseline="30000" dirty="0" smtClean="0"/>
              <a:t>XB</a:t>
            </a:r>
            <a:r>
              <a:rPr lang="en-IN" sz="1800" b="1" i="1" dirty="0" smtClean="0"/>
              <a:t> mod p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IN" sz="1800" dirty="0" smtClean="0"/>
              <a:t>Both the keys K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and K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are same as proved below: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	K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= Y</a:t>
            </a:r>
            <a:r>
              <a:rPr lang="en-IN" sz="1800" baseline="-25000" dirty="0" smtClean="0"/>
              <a:t>B</a:t>
            </a:r>
            <a:r>
              <a:rPr lang="en-IN" sz="1800" baseline="30000" dirty="0" smtClean="0"/>
              <a:t>XA</a:t>
            </a:r>
            <a:r>
              <a:rPr lang="en-IN" sz="1800" dirty="0" smtClean="0"/>
              <a:t> mod p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	      = (</a:t>
            </a:r>
            <a:r>
              <a:rPr lang="en-IN" sz="1800" dirty="0" err="1" smtClean="0"/>
              <a:t>e</a:t>
            </a:r>
            <a:r>
              <a:rPr lang="en-IN" sz="1800" baseline="30000" dirty="0" err="1" smtClean="0"/>
              <a:t>XB</a:t>
            </a:r>
            <a:r>
              <a:rPr lang="en-IN" sz="1800" dirty="0" smtClean="0"/>
              <a:t> mod p)</a:t>
            </a:r>
            <a:r>
              <a:rPr lang="en-IN" sz="1800" baseline="30000" dirty="0" smtClean="0"/>
              <a:t>XA</a:t>
            </a:r>
            <a:r>
              <a:rPr lang="en-IN" sz="1800" dirty="0" smtClean="0"/>
              <a:t> mod p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             = </a:t>
            </a:r>
            <a:r>
              <a:rPr lang="en-IN" sz="1800" dirty="0" err="1" smtClean="0"/>
              <a:t>e</a:t>
            </a:r>
            <a:r>
              <a:rPr lang="en-IN" sz="1800" baseline="30000" dirty="0" err="1" smtClean="0"/>
              <a:t>XB.XA</a:t>
            </a:r>
            <a:r>
              <a:rPr lang="en-IN" sz="1800" baseline="30000" dirty="0" smtClean="0"/>
              <a:t> </a:t>
            </a:r>
            <a:r>
              <a:rPr lang="en-IN" sz="1800" dirty="0" smtClean="0"/>
              <a:t>mod p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	      = (</a:t>
            </a:r>
            <a:r>
              <a:rPr lang="en-IN" sz="1800" dirty="0" err="1" smtClean="0"/>
              <a:t>e</a:t>
            </a:r>
            <a:r>
              <a:rPr lang="en-IN" sz="1800" baseline="30000" dirty="0" err="1" smtClean="0"/>
              <a:t>XA</a:t>
            </a:r>
            <a:r>
              <a:rPr lang="en-IN" sz="1800" dirty="0" smtClean="0"/>
              <a:t> mod p)</a:t>
            </a:r>
            <a:r>
              <a:rPr lang="en-IN" sz="1800" baseline="30000" dirty="0" smtClean="0"/>
              <a:t>XB</a:t>
            </a:r>
            <a:r>
              <a:rPr lang="en-IN" sz="1800" dirty="0" smtClean="0"/>
              <a:t> mod p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             =  Y</a:t>
            </a:r>
            <a:r>
              <a:rPr lang="en-IN" sz="1800" baseline="-25000" dirty="0" smtClean="0"/>
              <a:t>A</a:t>
            </a:r>
            <a:r>
              <a:rPr lang="en-IN" sz="1800" baseline="30000" dirty="0" smtClean="0"/>
              <a:t>XB</a:t>
            </a:r>
            <a:r>
              <a:rPr lang="en-IN" sz="1800" dirty="0" smtClean="0"/>
              <a:t> mod p</a:t>
            </a:r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r>
              <a:rPr lang="en-IN" sz="1800" dirty="0" smtClean="0"/>
              <a:t>             = K</a:t>
            </a:r>
            <a:r>
              <a:rPr lang="en-IN" sz="1800" baseline="-25000" dirty="0" smtClean="0"/>
              <a:t>B</a:t>
            </a:r>
          </a:p>
          <a:p>
            <a:pPr marL="342900" lvl="1" indent="-342900" algn="just">
              <a:lnSpc>
                <a:spcPct val="120000"/>
              </a:lnSpc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r>
              <a:rPr lang="en-IN" sz="1800" dirty="0" smtClean="0"/>
              <a:t>The key K (= K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= K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is the shared secret key) which is generated without sharing the individual random numbers X</a:t>
            </a:r>
            <a:r>
              <a:rPr lang="en-IN" sz="1800" baseline="-25000" dirty="0" smtClean="0"/>
              <a:t>A</a:t>
            </a:r>
            <a:r>
              <a:rPr lang="en-IN" sz="1800" dirty="0" smtClean="0"/>
              <a:t> and X</a:t>
            </a:r>
            <a:r>
              <a:rPr lang="en-IN" sz="1800" baseline="-25000" dirty="0" smtClean="0"/>
              <a:t>B</a:t>
            </a:r>
            <a:r>
              <a:rPr lang="en-IN" sz="1800" dirty="0" smtClean="0"/>
              <a:t> and its value is </a:t>
            </a:r>
            <a:r>
              <a:rPr lang="en-IN" sz="1800" b="1" i="1" dirty="0" smtClean="0"/>
              <a:t>K = </a:t>
            </a:r>
            <a:r>
              <a:rPr lang="en-IN" sz="1800" b="1" i="1" dirty="0" err="1" smtClean="0"/>
              <a:t>e</a:t>
            </a:r>
            <a:r>
              <a:rPr lang="en-IN" sz="1800" b="1" i="1" baseline="30000" dirty="0" err="1" smtClean="0"/>
              <a:t>XA.XB</a:t>
            </a:r>
            <a:r>
              <a:rPr lang="en-IN" sz="1800" b="1" i="1" baseline="30000" dirty="0" smtClean="0"/>
              <a:t> </a:t>
            </a:r>
            <a:r>
              <a:rPr lang="en-IN" sz="1800" b="1" i="1" dirty="0" smtClean="0"/>
              <a:t>mod p</a:t>
            </a:r>
          </a:p>
          <a:p>
            <a:pPr marL="342900" lvl="1" indent="-342900" algn="just">
              <a:lnSpc>
                <a:spcPct val="120000"/>
              </a:lnSpc>
              <a:spcBef>
                <a:spcPts val="0"/>
              </a:spcBef>
              <a:buClr>
                <a:srgbClr val="101141"/>
              </a:buClr>
              <a:buFont typeface="Wingdings" pitchFamily="2" charset="2"/>
              <a:buChar char="q"/>
            </a:pPr>
            <a:endParaRPr lang="en-IN" sz="1800" dirty="0" smtClean="0"/>
          </a:p>
          <a:p>
            <a:pPr marL="342900" lvl="1" indent="-342900" algn="just">
              <a:lnSpc>
                <a:spcPct val="110000"/>
              </a:lnSpc>
              <a:spcBef>
                <a:spcPts val="0"/>
              </a:spcBef>
              <a:buClr>
                <a:srgbClr val="101141"/>
              </a:buClr>
              <a:buNone/>
            </a:pPr>
            <a:endParaRPr lang="en-IN" sz="1800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IN" sz="1800" dirty="0" smtClean="0"/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IN" sz="1800" dirty="0" smtClean="0"/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IN" sz="1800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IN" sz="1800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IN" sz="1800" dirty="0" smtClean="0"/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IN" sz="18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88640"/>
            <a:ext cx="6324600" cy="972344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Diffie-Hellman Key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Exchange Formulation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  <p:grpSp>
        <p:nvGrpSpPr>
          <p:cNvPr id="5" name="Group 9"/>
          <p:cNvGrpSpPr/>
          <p:nvPr/>
        </p:nvGrpSpPr>
        <p:grpSpPr>
          <a:xfrm>
            <a:off x="5580112" y="3789040"/>
            <a:ext cx="2952328" cy="1315889"/>
            <a:chOff x="5580112" y="3789040"/>
            <a:chExt cx="2952328" cy="1315889"/>
          </a:xfrm>
        </p:grpSpPr>
        <p:pic>
          <p:nvPicPr>
            <p:cNvPr id="7172" name="Picture 4" descr="http://www.computerhistory.org/fellowawards/media/img/fellows/2011_whitfield_diffie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580112" y="3789040"/>
              <a:ext cx="1040904" cy="1301130"/>
            </a:xfrm>
            <a:prstGeom prst="rect">
              <a:avLst/>
            </a:prstGeom>
            <a:noFill/>
          </p:spPr>
        </p:pic>
        <p:pic>
          <p:nvPicPr>
            <p:cNvPr id="7174" name="Picture 6" descr="Martin Hellman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020272" y="3789040"/>
              <a:ext cx="1502532" cy="1001688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5652120" y="4797152"/>
              <a:ext cx="8640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i="1" dirty="0" smtClean="0">
                  <a:solidFill>
                    <a:schemeClr val="bg1"/>
                  </a:solidFill>
                </a:rPr>
                <a:t>W. Diffie</a:t>
              </a:r>
              <a:endParaRPr lang="en-IN" sz="1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20272" y="4509120"/>
              <a:ext cx="15121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i="1" dirty="0" smtClean="0">
                  <a:solidFill>
                    <a:schemeClr val="bg1"/>
                  </a:solidFill>
                </a:rPr>
                <a:t>M. E. Hellman</a:t>
              </a:r>
              <a:endParaRPr lang="en-IN" sz="1400" b="1" i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364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972344"/>
          </a:xfrm>
        </p:spPr>
        <p:txBody>
          <a:bodyPr vert="horz" lIns="91440" tIns="45720" rIns="91440" bIns="45720" rtlCol="0" anchor="ctr" anchorCtr="0">
            <a:normAutofit fontScale="92500"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Diffie-Hellman Key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Exchange Flow </a:t>
            </a:r>
            <a:r>
              <a:rPr lang="en-IN" sz="3200" dirty="0">
                <a:latin typeface="+mj-lt"/>
                <a:ea typeface="+mj-ea"/>
                <a:cs typeface="+mj-cs"/>
              </a:rPr>
              <a:t>of Events</a:t>
            </a:r>
          </a:p>
        </p:txBody>
      </p:sp>
      <p:grpSp>
        <p:nvGrpSpPr>
          <p:cNvPr id="2" name="Group 24"/>
          <p:cNvGrpSpPr/>
          <p:nvPr/>
        </p:nvGrpSpPr>
        <p:grpSpPr>
          <a:xfrm>
            <a:off x="2525210" y="2464371"/>
            <a:ext cx="4093580" cy="3844949"/>
            <a:chOff x="2525210" y="2464371"/>
            <a:chExt cx="4093580" cy="3844949"/>
          </a:xfrm>
        </p:grpSpPr>
        <p:cxnSp>
          <p:nvCxnSpPr>
            <p:cNvPr id="8" name="Straight Connector 7"/>
            <p:cNvCxnSpPr>
              <a:stCxn id="34818" idx="2"/>
            </p:cNvCxnSpPr>
            <p:nvPr/>
          </p:nvCxnSpPr>
          <p:spPr>
            <a:xfrm>
              <a:off x="2525210" y="2464371"/>
              <a:ext cx="30566" cy="38449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588224" y="2464371"/>
              <a:ext cx="30566" cy="38449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26"/>
          <p:cNvGrpSpPr/>
          <p:nvPr/>
        </p:nvGrpSpPr>
        <p:grpSpPr>
          <a:xfrm>
            <a:off x="1907704" y="2708920"/>
            <a:ext cx="4680520" cy="936104"/>
            <a:chOff x="1907704" y="2708920"/>
            <a:chExt cx="4680520" cy="936104"/>
          </a:xfrm>
        </p:grpSpPr>
        <p:sp>
          <p:nvSpPr>
            <p:cNvPr id="10" name="Rectangle 9"/>
            <p:cNvSpPr/>
            <p:nvPr/>
          </p:nvSpPr>
          <p:spPr>
            <a:xfrm>
              <a:off x="1907704" y="2708920"/>
              <a:ext cx="1296144" cy="5760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Selects X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</a:p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2555776" y="3501008"/>
              <a:ext cx="40324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779912" y="3068960"/>
              <a:ext cx="1296144" cy="57606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27"/>
          <p:cNvGrpSpPr/>
          <p:nvPr/>
        </p:nvGrpSpPr>
        <p:grpSpPr>
          <a:xfrm>
            <a:off x="2555776" y="3717032"/>
            <a:ext cx="4680520" cy="936104"/>
            <a:chOff x="2555776" y="3717032"/>
            <a:chExt cx="4680520" cy="936104"/>
          </a:xfrm>
        </p:grpSpPr>
        <p:sp>
          <p:nvSpPr>
            <p:cNvPr id="11" name="Rectangle 10"/>
            <p:cNvSpPr/>
            <p:nvPr/>
          </p:nvSpPr>
          <p:spPr>
            <a:xfrm>
              <a:off x="5940152" y="3717032"/>
              <a:ext cx="1296144" cy="5760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Selects X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</a:p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555776" y="4509120"/>
              <a:ext cx="40324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779912" y="4077072"/>
              <a:ext cx="1296144" cy="57606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28"/>
          <p:cNvGrpSpPr/>
          <p:nvPr/>
        </p:nvGrpSpPr>
        <p:grpSpPr>
          <a:xfrm>
            <a:off x="1907704" y="4797152"/>
            <a:ext cx="5472608" cy="720080"/>
            <a:chOff x="1907704" y="4797152"/>
            <a:chExt cx="5472608" cy="720080"/>
          </a:xfrm>
        </p:grpSpPr>
        <p:sp>
          <p:nvSpPr>
            <p:cNvPr id="17" name="Rectangle 16"/>
            <p:cNvSpPr/>
            <p:nvPr/>
          </p:nvSpPr>
          <p:spPr>
            <a:xfrm>
              <a:off x="1907704" y="4797152"/>
              <a:ext cx="1368152" cy="7200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</a:t>
              </a:r>
            </a:p>
            <a:p>
              <a:pPr algn="ctr"/>
              <a:r>
                <a:rPr lang="en-IN" sz="1400" b="1" i="1" dirty="0" smtClean="0">
                  <a:solidFill>
                    <a:schemeClr val="tx1"/>
                  </a:solidFill>
                </a:rPr>
                <a:t>K</a:t>
              </a:r>
              <a:r>
                <a:rPr lang="en-IN" sz="1400" b="1" i="1" baseline="-25000" dirty="0" smtClean="0">
                  <a:solidFill>
                    <a:schemeClr val="tx1"/>
                  </a:solidFill>
                </a:rPr>
                <a:t>A</a:t>
              </a:r>
              <a:r>
                <a:rPr lang="en-IN" sz="1400" b="1" i="1" dirty="0" smtClean="0">
                  <a:solidFill>
                    <a:schemeClr val="tx1"/>
                  </a:solidFill>
                </a:rPr>
                <a:t> = Y</a:t>
              </a:r>
              <a:r>
                <a:rPr lang="en-IN" sz="1400" b="1" i="1" baseline="-25000" dirty="0" smtClean="0">
                  <a:solidFill>
                    <a:schemeClr val="tx1"/>
                  </a:solidFill>
                </a:rPr>
                <a:t>B</a:t>
              </a:r>
              <a:r>
                <a:rPr lang="en-IN" sz="1400" b="1" i="1" baseline="30000" dirty="0" smtClean="0">
                  <a:solidFill>
                    <a:schemeClr val="tx1"/>
                  </a:solidFill>
                </a:rPr>
                <a:t>XA</a:t>
              </a:r>
              <a:r>
                <a:rPr lang="en-IN" sz="1400" b="1" i="1" dirty="0" smtClean="0">
                  <a:solidFill>
                    <a:schemeClr val="tx1"/>
                  </a:solidFill>
                </a:rPr>
                <a:t> mod p</a:t>
              </a:r>
              <a:r>
                <a:rPr lang="en-IN" sz="1400" b="1" dirty="0" smtClean="0">
                  <a:solidFill>
                    <a:schemeClr val="tx1"/>
                  </a:solidFill>
                </a:rPr>
                <a:t> 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940152" y="4797152"/>
              <a:ext cx="1440160" cy="7200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</a:t>
              </a:r>
            </a:p>
            <a:p>
              <a:pPr algn="ctr"/>
              <a:r>
                <a:rPr lang="en-IN" sz="1400" b="1" i="1" dirty="0" smtClean="0">
                  <a:solidFill>
                    <a:schemeClr val="tx1"/>
                  </a:solidFill>
                </a:rPr>
                <a:t>K </a:t>
              </a:r>
              <a:r>
                <a:rPr lang="en-IN" sz="1400" b="1" i="1" baseline="-25000" dirty="0" smtClean="0">
                  <a:solidFill>
                    <a:schemeClr val="tx1"/>
                  </a:solidFill>
                </a:rPr>
                <a:t>B</a:t>
              </a:r>
              <a:r>
                <a:rPr lang="en-IN" sz="1400" b="1" i="1" dirty="0" smtClean="0">
                  <a:solidFill>
                    <a:schemeClr val="tx1"/>
                  </a:solidFill>
                </a:rPr>
                <a:t>= Y</a:t>
              </a:r>
              <a:r>
                <a:rPr lang="en-IN" sz="1400" b="1" i="1" baseline="-25000" dirty="0" smtClean="0">
                  <a:solidFill>
                    <a:schemeClr val="tx1"/>
                  </a:solidFill>
                </a:rPr>
                <a:t>A</a:t>
              </a:r>
              <a:r>
                <a:rPr lang="en-IN" sz="1400" b="1" i="1" baseline="30000" dirty="0" smtClean="0">
                  <a:solidFill>
                    <a:schemeClr val="tx1"/>
                  </a:solidFill>
                </a:rPr>
                <a:t>XB</a:t>
              </a:r>
              <a:r>
                <a:rPr lang="en-IN" sz="1400" b="1" i="1" dirty="0" smtClean="0">
                  <a:solidFill>
                    <a:schemeClr val="tx1"/>
                  </a:solidFill>
                </a:rPr>
                <a:t> mod p</a:t>
              </a:r>
              <a:r>
                <a:rPr lang="en-IN" sz="1400" b="1" dirty="0" smtClean="0">
                  <a:solidFill>
                    <a:schemeClr val="tx1"/>
                  </a:solidFill>
                </a:rPr>
                <a:t> 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29"/>
          <p:cNvGrpSpPr/>
          <p:nvPr/>
        </p:nvGrpSpPr>
        <p:grpSpPr>
          <a:xfrm>
            <a:off x="2555776" y="5517232"/>
            <a:ext cx="4032448" cy="1080120"/>
            <a:chOff x="2555776" y="5517232"/>
            <a:chExt cx="4032448" cy="1080120"/>
          </a:xfrm>
        </p:grpSpPr>
        <p:pic>
          <p:nvPicPr>
            <p:cNvPr id="34820" name="Picture 4" descr="http://image.shutterstock.com/display_pic_with_logo/134128/134128,1244606246,1/stock-photo-skeleton-key-symbol-31783060.jpg"/>
            <p:cNvPicPr>
              <a:picLocks noChangeAspect="1" noChangeArrowheads="1"/>
            </p:cNvPicPr>
            <p:nvPr/>
          </p:nvPicPr>
          <p:blipFill>
            <a:blip r:embed="rId2" cstate="print"/>
            <a:srcRect b="21237"/>
            <a:stretch>
              <a:fillRect/>
            </a:stretch>
          </p:blipFill>
          <p:spPr bwMode="auto">
            <a:xfrm>
              <a:off x="4211960" y="5517232"/>
              <a:ext cx="757858" cy="504056"/>
            </a:xfrm>
            <a:prstGeom prst="rect">
              <a:avLst/>
            </a:prstGeom>
            <a:noFill/>
          </p:spPr>
        </p:pic>
        <p:cxnSp>
          <p:nvCxnSpPr>
            <p:cNvPr id="21" name="Straight Connector 20"/>
            <p:cNvCxnSpPr/>
            <p:nvPr/>
          </p:nvCxnSpPr>
          <p:spPr>
            <a:xfrm>
              <a:off x="2555776" y="6093296"/>
              <a:ext cx="403244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3275856" y="6021288"/>
              <a:ext cx="2664296" cy="57606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Shared Secret Key (K = K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  <a:r>
                <a:rPr lang="en-IN" sz="1400" b="1" dirty="0" smtClean="0">
                  <a:solidFill>
                    <a:schemeClr val="tx1"/>
                  </a:solidFill>
                </a:rPr>
                <a:t> = K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  <a:r>
                <a:rPr lang="en-IN" sz="1400" b="1" dirty="0" smtClean="0">
                  <a:solidFill>
                    <a:schemeClr val="tx1"/>
                  </a:solidFill>
                </a:rPr>
                <a:t>)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23"/>
          <p:cNvGrpSpPr/>
          <p:nvPr/>
        </p:nvGrpSpPr>
        <p:grpSpPr>
          <a:xfrm>
            <a:off x="2051720" y="1628800"/>
            <a:ext cx="4979428" cy="835571"/>
            <a:chOff x="2051720" y="1628800"/>
            <a:chExt cx="4979428" cy="835571"/>
          </a:xfrm>
        </p:grpSpPr>
        <p:pic>
          <p:nvPicPr>
            <p:cNvPr id="34818" name="Picture 2" descr="http://cliparts.co/cliparts/6ir/op7/6irop7RrT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51720" y="1628800"/>
              <a:ext cx="946980" cy="835571"/>
            </a:xfrm>
            <a:prstGeom prst="rect">
              <a:avLst/>
            </a:prstGeom>
            <a:noFill/>
          </p:spPr>
        </p:pic>
        <p:pic>
          <p:nvPicPr>
            <p:cNvPr id="6" name="Picture 2" descr="http://cliparts.co/cliparts/6ir/op7/6irop7RrT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84168" y="1628800"/>
              <a:ext cx="946980" cy="835571"/>
            </a:xfrm>
            <a:prstGeom prst="rect">
              <a:avLst/>
            </a:prstGeom>
            <a:noFill/>
          </p:spPr>
        </p:pic>
        <p:sp>
          <p:nvSpPr>
            <p:cNvPr id="23" name="Rectangle 22"/>
            <p:cNvSpPr/>
            <p:nvPr/>
          </p:nvSpPr>
          <p:spPr>
            <a:xfrm>
              <a:off x="3131840" y="1772816"/>
              <a:ext cx="2808312" cy="57606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i="1" dirty="0" smtClean="0">
                  <a:solidFill>
                    <a:schemeClr val="tx1"/>
                  </a:solidFill>
                </a:rPr>
                <a:t>Values of p and e are known</a:t>
              </a:r>
              <a:endParaRPr lang="en-IN" sz="1400" b="1" i="1" baseline="-25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1" name="Picture 18" descr="http://vector.me/files/images/1/6/162062/female_user_icon_clip_ar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280" y="1700808"/>
            <a:ext cx="573510" cy="574973"/>
          </a:xfrm>
          <a:prstGeom prst="rect">
            <a:avLst/>
          </a:prstGeom>
          <a:noFill/>
        </p:spPr>
      </p:pic>
      <p:pic>
        <p:nvPicPr>
          <p:cNvPr id="32" name="Picture 16" descr="http://www.clipartbest.com/cliparts/acq/z4k/acqz4kBxi.jpe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1700808"/>
            <a:ext cx="630982" cy="598976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/>
        </p:nvSpPr>
        <p:spPr>
          <a:xfrm>
            <a:off x="1043608" y="184482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A</a:t>
            </a:r>
            <a:endParaRPr lang="en-IN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7668344" y="191683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B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7207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84784"/>
            <a:ext cx="8712968" cy="4525963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Let us say p = 23 and one of its primitive roots e = 7.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User A selects X</a:t>
            </a:r>
            <a:r>
              <a:rPr lang="en-US" sz="2400" baseline="-25000" dirty="0" smtClean="0"/>
              <a:t>A</a:t>
            </a:r>
            <a:r>
              <a:rPr lang="en-US" sz="2400" dirty="0" smtClean="0"/>
              <a:t> = 3 and calculates Y</a:t>
            </a:r>
            <a:r>
              <a:rPr lang="en-US" sz="2400" baseline="-25000" dirty="0" smtClean="0"/>
              <a:t>A</a:t>
            </a:r>
            <a:r>
              <a:rPr lang="en-US" sz="2400" dirty="0" smtClean="0"/>
              <a:t> = </a:t>
            </a:r>
            <a:r>
              <a:rPr lang="en-IN" sz="2400" dirty="0" err="1" smtClean="0"/>
              <a:t>e</a:t>
            </a:r>
            <a:r>
              <a:rPr lang="en-IN" sz="2400" baseline="30000" dirty="0" err="1" smtClean="0"/>
              <a:t>XA</a:t>
            </a:r>
            <a:r>
              <a:rPr lang="en-IN" sz="2400" dirty="0" smtClean="0"/>
              <a:t> mod p = 7</a:t>
            </a:r>
            <a:r>
              <a:rPr lang="en-IN" sz="2400" baseline="30000" dirty="0" smtClean="0"/>
              <a:t>3</a:t>
            </a:r>
            <a:r>
              <a:rPr lang="en-IN" sz="2400" dirty="0" smtClean="0"/>
              <a:t> mod 23 = 21.</a:t>
            </a:r>
            <a:endParaRPr lang="en-US" sz="2400" dirty="0" smtClean="0"/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User B selects X</a:t>
            </a:r>
            <a:r>
              <a:rPr lang="en-US" sz="2400" baseline="-25000" dirty="0" smtClean="0"/>
              <a:t>B</a:t>
            </a:r>
            <a:r>
              <a:rPr lang="en-US" sz="2400" dirty="0" smtClean="0"/>
              <a:t> = 6 and calculates Y</a:t>
            </a:r>
            <a:r>
              <a:rPr lang="en-US" sz="2400" baseline="-25000" dirty="0" smtClean="0"/>
              <a:t>B</a:t>
            </a:r>
            <a:r>
              <a:rPr lang="en-US" sz="2400" dirty="0" smtClean="0"/>
              <a:t> = </a:t>
            </a:r>
            <a:r>
              <a:rPr lang="en-IN" sz="2400" dirty="0" err="1" smtClean="0"/>
              <a:t>e</a:t>
            </a:r>
            <a:r>
              <a:rPr lang="en-IN" sz="2400" baseline="30000" dirty="0" err="1" smtClean="0"/>
              <a:t>XB</a:t>
            </a:r>
            <a:r>
              <a:rPr lang="en-IN" sz="2400" dirty="0" smtClean="0"/>
              <a:t> mod p = 7</a:t>
            </a:r>
            <a:r>
              <a:rPr lang="en-IN" sz="2400" baseline="30000" dirty="0" smtClean="0"/>
              <a:t>6</a:t>
            </a:r>
            <a:r>
              <a:rPr lang="en-IN" sz="2400" dirty="0" smtClean="0"/>
              <a:t> mod 23 = 4.</a:t>
            </a:r>
            <a:endParaRPr lang="en-US" sz="2400" dirty="0" smtClean="0"/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User A sends the number 21 to B.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User B sends the number 4 to A.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A calculates the shared secret as K = </a:t>
            </a:r>
            <a:r>
              <a:rPr lang="en-IN" sz="2400" dirty="0" smtClean="0"/>
              <a:t>Y</a:t>
            </a:r>
            <a:r>
              <a:rPr lang="en-IN" sz="2400" baseline="-25000" dirty="0" smtClean="0"/>
              <a:t>B</a:t>
            </a:r>
            <a:r>
              <a:rPr lang="en-IN" sz="2400" baseline="30000" dirty="0" smtClean="0"/>
              <a:t>XA </a:t>
            </a:r>
            <a:r>
              <a:rPr lang="en-IN" sz="2400" dirty="0" smtClean="0"/>
              <a:t>mod p = 4</a:t>
            </a:r>
            <a:r>
              <a:rPr lang="en-IN" sz="2400" baseline="30000" dirty="0" smtClean="0"/>
              <a:t>3</a:t>
            </a:r>
            <a:r>
              <a:rPr lang="en-IN" sz="2400" dirty="0" smtClean="0"/>
              <a:t> mod 23 = 18.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400" dirty="0" smtClean="0"/>
              <a:t>B calculates the shared secret as K = </a:t>
            </a:r>
            <a:r>
              <a:rPr lang="en-IN" sz="2400" dirty="0" smtClean="0"/>
              <a:t>Y</a:t>
            </a:r>
            <a:r>
              <a:rPr lang="en-IN" sz="2400" baseline="-25000" dirty="0" smtClean="0"/>
              <a:t>A</a:t>
            </a:r>
            <a:r>
              <a:rPr lang="en-IN" sz="2400" baseline="30000" dirty="0" smtClean="0"/>
              <a:t>XB </a:t>
            </a:r>
            <a:r>
              <a:rPr lang="en-IN" sz="2400" dirty="0" smtClean="0"/>
              <a:t>mod p = 21</a:t>
            </a:r>
            <a:r>
              <a:rPr lang="en-IN" sz="2400" baseline="30000" dirty="0" smtClean="0"/>
              <a:t>6</a:t>
            </a:r>
            <a:r>
              <a:rPr lang="en-IN" sz="2400" dirty="0" smtClean="0"/>
              <a:t> mod 23 = 18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q"/>
            </a:pPr>
            <a:endParaRPr lang="en-IN" sz="2400" dirty="0" smtClean="0"/>
          </a:p>
          <a:p>
            <a:pPr algn="just">
              <a:spcBef>
                <a:spcPts val="0"/>
              </a:spcBef>
            </a:pPr>
            <a:r>
              <a:rPr lang="en-IN" sz="2400" dirty="0" smtClean="0"/>
              <a:t>Both and A and B calculates the same shared key (K) as 18</a:t>
            </a:r>
            <a:endParaRPr lang="en-US" sz="2400" dirty="0" smtClean="0"/>
          </a:p>
          <a:p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972344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Diffie-Hellman Key </a:t>
            </a:r>
            <a:r>
              <a:rPr lang="en-IN" sz="3200" dirty="0" smtClean="0">
                <a:latin typeface="+mj-lt"/>
                <a:ea typeface="+mj-ea"/>
                <a:cs typeface="+mj-cs"/>
              </a:rPr>
              <a:t>Exchange Example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259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44818" y="125760"/>
            <a:ext cx="6468616" cy="11430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IN" sz="3200" dirty="0">
                <a:latin typeface="+mj-lt"/>
                <a:ea typeface="+mj-ea"/>
                <a:cs typeface="+mj-cs"/>
              </a:rPr>
              <a:t>Potential Attacks on the Diffie-Hellman Key Exchange Man-In-The-Middle</a:t>
            </a:r>
          </a:p>
        </p:txBody>
      </p:sp>
      <p:grpSp>
        <p:nvGrpSpPr>
          <p:cNvPr id="2" name="Group 84"/>
          <p:cNvGrpSpPr/>
          <p:nvPr/>
        </p:nvGrpSpPr>
        <p:grpSpPr>
          <a:xfrm>
            <a:off x="4107105" y="1916832"/>
            <a:ext cx="4104456" cy="4608512"/>
            <a:chOff x="4107105" y="1916832"/>
            <a:chExt cx="4104456" cy="4608512"/>
          </a:xfrm>
        </p:grpSpPr>
        <p:grpSp>
          <p:nvGrpSpPr>
            <p:cNvPr id="5" name="Group 13"/>
            <p:cNvGrpSpPr/>
            <p:nvPr/>
          </p:nvGrpSpPr>
          <p:grpSpPr>
            <a:xfrm>
              <a:off x="4107105" y="1916832"/>
              <a:ext cx="4104456" cy="4608512"/>
              <a:chOff x="2555776" y="2141215"/>
              <a:chExt cx="4104456" cy="4608512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2555776" y="2213223"/>
                <a:ext cx="0" cy="453650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6621071" y="2141215"/>
                <a:ext cx="39161" cy="460851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>
              <a:off x="5979313" y="1988840"/>
              <a:ext cx="0" cy="453650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8" name="AutoShape 4" descr="http://www.clker.com/cliparts/2/0/Z/g/o/S/red-skull.svg"/>
          <p:cNvSpPr>
            <a:spLocks noChangeAspect="1" noChangeArrowheads="1"/>
          </p:cNvSpPr>
          <p:nvPr/>
        </p:nvSpPr>
        <p:spPr bwMode="auto">
          <a:xfrm>
            <a:off x="1706904" y="-2115616"/>
            <a:ext cx="37433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0" name="AutoShape 6" descr="http://www.clker.com/cliparts/2/0/Z/g/o/S/red-skull.svg"/>
          <p:cNvSpPr>
            <a:spLocks noChangeAspect="1" noChangeArrowheads="1"/>
          </p:cNvSpPr>
          <p:nvPr/>
        </p:nvSpPr>
        <p:spPr bwMode="auto">
          <a:xfrm>
            <a:off x="1706904" y="-2115616"/>
            <a:ext cx="37433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" name="AutoShape 10" descr="http://www.clker.com/cliparts/2/0/Z/g/o/S/red-skull.svg"/>
          <p:cNvSpPr>
            <a:spLocks noChangeAspect="1" noChangeArrowheads="1"/>
          </p:cNvSpPr>
          <p:nvPr/>
        </p:nvSpPr>
        <p:spPr bwMode="auto">
          <a:xfrm>
            <a:off x="1706904" y="-1790700"/>
            <a:ext cx="37433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6" name="AutoShape 12" descr="http://www.clker.com/cliparts/2/0/Z/g/o/S/red-skull.svg"/>
          <p:cNvSpPr>
            <a:spLocks noChangeAspect="1" noChangeArrowheads="1"/>
          </p:cNvSpPr>
          <p:nvPr/>
        </p:nvSpPr>
        <p:spPr bwMode="auto">
          <a:xfrm>
            <a:off x="1706904" y="-1790700"/>
            <a:ext cx="37433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6" name="Group 87"/>
          <p:cNvGrpSpPr/>
          <p:nvPr/>
        </p:nvGrpSpPr>
        <p:grpSpPr>
          <a:xfrm>
            <a:off x="3459033" y="2060848"/>
            <a:ext cx="4680520" cy="1728192"/>
            <a:chOff x="3459033" y="2060848"/>
            <a:chExt cx="4680520" cy="1728192"/>
          </a:xfrm>
        </p:grpSpPr>
        <p:sp>
          <p:nvSpPr>
            <p:cNvPr id="29" name="Rectangle 28"/>
            <p:cNvSpPr/>
            <p:nvPr/>
          </p:nvSpPr>
          <p:spPr>
            <a:xfrm>
              <a:off x="3459033" y="2060848"/>
              <a:ext cx="1296144" cy="5760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Selects X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</a:p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4107105" y="2852936"/>
              <a:ext cx="18722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4899193" y="2348880"/>
              <a:ext cx="864096" cy="43204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A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Group 32"/>
            <p:cNvGrpSpPr/>
            <p:nvPr/>
          </p:nvGrpSpPr>
          <p:grpSpPr>
            <a:xfrm>
              <a:off x="4107105" y="2996952"/>
              <a:ext cx="2520280" cy="792088"/>
              <a:chOff x="4716016" y="3717032"/>
              <a:chExt cx="2520280" cy="792088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5940152" y="3717032"/>
                <a:ext cx="1296144" cy="57606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 smtClean="0">
                    <a:solidFill>
                      <a:schemeClr val="tx1"/>
                    </a:solidFill>
                  </a:rPr>
                  <a:t>Selects X</a:t>
                </a:r>
                <a:r>
                  <a:rPr lang="en-IN" sz="1400" b="1" baseline="-25000" dirty="0" smtClean="0">
                    <a:solidFill>
                      <a:schemeClr val="tx1"/>
                    </a:solidFill>
                  </a:rPr>
                  <a:t>C</a:t>
                </a:r>
              </a:p>
              <a:p>
                <a:pPr algn="ctr"/>
                <a:r>
                  <a:rPr lang="en-IN" sz="1400" b="1" dirty="0" smtClean="0">
                    <a:solidFill>
                      <a:schemeClr val="tx1"/>
                    </a:solidFill>
                  </a:rPr>
                  <a:t>Calculates Y</a:t>
                </a:r>
                <a:r>
                  <a:rPr lang="en-IN" sz="1400" b="1" baseline="-25000" dirty="0" smtClean="0">
                    <a:solidFill>
                      <a:schemeClr val="tx1"/>
                    </a:solidFill>
                  </a:rPr>
                  <a:t>C</a:t>
                </a:r>
                <a:endParaRPr lang="en-IN" sz="1400" b="1" baseline="-25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>
                <a:off x="4716016" y="4509120"/>
                <a:ext cx="18722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/>
              <p:cNvSpPr/>
              <p:nvPr/>
            </p:nvSpPr>
            <p:spPr>
              <a:xfrm>
                <a:off x="4860032" y="4005064"/>
                <a:ext cx="936104" cy="432048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400" b="1" dirty="0" smtClean="0">
                    <a:solidFill>
                      <a:schemeClr val="tx1"/>
                    </a:solidFill>
                  </a:rPr>
                  <a:t>Shares Y</a:t>
                </a:r>
                <a:r>
                  <a:rPr lang="en-IN" sz="1400" b="1" baseline="-25000" dirty="0" smtClean="0">
                    <a:solidFill>
                      <a:schemeClr val="tx1"/>
                    </a:solidFill>
                  </a:rPr>
                  <a:t>C</a:t>
                </a:r>
                <a:endParaRPr lang="en-IN" sz="1400" b="1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8" name="Straight Arrow Connector 37"/>
            <p:cNvCxnSpPr/>
            <p:nvPr/>
          </p:nvCxnSpPr>
          <p:spPr>
            <a:xfrm flipH="1">
              <a:off x="5979313" y="3789040"/>
              <a:ext cx="21602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7059433" y="3284984"/>
              <a:ext cx="936104" cy="43204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C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41"/>
          <p:cNvGrpSpPr/>
          <p:nvPr/>
        </p:nvGrpSpPr>
        <p:grpSpPr>
          <a:xfrm>
            <a:off x="5979313" y="3933056"/>
            <a:ext cx="2808312" cy="720080"/>
            <a:chOff x="4427984" y="3717032"/>
            <a:chExt cx="2808312" cy="720080"/>
          </a:xfrm>
        </p:grpSpPr>
        <p:sp>
          <p:nvSpPr>
            <p:cNvPr id="43" name="Rectangle 42"/>
            <p:cNvSpPr/>
            <p:nvPr/>
          </p:nvSpPr>
          <p:spPr>
            <a:xfrm>
              <a:off x="5940152" y="3717032"/>
              <a:ext cx="1296144" cy="57606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Selects X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</a:p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Calculates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4427984" y="4437112"/>
              <a:ext cx="223224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4788024" y="4005064"/>
              <a:ext cx="936104" cy="43204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chemeClr val="tx1"/>
                  </a:solidFill>
                </a:rPr>
                <a:t>Shares Y</a:t>
              </a:r>
              <a:r>
                <a:rPr lang="en-IN" sz="1400" b="1" baseline="-25000" dirty="0" smtClean="0">
                  <a:solidFill>
                    <a:schemeClr val="tx1"/>
                  </a:solidFill>
                </a:rPr>
                <a:t>B</a:t>
              </a:r>
              <a:endParaRPr lang="en-IN" sz="1400" b="1" baseline="-25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50" name="AutoShape 26" descr="http://www.clker.com/cliparts/T/W/B/N/g/V/key-blue.svg"/>
          <p:cNvSpPr>
            <a:spLocks noChangeAspect="1" noChangeArrowheads="1"/>
          </p:cNvSpPr>
          <p:nvPr/>
        </p:nvSpPr>
        <p:spPr bwMode="auto">
          <a:xfrm>
            <a:off x="155575" y="-1790700"/>
            <a:ext cx="52959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52" name="AutoShape 28" descr="http://www.clker.com/cliparts/T/W/B/N/g/V/key-blue.svg"/>
          <p:cNvSpPr>
            <a:spLocks noChangeAspect="1" noChangeArrowheads="1"/>
          </p:cNvSpPr>
          <p:nvPr/>
        </p:nvSpPr>
        <p:spPr bwMode="auto">
          <a:xfrm>
            <a:off x="155575" y="-1790700"/>
            <a:ext cx="52959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54" name="AutoShape 30" descr="http://www.clker.com/cliparts/T/W/B/N/g/V/key-blue.svg"/>
          <p:cNvSpPr>
            <a:spLocks noChangeAspect="1" noChangeArrowheads="1"/>
          </p:cNvSpPr>
          <p:nvPr/>
        </p:nvSpPr>
        <p:spPr bwMode="auto">
          <a:xfrm>
            <a:off x="155575" y="-1790700"/>
            <a:ext cx="52959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56" name="AutoShape 32" descr="http://www.clker.com/cliparts/T/W/B/N/g/V/key-blue.svg"/>
          <p:cNvSpPr>
            <a:spLocks noChangeAspect="1" noChangeArrowheads="1"/>
          </p:cNvSpPr>
          <p:nvPr/>
        </p:nvSpPr>
        <p:spPr bwMode="auto">
          <a:xfrm>
            <a:off x="155575" y="-1790700"/>
            <a:ext cx="52959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5" name="TextBox 74"/>
          <p:cNvSpPr txBox="1"/>
          <p:nvPr/>
        </p:nvSpPr>
        <p:spPr>
          <a:xfrm>
            <a:off x="230245" y="1484784"/>
            <a:ext cx="3275856" cy="4968552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marR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3200"/>
            </a:lvl1pPr>
            <a:lvl2pPr marL="742950" marR="0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800">
                <a:cs typeface="Arial" pitchFamily="34" charset="0"/>
              </a:defRPr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latin typeface="Arial" pitchFamily="34" charset="0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IN" dirty="0"/>
              <a:t>There is an attacker C who poses a risk as man-in-the middle.</a:t>
            </a:r>
          </a:p>
          <a:p>
            <a:r>
              <a:rPr lang="en-IN" dirty="0"/>
              <a:t>Attacker intercepts YA from user A, calculates YC and shares it with both A and B.</a:t>
            </a:r>
          </a:p>
          <a:p>
            <a:r>
              <a:rPr lang="en-IN" dirty="0"/>
              <a:t>User B shares YB with C.</a:t>
            </a:r>
          </a:p>
          <a:p>
            <a:r>
              <a:rPr lang="en-IN" dirty="0"/>
              <a:t>A, B and C calculates shared keys and the system end up having two sets of shared keys – one between A and C and another between C and B.</a:t>
            </a:r>
          </a:p>
          <a:p>
            <a:r>
              <a:rPr lang="en-IN" dirty="0"/>
              <a:t>Attacker C is controlling the communication and legitimate users A and B and are not aware of this attack.</a:t>
            </a:r>
          </a:p>
          <a:p>
            <a:r>
              <a:rPr lang="en-IN" dirty="0"/>
              <a:t>It is also known as Bucket Brigade Attack (volunteers passing the buckets of water hop by hop). To avoid this attack, legitimate users can use authentication techniques.</a:t>
            </a:r>
          </a:p>
        </p:txBody>
      </p:sp>
      <p:grpSp>
        <p:nvGrpSpPr>
          <p:cNvPr id="10" name="Group 86"/>
          <p:cNvGrpSpPr/>
          <p:nvPr/>
        </p:nvGrpSpPr>
        <p:grpSpPr>
          <a:xfrm>
            <a:off x="3675057" y="1340768"/>
            <a:ext cx="5468943" cy="635365"/>
            <a:chOff x="3675057" y="1340768"/>
            <a:chExt cx="5468943" cy="635365"/>
          </a:xfrm>
        </p:grpSpPr>
        <p:grpSp>
          <p:nvGrpSpPr>
            <p:cNvPr id="11" name="Group 79"/>
            <p:cNvGrpSpPr/>
            <p:nvPr/>
          </p:nvGrpSpPr>
          <p:grpSpPr>
            <a:xfrm>
              <a:off x="3675057" y="1340768"/>
              <a:ext cx="1473007" cy="635365"/>
              <a:chOff x="3675057" y="1340768"/>
              <a:chExt cx="1473007" cy="635365"/>
            </a:xfrm>
          </p:grpSpPr>
          <p:pic>
            <p:nvPicPr>
              <p:cNvPr id="9" name="Picture 2" descr="http://cliparts.co/cliparts/6ir/op7/6irop7RrT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675057" y="1340768"/>
                <a:ext cx="720080" cy="635365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http://www.clipartbest.com/cliparts/acq/z4k/acqz4kBxi.jpe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415769" y="1412776"/>
                <a:ext cx="516271" cy="490084"/>
              </a:xfrm>
              <a:prstGeom prst="rect">
                <a:avLst/>
              </a:prstGeom>
              <a:noFill/>
            </p:spPr>
          </p:pic>
          <p:sp>
            <p:nvSpPr>
              <p:cNvPr id="76" name="TextBox 75"/>
              <p:cNvSpPr txBox="1"/>
              <p:nvPr/>
            </p:nvSpPr>
            <p:spPr>
              <a:xfrm>
                <a:off x="4823936" y="1484784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 smtClean="0"/>
                  <a:t>A</a:t>
                </a:r>
                <a:endParaRPr lang="en-IN" b="1" dirty="0"/>
              </a:p>
            </p:txBody>
          </p:sp>
        </p:grpSp>
        <p:grpSp>
          <p:nvGrpSpPr>
            <p:cNvPr id="12" name="Group 80"/>
            <p:cNvGrpSpPr/>
            <p:nvPr/>
          </p:nvGrpSpPr>
          <p:grpSpPr>
            <a:xfrm>
              <a:off x="5403249" y="1340768"/>
              <a:ext cx="1689031" cy="635365"/>
              <a:chOff x="5403249" y="1340768"/>
              <a:chExt cx="1689031" cy="635365"/>
            </a:xfrm>
          </p:grpSpPr>
          <p:pic>
            <p:nvPicPr>
              <p:cNvPr id="1038" name="Picture 14" descr="Red Skull Clip Art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267345" y="1412776"/>
                <a:ext cx="540083" cy="543720"/>
              </a:xfrm>
              <a:prstGeom prst="rect">
                <a:avLst/>
              </a:prstGeom>
              <a:noFill/>
            </p:spPr>
          </p:pic>
          <p:pic>
            <p:nvPicPr>
              <p:cNvPr id="55" name="Picture 2" descr="http://cliparts.co/cliparts/6ir/op7/6irop7RrT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403249" y="1340768"/>
                <a:ext cx="720080" cy="635365"/>
              </a:xfrm>
              <a:prstGeom prst="rect">
                <a:avLst/>
              </a:prstGeom>
              <a:noFill/>
            </p:spPr>
          </p:pic>
          <p:sp>
            <p:nvSpPr>
              <p:cNvPr id="78" name="TextBox 77"/>
              <p:cNvSpPr txBox="1"/>
              <p:nvPr/>
            </p:nvSpPr>
            <p:spPr>
              <a:xfrm>
                <a:off x="6785786" y="1484784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 smtClean="0"/>
                  <a:t>C</a:t>
                </a:r>
                <a:endParaRPr lang="en-IN" b="1" dirty="0"/>
              </a:p>
            </p:txBody>
          </p:sp>
        </p:grpSp>
        <p:grpSp>
          <p:nvGrpSpPr>
            <p:cNvPr id="13" name="Group 81"/>
            <p:cNvGrpSpPr/>
            <p:nvPr/>
          </p:nvGrpSpPr>
          <p:grpSpPr>
            <a:xfrm>
              <a:off x="7635497" y="1340768"/>
              <a:ext cx="1508503" cy="635365"/>
              <a:chOff x="7635497" y="1340768"/>
              <a:chExt cx="1508503" cy="635365"/>
            </a:xfrm>
          </p:grpSpPr>
          <p:pic>
            <p:nvPicPr>
              <p:cNvPr id="1042" name="Picture 18" descr="http://vector.me/files/images/1/6/162062/female_user_icon_clip_art.jp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8460432" y="1412776"/>
                <a:ext cx="464895" cy="466081"/>
              </a:xfrm>
              <a:prstGeom prst="rect">
                <a:avLst/>
              </a:prstGeom>
              <a:noFill/>
            </p:spPr>
          </p:pic>
          <p:pic>
            <p:nvPicPr>
              <p:cNvPr id="57" name="Picture 2" descr="http://cliparts.co/cliparts/6ir/op7/6irop7RrT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7635497" y="1340768"/>
                <a:ext cx="720080" cy="635365"/>
              </a:xfrm>
              <a:prstGeom prst="rect">
                <a:avLst/>
              </a:prstGeom>
              <a:noFill/>
            </p:spPr>
          </p:pic>
          <p:sp>
            <p:nvSpPr>
              <p:cNvPr id="79" name="TextBox 78"/>
              <p:cNvSpPr txBox="1"/>
              <p:nvPr/>
            </p:nvSpPr>
            <p:spPr>
              <a:xfrm>
                <a:off x="8829490" y="14847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 smtClean="0"/>
                  <a:t>B</a:t>
                </a:r>
                <a:endParaRPr lang="en-IN" b="1" dirty="0"/>
              </a:p>
            </p:txBody>
          </p:sp>
        </p:grpSp>
      </p:grpSp>
      <p:grpSp>
        <p:nvGrpSpPr>
          <p:cNvPr id="14" name="Group 63"/>
          <p:cNvGrpSpPr/>
          <p:nvPr/>
        </p:nvGrpSpPr>
        <p:grpSpPr>
          <a:xfrm>
            <a:off x="3459033" y="4869160"/>
            <a:ext cx="5472608" cy="1584176"/>
            <a:chOff x="3459033" y="4869160"/>
            <a:chExt cx="5472608" cy="1584176"/>
          </a:xfrm>
        </p:grpSpPr>
        <p:grpSp>
          <p:nvGrpSpPr>
            <p:cNvPr id="17" name="Group 61"/>
            <p:cNvGrpSpPr/>
            <p:nvPr/>
          </p:nvGrpSpPr>
          <p:grpSpPr>
            <a:xfrm>
              <a:off x="3459033" y="4869160"/>
              <a:ext cx="5472608" cy="1224136"/>
              <a:chOff x="3459033" y="4869160"/>
              <a:chExt cx="5472608" cy="1224136"/>
            </a:xfrm>
          </p:grpSpPr>
          <p:grpSp>
            <p:nvGrpSpPr>
              <p:cNvPr id="19" name="Group 57"/>
              <p:cNvGrpSpPr/>
              <p:nvPr/>
            </p:nvGrpSpPr>
            <p:grpSpPr>
              <a:xfrm>
                <a:off x="3459033" y="4869160"/>
                <a:ext cx="5472608" cy="1224136"/>
                <a:chOff x="3459033" y="4869160"/>
                <a:chExt cx="5472608" cy="1224136"/>
              </a:xfrm>
            </p:grpSpPr>
            <p:grpSp>
              <p:nvGrpSpPr>
                <p:cNvPr id="20" name="Group 89"/>
                <p:cNvGrpSpPr/>
                <p:nvPr/>
              </p:nvGrpSpPr>
              <p:grpSpPr>
                <a:xfrm>
                  <a:off x="3459033" y="4869160"/>
                  <a:ext cx="5472608" cy="1224136"/>
                  <a:chOff x="3459033" y="4869160"/>
                  <a:chExt cx="5472608" cy="1224136"/>
                </a:xfrm>
              </p:grpSpPr>
              <p:sp>
                <p:nvSpPr>
                  <p:cNvPr id="50" name="Rectangle 49"/>
                  <p:cNvSpPr/>
                  <p:nvPr/>
                </p:nvSpPr>
                <p:spPr>
                  <a:xfrm>
                    <a:off x="5220072" y="4869160"/>
                    <a:ext cx="1800200" cy="72008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IN" sz="1400" b="1" i="1" dirty="0" smtClean="0">
                        <a:solidFill>
                          <a:srgbClr val="0070C0"/>
                        </a:solidFill>
                      </a:rPr>
                      <a:t>K</a:t>
                    </a:r>
                    <a:r>
                      <a:rPr lang="en-IN" sz="1400" b="1" i="1" baseline="-25000" dirty="0" smtClean="0">
                        <a:solidFill>
                          <a:srgbClr val="0070C0"/>
                        </a:solidFill>
                      </a:rPr>
                      <a:t>CA</a:t>
                    </a:r>
                    <a:r>
                      <a:rPr lang="en-IN" sz="1400" b="1" i="1" dirty="0" smtClean="0">
                        <a:solidFill>
                          <a:srgbClr val="0070C0"/>
                        </a:solidFill>
                      </a:rPr>
                      <a:t>= Y</a:t>
                    </a:r>
                    <a:r>
                      <a:rPr lang="en-IN" sz="1400" b="1" i="1" baseline="-25000" dirty="0" smtClean="0">
                        <a:solidFill>
                          <a:srgbClr val="0070C0"/>
                        </a:solidFill>
                      </a:rPr>
                      <a:t>A</a:t>
                    </a:r>
                    <a:r>
                      <a:rPr lang="en-IN" sz="1400" b="1" i="1" baseline="30000" dirty="0" smtClean="0">
                        <a:solidFill>
                          <a:srgbClr val="0070C0"/>
                        </a:solidFill>
                      </a:rPr>
                      <a:t>XC</a:t>
                    </a:r>
                    <a:r>
                      <a:rPr lang="en-IN" sz="1400" b="1" i="1" dirty="0" smtClean="0">
                        <a:solidFill>
                          <a:srgbClr val="0070C0"/>
                        </a:solidFill>
                      </a:rPr>
                      <a:t> mod p</a:t>
                    </a:r>
                    <a:r>
                      <a:rPr lang="en-IN" sz="1400" b="1" dirty="0" smtClean="0">
                        <a:solidFill>
                          <a:srgbClr val="0070C0"/>
                        </a:solidFill>
                      </a:rPr>
                      <a:t> </a:t>
                    </a:r>
                  </a:p>
                  <a:p>
                    <a:pPr lvl="1" algn="ctr"/>
                    <a:r>
                      <a:rPr lang="en-IN" sz="1400" b="1" i="1" dirty="0" smtClean="0">
                        <a:solidFill>
                          <a:srgbClr val="FF0000"/>
                        </a:solidFill>
                      </a:rPr>
                      <a:t>K</a:t>
                    </a:r>
                    <a:r>
                      <a:rPr lang="en-IN" sz="1400" b="1" i="1" baseline="-25000" dirty="0" smtClean="0">
                        <a:solidFill>
                          <a:srgbClr val="FF0000"/>
                        </a:solidFill>
                      </a:rPr>
                      <a:t>CB</a:t>
                    </a:r>
                    <a:r>
                      <a:rPr lang="en-IN" sz="1400" b="1" i="1" dirty="0" smtClean="0">
                        <a:solidFill>
                          <a:srgbClr val="FF0000"/>
                        </a:solidFill>
                      </a:rPr>
                      <a:t>= Y</a:t>
                    </a:r>
                    <a:r>
                      <a:rPr lang="en-IN" sz="1400" b="1" i="1" baseline="-25000" dirty="0" smtClean="0">
                        <a:solidFill>
                          <a:srgbClr val="FF0000"/>
                        </a:solidFill>
                      </a:rPr>
                      <a:t>B</a:t>
                    </a:r>
                    <a:r>
                      <a:rPr lang="en-IN" sz="1400" b="1" i="1" baseline="30000" dirty="0" smtClean="0">
                        <a:solidFill>
                          <a:srgbClr val="FF0000"/>
                        </a:solidFill>
                      </a:rPr>
                      <a:t>XC</a:t>
                    </a:r>
                    <a:r>
                      <a:rPr lang="en-IN" sz="1400" b="1" i="1" dirty="0" smtClean="0">
                        <a:solidFill>
                          <a:srgbClr val="FF0000"/>
                        </a:solidFill>
                      </a:rPr>
                      <a:t> mod p</a:t>
                    </a:r>
                    <a:r>
                      <a:rPr lang="en-IN" sz="1400" b="1" dirty="0" smtClean="0">
                        <a:solidFill>
                          <a:srgbClr val="FF0000"/>
                        </a:solidFill>
                      </a:rPr>
                      <a:t> </a:t>
                    </a:r>
                  </a:p>
                </p:txBody>
              </p:sp>
              <p:grpSp>
                <p:nvGrpSpPr>
                  <p:cNvPr id="21" name="Group 88"/>
                  <p:cNvGrpSpPr/>
                  <p:nvPr/>
                </p:nvGrpSpPr>
                <p:grpSpPr>
                  <a:xfrm>
                    <a:off x="3459033" y="4869160"/>
                    <a:ext cx="5472608" cy="1224136"/>
                    <a:chOff x="3459033" y="4869160"/>
                    <a:chExt cx="5472608" cy="1224136"/>
                  </a:xfrm>
                </p:grpSpPr>
                <p:grpSp>
                  <p:nvGrpSpPr>
                    <p:cNvPr id="22" name="Group 46"/>
                    <p:cNvGrpSpPr/>
                    <p:nvPr/>
                  </p:nvGrpSpPr>
                  <p:grpSpPr>
                    <a:xfrm>
                      <a:off x="3459033" y="4869160"/>
                      <a:ext cx="5472608" cy="720080"/>
                      <a:chOff x="1907704" y="4797152"/>
                      <a:chExt cx="5472608" cy="720080"/>
                    </a:xfrm>
                  </p:grpSpPr>
                  <p:sp>
                    <p:nvSpPr>
                      <p:cNvPr id="48" name="Rectangle 47"/>
                      <p:cNvSpPr/>
                      <p:nvPr/>
                    </p:nvSpPr>
                    <p:spPr>
                      <a:xfrm>
                        <a:off x="1907704" y="4797152"/>
                        <a:ext cx="1368152" cy="7200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K</a:t>
                        </a:r>
                        <a:r>
                          <a:rPr lang="en-IN" sz="1400" b="1" i="1" baseline="-25000" dirty="0" smtClean="0">
                            <a:solidFill>
                              <a:schemeClr val="tx1"/>
                            </a:solidFill>
                          </a:rPr>
                          <a:t>A</a:t>
                        </a:r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 = Y</a:t>
                        </a:r>
                        <a:r>
                          <a:rPr lang="en-IN" sz="1400" b="1" i="1" baseline="-25000" dirty="0" smtClean="0">
                            <a:solidFill>
                              <a:schemeClr val="tx1"/>
                            </a:solidFill>
                          </a:rPr>
                          <a:t>C</a:t>
                        </a:r>
                        <a:r>
                          <a:rPr lang="en-IN" sz="1400" b="1" i="1" baseline="30000" dirty="0" smtClean="0">
                            <a:solidFill>
                              <a:schemeClr val="tx1"/>
                            </a:solidFill>
                          </a:rPr>
                          <a:t>XA</a:t>
                        </a:r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 mod p</a:t>
                        </a:r>
                        <a:r>
                          <a:rPr lang="en-IN" sz="1400" b="1" dirty="0" smtClean="0">
                            <a:solidFill>
                              <a:schemeClr val="tx1"/>
                            </a:solidFill>
                          </a:rPr>
                          <a:t> </a:t>
                        </a:r>
                        <a:endParaRPr lang="en-IN" sz="1400" b="1" baseline="-25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9" name="Rectangle 48"/>
                      <p:cNvSpPr/>
                      <p:nvPr/>
                    </p:nvSpPr>
                    <p:spPr>
                      <a:xfrm>
                        <a:off x="5940152" y="4797152"/>
                        <a:ext cx="1440160" cy="7200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K</a:t>
                        </a:r>
                        <a:r>
                          <a:rPr lang="en-IN" sz="1400" b="1" i="1" baseline="-25000" dirty="0" smtClean="0">
                            <a:solidFill>
                              <a:schemeClr val="tx1"/>
                            </a:solidFill>
                          </a:rPr>
                          <a:t>B</a:t>
                        </a:r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= Y</a:t>
                        </a:r>
                        <a:r>
                          <a:rPr lang="en-IN" sz="1400" b="1" i="1" baseline="-25000" dirty="0" smtClean="0">
                            <a:solidFill>
                              <a:schemeClr val="tx1"/>
                            </a:solidFill>
                          </a:rPr>
                          <a:t>C</a:t>
                        </a:r>
                        <a:r>
                          <a:rPr lang="en-IN" sz="1400" b="1" i="1" baseline="30000" dirty="0" smtClean="0">
                            <a:solidFill>
                              <a:schemeClr val="tx1"/>
                            </a:solidFill>
                          </a:rPr>
                          <a:t>XB</a:t>
                        </a:r>
                        <a:r>
                          <a:rPr lang="en-IN" sz="1400" b="1" i="1" dirty="0" smtClean="0">
                            <a:solidFill>
                              <a:schemeClr val="tx1"/>
                            </a:solidFill>
                          </a:rPr>
                          <a:t> mod p</a:t>
                        </a:r>
                        <a:r>
                          <a:rPr lang="en-IN" sz="1400" b="1" dirty="0" smtClean="0">
                            <a:solidFill>
                              <a:schemeClr val="tx1"/>
                            </a:solidFill>
                          </a:rPr>
                          <a:t> </a:t>
                        </a:r>
                        <a:endParaRPr lang="en-IN" sz="1400" b="1" baseline="-25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cxnSp>
                  <p:nvCxnSpPr>
                    <p:cNvPr id="63" name="Straight Connector 62"/>
                    <p:cNvCxnSpPr/>
                    <p:nvPr/>
                  </p:nvCxnSpPr>
                  <p:spPr>
                    <a:xfrm>
                      <a:off x="4139952" y="6093296"/>
                      <a:ext cx="1800200" cy="0"/>
                    </a:xfrm>
                    <a:prstGeom prst="line">
                      <a:avLst/>
                    </a:prstGeom>
                    <a:ln w="25400">
                      <a:solidFill>
                        <a:srgbClr val="0070C0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58" name="Picture 34" descr="Key Blue Clip Art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 cstate="print"/>
                    <a:srcRect/>
                    <a:stretch>
                      <a:fillRect/>
                    </a:stretch>
                  </p:blipFill>
                  <p:spPr bwMode="auto">
                    <a:xfrm flipH="1">
                      <a:off x="4644008" y="5749943"/>
                      <a:ext cx="643905" cy="271345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4102" name="Picture 6" descr="http://images.clipshrine.com/getimg/PngMedium-red-gradient-key-17450.png"/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6876256" y="5773241"/>
                  <a:ext cx="506218" cy="248047"/>
                </a:xfrm>
                <a:prstGeom prst="rect">
                  <a:avLst/>
                </a:prstGeom>
                <a:noFill/>
              </p:spPr>
            </p:pic>
          </p:grpSp>
          <p:cxnSp>
            <p:nvCxnSpPr>
              <p:cNvPr id="60" name="Straight Connector 59"/>
              <p:cNvCxnSpPr/>
              <p:nvPr/>
            </p:nvCxnSpPr>
            <p:spPr>
              <a:xfrm>
                <a:off x="6012160" y="6093296"/>
                <a:ext cx="223224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Rectangle 58"/>
            <p:cNvSpPr/>
            <p:nvPr/>
          </p:nvSpPr>
          <p:spPr>
            <a:xfrm>
              <a:off x="4499992" y="6021288"/>
              <a:ext cx="936104" cy="43204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0070C0"/>
                  </a:solidFill>
                </a:rPr>
                <a:t>K</a:t>
              </a:r>
              <a:r>
                <a:rPr lang="en-IN" sz="1400" b="1" baseline="-25000" dirty="0" smtClean="0">
                  <a:solidFill>
                    <a:srgbClr val="0070C0"/>
                  </a:solidFill>
                </a:rPr>
                <a:t>A </a:t>
              </a:r>
              <a:r>
                <a:rPr lang="en-IN" sz="1400" b="1" dirty="0" smtClean="0">
                  <a:solidFill>
                    <a:srgbClr val="0070C0"/>
                  </a:solidFill>
                </a:rPr>
                <a:t>= K</a:t>
              </a:r>
              <a:r>
                <a:rPr lang="en-IN" sz="1400" b="1" baseline="-25000" dirty="0" smtClean="0">
                  <a:solidFill>
                    <a:srgbClr val="0070C0"/>
                  </a:solidFill>
                </a:rPr>
                <a:t>CA</a:t>
              </a:r>
              <a:endParaRPr lang="en-IN" sz="1400" b="1" baseline="-25000" dirty="0">
                <a:solidFill>
                  <a:srgbClr val="0070C0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660232" y="6021288"/>
              <a:ext cx="936104" cy="43204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 smtClean="0">
                  <a:solidFill>
                    <a:srgbClr val="FF0000"/>
                  </a:solidFill>
                </a:rPr>
                <a:t>K</a:t>
              </a:r>
              <a:r>
                <a:rPr lang="en-IN" sz="1400" b="1" baseline="-25000" dirty="0" smtClean="0">
                  <a:solidFill>
                    <a:srgbClr val="FF0000"/>
                  </a:solidFill>
                </a:rPr>
                <a:t>B </a:t>
              </a:r>
              <a:r>
                <a:rPr lang="en-IN" sz="1400" b="1" dirty="0" smtClean="0">
                  <a:solidFill>
                    <a:srgbClr val="FF0000"/>
                  </a:solidFill>
                </a:rPr>
                <a:t>= K</a:t>
              </a:r>
              <a:r>
                <a:rPr lang="en-IN" sz="1400" b="1" baseline="-25000" dirty="0" smtClean="0">
                  <a:solidFill>
                    <a:srgbClr val="FF0000"/>
                  </a:solidFill>
                </a:rPr>
                <a:t>CB</a:t>
              </a:r>
              <a:endParaRPr lang="en-IN" sz="1400" b="1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53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Integrity </a:t>
            </a:r>
            <a:r>
              <a:rPr lang="en-US" dirty="0" smtClean="0"/>
              <a:t>Attacks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 this session, we are primarily discussing about security from the first two types of Integrity attacks: Modification and </a:t>
            </a:r>
            <a:r>
              <a:rPr lang="en-US" altLang="en-US" dirty="0" smtClean="0"/>
              <a:t>Masquerading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4005064"/>
            <a:ext cx="77533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2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Hash </a:t>
            </a:r>
            <a:r>
              <a:rPr lang="en-US" dirty="0" smtClean="0"/>
              <a:t>Function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402832" cy="4925144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In Cryptography, a hash function (H) accepts a variable length message (M) and produces a fixed size hash value (h). Mathematically, h =H(M</a:t>
            </a:r>
            <a:r>
              <a:rPr lang="en-US" altLang="en-US" dirty="0" smtClean="0"/>
              <a:t>). Here</a:t>
            </a:r>
            <a:r>
              <a:rPr lang="en-US" altLang="en-US" dirty="0"/>
              <a:t>, h is called the hash code, hash  digest, hash sum etc.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A </a:t>
            </a:r>
            <a:r>
              <a:rPr lang="en-US" altLang="en-US" dirty="0"/>
              <a:t>good hash function is expected to produce random and evenly distributed hash code but of same </a:t>
            </a:r>
            <a:r>
              <a:rPr lang="en-US" altLang="en-US" dirty="0" smtClean="0"/>
              <a:t>size 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It </a:t>
            </a:r>
            <a:r>
              <a:rPr lang="en-US" altLang="en-US" dirty="0"/>
              <a:t>is an important concept for Network Security because: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Irrespective </a:t>
            </a:r>
            <a:r>
              <a:rPr lang="en-US" altLang="en-US" dirty="0"/>
              <a:t>of the length of the input message, hash code length is always same. Storage and transmission overhead can be </a:t>
            </a:r>
            <a:r>
              <a:rPr lang="en-US" altLang="en-US" dirty="0" smtClean="0"/>
              <a:t>estimated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Even </a:t>
            </a:r>
            <a:r>
              <a:rPr lang="en-US" altLang="en-US" dirty="0"/>
              <a:t>for a small change in the contents of the message, the hash code will turn out to be different. So, it can detect if the message was subject to </a:t>
            </a:r>
            <a:r>
              <a:rPr lang="en-US" altLang="en-US" b="1" dirty="0"/>
              <a:t>modification </a:t>
            </a:r>
            <a:r>
              <a:rPr lang="en-US" altLang="en-US" b="1" dirty="0" smtClean="0"/>
              <a:t>attack</a:t>
            </a:r>
            <a:endParaRPr lang="en-US" altLang="en-US" b="1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974540"/>
            <a:ext cx="347662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8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Hash Function Properties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931224" cy="4925144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A hash function (H) can be applied to a block of message (data) of any size.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 smtClean="0"/>
              <a:t>H </a:t>
            </a:r>
            <a:r>
              <a:rPr lang="en-US" altLang="en-US" dirty="0"/>
              <a:t>produces a fixed-length output irrespective of the length of the message.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 smtClean="0"/>
              <a:t>H(x</a:t>
            </a:r>
            <a:r>
              <a:rPr lang="en-US" altLang="en-US" dirty="0"/>
              <a:t>) is relatively easy to compute for any given message x, making both hardware and </a:t>
            </a:r>
            <a:r>
              <a:rPr lang="en-US" altLang="en-US" dirty="0" smtClean="0"/>
              <a:t>software </a:t>
            </a:r>
            <a:r>
              <a:rPr lang="en-US" altLang="en-US" dirty="0"/>
              <a:t>implementations practical.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 smtClean="0"/>
              <a:t>For </a:t>
            </a:r>
            <a:r>
              <a:rPr lang="en-US" altLang="en-US" dirty="0"/>
              <a:t>any given hash code h, it is computationally infeasible to find x such that H(x) = h. A </a:t>
            </a:r>
            <a:r>
              <a:rPr lang="en-US" altLang="en-US" dirty="0" smtClean="0"/>
              <a:t>hash </a:t>
            </a:r>
            <a:r>
              <a:rPr lang="en-US" altLang="en-US" dirty="0"/>
              <a:t>function with this property is referred to as </a:t>
            </a:r>
            <a:r>
              <a:rPr lang="en-US" altLang="en-US" b="1" dirty="0"/>
              <a:t>one-way or pre-image </a:t>
            </a:r>
            <a:r>
              <a:rPr lang="en-US" altLang="en-US" b="1" dirty="0" smtClean="0"/>
              <a:t>resistant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 smtClean="0"/>
              <a:t>For </a:t>
            </a:r>
            <a:r>
              <a:rPr lang="en-US" altLang="en-US" dirty="0"/>
              <a:t>any given block x, it is computationally infeasible to find y ≠ x with H(y) = H(x). A hash </a:t>
            </a:r>
            <a:r>
              <a:rPr lang="en-US" altLang="en-US" dirty="0" smtClean="0"/>
              <a:t>function </a:t>
            </a:r>
            <a:r>
              <a:rPr lang="en-US" altLang="en-US" dirty="0"/>
              <a:t>with this property is referred to as </a:t>
            </a:r>
            <a:r>
              <a:rPr lang="en-US" altLang="en-US" b="1" dirty="0"/>
              <a:t>second pre-image </a:t>
            </a:r>
            <a:r>
              <a:rPr lang="en-US" altLang="en-US" b="1" dirty="0" smtClean="0"/>
              <a:t>resistant</a:t>
            </a:r>
            <a:endParaRPr lang="en-US" altLang="en-US" b="1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 smtClean="0"/>
              <a:t>It </a:t>
            </a:r>
            <a:r>
              <a:rPr lang="en-US" altLang="en-US" dirty="0"/>
              <a:t>is computationally infeasible to find any pair (x, y) such that H(x) = H(y). A hash </a:t>
            </a:r>
            <a:r>
              <a:rPr lang="en-US" altLang="en-US" dirty="0" smtClean="0"/>
              <a:t>function with </a:t>
            </a:r>
            <a:r>
              <a:rPr lang="en-US" altLang="en-US" dirty="0"/>
              <a:t>this property is referred to as </a:t>
            </a:r>
            <a:r>
              <a:rPr lang="en-US" altLang="en-US" b="1" dirty="0"/>
              <a:t>(strong) collision </a:t>
            </a:r>
            <a:r>
              <a:rPr lang="en-US" altLang="en-US" b="1" dirty="0" smtClean="0"/>
              <a:t>resistant</a:t>
            </a:r>
            <a:endParaRPr lang="en-US" altLang="en-US" b="1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hash function that follows first five properties - </a:t>
            </a:r>
            <a:r>
              <a:rPr lang="en-US" altLang="en-US" b="1" dirty="0"/>
              <a:t>weak hash function</a:t>
            </a:r>
            <a:r>
              <a:rPr lang="en-US" altLang="en-US" dirty="0"/>
              <a:t>                                                         </a:t>
            </a:r>
            <a:r>
              <a:rPr lang="en-US" altLang="en-US" dirty="0" smtClean="0"/>
              <a:t>			            all </a:t>
            </a:r>
            <a:r>
              <a:rPr lang="en-US" altLang="en-US" dirty="0"/>
              <a:t>six properties - </a:t>
            </a:r>
            <a:r>
              <a:rPr lang="en-US" altLang="en-US" b="1" dirty="0"/>
              <a:t>strong hash function </a:t>
            </a:r>
          </a:p>
        </p:txBody>
      </p:sp>
    </p:spTree>
    <p:extLst>
      <p:ext uri="{BB962C8B-B14F-4D97-AF65-F5344CB8AC3E}">
        <p14:creationId xmlns:p14="http://schemas.microsoft.com/office/powerpoint/2010/main" val="351272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Relationship Among Hash Function Properties</a:t>
            </a:r>
            <a:endParaRPr lang="en-US" dirty="0" smtClean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1628800"/>
            <a:ext cx="7560840" cy="47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4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Hashing Technique General </a:t>
            </a:r>
            <a:r>
              <a:rPr lang="en-US" dirty="0" smtClean="0"/>
              <a:t>Idea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82303"/>
            <a:ext cx="8229600" cy="31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6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Secure Hash Algorithm (SHA)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859216" cy="4925144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Most widely used hash </a:t>
            </a:r>
            <a:r>
              <a:rPr lang="en-US" altLang="en-US" dirty="0" smtClean="0"/>
              <a:t>function 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Developed </a:t>
            </a:r>
            <a:r>
              <a:rPr lang="en-US" altLang="en-US" dirty="0"/>
              <a:t>by NIST in 1993 as part of FIPS-180 and later known as </a:t>
            </a:r>
            <a:r>
              <a:rPr lang="en-US" altLang="en-US" dirty="0" smtClean="0"/>
              <a:t>SHA-0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Iterative improvements: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SHA-1 </a:t>
            </a:r>
            <a:r>
              <a:rPr lang="en-US" altLang="en-US" dirty="0"/>
              <a:t>in 1995 (RFC-3174)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SHA-2 </a:t>
            </a:r>
            <a:r>
              <a:rPr lang="en-US" altLang="en-US" dirty="0"/>
              <a:t>in 2002 (FIPS-180-4 and RFC-4634) </a:t>
            </a:r>
          </a:p>
          <a:p>
            <a:pPr lvl="2">
              <a:lnSpc>
                <a:spcPct val="90000"/>
              </a:lnSpc>
            </a:pPr>
            <a:r>
              <a:rPr lang="en-US" altLang="en-US" dirty="0" smtClean="0"/>
              <a:t>SHA-2 </a:t>
            </a:r>
            <a:r>
              <a:rPr lang="en-US" altLang="en-US" dirty="0"/>
              <a:t>has variants of producing hash codes of 256, 384 and 512 bits, which are known as SHA-256, SHA-384 and SHA-512 </a:t>
            </a:r>
            <a:r>
              <a:rPr lang="en-US" altLang="en-US" dirty="0" smtClean="0"/>
              <a:t>respectively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 smtClean="0"/>
              <a:t>224 </a:t>
            </a:r>
            <a:r>
              <a:rPr lang="en-US" altLang="en-US" dirty="0"/>
              <a:t>bits version published in </a:t>
            </a:r>
            <a:r>
              <a:rPr lang="en-US" altLang="en-US" dirty="0" smtClean="0"/>
              <a:t>2008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SHA-3 </a:t>
            </a:r>
            <a:r>
              <a:rPr lang="en-US" altLang="en-US" dirty="0"/>
              <a:t>in 2012 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Many </a:t>
            </a:r>
            <a:r>
              <a:rPr lang="en-US" altLang="en-US" dirty="0"/>
              <a:t>commercial implementations still use </a:t>
            </a:r>
            <a:r>
              <a:rPr lang="en-US" altLang="en-US" dirty="0" smtClean="0"/>
              <a:t>SHA-512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Many </a:t>
            </a:r>
            <a:r>
              <a:rPr lang="en-US" altLang="en-US" dirty="0"/>
              <a:t>later SHA versions are adapted variations of Message Digests (MD) algorithms developed by Ron </a:t>
            </a:r>
            <a:r>
              <a:rPr lang="en-US" altLang="en-US" dirty="0" err="1"/>
              <a:t>Rivest</a:t>
            </a:r>
            <a:r>
              <a:rPr lang="en-US" altLang="en-US" dirty="0"/>
              <a:t> of </a:t>
            </a:r>
            <a:r>
              <a:rPr lang="en-US" altLang="en-US" dirty="0" smtClean="0"/>
              <a:t>MIT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362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Step-1</a:t>
            </a:r>
            <a:r>
              <a:rPr lang="en-US" sz="2400" dirty="0"/>
              <a:t>: Append Padding Bits </a:t>
            </a:r>
            <a:r>
              <a:rPr lang="en-US" sz="2400" dirty="0" smtClean="0"/>
              <a:t>&amp; Step-2</a:t>
            </a:r>
            <a:r>
              <a:rPr lang="en-US" sz="2400" dirty="0"/>
              <a:t>: Append Length </a:t>
            </a:r>
            <a:endParaRPr lang="en-US" sz="2400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859216" cy="4997152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It takes a message which is &lt; 2</a:t>
            </a:r>
            <a:r>
              <a:rPr lang="en-US" altLang="en-US" baseline="30000" dirty="0" smtClean="0"/>
              <a:t>128 </a:t>
            </a:r>
            <a:r>
              <a:rPr lang="en-US" altLang="en-US" dirty="0" smtClean="0"/>
              <a:t>bits and produces a 512-bit message digest. Do not worry it would be Yottabytes!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The input is processed in the blocks of 1024 bits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The message is first padded so that its length ≡ 896 (mod 1024)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Padding is always added, even if the message is already of the desired length. The number of padding bits is in the range of 1 to 1024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The padding consists of a single 1 bit followed by the necessary number of 0 bits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Now to this message, length of the original message before padding in unsigned 128-bit integer is appended keeping most significant byte first.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The message is now a multiple of 1024 bits (896+128=1024) which is treated as blocks of 1024 bits each (M1, M2……..MN)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741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707088" cy="5069160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Example: Initially a message is 2400 bits long. How many bits need to be added to it so that its length ≡ 896 (mod 1024)?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Solution</a:t>
            </a:r>
            <a:r>
              <a:rPr lang="en-US" altLang="en-US" dirty="0"/>
              <a:t>: Let us say m bits need to be added. </a:t>
            </a:r>
            <a:r>
              <a:rPr lang="en-US" altLang="en-US" dirty="0" smtClean="0"/>
              <a:t>So </a:t>
            </a:r>
            <a:r>
              <a:rPr lang="en-US" altLang="en-US" dirty="0"/>
              <a:t>that: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2400+m </a:t>
            </a:r>
            <a:r>
              <a:rPr lang="en-US" altLang="en-US" dirty="0"/>
              <a:t>≡ 896 (mod 1024)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</a:t>
            </a:r>
            <a:r>
              <a:rPr lang="en-US" altLang="en-US" dirty="0"/>
              <a:t>, m = [896 + (1024 x ⌊2400/1024⌋ – 2400)] mod 1024          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/>
              <a:t>544 mod </a:t>
            </a:r>
            <a:r>
              <a:rPr lang="en-US" altLang="en-US" dirty="0" smtClean="0"/>
              <a:t>1024 </a:t>
            </a:r>
            <a:r>
              <a:rPr lang="en-US" altLang="en-US" dirty="0"/>
              <a:t>= 544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Example: Initially a message is 900 bits long. How many bits need to be added to it so that its length ≡ 896 (mod 1024)?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Solution</a:t>
            </a:r>
            <a:r>
              <a:rPr lang="en-US" altLang="en-US" dirty="0"/>
              <a:t>: Let us say m bits need to be added. So that: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900+m </a:t>
            </a:r>
            <a:r>
              <a:rPr lang="en-US" altLang="en-US" dirty="0"/>
              <a:t>≡ 896 (mod 1024)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</a:t>
            </a:r>
            <a:r>
              <a:rPr lang="en-US" altLang="en-US" dirty="0"/>
              <a:t>, m = [896 + (1024 x ⌊900/1024⌋ – 900)] mod 1024           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/>
              <a:t>- 4 mod 1024   </a:t>
            </a:r>
            <a:r>
              <a:rPr lang="en-US" altLang="en-US" dirty="0" smtClean="0"/>
              <a:t>= </a:t>
            </a:r>
            <a:r>
              <a:rPr lang="en-US" altLang="en-US" dirty="0"/>
              <a:t>1020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Example: Initially a message is 2590 bits long. How many bits need to be added to it so that its length ≡ 896 (mod 1024)?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Solution</a:t>
            </a:r>
            <a:r>
              <a:rPr lang="en-US" altLang="en-US" dirty="0"/>
              <a:t>: Let us say m bits need to be added. So that: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2590+m </a:t>
            </a:r>
            <a:r>
              <a:rPr lang="en-US" altLang="en-US" dirty="0"/>
              <a:t>≡ 896 (mod 1024)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So</a:t>
            </a:r>
            <a:r>
              <a:rPr lang="en-US" altLang="en-US" dirty="0"/>
              <a:t>, m = [896 + (1024 x ⌊2590/1024⌋ – 2590)] mod 1024           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/>
              <a:t>354 mod 1024     = 354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45608" y="5229200"/>
            <a:ext cx="2304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Will this method work if the initial message is 896 or its multiple bits long ? </a:t>
            </a:r>
          </a:p>
        </p:txBody>
      </p:sp>
    </p:spTree>
    <p:extLst>
      <p:ext uri="{BB962C8B-B14F-4D97-AF65-F5344CB8AC3E}">
        <p14:creationId xmlns:p14="http://schemas.microsoft.com/office/powerpoint/2010/main" val="55410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Top Level </a:t>
            </a:r>
            <a:r>
              <a:rPr lang="en-US" dirty="0" smtClean="0"/>
              <a:t>View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96" y="4869160"/>
            <a:ext cx="7499176" cy="1809800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u="sng" dirty="0"/>
              <a:t>Observations: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There </a:t>
            </a:r>
            <a:r>
              <a:rPr lang="en-US" altLang="en-US" dirty="0"/>
              <a:t>is some initial value of 512 bits which is an input to the first block compression function.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block of 1024 bits produces 512 bits after compression function.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Output </a:t>
            </a:r>
            <a:r>
              <a:rPr lang="en-US" altLang="en-US" dirty="0"/>
              <a:t>of one compression function is fed to the compression function of the next block.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Compression </a:t>
            </a:r>
            <a:r>
              <a:rPr lang="en-US" altLang="en-US" dirty="0"/>
              <a:t>function of the Nth block produces the final 512 bits hash code.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84784"/>
            <a:ext cx="8667750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Step-3: Initial Value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96" y="1484784"/>
            <a:ext cx="7499176" cy="5194176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512-bit buffer is used to hold the intermediate and the final results of the hash </a:t>
            </a:r>
            <a:r>
              <a:rPr lang="en-US" altLang="en-US" dirty="0" smtClean="0"/>
              <a:t>function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buffer can be represented as eight 64-bit registers (A, B, C, D, E, F, G, </a:t>
            </a:r>
            <a:r>
              <a:rPr lang="en-US" altLang="en-US" dirty="0" smtClean="0"/>
              <a:t>H)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These </a:t>
            </a:r>
            <a:r>
              <a:rPr lang="en-US" altLang="en-US" dirty="0"/>
              <a:t>registers are initialized to the following 64-bit integers in hexadecimal: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These </a:t>
            </a:r>
            <a:r>
              <a:rPr lang="en-US" altLang="en-US" dirty="0"/>
              <a:t>words were obtained by taking the first sixty-four bits of the fractional parts of the square roots of the first eight prime numbers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97" y="3356992"/>
            <a:ext cx="6734175" cy="229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8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Step-4: Compression </a:t>
            </a:r>
            <a:r>
              <a:rPr lang="en-US" dirty="0" smtClean="0"/>
              <a:t>Function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96" y="1484784"/>
            <a:ext cx="3884872" cy="5194176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Each compression function consists of 80 rounds 0 to </a:t>
            </a:r>
            <a:r>
              <a:rPr lang="en-US" altLang="en-US" dirty="0" smtClean="0"/>
              <a:t>79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Input </a:t>
            </a:r>
            <a:r>
              <a:rPr lang="en-US" altLang="en-US" dirty="0"/>
              <a:t>is the 512 bits of Initial Value or the output of the previous </a:t>
            </a:r>
            <a:r>
              <a:rPr lang="en-US" altLang="en-US" dirty="0" smtClean="0"/>
              <a:t>block.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Input </a:t>
            </a:r>
            <a:r>
              <a:rPr lang="en-US" altLang="en-US" dirty="0"/>
              <a:t>to each round is the output of the previous </a:t>
            </a:r>
            <a:r>
              <a:rPr lang="en-US" altLang="en-US" dirty="0" smtClean="0"/>
              <a:t>round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round also takes constants K as an input (K0 to K79</a:t>
            </a:r>
            <a:r>
              <a:rPr lang="en-US" altLang="en-US" dirty="0" smtClean="0"/>
              <a:t>) Appendix- A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round also takes a value of W as an input (W0 to W79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Output </a:t>
            </a:r>
            <a:r>
              <a:rPr lang="en-US" altLang="en-US" dirty="0"/>
              <a:t>of the round-79 is added with the input of the round-0, each of the 8 words independently in modulo 264 </a:t>
            </a:r>
            <a:r>
              <a:rPr lang="en-US" altLang="en-US" dirty="0" smtClean="0"/>
              <a:t>arithmetic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final output is the input to the next block (or the final hash code after N blocks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777" y="1795872"/>
            <a:ext cx="4800600" cy="41534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1149169"/>
            <a:ext cx="1619250" cy="561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077" y="5945035"/>
            <a:ext cx="1447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5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Inside Each Round of Compression Function </a:t>
            </a:r>
            <a:r>
              <a:rPr lang="en-US" dirty="0" smtClean="0"/>
              <a:t>	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6056" y="1659924"/>
            <a:ext cx="3884872" cy="5194176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Majority (A, B, C) 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/>
              <a:t>        = </a:t>
            </a:r>
            <a:r>
              <a:rPr lang="en-US" altLang="en-US" dirty="0"/>
              <a:t>(A AND B) ⊕  (B AND C) ⊕  (C AND A) 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Conditional (E, F, G)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  = (</a:t>
            </a:r>
            <a:r>
              <a:rPr lang="en-US" altLang="en-US" dirty="0"/>
              <a:t>E AND F) ⊕ (NOT E AND G)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Rotate (A)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  = </a:t>
            </a:r>
            <a:r>
              <a:rPr lang="en-US" altLang="en-US" dirty="0"/>
              <a:t>ROTR28(A) ⊕ ROTR34(A) ⊕ ROTR39(A)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Rotate (E)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  <a:r>
              <a:rPr lang="en-US" altLang="en-US" dirty="0" smtClean="0"/>
              <a:t>       = </a:t>
            </a:r>
            <a:r>
              <a:rPr lang="en-US" altLang="en-US" dirty="0"/>
              <a:t>ROTR14(E) ⊕ ROTR18(E) ⊕ ROTR41(E)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ROTRX(Y) </a:t>
            </a:r>
            <a:r>
              <a:rPr lang="en-US" altLang="en-US" dirty="0" smtClean="0"/>
              <a:t>= </a:t>
            </a:r>
            <a:r>
              <a:rPr lang="en-US" altLang="en-US" dirty="0"/>
              <a:t>Circular Right Shift of Y by X bits 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Ki = SHA-12 constant for round </a:t>
            </a:r>
            <a:r>
              <a:rPr lang="en-US" altLang="en-US" dirty="0" err="1"/>
              <a:t>i</a:t>
            </a:r>
            <a:r>
              <a:rPr lang="en-US" altLang="en-US" dirty="0"/>
              <a:t> from Appendix-A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Wi = A 64 bit word derived from current 1024 bit block of the </a:t>
            </a:r>
            <a:r>
              <a:rPr lang="en-US" altLang="en-US" dirty="0" smtClean="0"/>
              <a:t>message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⊕ =  Exclusive OR Operation              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dirty="0" smtClean="0"/>
              <a:t>+ = </a:t>
            </a:r>
            <a:r>
              <a:rPr lang="en-US" altLang="en-US" dirty="0"/>
              <a:t>Addition in modulo 264 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76239"/>
            <a:ext cx="460851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8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SHA-512 Derivation of Wi </a:t>
            </a:r>
            <a:r>
              <a:rPr lang="en-US" dirty="0" smtClean="0"/>
              <a:t>	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59924"/>
            <a:ext cx="8565392" cy="4721404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When </a:t>
            </a:r>
            <a:r>
              <a:rPr lang="en-US" altLang="en-US" dirty="0" err="1"/>
              <a:t>i</a:t>
            </a:r>
            <a:r>
              <a:rPr lang="en-US" altLang="en-US" dirty="0"/>
              <a:t> = 0 to 15, Wi is 64 bit words of 1024 bit current block of the message as below: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For </a:t>
            </a:r>
            <a:r>
              <a:rPr lang="en-US" altLang="en-US" dirty="0" err="1"/>
              <a:t>i</a:t>
            </a:r>
            <a:r>
              <a:rPr lang="en-US" altLang="en-US" dirty="0"/>
              <a:t> = 16 to 79 the following formula is used</a:t>
            </a:r>
            <a:r>
              <a:rPr lang="en-US" altLang="en-US" dirty="0" smtClean="0"/>
              <a:t>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/>
              <a:t>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Where</a:t>
            </a:r>
            <a:r>
              <a:rPr lang="en-US" altLang="en-US" dirty="0"/>
              <a:t>: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 err="1" smtClean="0"/>
              <a:t>RotShift</a:t>
            </a:r>
            <a:r>
              <a:rPr lang="en-US" altLang="en-US" baseline="-25000" dirty="0" err="1" smtClean="0"/>
              <a:t>x</a:t>
            </a:r>
            <a:r>
              <a:rPr lang="en-US" altLang="en-US" baseline="-25000" dirty="0" smtClean="0"/>
              <a:t>-y-z</a:t>
            </a:r>
            <a:r>
              <a:rPr lang="en-US" altLang="en-US" dirty="0" smtClean="0"/>
              <a:t>[P</a:t>
            </a:r>
            <a:r>
              <a:rPr lang="en-US" altLang="en-US" dirty="0"/>
              <a:t>] = ROTR</a:t>
            </a:r>
            <a:r>
              <a:rPr lang="en-US" altLang="en-US" baseline="30000" dirty="0"/>
              <a:t>X</a:t>
            </a:r>
            <a:r>
              <a:rPr lang="en-US" altLang="en-US" dirty="0"/>
              <a:t>(P) ⊕ ROTR</a:t>
            </a:r>
            <a:r>
              <a:rPr lang="en-US" altLang="en-US" baseline="30000" dirty="0"/>
              <a:t>Y</a:t>
            </a:r>
            <a:r>
              <a:rPr lang="en-US" altLang="en-US" dirty="0"/>
              <a:t>(P) ⊕ SHL</a:t>
            </a:r>
            <a:r>
              <a:rPr lang="en-US" altLang="en-US" baseline="30000" dirty="0"/>
              <a:t>Z</a:t>
            </a:r>
            <a:r>
              <a:rPr lang="en-US" altLang="en-US" dirty="0"/>
              <a:t>(P)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ROTR</a:t>
            </a:r>
            <a:r>
              <a:rPr lang="en-US" altLang="en-US" baseline="30000" dirty="0"/>
              <a:t>X</a:t>
            </a:r>
            <a:r>
              <a:rPr lang="en-US" altLang="en-US" dirty="0" smtClean="0"/>
              <a:t>(Y</a:t>
            </a:r>
            <a:r>
              <a:rPr lang="en-US" altLang="en-US" dirty="0"/>
              <a:t>) = Circular Right Shift of Y by X bits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SHL</a:t>
            </a:r>
            <a:r>
              <a:rPr lang="en-US" altLang="en-US" baseline="30000" dirty="0" smtClean="0"/>
              <a:t>X</a:t>
            </a:r>
            <a:r>
              <a:rPr lang="en-US" altLang="en-US" dirty="0" smtClean="0"/>
              <a:t>(Y</a:t>
            </a:r>
            <a:r>
              <a:rPr lang="en-US" altLang="en-US" dirty="0"/>
              <a:t>) = Shift Left Y by X bits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⊕ </a:t>
            </a:r>
            <a:r>
              <a:rPr lang="en-US" altLang="en-US" dirty="0"/>
              <a:t>=  Exclusive OR Operation and </a:t>
            </a:r>
            <a:r>
              <a:rPr lang="en-US" altLang="en-US" dirty="0" smtClean="0"/>
              <a:t>+ Addition </a:t>
            </a:r>
            <a:r>
              <a:rPr lang="en-US" altLang="en-US" dirty="0"/>
              <a:t>in modulo 264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072386"/>
            <a:ext cx="2808312" cy="15997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84" y="4084585"/>
            <a:ext cx="85629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Message Digests (MD)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96" y="1484784"/>
            <a:ext cx="7845312" cy="496855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Message Digest Algorithms (MD2, MD4, MD5 and MD6) are different hash functions designed by Ron </a:t>
            </a:r>
            <a:r>
              <a:rPr lang="en-US" altLang="en-US" dirty="0" err="1"/>
              <a:t>Rivest</a:t>
            </a:r>
            <a:r>
              <a:rPr lang="en-US" altLang="en-US" dirty="0"/>
              <a:t>, professor of MIT from 1989 </a:t>
            </a:r>
            <a:r>
              <a:rPr lang="en-US" altLang="en-US" dirty="0" smtClean="0"/>
              <a:t>onwards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They </a:t>
            </a:r>
            <a:r>
              <a:rPr lang="en-US" altLang="en-US" dirty="0"/>
              <a:t>are standardized by IETF in the form of RFC and also adapted by NIST for SHA: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MD4</a:t>
            </a:r>
            <a:r>
              <a:rPr lang="en-US" altLang="en-US" dirty="0"/>
              <a:t>: RFC-1320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MD5</a:t>
            </a:r>
            <a:r>
              <a:rPr lang="en-US" altLang="en-US" dirty="0"/>
              <a:t>: </a:t>
            </a:r>
            <a:r>
              <a:rPr lang="en-US" altLang="en-US" dirty="0" smtClean="0"/>
              <a:t>RFC-1321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MD-6 </a:t>
            </a:r>
            <a:r>
              <a:rPr lang="en-US" altLang="en-US" dirty="0"/>
              <a:t>proposed to NIST for RSA-3 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operational structure of MD is similar to SHA. 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696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Message Authentication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096" y="1484784"/>
            <a:ext cx="7845312" cy="496855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hash code does not authenticate the sender of the </a:t>
            </a:r>
            <a:r>
              <a:rPr lang="en-US" altLang="en-US" dirty="0" smtClean="0"/>
              <a:t>message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To </a:t>
            </a:r>
            <a:r>
              <a:rPr lang="en-US" altLang="en-US" dirty="0"/>
              <a:t>provide message authentication, sender needs to provide proof that it is “the sender” sending the message and not an </a:t>
            </a:r>
            <a:r>
              <a:rPr lang="en-US" altLang="en-US" dirty="0" smtClean="0"/>
              <a:t>impostor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hash code created by a cryptographic hash function (e.g. SHA) is normally called a Modification Detection Code (</a:t>
            </a:r>
            <a:r>
              <a:rPr lang="en-US" altLang="en-US" dirty="0" smtClean="0"/>
              <a:t>MDC)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What </a:t>
            </a:r>
            <a:r>
              <a:rPr lang="en-US" altLang="en-US" dirty="0"/>
              <a:t>we need for message authentication is a Message Authentication Code (</a:t>
            </a:r>
            <a:r>
              <a:rPr lang="en-US" altLang="en-US" dirty="0" smtClean="0"/>
              <a:t>MAC)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Seeding </a:t>
            </a:r>
            <a:r>
              <a:rPr lang="en-US" altLang="en-US" dirty="0"/>
              <a:t>Thought - can we embed the identity of the sender in the hash code that the receiver can verify?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385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Message Authentication Code  (MAC) General Idea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4725144"/>
            <a:ext cx="7845312" cy="1782366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MAC</a:t>
            </a:r>
            <a:r>
              <a:rPr lang="en-US" altLang="en-US" baseline="-25000" dirty="0" smtClean="0"/>
              <a:t>S</a:t>
            </a:r>
            <a:r>
              <a:rPr lang="en-US" altLang="en-US" dirty="0" smtClean="0"/>
              <a:t> </a:t>
            </a:r>
            <a:r>
              <a:rPr lang="en-US" altLang="en-US" dirty="0"/>
              <a:t>is the MAC calculated by the </a:t>
            </a:r>
            <a:r>
              <a:rPr lang="en-US" altLang="en-US" dirty="0" smtClean="0"/>
              <a:t>sender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MAC</a:t>
            </a:r>
            <a:r>
              <a:rPr lang="en-US" altLang="en-US" baseline="-25000" dirty="0" smtClean="0"/>
              <a:t>R</a:t>
            </a:r>
            <a:r>
              <a:rPr lang="en-US" altLang="en-US" dirty="0" smtClean="0"/>
              <a:t> </a:t>
            </a:r>
            <a:r>
              <a:rPr lang="en-US" altLang="en-US" dirty="0"/>
              <a:t>is the MAC calculated by the </a:t>
            </a:r>
            <a:r>
              <a:rPr lang="en-US" altLang="en-US" dirty="0" smtClean="0"/>
              <a:t>receiver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MAC</a:t>
            </a:r>
            <a:r>
              <a:rPr lang="en-US" altLang="en-US" baseline="-25000" dirty="0" smtClean="0"/>
              <a:t>S </a:t>
            </a:r>
            <a:r>
              <a:rPr lang="en-US" altLang="en-US" dirty="0"/>
              <a:t>and MAC</a:t>
            </a:r>
            <a:r>
              <a:rPr lang="en-US" altLang="en-US" sz="3100" baseline="-25000" dirty="0"/>
              <a:t>R</a:t>
            </a:r>
            <a:r>
              <a:rPr lang="en-US" altLang="en-US" dirty="0"/>
              <a:t> are to be same to declare that message is </a:t>
            </a:r>
            <a:r>
              <a:rPr lang="en-US" altLang="en-US" dirty="0" smtClean="0"/>
              <a:t>authenticated</a:t>
            </a:r>
            <a:r>
              <a:rPr lang="en-US" altLang="en-US" dirty="0"/>
              <a:t> </a:t>
            </a:r>
            <a:r>
              <a:rPr lang="en-US" altLang="en-US" dirty="0" smtClean="0"/>
              <a:t>(Content </a:t>
            </a:r>
            <a:r>
              <a:rPr lang="en-US" altLang="en-US" dirty="0"/>
              <a:t>is unaltered and sender is who it is expected to be)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Can </a:t>
            </a:r>
            <a:r>
              <a:rPr lang="en-US" altLang="en-US" dirty="0"/>
              <a:t>we use public/private keys, in place of secret shared key?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619250"/>
            <a:ext cx="8763000" cy="296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Hashed MAC (HMAC) Structure FIPS-198 and RFC-2104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28736"/>
            <a:ext cx="5390910" cy="507877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The Hash function produces n bits of hash code, which is also the size of </a:t>
            </a:r>
            <a:r>
              <a:rPr lang="en-US" altLang="en-US" sz="1800" dirty="0" smtClean="0"/>
              <a:t>HMAC 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The </a:t>
            </a:r>
            <a:r>
              <a:rPr lang="en-US" altLang="en-US" sz="1800" dirty="0"/>
              <a:t>message (M) is considered as blocks of b bits (Y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to </a:t>
            </a:r>
            <a:r>
              <a:rPr lang="en-US" altLang="en-US" sz="1800" dirty="0" smtClean="0"/>
              <a:t>Y</a:t>
            </a:r>
            <a:r>
              <a:rPr lang="en-US" altLang="en-US" sz="1800" baseline="-25000" dirty="0" smtClean="0"/>
              <a:t>L-1</a:t>
            </a:r>
            <a:r>
              <a:rPr lang="en-US" altLang="en-US" sz="1800" dirty="0" smtClean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K </a:t>
            </a:r>
            <a:r>
              <a:rPr lang="en-US" altLang="en-US" sz="1800" dirty="0"/>
              <a:t>is the shared secret key &gt;=n. 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K </a:t>
            </a:r>
            <a:r>
              <a:rPr lang="en-US" altLang="en-US" sz="1800" dirty="0"/>
              <a:t>is appended on the left side with 0s (if required) so that its length becomes b. It is now called K</a:t>
            </a:r>
            <a:r>
              <a:rPr lang="en-US" altLang="en-US" sz="1800" baseline="30000" dirty="0" smtClean="0"/>
              <a:t>+</a:t>
            </a:r>
            <a:r>
              <a:rPr lang="en-US" altLang="en-US" sz="1800" dirty="0" smtClean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 dirty="0" err="1" smtClean="0"/>
              <a:t>ipad</a:t>
            </a:r>
            <a:r>
              <a:rPr lang="en-US" altLang="en-US" sz="1800" dirty="0" smtClean="0"/>
              <a:t> </a:t>
            </a:r>
            <a:r>
              <a:rPr lang="en-US" altLang="en-US" sz="1800" dirty="0"/>
              <a:t>is 0x36 repeated b/8 times, so it is b bits </a:t>
            </a:r>
            <a:r>
              <a:rPr lang="en-US" altLang="en-US" sz="1800" dirty="0" smtClean="0"/>
              <a:t>long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K</a:t>
            </a:r>
            <a:r>
              <a:rPr lang="en-US" altLang="en-US" sz="1800" baseline="30000" dirty="0"/>
              <a:t>+</a:t>
            </a:r>
            <a:r>
              <a:rPr lang="en-US" altLang="en-US" sz="1800" dirty="0"/>
              <a:t> is </a:t>
            </a:r>
            <a:r>
              <a:rPr lang="en-US" altLang="en-US" sz="1800" dirty="0" err="1"/>
              <a:t>XORed</a:t>
            </a:r>
            <a:r>
              <a:rPr lang="en-US" altLang="en-US" sz="1800" dirty="0"/>
              <a:t> with </a:t>
            </a:r>
            <a:r>
              <a:rPr lang="en-US" altLang="en-US" sz="1800" dirty="0" err="1"/>
              <a:t>ipad</a:t>
            </a:r>
            <a:r>
              <a:rPr lang="en-US" altLang="en-US" sz="1800" dirty="0"/>
              <a:t> and the output S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is prepended with the message </a:t>
            </a:r>
            <a:r>
              <a:rPr lang="en-US" altLang="en-US" sz="1800" dirty="0" smtClean="0"/>
              <a:t>blocks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Using </a:t>
            </a:r>
            <a:r>
              <a:rPr lang="en-US" altLang="en-US" sz="1800" dirty="0"/>
              <a:t>the Initial Value (IV) a hash is calculated and 0s are added on the left side to make it b bits </a:t>
            </a:r>
            <a:r>
              <a:rPr lang="en-US" altLang="en-US" sz="1800" dirty="0" smtClean="0"/>
              <a:t>long</a:t>
            </a:r>
          </a:p>
          <a:p>
            <a:pPr>
              <a:lnSpc>
                <a:spcPct val="90000"/>
              </a:lnSpc>
            </a:pPr>
            <a:r>
              <a:rPr lang="en-US" altLang="en-US" sz="1800" dirty="0" err="1" smtClean="0"/>
              <a:t>opad</a:t>
            </a:r>
            <a:r>
              <a:rPr lang="en-US" altLang="en-US" sz="1800" dirty="0" smtClean="0"/>
              <a:t> </a:t>
            </a:r>
            <a:r>
              <a:rPr lang="en-US" altLang="en-US" sz="1800" dirty="0"/>
              <a:t>is 0x5C repeated b/8 times, so it is b bits </a:t>
            </a:r>
            <a:r>
              <a:rPr lang="en-US" altLang="en-US" sz="1800" dirty="0" smtClean="0"/>
              <a:t>long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K</a:t>
            </a:r>
            <a:r>
              <a:rPr lang="en-US" altLang="en-US" sz="1800" baseline="30000" dirty="0"/>
              <a:t>+</a:t>
            </a:r>
            <a:r>
              <a:rPr lang="en-US" altLang="en-US" sz="1800" dirty="0"/>
              <a:t>  is now </a:t>
            </a:r>
            <a:r>
              <a:rPr lang="en-US" altLang="en-US" sz="1800" dirty="0" err="1"/>
              <a:t>XORed</a:t>
            </a:r>
            <a:r>
              <a:rPr lang="en-US" altLang="en-US" sz="1800" dirty="0"/>
              <a:t> with </a:t>
            </a:r>
            <a:r>
              <a:rPr lang="en-US" altLang="en-US" sz="1800" dirty="0" err="1"/>
              <a:t>opad</a:t>
            </a:r>
            <a:r>
              <a:rPr lang="en-US" altLang="en-US" sz="1800" dirty="0"/>
              <a:t> and the output S</a:t>
            </a:r>
            <a:r>
              <a:rPr lang="en-US" altLang="en-US" sz="1800" baseline="-25000" dirty="0"/>
              <a:t>0</a:t>
            </a:r>
            <a:r>
              <a:rPr lang="en-US" altLang="en-US" sz="1800" dirty="0"/>
              <a:t> is prepended to padded hash code calculated </a:t>
            </a:r>
            <a:r>
              <a:rPr lang="en-US" altLang="en-US" sz="1800" dirty="0" smtClean="0"/>
              <a:t>earlier</a:t>
            </a:r>
          </a:p>
          <a:p>
            <a:pPr>
              <a:lnSpc>
                <a:spcPct val="90000"/>
              </a:lnSpc>
            </a:pPr>
            <a:r>
              <a:rPr lang="en-US" altLang="en-US" sz="1800" dirty="0" smtClean="0"/>
              <a:t>Hash </a:t>
            </a:r>
            <a:r>
              <a:rPr lang="en-US" altLang="en-US" sz="1800" dirty="0"/>
              <a:t>is calculated on this prepared block and the final hash value is desired HMAC of the message M using key K. </a:t>
            </a:r>
            <a:endParaRPr lang="en-US" altLang="en-US" sz="1800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6" y="1643050"/>
            <a:ext cx="2509827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6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Cipher based MAC (CMAC) Structure 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3786190"/>
            <a:ext cx="8424936" cy="2721320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The objective is to generate n bits long </a:t>
            </a:r>
            <a:r>
              <a:rPr lang="en-US" altLang="en-US" dirty="0" smtClean="0"/>
              <a:t>CMAC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 smtClean="0"/>
              <a:t>The </a:t>
            </a:r>
            <a:r>
              <a:rPr lang="en-US" altLang="en-US" dirty="0"/>
              <a:t>message M is divided into N blocks each having m bits. If the last block is not m bits long, it is padded with one 1 and required </a:t>
            </a:r>
            <a:r>
              <a:rPr lang="en-US" altLang="en-US" dirty="0" smtClean="0"/>
              <a:t>0s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 smtClean="0"/>
              <a:t>The </a:t>
            </a:r>
            <a:r>
              <a:rPr lang="en-US" altLang="en-US" dirty="0"/>
              <a:t>first block is encrypted using symmetric key K and the output is </a:t>
            </a:r>
            <a:r>
              <a:rPr lang="en-US" altLang="en-US" dirty="0" err="1"/>
              <a:t>XORed</a:t>
            </a:r>
            <a:r>
              <a:rPr lang="en-US" altLang="en-US" dirty="0"/>
              <a:t> with the second block of the message. The result of XOR is again </a:t>
            </a:r>
            <a:r>
              <a:rPr lang="en-US" altLang="en-US" dirty="0" smtClean="0"/>
              <a:t>encrypted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 smtClean="0"/>
              <a:t>The </a:t>
            </a:r>
            <a:r>
              <a:rPr lang="en-US" altLang="en-US" dirty="0"/>
              <a:t>procedure continues until there is no more block left to </a:t>
            </a:r>
            <a:r>
              <a:rPr lang="en-US" altLang="en-US" dirty="0" smtClean="0"/>
              <a:t>process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 smtClean="0"/>
              <a:t>In </a:t>
            </a:r>
            <a:r>
              <a:rPr lang="en-US" altLang="en-US" dirty="0"/>
              <a:t>the last block processing one more key k is also used as an input for </a:t>
            </a:r>
            <a:r>
              <a:rPr lang="en-US" altLang="en-US" dirty="0" smtClean="0"/>
              <a:t>XOR</a:t>
            </a: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 smtClean="0"/>
              <a:t>Output </a:t>
            </a:r>
            <a:r>
              <a:rPr lang="en-US" altLang="en-US" dirty="0"/>
              <a:t>of the last block encryption is n bits </a:t>
            </a:r>
            <a:r>
              <a:rPr lang="en-US" altLang="en-US" dirty="0" smtClean="0"/>
              <a:t>CMAC</a:t>
            </a: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90" y="1571612"/>
            <a:ext cx="6408712" cy="21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2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CMAC: Additional Key Generation</a:t>
            </a:r>
            <a:endParaRPr 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3791148"/>
            <a:ext cx="8424936" cy="2716362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 m bits all 0s are encrypted with the symmetric key </a:t>
            </a:r>
            <a:r>
              <a:rPr lang="en-US" altLang="en-US" dirty="0" smtClean="0"/>
              <a:t>K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output is multiplied with x, if padding was not applied to the original </a:t>
            </a:r>
            <a:r>
              <a:rPr lang="en-US" altLang="en-US" dirty="0" smtClean="0"/>
              <a:t>message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Otherwise </a:t>
            </a:r>
            <a:r>
              <a:rPr lang="en-US" altLang="en-US" dirty="0"/>
              <a:t>the output is multiplied with </a:t>
            </a:r>
            <a:r>
              <a:rPr lang="en-US" altLang="en-US" dirty="0" smtClean="0"/>
              <a:t>x</a:t>
            </a:r>
            <a:r>
              <a:rPr lang="en-US" altLang="en-US" sz="3300" baseline="30000" dirty="0"/>
              <a:t>2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multiplication is in GF (</a:t>
            </a:r>
            <a:r>
              <a:rPr lang="en-US" altLang="en-US" dirty="0" smtClean="0"/>
              <a:t>2</a:t>
            </a:r>
            <a:r>
              <a:rPr lang="en-US" altLang="en-US" sz="3300" baseline="30000" dirty="0"/>
              <a:t>m</a:t>
            </a:r>
            <a:r>
              <a:rPr lang="en-US" altLang="en-US" dirty="0" smtClean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Normally </a:t>
            </a:r>
            <a:r>
              <a:rPr lang="en-US" altLang="en-US" dirty="0"/>
              <a:t>m = 64 or 128 so irreducible polynomials are used as x</a:t>
            </a:r>
            <a:r>
              <a:rPr lang="en-US" altLang="en-US" sz="3300" baseline="30000" dirty="0"/>
              <a:t>64</a:t>
            </a:r>
            <a:r>
              <a:rPr lang="en-US" altLang="en-US" dirty="0"/>
              <a:t>+x</a:t>
            </a:r>
            <a:r>
              <a:rPr lang="en-US" altLang="en-US" sz="3300" baseline="30000" dirty="0"/>
              <a:t>4</a:t>
            </a:r>
            <a:r>
              <a:rPr lang="en-US" altLang="en-US" dirty="0"/>
              <a:t>+x</a:t>
            </a:r>
            <a:r>
              <a:rPr lang="en-US" altLang="en-US" sz="3300" baseline="30000" dirty="0"/>
              <a:t>3</a:t>
            </a:r>
            <a:r>
              <a:rPr lang="en-US" altLang="en-US" dirty="0"/>
              <a:t>+x+1 and x</a:t>
            </a:r>
            <a:r>
              <a:rPr lang="en-US" altLang="en-US" baseline="30000" dirty="0"/>
              <a:t>128</a:t>
            </a:r>
            <a:r>
              <a:rPr lang="en-US" altLang="en-US" dirty="0"/>
              <a:t>+x</a:t>
            </a:r>
            <a:r>
              <a:rPr lang="en-US" altLang="en-US" sz="3300" baseline="30000" dirty="0"/>
              <a:t>7</a:t>
            </a:r>
            <a:r>
              <a:rPr lang="en-US" altLang="en-US" dirty="0"/>
              <a:t>+x</a:t>
            </a:r>
            <a:r>
              <a:rPr lang="en-US" altLang="en-US" sz="3300" baseline="30000" dirty="0"/>
              <a:t>2</a:t>
            </a:r>
            <a:r>
              <a:rPr lang="en-US" altLang="en-US" dirty="0"/>
              <a:t>+x+1 </a:t>
            </a:r>
            <a:r>
              <a:rPr lang="en-US" altLang="en-US" dirty="0" smtClean="0"/>
              <a:t>respectively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</a:t>
            </a:r>
            <a:r>
              <a:rPr lang="en-US" altLang="en-US" dirty="0"/>
              <a:t>output is k which is used in the last block processing in </a:t>
            </a:r>
            <a:r>
              <a:rPr lang="en-US" altLang="en-US" dirty="0" smtClean="0"/>
              <a:t>CMAC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484784"/>
            <a:ext cx="4514850" cy="230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4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Appendix-A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SHA-512 </a:t>
            </a:r>
            <a:r>
              <a:rPr lang="en-US" sz="2400" dirty="0"/>
              <a:t>Constants (K0 to K79 from left to right) </a:t>
            </a:r>
            <a:endParaRPr lang="en-US" dirty="0" smtClean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725" y="1600200"/>
            <a:ext cx="810055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8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r>
              <a:rPr lang="en-IN" b="1" dirty="0" smtClean="0"/>
              <a:t>… </a:t>
            </a:r>
            <a:r>
              <a:rPr lang="en-IN" dirty="0" smtClean="0">
                <a:sym typeface="Wingdings" pitchFamily="2" charset="2"/>
              </a:rPr>
              <a:t>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Q&amp;A</a:t>
            </a:r>
          </a:p>
          <a:p>
            <a:r>
              <a:rPr lang="en-IN" dirty="0" smtClean="0"/>
              <a:t>Suggestions / Feedback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24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8201</TotalTime>
  <Words>4128</Words>
  <Application>Microsoft Office PowerPoint</Application>
  <PresentationFormat>On-screen Show (4:3)</PresentationFormat>
  <Paragraphs>486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宋体</vt:lpstr>
      <vt:lpstr>Arial</vt:lpstr>
      <vt:lpstr>Calibri</vt:lpstr>
      <vt:lpstr>Courier New</vt:lpstr>
      <vt:lpstr>Symbol</vt:lpstr>
      <vt:lpstr>Tahoma</vt:lpstr>
      <vt:lpstr>Times New Roman</vt:lpstr>
      <vt:lpstr>Wingdings</vt:lpstr>
      <vt:lpstr>Office Theme</vt:lpstr>
      <vt:lpstr>1_Office Theme</vt:lpstr>
      <vt:lpstr>2_Office Theme</vt:lpstr>
      <vt:lpstr>Course Name :  Network Security</vt:lpstr>
      <vt:lpstr>Session#9 </vt:lpstr>
      <vt:lpstr>Asymmetric Key Encryption</vt:lpstr>
      <vt:lpstr>Asymmetric Key Encryption</vt:lpstr>
      <vt:lpstr>Asymmetric Key Encryption: Example</vt:lpstr>
      <vt:lpstr>Symmetric /Asymmetric Key Encryption</vt:lpstr>
      <vt:lpstr>Asymmetric Key Example</vt:lpstr>
      <vt:lpstr>Asymmetric Key Encryption: Concept</vt:lpstr>
      <vt:lpstr>Matrix of Keys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Integrity Attacks</vt:lpstr>
      <vt:lpstr>Hash Function</vt:lpstr>
      <vt:lpstr>Hash Function Properties </vt:lpstr>
      <vt:lpstr>Relationship Among Hash Function Properties</vt:lpstr>
      <vt:lpstr>Hashing Technique General Idea</vt:lpstr>
      <vt:lpstr>Secure Hash Algorithm (SHA) </vt:lpstr>
      <vt:lpstr>SHA-512  Step-1: Append Padding Bits &amp; Step-2: Append Length </vt:lpstr>
      <vt:lpstr>Example </vt:lpstr>
      <vt:lpstr>SHA-512 Top Level View </vt:lpstr>
      <vt:lpstr>SHA-512 Step-3: Initial Value </vt:lpstr>
      <vt:lpstr>SHA-512 Step-4: Compression Function</vt:lpstr>
      <vt:lpstr>SHA-512 Inside Each Round of Compression Function  </vt:lpstr>
      <vt:lpstr>SHA-512 Derivation of Wi  </vt:lpstr>
      <vt:lpstr>Message Digests (MD) </vt:lpstr>
      <vt:lpstr>Message Authentication</vt:lpstr>
      <vt:lpstr>Message Authentication Code  (MAC) General Idea </vt:lpstr>
      <vt:lpstr>Hashed MAC (HMAC) Structure FIPS-198 and RFC-2104 </vt:lpstr>
      <vt:lpstr>Cipher based MAC (CMAC) Structure </vt:lpstr>
      <vt:lpstr>CMAC: Additional Key Generation</vt:lpstr>
      <vt:lpstr>Appendix-A  SHA-512 Constants (K0 to K79 from left to right) </vt:lpstr>
      <vt:lpstr>Thank You… 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HP</cp:lastModifiedBy>
  <cp:revision>158</cp:revision>
  <dcterms:created xsi:type="dcterms:W3CDTF">2012-01-02T05:05:52Z</dcterms:created>
  <dcterms:modified xsi:type="dcterms:W3CDTF">2020-02-08T12:17:17Z</dcterms:modified>
</cp:coreProperties>
</file>