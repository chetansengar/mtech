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7"/>
  </p:notesMasterIdLst>
  <p:handoutMasterIdLst>
    <p:handoutMasterId r:id="rId48"/>
  </p:handoutMasterIdLst>
  <p:sldIdLst>
    <p:sldId id="279" r:id="rId2"/>
    <p:sldId id="416" r:id="rId3"/>
    <p:sldId id="444" r:id="rId4"/>
    <p:sldId id="437" r:id="rId5"/>
    <p:sldId id="438" r:id="rId6"/>
    <p:sldId id="439" r:id="rId7"/>
    <p:sldId id="440" r:id="rId8"/>
    <p:sldId id="441" r:id="rId9"/>
    <p:sldId id="442" r:id="rId10"/>
    <p:sldId id="443" r:id="rId11"/>
    <p:sldId id="422" r:id="rId12"/>
    <p:sldId id="423" r:id="rId13"/>
    <p:sldId id="424" r:id="rId14"/>
    <p:sldId id="425" r:id="rId15"/>
    <p:sldId id="426" r:id="rId16"/>
    <p:sldId id="427" r:id="rId17"/>
    <p:sldId id="428" r:id="rId18"/>
    <p:sldId id="430" r:id="rId19"/>
    <p:sldId id="431" r:id="rId20"/>
    <p:sldId id="432" r:id="rId21"/>
    <p:sldId id="433" r:id="rId22"/>
    <p:sldId id="445" r:id="rId23"/>
    <p:sldId id="446" r:id="rId24"/>
    <p:sldId id="447" r:id="rId25"/>
    <p:sldId id="448" r:id="rId26"/>
    <p:sldId id="449" r:id="rId27"/>
    <p:sldId id="450" r:id="rId28"/>
    <p:sldId id="451" r:id="rId29"/>
    <p:sldId id="452" r:id="rId30"/>
    <p:sldId id="453" r:id="rId31"/>
    <p:sldId id="454" r:id="rId32"/>
    <p:sldId id="455" r:id="rId33"/>
    <p:sldId id="456" r:id="rId34"/>
    <p:sldId id="457" r:id="rId35"/>
    <p:sldId id="458" r:id="rId36"/>
    <p:sldId id="459" r:id="rId37"/>
    <p:sldId id="460" r:id="rId38"/>
    <p:sldId id="461" r:id="rId39"/>
    <p:sldId id="462" r:id="rId40"/>
    <p:sldId id="463" r:id="rId41"/>
    <p:sldId id="464" r:id="rId42"/>
    <p:sldId id="465" r:id="rId43"/>
    <p:sldId id="466" r:id="rId44"/>
    <p:sldId id="467" r:id="rId45"/>
    <p:sldId id="468" r:id="rId46"/>
  </p:sldIdLst>
  <p:sldSz cx="9144000" cy="6858000" type="screen4x3"/>
  <p:notesSz cx="10234613" cy="7102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FF99"/>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1209" autoAdjust="0"/>
    <p:restoredTop sz="90860" autoAdjust="0"/>
  </p:normalViewPr>
  <p:slideViewPr>
    <p:cSldViewPr>
      <p:cViewPr>
        <p:scale>
          <a:sx n="70" d="100"/>
          <a:sy n="70" d="100"/>
        </p:scale>
        <p:origin x="-1566" y="-12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74" d="100"/>
          <a:sy n="74" d="100"/>
        </p:scale>
        <p:origin x="-1956" y="-96"/>
      </p:cViewPr>
      <p:guideLst>
        <p:guide orient="horz" pos="2237"/>
        <p:guide pos="3224"/>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34999" cy="355124"/>
          </a:xfrm>
          <a:prstGeom prst="rect">
            <a:avLst/>
          </a:prstGeom>
        </p:spPr>
        <p:txBody>
          <a:bodyPr vert="horz" lIns="99066" tIns="49533" rIns="99066" bIns="49533" rtlCol="0"/>
          <a:lstStyle>
            <a:lvl1pPr algn="l">
              <a:defRPr sz="1300"/>
            </a:lvl1pPr>
          </a:lstStyle>
          <a:p>
            <a:endParaRPr lang="en-IN"/>
          </a:p>
        </p:txBody>
      </p:sp>
      <p:sp>
        <p:nvSpPr>
          <p:cNvPr id="3" name="Date Placeholder 2"/>
          <p:cNvSpPr>
            <a:spLocks noGrp="1"/>
          </p:cNvSpPr>
          <p:nvPr>
            <p:ph type="dt" sz="quarter" idx="1"/>
          </p:nvPr>
        </p:nvSpPr>
        <p:spPr>
          <a:xfrm>
            <a:off x="5797246" y="0"/>
            <a:ext cx="4434999" cy="355124"/>
          </a:xfrm>
          <a:prstGeom prst="rect">
            <a:avLst/>
          </a:prstGeom>
        </p:spPr>
        <p:txBody>
          <a:bodyPr vert="horz" lIns="99066" tIns="49533" rIns="99066" bIns="49533" rtlCol="0"/>
          <a:lstStyle>
            <a:lvl1pPr algn="r">
              <a:defRPr sz="1300"/>
            </a:lvl1pPr>
          </a:lstStyle>
          <a:p>
            <a:r>
              <a:rPr lang="en-IN" smtClean="0"/>
              <a:t>25-07-2013</a:t>
            </a:r>
            <a:endParaRPr lang="en-IN"/>
          </a:p>
        </p:txBody>
      </p:sp>
      <p:sp>
        <p:nvSpPr>
          <p:cNvPr id="4" name="Footer Placeholder 3"/>
          <p:cNvSpPr>
            <a:spLocks noGrp="1"/>
          </p:cNvSpPr>
          <p:nvPr>
            <p:ph type="ftr" sz="quarter" idx="2"/>
          </p:nvPr>
        </p:nvSpPr>
        <p:spPr>
          <a:xfrm>
            <a:off x="0" y="6746119"/>
            <a:ext cx="4434999" cy="355124"/>
          </a:xfrm>
          <a:prstGeom prst="rect">
            <a:avLst/>
          </a:prstGeom>
        </p:spPr>
        <p:txBody>
          <a:bodyPr vert="horz" lIns="99066" tIns="49533" rIns="99066" bIns="49533" rtlCol="0" anchor="b"/>
          <a:lstStyle>
            <a:lvl1pPr algn="l">
              <a:defRPr sz="1300"/>
            </a:lvl1pPr>
          </a:lstStyle>
          <a:p>
            <a:r>
              <a:rPr lang="en-IN" smtClean="0"/>
              <a:t>TA ZC164</a:t>
            </a:r>
            <a:endParaRPr lang="en-IN"/>
          </a:p>
        </p:txBody>
      </p:sp>
      <p:sp>
        <p:nvSpPr>
          <p:cNvPr id="5" name="Slide Number Placeholder 4"/>
          <p:cNvSpPr>
            <a:spLocks noGrp="1"/>
          </p:cNvSpPr>
          <p:nvPr>
            <p:ph type="sldNum" sz="quarter" idx="3"/>
          </p:nvPr>
        </p:nvSpPr>
        <p:spPr>
          <a:xfrm>
            <a:off x="5797246" y="6746119"/>
            <a:ext cx="4434999" cy="355124"/>
          </a:xfrm>
          <a:prstGeom prst="rect">
            <a:avLst/>
          </a:prstGeom>
        </p:spPr>
        <p:txBody>
          <a:bodyPr vert="horz" lIns="99066" tIns="49533" rIns="99066" bIns="49533" rtlCol="0" anchor="b"/>
          <a:lstStyle>
            <a:lvl1pPr algn="r">
              <a:defRPr sz="1300"/>
            </a:lvl1pPr>
          </a:lstStyle>
          <a:p>
            <a:fld id="{34D040A3-B72D-454D-BCCA-EBA25D73147B}" type="slidenum">
              <a:rPr lang="en-IN" smtClean="0"/>
              <a:pPr/>
              <a:t>‹#›</a:t>
            </a:fld>
            <a:endParaRPr lang="en-IN"/>
          </a:p>
        </p:txBody>
      </p:sp>
    </p:spTree>
    <p:extLst>
      <p:ext uri="{BB962C8B-B14F-4D97-AF65-F5344CB8AC3E}">
        <p14:creationId xmlns="" xmlns:p14="http://schemas.microsoft.com/office/powerpoint/2010/main" val="939669582"/>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34999" cy="355124"/>
          </a:xfrm>
          <a:prstGeom prst="rect">
            <a:avLst/>
          </a:prstGeom>
        </p:spPr>
        <p:txBody>
          <a:bodyPr vert="horz" lIns="99066" tIns="49533" rIns="99066" bIns="49533" rtlCol="0"/>
          <a:lstStyle>
            <a:lvl1pPr algn="l">
              <a:defRPr sz="1300"/>
            </a:lvl1pPr>
          </a:lstStyle>
          <a:p>
            <a:endParaRPr lang="en-IN"/>
          </a:p>
        </p:txBody>
      </p:sp>
      <p:sp>
        <p:nvSpPr>
          <p:cNvPr id="3" name="Date Placeholder 2"/>
          <p:cNvSpPr>
            <a:spLocks noGrp="1"/>
          </p:cNvSpPr>
          <p:nvPr>
            <p:ph type="dt" idx="1"/>
          </p:nvPr>
        </p:nvSpPr>
        <p:spPr>
          <a:xfrm>
            <a:off x="5797246" y="0"/>
            <a:ext cx="4434999" cy="355124"/>
          </a:xfrm>
          <a:prstGeom prst="rect">
            <a:avLst/>
          </a:prstGeom>
        </p:spPr>
        <p:txBody>
          <a:bodyPr vert="horz" lIns="99066" tIns="49533" rIns="99066" bIns="49533" rtlCol="0"/>
          <a:lstStyle>
            <a:lvl1pPr algn="r">
              <a:defRPr sz="1300"/>
            </a:lvl1pPr>
          </a:lstStyle>
          <a:p>
            <a:r>
              <a:rPr lang="en-IN" smtClean="0"/>
              <a:t>25-07-2013</a:t>
            </a:r>
            <a:endParaRPr lang="en-IN"/>
          </a:p>
        </p:txBody>
      </p:sp>
      <p:sp>
        <p:nvSpPr>
          <p:cNvPr id="4" name="Slide Image Placeholder 3"/>
          <p:cNvSpPr>
            <a:spLocks noGrp="1" noRot="1" noChangeAspect="1"/>
          </p:cNvSpPr>
          <p:nvPr>
            <p:ph type="sldImg" idx="2"/>
          </p:nvPr>
        </p:nvSpPr>
        <p:spPr>
          <a:xfrm>
            <a:off x="3155950" y="533400"/>
            <a:ext cx="2728913" cy="2047875"/>
          </a:xfrm>
          <a:prstGeom prst="rect">
            <a:avLst/>
          </a:prstGeom>
          <a:noFill/>
          <a:ln w="12700">
            <a:solidFill>
              <a:prstClr val="black"/>
            </a:solidFill>
          </a:ln>
        </p:spPr>
        <p:txBody>
          <a:bodyPr vert="horz" lIns="99066" tIns="49533" rIns="99066" bIns="49533" rtlCol="0" anchor="ctr"/>
          <a:lstStyle/>
          <a:p>
            <a:endParaRPr lang="en-IN"/>
          </a:p>
        </p:txBody>
      </p:sp>
      <p:sp>
        <p:nvSpPr>
          <p:cNvPr id="5" name="Notes Placeholder 4"/>
          <p:cNvSpPr>
            <a:spLocks noGrp="1"/>
          </p:cNvSpPr>
          <p:nvPr>
            <p:ph type="body" sz="quarter" idx="3"/>
          </p:nvPr>
        </p:nvSpPr>
        <p:spPr>
          <a:xfrm>
            <a:off x="281519" y="2730913"/>
            <a:ext cx="9752171" cy="3838876"/>
          </a:xfrm>
          <a:prstGeom prst="rect">
            <a:avLst/>
          </a:prstGeom>
        </p:spPr>
        <p:txBody>
          <a:bodyPr vert="horz" lIns="99066" tIns="49533" rIns="99066" bIns="49533"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Footer Placeholder 5"/>
          <p:cNvSpPr>
            <a:spLocks noGrp="1"/>
          </p:cNvSpPr>
          <p:nvPr>
            <p:ph type="ftr" sz="quarter" idx="4"/>
          </p:nvPr>
        </p:nvSpPr>
        <p:spPr>
          <a:xfrm>
            <a:off x="0" y="6746119"/>
            <a:ext cx="4434999" cy="355124"/>
          </a:xfrm>
          <a:prstGeom prst="rect">
            <a:avLst/>
          </a:prstGeom>
        </p:spPr>
        <p:txBody>
          <a:bodyPr vert="horz" lIns="99066" tIns="49533" rIns="99066" bIns="49533" rtlCol="0" anchor="b"/>
          <a:lstStyle>
            <a:lvl1pPr algn="l">
              <a:defRPr sz="1300"/>
            </a:lvl1pPr>
          </a:lstStyle>
          <a:p>
            <a:r>
              <a:rPr lang="en-IN" smtClean="0"/>
              <a:t>TA ZC164</a:t>
            </a:r>
            <a:endParaRPr lang="en-IN"/>
          </a:p>
        </p:txBody>
      </p:sp>
      <p:sp>
        <p:nvSpPr>
          <p:cNvPr id="7" name="Slide Number Placeholder 6"/>
          <p:cNvSpPr>
            <a:spLocks noGrp="1"/>
          </p:cNvSpPr>
          <p:nvPr>
            <p:ph type="sldNum" sz="quarter" idx="5"/>
          </p:nvPr>
        </p:nvSpPr>
        <p:spPr>
          <a:xfrm>
            <a:off x="5797246" y="6746119"/>
            <a:ext cx="4434999" cy="355124"/>
          </a:xfrm>
          <a:prstGeom prst="rect">
            <a:avLst/>
          </a:prstGeom>
        </p:spPr>
        <p:txBody>
          <a:bodyPr vert="horz" lIns="99066" tIns="49533" rIns="99066" bIns="49533" rtlCol="0" anchor="b"/>
          <a:lstStyle>
            <a:lvl1pPr algn="r">
              <a:defRPr sz="1300"/>
            </a:lvl1pPr>
          </a:lstStyle>
          <a:p>
            <a:fld id="{1EBC9D2F-5FCE-4B4F-80E6-E39EED6BD8E1}" type="slidenum">
              <a:rPr lang="en-IN" smtClean="0"/>
              <a:pPr/>
              <a:t>‹#›</a:t>
            </a:fld>
            <a:endParaRPr lang="en-IN"/>
          </a:p>
        </p:txBody>
      </p:sp>
    </p:spTree>
    <p:extLst>
      <p:ext uri="{BB962C8B-B14F-4D97-AF65-F5344CB8AC3E}">
        <p14:creationId xmlns="" xmlns:p14="http://schemas.microsoft.com/office/powerpoint/2010/main" val="1619580894"/>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2400" kern="1200">
        <a:solidFill>
          <a:schemeClr val="tx1"/>
        </a:solidFill>
        <a:latin typeface="+mn-lt"/>
        <a:ea typeface="+mn-ea"/>
        <a:cs typeface="+mn-cs"/>
      </a:defRPr>
    </a:lvl2pPr>
    <a:lvl3pPr marL="914400" algn="l" defTabSz="914400" rtl="0" eaLnBrk="1" latinLnBrk="0" hangingPunct="1">
      <a:defRPr sz="2400" kern="1200">
        <a:solidFill>
          <a:schemeClr val="tx1"/>
        </a:solidFill>
        <a:latin typeface="+mn-lt"/>
        <a:ea typeface="+mn-ea"/>
        <a:cs typeface="+mn-cs"/>
      </a:defRPr>
    </a:lvl3pPr>
    <a:lvl4pPr marL="1371600" algn="l" defTabSz="914400" rtl="0" eaLnBrk="1" latinLnBrk="0" hangingPunct="1">
      <a:defRPr sz="2400" kern="1200">
        <a:solidFill>
          <a:schemeClr val="tx1"/>
        </a:solidFill>
        <a:latin typeface="+mn-lt"/>
        <a:ea typeface="+mn-ea"/>
        <a:cs typeface="+mn-cs"/>
      </a:defRPr>
    </a:lvl4pPr>
    <a:lvl5pPr marL="1828800" algn="l" defTabSz="914400" rtl="0" eaLnBrk="1" latinLnBrk="0" hangingPunct="1">
      <a:defRPr sz="24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Date Placeholder 3"/>
          <p:cNvSpPr>
            <a:spLocks noGrp="1"/>
          </p:cNvSpPr>
          <p:nvPr>
            <p:ph type="dt" idx="10"/>
          </p:nvPr>
        </p:nvSpPr>
        <p:spPr/>
        <p:txBody>
          <a:bodyPr/>
          <a:lstStyle/>
          <a:p>
            <a:r>
              <a:rPr lang="en-IN" smtClean="0"/>
              <a:t>25-07-2013</a:t>
            </a:r>
            <a:endParaRPr lang="en-IN"/>
          </a:p>
        </p:txBody>
      </p:sp>
      <p:sp>
        <p:nvSpPr>
          <p:cNvPr id="5" name="Footer Placeholder 4"/>
          <p:cNvSpPr>
            <a:spLocks noGrp="1"/>
          </p:cNvSpPr>
          <p:nvPr>
            <p:ph type="ftr" sz="quarter" idx="11"/>
          </p:nvPr>
        </p:nvSpPr>
        <p:spPr/>
        <p:txBody>
          <a:bodyPr/>
          <a:lstStyle/>
          <a:p>
            <a:r>
              <a:rPr lang="en-IN" smtClean="0"/>
              <a:t>TA ZC164</a:t>
            </a:r>
            <a:endParaRPr lang="en-IN"/>
          </a:p>
        </p:txBody>
      </p:sp>
      <p:sp>
        <p:nvSpPr>
          <p:cNvPr id="6" name="Slide Number Placeholder 5"/>
          <p:cNvSpPr>
            <a:spLocks noGrp="1"/>
          </p:cNvSpPr>
          <p:nvPr>
            <p:ph type="sldNum" sz="quarter" idx="12"/>
          </p:nvPr>
        </p:nvSpPr>
        <p:spPr/>
        <p:txBody>
          <a:bodyPr/>
          <a:lstStyle/>
          <a:p>
            <a:fld id="{1EBC9D2F-5FCE-4B4F-80E6-E39EED6BD8E1}" type="slidenum">
              <a:rPr lang="en-IN" smtClean="0"/>
              <a:pPr/>
              <a:t>12</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Date Placeholder 3"/>
          <p:cNvSpPr>
            <a:spLocks noGrp="1"/>
          </p:cNvSpPr>
          <p:nvPr>
            <p:ph type="dt" idx="10"/>
          </p:nvPr>
        </p:nvSpPr>
        <p:spPr/>
        <p:txBody>
          <a:bodyPr/>
          <a:lstStyle/>
          <a:p>
            <a:r>
              <a:rPr lang="en-IN" dirty="0" smtClean="0"/>
              <a:t>25-07-2013</a:t>
            </a:r>
            <a:endParaRPr lang="en-IN" dirty="0"/>
          </a:p>
        </p:txBody>
      </p:sp>
      <p:sp>
        <p:nvSpPr>
          <p:cNvPr id="5" name="Footer Placeholder 4"/>
          <p:cNvSpPr>
            <a:spLocks noGrp="1"/>
          </p:cNvSpPr>
          <p:nvPr>
            <p:ph type="ftr" sz="quarter" idx="11"/>
          </p:nvPr>
        </p:nvSpPr>
        <p:spPr/>
        <p:txBody>
          <a:bodyPr/>
          <a:lstStyle/>
          <a:p>
            <a:r>
              <a:rPr lang="en-IN" dirty="0" smtClean="0"/>
              <a:t>TA ZC164</a:t>
            </a:r>
            <a:endParaRPr lang="en-IN" dirty="0"/>
          </a:p>
        </p:txBody>
      </p:sp>
      <p:sp>
        <p:nvSpPr>
          <p:cNvPr id="6" name="Slide Number Placeholder 5"/>
          <p:cNvSpPr>
            <a:spLocks noGrp="1"/>
          </p:cNvSpPr>
          <p:nvPr>
            <p:ph type="sldNum" sz="quarter" idx="12"/>
          </p:nvPr>
        </p:nvSpPr>
        <p:spPr/>
        <p:txBody>
          <a:bodyPr/>
          <a:lstStyle/>
          <a:p>
            <a:fld id="{1EBC9D2F-5FCE-4B4F-80E6-E39EED6BD8E1}" type="slidenum">
              <a:rPr lang="en-IN" smtClean="0"/>
              <a:pPr/>
              <a:t>27</a:t>
            </a:fld>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Date Placeholder 3"/>
          <p:cNvSpPr>
            <a:spLocks noGrp="1"/>
          </p:cNvSpPr>
          <p:nvPr>
            <p:ph type="dt" idx="10"/>
          </p:nvPr>
        </p:nvSpPr>
        <p:spPr/>
        <p:txBody>
          <a:bodyPr/>
          <a:lstStyle/>
          <a:p>
            <a:r>
              <a:rPr lang="en-IN" dirty="0" smtClean="0"/>
              <a:t>25-07-2013</a:t>
            </a:r>
            <a:endParaRPr lang="en-IN" dirty="0"/>
          </a:p>
        </p:txBody>
      </p:sp>
      <p:sp>
        <p:nvSpPr>
          <p:cNvPr id="5" name="Footer Placeholder 4"/>
          <p:cNvSpPr>
            <a:spLocks noGrp="1"/>
          </p:cNvSpPr>
          <p:nvPr>
            <p:ph type="ftr" sz="quarter" idx="11"/>
          </p:nvPr>
        </p:nvSpPr>
        <p:spPr/>
        <p:txBody>
          <a:bodyPr/>
          <a:lstStyle/>
          <a:p>
            <a:r>
              <a:rPr lang="en-IN" dirty="0" smtClean="0"/>
              <a:t>TA ZC164</a:t>
            </a:r>
            <a:endParaRPr lang="en-IN" dirty="0"/>
          </a:p>
        </p:txBody>
      </p:sp>
      <p:sp>
        <p:nvSpPr>
          <p:cNvPr id="6" name="Slide Number Placeholder 5"/>
          <p:cNvSpPr>
            <a:spLocks noGrp="1"/>
          </p:cNvSpPr>
          <p:nvPr>
            <p:ph type="sldNum" sz="quarter" idx="12"/>
          </p:nvPr>
        </p:nvSpPr>
        <p:spPr/>
        <p:txBody>
          <a:bodyPr/>
          <a:lstStyle/>
          <a:p>
            <a:fld id="{1EBC9D2F-5FCE-4B4F-80E6-E39EED6BD8E1}" type="slidenum">
              <a:rPr lang="en-IN" smtClean="0"/>
              <a:pPr/>
              <a:t>28</a:t>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2979440" cy="276999"/>
          </a:xfrm>
          <a:prstGeom prst="rect">
            <a:avLst/>
          </a:prstGeom>
          <a:noFill/>
        </p:spPr>
        <p:txBody>
          <a:bodyPr wrap="square" rtlCol="0">
            <a:spAutoFit/>
          </a:bodyPr>
          <a:lstStyle/>
          <a:p>
            <a:r>
              <a:rPr lang="en-US" sz="1200" dirty="0" smtClean="0">
                <a:solidFill>
                  <a:srgbClr val="FFFFFF"/>
                </a:solidFill>
                <a:latin typeface="Arial"/>
                <a:cs typeface="Arial"/>
              </a:rPr>
              <a:t>Work Integrated Learning Programmes</a:t>
            </a:r>
            <a:endParaRPr lang="en-US" sz="1200" dirty="0">
              <a:solidFill>
                <a:srgbClr val="FFFFFF"/>
              </a:solidFill>
              <a:latin typeface="Arial"/>
              <a:cs typeface="Arial"/>
            </a:endParaRPr>
          </a:p>
        </p:txBody>
      </p:sp>
    </p:spTree>
    <p:extLst>
      <p:ext uri="{BB962C8B-B14F-4D97-AF65-F5344CB8AC3E}">
        <p14:creationId xmlns=""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p:spPr>
        <p:txBody>
          <a:bodyPr/>
          <a:lstStyle>
            <a:lvl1pPr>
              <a:defRPr sz="1400">
                <a:solidFill>
                  <a:schemeClr val="tx1"/>
                </a:solidFill>
              </a:defRPr>
            </a:lvl1pPr>
          </a:lstStyle>
          <a:p>
            <a:fld id="{04252BD6-4F37-4D57-B6B7-636C2217F7DD}"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1"/>
          <p:cNvSpPr>
            <a:spLocks noGrp="1" noChangeArrowheads="1"/>
          </p:cNvSpPr>
          <p:nvPr>
            <p:ph type="dt" sz="half" idx="10"/>
          </p:nvPr>
        </p:nvSpPr>
        <p:spPr>
          <a:ln/>
        </p:spPr>
        <p:txBody>
          <a:bodyPr/>
          <a:lstStyle>
            <a:lvl1pPr>
              <a:defRPr/>
            </a:lvl1pPr>
          </a:lstStyle>
          <a:p>
            <a:pPr>
              <a:defRPr/>
            </a:pPr>
            <a:fld id="{B6EB1748-CD0E-48E1-B98B-80EBC627833B}" type="datetime1">
              <a:rPr lang="en-US"/>
              <a:pPr>
                <a:defRPr/>
              </a:pPr>
              <a:t>3/30/2018</a:t>
            </a:fld>
            <a:endParaRPr lang="en-US"/>
          </a:p>
        </p:txBody>
      </p:sp>
      <p:sp>
        <p:nvSpPr>
          <p:cNvPr id="4" name="Rectangle 12"/>
          <p:cNvSpPr>
            <a:spLocks noGrp="1" noChangeArrowheads="1"/>
          </p:cNvSpPr>
          <p:nvPr>
            <p:ph type="ftr" sz="quarter" idx="11"/>
          </p:nvPr>
        </p:nvSpPr>
        <p:spPr>
          <a:ln/>
        </p:spPr>
        <p:txBody>
          <a:bodyPr/>
          <a:lstStyle>
            <a:lvl1pPr>
              <a:defRPr/>
            </a:lvl1pPr>
          </a:lstStyle>
          <a:p>
            <a:pPr>
              <a:defRPr/>
            </a:pPr>
            <a:endParaRPr lang="en-US"/>
          </a:p>
        </p:txBody>
      </p:sp>
      <p:sp>
        <p:nvSpPr>
          <p:cNvPr id="5" name="Rectangle 13"/>
          <p:cNvSpPr>
            <a:spLocks noGrp="1" noChangeArrowheads="1"/>
          </p:cNvSpPr>
          <p:nvPr>
            <p:ph type="sldNum" sz="quarter" idx="12"/>
          </p:nvPr>
        </p:nvSpPr>
        <p:spPr>
          <a:ln/>
        </p:spPr>
        <p:txBody>
          <a:bodyPr/>
          <a:lstStyle>
            <a:lvl1pPr>
              <a:defRPr/>
            </a:lvl1pPr>
          </a:lstStyle>
          <a:p>
            <a:pPr>
              <a:defRPr/>
            </a:pPr>
            <a:fld id="{DC00C745-B20C-40B6-85CB-9F6EE1E4D401}"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fld id="{6F201453-B55E-4303-91C7-6DFDB3686D4F}" type="datetime1">
              <a:rPr lang="en-US"/>
              <a:pPr>
                <a:defRPr/>
              </a:pPr>
              <a:t>3/30/2018</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04AE7E4B-CED3-404C-BF55-C4CF51EAF01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hyperlink" Target="http://www.itu.int/rec/T-REC-X.800/en"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hyperlink" Target="https://www.ietf.org/rfc/rfc2821.txt" TargetMode="External"/><Relationship Id="rId2" Type="http://schemas.openxmlformats.org/officeDocument/2006/relationships/hyperlink" Target="https://www.ietf.org/rfc/rfc5598.txt" TargetMode="Externa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24.xml.rels><?xml version="1.0" encoding="UTF-8" standalone="yes"?>
<Relationships xmlns="http://schemas.openxmlformats.org/package/2006/relationships"><Relationship Id="rId3" Type="http://schemas.openxmlformats.org/officeDocument/2006/relationships/hyperlink" Target="http://www.pgpi.org/" TargetMode="External"/><Relationship Id="rId2" Type="http://schemas.openxmlformats.org/officeDocument/2006/relationships/hyperlink" Target="https://www.philzimmermann.com/" TargetMode="External"/><Relationship Id="rId1" Type="http://schemas.openxmlformats.org/officeDocument/2006/relationships/slideLayout" Target="../slideLayouts/slideLayout4.xml"/><Relationship Id="rId6" Type="http://schemas.openxmlformats.org/officeDocument/2006/relationships/image" Target="../media/image14.jpeg"/><Relationship Id="rId5" Type="http://schemas.openxmlformats.org/officeDocument/2006/relationships/hyperlink" Target="https://www.rfc-editor.org/rfc/rfc3156.txt" TargetMode="External"/><Relationship Id="rId4" Type="http://schemas.openxmlformats.org/officeDocument/2006/relationships/hyperlink" Target="http://www.ietf.org/rfc/rfc4880.txt"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7.gif"/></Relationships>
</file>

<file path=ppt/slides/_rels/slide26.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jpeg"/></Relationships>
</file>

<file path=ppt/slides/_rels/slide27.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7.gif"/><Relationship Id="rId9" Type="http://schemas.openxmlformats.org/officeDocument/2006/relationships/image" Target="../media/image22.jpeg"/></Relationships>
</file>

<file path=ppt/slides/_rels/slide2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1.png"/><Relationship Id="rId11" Type="http://schemas.openxmlformats.org/officeDocument/2006/relationships/image" Target="../media/image18.jpe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17.gif"/><Relationship Id="rId9" Type="http://schemas.openxmlformats.org/officeDocument/2006/relationships/image" Target="../media/image2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hyperlink" Target="https://www.ietf.org/rfc/rfc2045.txt" TargetMode="External"/><Relationship Id="rId2" Type="http://schemas.openxmlformats.org/officeDocument/2006/relationships/hyperlink" Target="https://www.ietf.org/rfc/rfc2183.txt" TargetMode="External"/><Relationship Id="rId1" Type="http://schemas.openxmlformats.org/officeDocument/2006/relationships/slideLayout" Target="../slideLayouts/slideLayout4.xml"/><Relationship Id="rId4" Type="http://schemas.openxmlformats.org/officeDocument/2006/relationships/hyperlink" Target="https://www.ietf.org/rfc/rfc2046.tx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ietf.org/rfc/rfc5751.txt" TargetMode="Externa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hyperlink" Target="https://www.ietf.org/rfc/rfc5751.txt" TargetMode="Externa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07704" y="3456710"/>
            <a:ext cx="6768752" cy="2060522"/>
          </a:xfrm>
        </p:spPr>
        <p:txBody>
          <a:bodyPr/>
          <a:lstStyle/>
          <a:p>
            <a:pPr>
              <a:lnSpc>
                <a:spcPct val="100000"/>
              </a:lnSpc>
            </a:pP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800" dirty="0" smtClean="0"/>
              <a:t>Network Security</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Vijayalakshmi  Anand</a:t>
            </a:r>
            <a:endParaRPr lang="en-US" sz="1600" b="0" dirty="0">
              <a:solidFill>
                <a:srgbClr val="FFFF99"/>
              </a:solidFill>
              <a:latin typeface="Adobe Myungjo Std M" pitchFamily="18" charset="-128"/>
              <a:ea typeface="Adobe Myungjo Std M" pitchFamily="18" charset="-128"/>
              <a:cs typeface="Times New Roman" pitchFamily="18" charset="0"/>
            </a:endParaRPr>
          </a:p>
        </p:txBody>
      </p:sp>
    </p:spTree>
    <p:extLst>
      <p:ext uri="{BB962C8B-B14F-4D97-AF65-F5344CB8AC3E}">
        <p14:creationId xmlns="" xmlns:p14="http://schemas.microsoft.com/office/powerpoint/2010/main" val="1445644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12777"/>
            <a:ext cx="5203304" cy="5112568"/>
          </a:xfrm>
        </p:spPr>
        <p:txBody>
          <a:bodyPr>
            <a:normAutofit/>
          </a:bodyPr>
          <a:lstStyle/>
          <a:p>
            <a:pPr algn="just">
              <a:buFont typeface="Arial" pitchFamily="34" charset="0"/>
              <a:buChar char="•"/>
            </a:pPr>
            <a:r>
              <a:rPr lang="en-IN" sz="1800" b="1" u="sng" dirty="0" smtClean="0"/>
              <a:t>Example-1:</a:t>
            </a:r>
            <a:r>
              <a:rPr lang="en-IN" sz="1800" dirty="0" smtClean="0"/>
              <a:t> Alice transmits a file to Bob. The file contains sensitive information (e.g. design secrets) that is to be protected from disclosure. Eve, who is not authorized to read the file, is able to capture a copy of the file during its transmission.</a:t>
            </a:r>
          </a:p>
          <a:p>
            <a:pPr algn="just">
              <a:buFont typeface="Arial" pitchFamily="34" charset="0"/>
              <a:buChar char="•"/>
            </a:pPr>
            <a:r>
              <a:rPr lang="en-IN" sz="1800" b="1" u="sng" dirty="0" smtClean="0"/>
              <a:t>Example-2:</a:t>
            </a:r>
            <a:r>
              <a:rPr lang="en-IN" sz="1800" dirty="0" smtClean="0"/>
              <a:t> Eve works in a bank and maliciously changes the details of a customer in the IT system.</a:t>
            </a:r>
          </a:p>
          <a:p>
            <a:pPr algn="just">
              <a:buFont typeface="Arial" pitchFamily="34" charset="0"/>
              <a:buChar char="•"/>
            </a:pPr>
            <a:r>
              <a:rPr lang="en-IN" sz="1800" b="1" u="sng" dirty="0" smtClean="0"/>
              <a:t>Example-3:</a:t>
            </a:r>
            <a:r>
              <a:rPr lang="en-IN" sz="1800" dirty="0" smtClean="0"/>
              <a:t> One Monday morning, when customers log in to their bank accounts maintained with the XYZ Bank Limited, the login was denied. Downtime was not communicated earlier.</a:t>
            </a:r>
          </a:p>
          <a:p>
            <a:pPr marL="0" indent="0" algn="just">
              <a:spcBef>
                <a:spcPts val="1200"/>
              </a:spcBef>
            </a:pPr>
            <a:r>
              <a:rPr lang="en-IN" sz="1800" b="1" i="1" dirty="0" smtClean="0"/>
              <a:t>What concerns are we talking about?</a:t>
            </a:r>
          </a:p>
          <a:p>
            <a:pPr algn="just">
              <a:buFont typeface="Arial" pitchFamily="34" charset="0"/>
              <a:buChar char="•"/>
            </a:pPr>
            <a:endParaRPr lang="en-IN" b="1" i="1" dirty="0" smtClean="0"/>
          </a:p>
          <a:p>
            <a:pPr algn="just">
              <a:buFont typeface="Arial" pitchFamily="34" charset="0"/>
              <a:buChar char="•"/>
            </a:pPr>
            <a:endParaRPr lang="en-IN" dirty="0" smtClean="0"/>
          </a:p>
          <a:p>
            <a:pPr algn="just">
              <a:buFont typeface="Arial" pitchFamily="34" charset="0"/>
              <a:buChar char="•"/>
            </a:pPr>
            <a:endParaRPr lang="en-IN" dirty="0"/>
          </a:p>
        </p:txBody>
      </p:sp>
      <p:sp>
        <p:nvSpPr>
          <p:cNvPr id="3" name="Content Placeholder 2"/>
          <p:cNvSpPr>
            <a:spLocks noGrp="1"/>
          </p:cNvSpPr>
          <p:nvPr>
            <p:ph sz="quarter" idx="10"/>
          </p:nvPr>
        </p:nvSpPr>
        <p:spPr/>
        <p:txBody>
          <a:bodyPr>
            <a:normAutofit/>
          </a:bodyPr>
          <a:lstStyle/>
          <a:p>
            <a:r>
              <a:rPr lang="en-IN" b="1" dirty="0" smtClean="0"/>
              <a:t>Why    is  network security:</a:t>
            </a:r>
            <a:endParaRPr lang="en-IN" b="1" dirty="0"/>
          </a:p>
        </p:txBody>
      </p:sp>
      <p:sp>
        <p:nvSpPr>
          <p:cNvPr id="4" name="Slide Number Placeholder 3"/>
          <p:cNvSpPr>
            <a:spLocks noGrp="1"/>
          </p:cNvSpPr>
          <p:nvPr>
            <p:ph type="sldNum" sz="quarter" idx="12"/>
          </p:nvPr>
        </p:nvSpPr>
        <p:spPr/>
        <p:txBody>
          <a:bodyPr/>
          <a:lstStyle/>
          <a:p>
            <a:fld id="{04252BD6-4F37-4D57-B6B7-636C2217F7DD}" type="slidenum">
              <a:rPr lang="en-US" smtClean="0">
                <a:solidFill>
                  <a:prstClr val="black">
                    <a:tint val="75000"/>
                  </a:prstClr>
                </a:solidFill>
              </a:rPr>
              <a:pPr/>
              <a:t>2</a:t>
            </a:fld>
            <a:endParaRPr lang="en-US" dirty="0">
              <a:solidFill>
                <a:prstClr val="black">
                  <a:tint val="75000"/>
                </a:prstClr>
              </a:solidFill>
            </a:endParaRPr>
          </a:p>
        </p:txBody>
      </p:sp>
      <p:sp>
        <p:nvSpPr>
          <p:cNvPr id="5" name="TextBox 4"/>
          <p:cNvSpPr txBox="1"/>
          <p:nvPr/>
        </p:nvSpPr>
        <p:spPr>
          <a:xfrm>
            <a:off x="6012160" y="1916832"/>
            <a:ext cx="1944216" cy="369332"/>
          </a:xfrm>
          <a:prstGeom prst="rect">
            <a:avLst/>
          </a:prstGeom>
          <a:noFill/>
          <a:ln>
            <a:solidFill>
              <a:schemeClr val="tx1"/>
            </a:solidFill>
          </a:ln>
        </p:spPr>
        <p:txBody>
          <a:bodyPr wrap="square" rtlCol="0">
            <a:spAutoFit/>
          </a:bodyPr>
          <a:lstStyle/>
          <a:p>
            <a:pPr algn="ctr"/>
            <a:r>
              <a:rPr lang="en-IN" b="1" dirty="0" smtClean="0"/>
              <a:t>Confidentiality</a:t>
            </a:r>
            <a:endParaRPr lang="en-IN" b="1" dirty="0"/>
          </a:p>
        </p:txBody>
      </p:sp>
      <p:sp>
        <p:nvSpPr>
          <p:cNvPr id="6" name="TextBox 5"/>
          <p:cNvSpPr txBox="1"/>
          <p:nvPr/>
        </p:nvSpPr>
        <p:spPr>
          <a:xfrm>
            <a:off x="6012160" y="3212976"/>
            <a:ext cx="1944216" cy="369332"/>
          </a:xfrm>
          <a:prstGeom prst="rect">
            <a:avLst/>
          </a:prstGeom>
          <a:noFill/>
          <a:ln>
            <a:solidFill>
              <a:schemeClr val="tx1"/>
            </a:solidFill>
          </a:ln>
        </p:spPr>
        <p:txBody>
          <a:bodyPr wrap="square" rtlCol="0">
            <a:spAutoFit/>
          </a:bodyPr>
          <a:lstStyle/>
          <a:p>
            <a:pPr algn="ctr"/>
            <a:r>
              <a:rPr lang="en-IN" b="1" dirty="0" smtClean="0"/>
              <a:t>Integrity</a:t>
            </a:r>
            <a:endParaRPr lang="en-IN" b="1" dirty="0"/>
          </a:p>
        </p:txBody>
      </p:sp>
      <p:sp>
        <p:nvSpPr>
          <p:cNvPr id="7" name="TextBox 6"/>
          <p:cNvSpPr txBox="1"/>
          <p:nvPr/>
        </p:nvSpPr>
        <p:spPr>
          <a:xfrm>
            <a:off x="6012160" y="4293096"/>
            <a:ext cx="1944216" cy="369332"/>
          </a:xfrm>
          <a:prstGeom prst="rect">
            <a:avLst/>
          </a:prstGeom>
          <a:noFill/>
          <a:ln>
            <a:solidFill>
              <a:schemeClr val="tx1"/>
            </a:solidFill>
          </a:ln>
        </p:spPr>
        <p:txBody>
          <a:bodyPr wrap="square" rtlCol="0">
            <a:spAutoFit/>
          </a:bodyPr>
          <a:lstStyle/>
          <a:p>
            <a:pPr algn="ctr"/>
            <a:r>
              <a:rPr lang="en-IN" b="1" dirty="0" smtClean="0"/>
              <a:t>Availability</a:t>
            </a:r>
            <a:endParaRPr lang="en-IN" b="1" dirty="0"/>
          </a:p>
        </p:txBody>
      </p:sp>
      <p:sp>
        <p:nvSpPr>
          <p:cNvPr id="8" name="Rectangle 7"/>
          <p:cNvSpPr/>
          <p:nvPr/>
        </p:nvSpPr>
        <p:spPr>
          <a:xfrm>
            <a:off x="323528" y="5877272"/>
            <a:ext cx="5328592" cy="646331"/>
          </a:xfrm>
          <a:prstGeom prst="rect">
            <a:avLst/>
          </a:prstGeom>
        </p:spPr>
        <p:txBody>
          <a:bodyPr wrap="square">
            <a:spAutoFit/>
          </a:bodyPr>
          <a:lstStyle/>
          <a:p>
            <a:pPr algn="just"/>
            <a:r>
              <a:rPr lang="en-IN" dirty="0" smtClean="0"/>
              <a:t>The three security objectives for the information systems often referred to as the </a:t>
            </a:r>
            <a:r>
              <a:rPr lang="en-IN" b="1" dirty="0" smtClean="0"/>
              <a:t>CIA triad.</a:t>
            </a:r>
            <a:endParaRPr lang="en-IN" dirty="0"/>
          </a:p>
        </p:txBody>
      </p:sp>
      <p:sp>
        <p:nvSpPr>
          <p:cNvPr id="1026" name="AutoShape 2" descr="Image result for CIA tria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28" name="AutoShape 4" descr="Image result for CIA tria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1032" name="Picture 8" descr="http://ralphlosey.files.wordpress.com/2014/04/cia_triad.jpeg?w=450"/>
          <p:cNvPicPr>
            <a:picLocks noChangeAspect="1" noChangeArrowheads="1"/>
          </p:cNvPicPr>
          <p:nvPr/>
        </p:nvPicPr>
        <p:blipFill>
          <a:blip r:embed="rId2" cstate="print"/>
          <a:srcRect/>
          <a:stretch>
            <a:fillRect/>
          </a:stretch>
        </p:blipFill>
        <p:spPr bwMode="auto">
          <a:xfrm>
            <a:off x="5940152" y="4797152"/>
            <a:ext cx="2143125" cy="170080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887491"/>
          </a:xfrm>
        </p:spPr>
        <p:txBody>
          <a:bodyPr>
            <a:normAutofit fontScale="85000" lnSpcReduction="20000"/>
          </a:bodyPr>
          <a:lstStyle/>
          <a:p>
            <a:pPr marL="514350" indent="-514350" algn="just">
              <a:spcBef>
                <a:spcPts val="0"/>
              </a:spcBef>
              <a:buFont typeface="+mj-lt"/>
              <a:buAutoNum type="arabicPeriod"/>
            </a:pPr>
            <a:r>
              <a:rPr lang="en-IN" dirty="0" smtClean="0"/>
              <a:t>Can there be more objectives for the information security beyond Confidentiality, Integrity and Availability?</a:t>
            </a:r>
          </a:p>
          <a:p>
            <a:pPr marL="0" indent="0">
              <a:spcBef>
                <a:spcPts val="0"/>
              </a:spcBef>
            </a:pPr>
            <a:endParaRPr lang="en-IN" dirty="0" smtClean="0"/>
          </a:p>
          <a:p>
            <a:pPr marL="400050" lvl="1" indent="0">
              <a:spcBef>
                <a:spcPts val="0"/>
              </a:spcBef>
              <a:buNone/>
            </a:pPr>
            <a:r>
              <a:rPr lang="en-IN" dirty="0" smtClean="0"/>
              <a:t>How about:</a:t>
            </a:r>
          </a:p>
          <a:p>
            <a:pPr marL="1371600" lvl="3" indent="-514350" algn="just">
              <a:lnSpc>
                <a:spcPct val="80000"/>
              </a:lnSpc>
              <a:buClr>
                <a:srgbClr val="101141"/>
              </a:buClr>
              <a:buFont typeface="Wingdings" pitchFamily="2" charset="2"/>
              <a:buChar char="§"/>
            </a:pPr>
            <a:r>
              <a:rPr lang="en-IN" sz="2800" b="1" dirty="0" smtClean="0">
                <a:latin typeface="+mn-lt"/>
              </a:rPr>
              <a:t>Authenticity</a:t>
            </a:r>
            <a:r>
              <a:rPr lang="en-IN" sz="2800" dirty="0" smtClean="0">
                <a:latin typeface="+mn-lt"/>
              </a:rPr>
              <a:t> – Information being able to be verified. Confidence in information source and transmission.</a:t>
            </a:r>
          </a:p>
          <a:p>
            <a:pPr marL="1371600" lvl="3" indent="-514350" algn="just">
              <a:lnSpc>
                <a:spcPct val="80000"/>
              </a:lnSpc>
              <a:buClr>
                <a:srgbClr val="101141"/>
              </a:buClr>
              <a:buFont typeface="Wingdings" pitchFamily="2" charset="2"/>
              <a:buChar char="§"/>
            </a:pPr>
            <a:r>
              <a:rPr lang="en-IN" sz="2800" b="1" dirty="0" smtClean="0">
                <a:latin typeface="+mn-lt"/>
              </a:rPr>
              <a:t>Accountability - </a:t>
            </a:r>
            <a:r>
              <a:rPr lang="en-IN" sz="2800" dirty="0" smtClean="0">
                <a:latin typeface="+mn-lt"/>
              </a:rPr>
              <a:t>Ability to trace a security breach to a responsible party.</a:t>
            </a:r>
          </a:p>
          <a:p>
            <a:pPr marL="1371600" lvl="3" indent="-514350" algn="just">
              <a:lnSpc>
                <a:spcPct val="80000"/>
              </a:lnSpc>
              <a:buClr>
                <a:srgbClr val="101141"/>
              </a:buClr>
              <a:buFont typeface="Wingdings" pitchFamily="2" charset="2"/>
              <a:buChar char="§"/>
            </a:pPr>
            <a:endParaRPr lang="en-IN" sz="2800" dirty="0" smtClean="0">
              <a:latin typeface="+mn-lt"/>
            </a:endParaRPr>
          </a:p>
          <a:p>
            <a:pPr marL="400050" lvl="2" indent="0" algn="just">
              <a:lnSpc>
                <a:spcPct val="110000"/>
              </a:lnSpc>
              <a:spcBef>
                <a:spcPts val="0"/>
              </a:spcBef>
              <a:buClr>
                <a:srgbClr val="101141"/>
              </a:buClr>
              <a:buNone/>
            </a:pPr>
            <a:r>
              <a:rPr lang="en-IN" sz="2800" dirty="0" smtClean="0">
                <a:latin typeface="+mn-lt"/>
              </a:rPr>
              <a:t>CIA triad is more established, but the necessity for the above two is also important and practiced by information security professionals.</a:t>
            </a:r>
            <a:r>
              <a:rPr lang="en-IN" dirty="0" smtClean="0"/>
              <a:t> </a:t>
            </a:r>
          </a:p>
          <a:p>
            <a:pPr marL="0" lvl="1" indent="0" algn="just">
              <a:lnSpc>
                <a:spcPct val="110000"/>
              </a:lnSpc>
              <a:spcBef>
                <a:spcPts val="0"/>
              </a:spcBef>
              <a:buClr>
                <a:srgbClr val="101141"/>
              </a:buClr>
              <a:buNone/>
            </a:pPr>
            <a:endParaRPr lang="en-IN" dirty="0" smtClean="0"/>
          </a:p>
          <a:p>
            <a:pPr marL="514350" lvl="1" indent="-514350" algn="just">
              <a:lnSpc>
                <a:spcPct val="110000"/>
              </a:lnSpc>
              <a:spcBef>
                <a:spcPts val="0"/>
              </a:spcBef>
              <a:buClr>
                <a:srgbClr val="101141"/>
              </a:buClr>
              <a:buFont typeface="+mj-lt"/>
              <a:buAutoNum type="arabicPeriod" startAt="2"/>
            </a:pPr>
            <a:r>
              <a:rPr lang="en-IN" dirty="0" smtClean="0"/>
              <a:t>Information security appears to be a vast area, is there any systematic approach to meet the objectives of it?</a:t>
            </a:r>
          </a:p>
        </p:txBody>
      </p:sp>
      <p:sp>
        <p:nvSpPr>
          <p:cNvPr id="3" name="Content Placeholder 2"/>
          <p:cNvSpPr>
            <a:spLocks noGrp="1"/>
          </p:cNvSpPr>
          <p:nvPr>
            <p:ph sz="quarter" idx="10"/>
          </p:nvPr>
        </p:nvSpPr>
        <p:spPr/>
        <p:txBody>
          <a:bodyPr/>
          <a:lstStyle/>
          <a:p>
            <a:endParaRPr lang="en-IN" b="1"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2"/>
          <p:cNvSpPr>
            <a:spLocks noGrp="1"/>
          </p:cNvSpPr>
          <p:nvPr>
            <p:ph type="dt" sz="quarter" idx="10"/>
          </p:nvPr>
        </p:nvSpPr>
        <p:spPr/>
        <p:txBody>
          <a:bodyPr/>
          <a:lstStyle/>
          <a:p>
            <a:pPr>
              <a:defRPr/>
            </a:pPr>
            <a:fld id="{8872F315-E859-4F88-B799-305E3DA9AC30}" type="datetime1">
              <a:rPr lang="en-US"/>
              <a:pPr>
                <a:defRPr/>
              </a:pPr>
              <a:t>3/30/2018</a:t>
            </a:fld>
            <a:endParaRPr lang="en-US"/>
          </a:p>
        </p:txBody>
      </p:sp>
      <p:sp>
        <p:nvSpPr>
          <p:cNvPr id="14" name="Slide Number Placeholder 4"/>
          <p:cNvSpPr>
            <a:spLocks noGrp="1"/>
          </p:cNvSpPr>
          <p:nvPr>
            <p:ph type="sldNum" sz="quarter" idx="12"/>
          </p:nvPr>
        </p:nvSpPr>
        <p:spPr/>
        <p:txBody>
          <a:bodyPr/>
          <a:lstStyle/>
          <a:p>
            <a:pPr>
              <a:defRPr/>
            </a:pPr>
            <a:fld id="{8E4229C3-8F18-4048-B919-96A6200C8730}" type="slidenum">
              <a:rPr lang="en-US"/>
              <a:pPr>
                <a:defRPr/>
              </a:pPr>
              <a:t>4</a:t>
            </a:fld>
            <a:endParaRPr lang="en-US"/>
          </a:p>
        </p:txBody>
      </p:sp>
      <p:grpSp>
        <p:nvGrpSpPr>
          <p:cNvPr id="2" name="Group 2"/>
          <p:cNvGrpSpPr>
            <a:grpSpLocks/>
          </p:cNvGrpSpPr>
          <p:nvPr/>
        </p:nvGrpSpPr>
        <p:grpSpPr bwMode="auto">
          <a:xfrm>
            <a:off x="1162050" y="1981200"/>
            <a:ext cx="6762750" cy="3810000"/>
            <a:chOff x="1830" y="9505"/>
            <a:chExt cx="8595" cy="4620"/>
          </a:xfrm>
        </p:grpSpPr>
        <p:sp>
          <p:nvSpPr>
            <p:cNvPr id="28678" name="Rectangle 3"/>
            <p:cNvSpPr>
              <a:spLocks noChangeArrowheads="1"/>
            </p:cNvSpPr>
            <p:nvPr/>
          </p:nvSpPr>
          <p:spPr bwMode="auto">
            <a:xfrm>
              <a:off x="1830" y="9505"/>
              <a:ext cx="8595" cy="4620"/>
            </a:xfrm>
            <a:prstGeom prst="rect">
              <a:avLst/>
            </a:prstGeom>
            <a:solidFill>
              <a:srgbClr val="FFFFFF"/>
            </a:solidFill>
            <a:ln w="9525">
              <a:solidFill>
                <a:srgbClr val="000000"/>
              </a:solidFill>
              <a:miter lim="800000"/>
              <a:headEnd/>
              <a:tailEnd/>
            </a:ln>
          </p:spPr>
          <p:txBody>
            <a:bodyPr/>
            <a:lstStyle/>
            <a:p>
              <a:endParaRPr lang="en-US"/>
            </a:p>
          </p:txBody>
        </p:sp>
        <p:sp>
          <p:nvSpPr>
            <p:cNvPr id="28679" name="computr1"/>
            <p:cNvSpPr>
              <a:spLocks noEditPoints="1" noChangeArrowheads="1"/>
            </p:cNvSpPr>
            <p:nvPr/>
          </p:nvSpPr>
          <p:spPr bwMode="auto">
            <a:xfrm>
              <a:off x="2579" y="10103"/>
              <a:ext cx="1307" cy="1200"/>
            </a:xfrm>
            <a:custGeom>
              <a:avLst/>
              <a:gdLst>
                <a:gd name="T0" fmla="*/ 1182 w 21600"/>
                <a:gd name="T1" fmla="*/ 0 h 21600"/>
                <a:gd name="T2" fmla="*/ 654 w 21600"/>
                <a:gd name="T3" fmla="*/ 0 h 21600"/>
                <a:gd name="T4" fmla="*/ 125 w 21600"/>
                <a:gd name="T5" fmla="*/ 0 h 21600"/>
                <a:gd name="T6" fmla="*/ 0 w 21600"/>
                <a:gd name="T7" fmla="*/ 855 h 21600"/>
                <a:gd name="T8" fmla="*/ 0 w 21600"/>
                <a:gd name="T9" fmla="*/ 1200 h 21600"/>
                <a:gd name="T10" fmla="*/ 654 w 21600"/>
                <a:gd name="T11" fmla="*/ 1200 h 21600"/>
                <a:gd name="T12" fmla="*/ 1307 w 21600"/>
                <a:gd name="T13" fmla="*/ 1200 h 21600"/>
                <a:gd name="T14" fmla="*/ 1307 w 21600"/>
                <a:gd name="T15" fmla="*/ 855 h 21600"/>
                <a:gd name="T16" fmla="*/ 1182 w 21600"/>
                <a:gd name="T17" fmla="*/ 753 h 21600"/>
                <a:gd name="T18" fmla="*/ 125 w 21600"/>
                <a:gd name="T19" fmla="*/ 753 h 21600"/>
                <a:gd name="T20" fmla="*/ 125 w 21600"/>
                <a:gd name="T21" fmla="*/ 376 h 21600"/>
                <a:gd name="T22" fmla="*/ 1182 w 21600"/>
                <a:gd name="T23" fmla="*/ 376 h 21600"/>
                <a:gd name="T24" fmla="*/ 0 w 21600"/>
                <a:gd name="T25" fmla="*/ 1027 h 21600"/>
                <a:gd name="T26" fmla="*/ 1307 w 21600"/>
                <a:gd name="T27" fmla="*/ 1027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5 w 21600"/>
                <a:gd name="T43" fmla="*/ 2538 h 21600"/>
                <a:gd name="T44" fmla="*/ 16758 w 21600"/>
                <a:gd name="T45" fmla="*/ 11160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solidFill>
                    <a:schemeClr val="accent2"/>
                  </a:solidFill>
                </a:rPr>
                <a:t>Client</a:t>
              </a:r>
            </a:p>
          </p:txBody>
        </p:sp>
        <p:sp>
          <p:nvSpPr>
            <p:cNvPr id="28680" name="Text Box 5"/>
            <p:cNvSpPr txBox="1">
              <a:spLocks noChangeArrowheads="1"/>
            </p:cNvSpPr>
            <p:nvPr/>
          </p:nvSpPr>
          <p:spPr bwMode="auto">
            <a:xfrm>
              <a:off x="4830" y="9815"/>
              <a:ext cx="2490" cy="1830"/>
            </a:xfrm>
            <a:prstGeom prst="rect">
              <a:avLst/>
            </a:prstGeom>
            <a:solidFill>
              <a:srgbClr val="FFFFFF"/>
            </a:solidFill>
            <a:ln w="9525">
              <a:solidFill>
                <a:srgbClr val="000000"/>
              </a:solidFill>
              <a:miter lim="800000"/>
              <a:headEnd/>
              <a:tailEnd/>
            </a:ln>
          </p:spPr>
          <p:txBody>
            <a:bodyPr/>
            <a:lstStyle/>
            <a:p>
              <a:pPr algn="ctr" eaLnBrk="0" hangingPunct="0"/>
              <a:r>
                <a:rPr lang="en-US" sz="1200" b="1">
                  <a:solidFill>
                    <a:schemeClr val="accent2"/>
                  </a:solidFill>
                </a:rPr>
                <a:t>Customer Id: 78910</a:t>
              </a:r>
            </a:p>
            <a:p>
              <a:pPr algn="ctr" eaLnBrk="0" hangingPunct="0"/>
              <a:r>
                <a:rPr lang="en-US" sz="1200" b="1">
                  <a:solidFill>
                    <a:schemeClr val="accent2"/>
                  </a:solidFill>
                </a:rPr>
                <a:t>Order Id: 90</a:t>
              </a:r>
            </a:p>
            <a:p>
              <a:pPr algn="ctr" eaLnBrk="0" hangingPunct="0"/>
              <a:r>
                <a:rPr lang="en-US" sz="1200" b="1">
                  <a:solidFill>
                    <a:schemeClr val="accent2"/>
                  </a:solidFill>
                </a:rPr>
                <a:t>Item Id: 156</a:t>
              </a:r>
            </a:p>
            <a:p>
              <a:pPr algn="ctr" eaLnBrk="0" hangingPunct="0"/>
              <a:r>
                <a:rPr lang="en-US" sz="1200" b="1">
                  <a:solidFill>
                    <a:schemeClr val="accent2"/>
                  </a:solidFill>
                </a:rPr>
                <a:t>Credit Card Number: 1234567890</a:t>
              </a:r>
            </a:p>
            <a:p>
              <a:pPr algn="ctr" eaLnBrk="0" hangingPunct="0"/>
              <a:r>
                <a:rPr lang="en-US" sz="1200" b="1">
                  <a:solidFill>
                    <a:schemeClr val="accent2"/>
                  </a:solidFill>
                </a:rPr>
                <a:t>Issued By: Visa</a:t>
              </a:r>
            </a:p>
            <a:p>
              <a:pPr algn="ctr" eaLnBrk="0" hangingPunct="0"/>
              <a:r>
                <a:rPr lang="en-US" sz="1200" b="1">
                  <a:solidFill>
                    <a:schemeClr val="accent2"/>
                  </a:solidFill>
                </a:rPr>
                <a:t>Valid Till: Jan 2006</a:t>
              </a:r>
            </a:p>
            <a:p>
              <a:pPr algn="ctr" eaLnBrk="0" hangingPunct="0"/>
              <a:r>
                <a:rPr lang="en-US" sz="1200" b="1">
                  <a:solidFill>
                    <a:schemeClr val="accent2"/>
                  </a:solidFill>
                </a:rPr>
                <a:t>…</a:t>
              </a:r>
            </a:p>
            <a:p>
              <a:pPr eaLnBrk="0" hangingPunct="0"/>
              <a:endParaRPr lang="en-US" sz="1200">
                <a:solidFill>
                  <a:schemeClr val="accent2"/>
                </a:solidFill>
              </a:endParaRPr>
            </a:p>
          </p:txBody>
        </p:sp>
        <p:sp>
          <p:nvSpPr>
            <p:cNvPr id="28681" name="AutoShape 6"/>
            <p:cNvSpPr>
              <a:spLocks noChangeArrowheads="1"/>
            </p:cNvSpPr>
            <p:nvPr/>
          </p:nvSpPr>
          <p:spPr bwMode="auto">
            <a:xfrm>
              <a:off x="3780" y="10435"/>
              <a:ext cx="1050" cy="390"/>
            </a:xfrm>
            <a:prstGeom prst="rightArrow">
              <a:avLst>
                <a:gd name="adj1" fmla="val 50000"/>
                <a:gd name="adj2" fmla="val 67308"/>
              </a:avLst>
            </a:prstGeom>
            <a:solidFill>
              <a:srgbClr val="333333"/>
            </a:solidFill>
            <a:ln w="9525">
              <a:solidFill>
                <a:srgbClr val="000000"/>
              </a:solidFill>
              <a:miter lim="800000"/>
              <a:headEnd/>
              <a:tailEnd/>
            </a:ln>
          </p:spPr>
          <p:txBody>
            <a:bodyPr/>
            <a:lstStyle/>
            <a:p>
              <a:endParaRPr lang="en-US"/>
            </a:p>
          </p:txBody>
        </p:sp>
        <p:sp>
          <p:nvSpPr>
            <p:cNvPr id="28682" name="computr1"/>
            <p:cNvSpPr>
              <a:spLocks noEditPoints="1" noChangeArrowheads="1"/>
            </p:cNvSpPr>
            <p:nvPr/>
          </p:nvSpPr>
          <p:spPr bwMode="auto">
            <a:xfrm>
              <a:off x="8309" y="10103"/>
              <a:ext cx="1367" cy="1200"/>
            </a:xfrm>
            <a:custGeom>
              <a:avLst/>
              <a:gdLst>
                <a:gd name="T0" fmla="*/ 1236 w 21600"/>
                <a:gd name="T1" fmla="*/ 0 h 21600"/>
                <a:gd name="T2" fmla="*/ 684 w 21600"/>
                <a:gd name="T3" fmla="*/ 0 h 21600"/>
                <a:gd name="T4" fmla="*/ 131 w 21600"/>
                <a:gd name="T5" fmla="*/ 0 h 21600"/>
                <a:gd name="T6" fmla="*/ 0 w 21600"/>
                <a:gd name="T7" fmla="*/ 855 h 21600"/>
                <a:gd name="T8" fmla="*/ 0 w 21600"/>
                <a:gd name="T9" fmla="*/ 1200 h 21600"/>
                <a:gd name="T10" fmla="*/ 684 w 21600"/>
                <a:gd name="T11" fmla="*/ 1200 h 21600"/>
                <a:gd name="T12" fmla="*/ 1367 w 21600"/>
                <a:gd name="T13" fmla="*/ 1200 h 21600"/>
                <a:gd name="T14" fmla="*/ 1367 w 21600"/>
                <a:gd name="T15" fmla="*/ 855 h 21600"/>
                <a:gd name="T16" fmla="*/ 1236 w 21600"/>
                <a:gd name="T17" fmla="*/ 753 h 21600"/>
                <a:gd name="T18" fmla="*/ 131 w 21600"/>
                <a:gd name="T19" fmla="*/ 753 h 21600"/>
                <a:gd name="T20" fmla="*/ 131 w 21600"/>
                <a:gd name="T21" fmla="*/ 376 h 21600"/>
                <a:gd name="T22" fmla="*/ 1236 w 21600"/>
                <a:gd name="T23" fmla="*/ 376 h 21600"/>
                <a:gd name="T24" fmla="*/ 0 w 21600"/>
                <a:gd name="T25" fmla="*/ 1027 h 21600"/>
                <a:gd name="T26" fmla="*/ 1367 w 21600"/>
                <a:gd name="T27" fmla="*/ 1027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30 w 21600"/>
                <a:gd name="T43" fmla="*/ 2538 h 21600"/>
                <a:gd name="T44" fmla="*/ 16749 w 21600"/>
                <a:gd name="T45" fmla="*/ 11160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solidFill>
                    <a:schemeClr val="accent2"/>
                  </a:solidFill>
                </a:rPr>
                <a:t>Server</a:t>
              </a:r>
            </a:p>
          </p:txBody>
        </p:sp>
        <p:sp>
          <p:nvSpPr>
            <p:cNvPr id="28683" name="AutoShape 8"/>
            <p:cNvSpPr>
              <a:spLocks noChangeArrowheads="1"/>
            </p:cNvSpPr>
            <p:nvPr/>
          </p:nvSpPr>
          <p:spPr bwMode="auto">
            <a:xfrm>
              <a:off x="7335" y="10465"/>
              <a:ext cx="1065" cy="390"/>
            </a:xfrm>
            <a:prstGeom prst="rightArrow">
              <a:avLst>
                <a:gd name="adj1" fmla="val 50000"/>
                <a:gd name="adj2" fmla="val 68269"/>
              </a:avLst>
            </a:prstGeom>
            <a:solidFill>
              <a:srgbClr val="333333"/>
            </a:solidFill>
            <a:ln w="9525">
              <a:solidFill>
                <a:srgbClr val="000000"/>
              </a:solidFill>
              <a:miter lim="800000"/>
              <a:headEnd/>
              <a:tailEnd/>
            </a:ln>
          </p:spPr>
          <p:txBody>
            <a:bodyPr/>
            <a:lstStyle/>
            <a:p>
              <a:endParaRPr lang="en-US"/>
            </a:p>
          </p:txBody>
        </p:sp>
        <p:sp>
          <p:nvSpPr>
            <p:cNvPr id="28684" name="AutoShape 9"/>
            <p:cNvSpPr>
              <a:spLocks noChangeArrowheads="1"/>
            </p:cNvSpPr>
            <p:nvPr/>
          </p:nvSpPr>
          <p:spPr bwMode="auto">
            <a:xfrm>
              <a:off x="8415" y="12160"/>
              <a:ext cx="1230" cy="1710"/>
            </a:xfrm>
            <a:prstGeom prst="flowChartMagneticDisk">
              <a:avLst/>
            </a:prstGeom>
            <a:solidFill>
              <a:srgbClr val="C0C0C0">
                <a:alpha val="50195"/>
              </a:srgbClr>
            </a:solidFill>
            <a:ln w="19050">
              <a:solidFill>
                <a:srgbClr val="000000"/>
              </a:solidFill>
              <a:round/>
              <a:headEnd/>
              <a:tailEnd/>
            </a:ln>
          </p:spPr>
          <p:txBody>
            <a:bodyPr/>
            <a:lstStyle/>
            <a:p>
              <a:pPr algn="ctr" eaLnBrk="0" hangingPunct="0"/>
              <a:endParaRPr lang="en-US" sz="1200" b="1"/>
            </a:p>
            <a:p>
              <a:pPr algn="ctr" eaLnBrk="0" hangingPunct="0"/>
              <a:r>
                <a:rPr lang="en-US" sz="1000" b="1">
                  <a:solidFill>
                    <a:schemeClr val="accent2"/>
                  </a:solidFill>
                </a:rPr>
                <a:t>Server Database</a:t>
              </a:r>
            </a:p>
          </p:txBody>
        </p:sp>
        <p:sp>
          <p:nvSpPr>
            <p:cNvPr id="28685" name="AutoShape 10"/>
            <p:cNvSpPr>
              <a:spLocks noChangeArrowheads="1"/>
            </p:cNvSpPr>
            <p:nvPr/>
          </p:nvSpPr>
          <p:spPr bwMode="auto">
            <a:xfrm>
              <a:off x="8790" y="11320"/>
              <a:ext cx="405" cy="870"/>
            </a:xfrm>
            <a:prstGeom prst="downArrow">
              <a:avLst>
                <a:gd name="adj1" fmla="val 50000"/>
                <a:gd name="adj2" fmla="val 53704"/>
              </a:avLst>
            </a:prstGeom>
            <a:solidFill>
              <a:srgbClr val="333333"/>
            </a:solidFill>
            <a:ln w="9525">
              <a:solidFill>
                <a:srgbClr val="000000"/>
              </a:solidFill>
              <a:miter lim="800000"/>
              <a:headEnd/>
              <a:tailEnd/>
            </a:ln>
          </p:spPr>
          <p:txBody>
            <a:bodyPr/>
            <a:lstStyle/>
            <a:p>
              <a:endParaRPr lang="en-US"/>
            </a:p>
          </p:txBody>
        </p:sp>
      </p:grpSp>
      <p:sp>
        <p:nvSpPr>
          <p:cNvPr id="650251" name="Rectangle 11"/>
          <p:cNvSpPr>
            <a:spLocks noGrp="1" noRot="1" noChangeArrowheads="1"/>
          </p:cNvSpPr>
          <p:nvPr>
            <p:ph type="title"/>
          </p:nvPr>
        </p:nvSpPr>
        <p:spPr/>
        <p:txBody>
          <a:bodyPr/>
          <a:lstStyle/>
          <a:p>
            <a:pPr eaLnBrk="1" hangingPunct="1">
              <a:defRPr/>
            </a:pPr>
            <a:r>
              <a:rPr lang="en-US" smtClean="0"/>
              <a:t>Transmission of Credit Card Details</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quarter" idx="10"/>
          </p:nvPr>
        </p:nvSpPr>
        <p:spPr/>
        <p:txBody>
          <a:bodyPr/>
          <a:lstStyle/>
          <a:p>
            <a:pPr>
              <a:defRPr/>
            </a:pPr>
            <a:fld id="{15E69AE2-C9C4-4C67-8C89-2BC4CE3AD755}" type="datetime1">
              <a:rPr lang="en-US"/>
              <a:pPr>
                <a:defRPr/>
              </a:pPr>
              <a:t>3/30/2018</a:t>
            </a:fld>
            <a:endParaRPr lang="en-US"/>
          </a:p>
        </p:txBody>
      </p:sp>
      <p:sp>
        <p:nvSpPr>
          <p:cNvPr id="7" name="Slide Number Placeholder 5"/>
          <p:cNvSpPr>
            <a:spLocks noGrp="1"/>
          </p:cNvSpPr>
          <p:nvPr>
            <p:ph type="sldNum" sz="quarter" idx="12"/>
          </p:nvPr>
        </p:nvSpPr>
        <p:spPr/>
        <p:txBody>
          <a:bodyPr/>
          <a:lstStyle/>
          <a:p>
            <a:pPr>
              <a:defRPr/>
            </a:pPr>
            <a:fld id="{DFB41C3E-0DFC-428B-98A3-A921367B59B5}" type="slidenum">
              <a:rPr lang="en-US"/>
              <a:pPr>
                <a:defRPr/>
              </a:pPr>
              <a:t>5</a:t>
            </a:fld>
            <a:endParaRPr lang="en-US"/>
          </a:p>
        </p:txBody>
      </p:sp>
      <p:sp>
        <p:nvSpPr>
          <p:cNvPr id="651266" name="Rectangle 2"/>
          <p:cNvSpPr>
            <a:spLocks noGrp="1" noRot="1" noChangeArrowheads="1"/>
          </p:cNvSpPr>
          <p:nvPr>
            <p:ph type="title"/>
          </p:nvPr>
        </p:nvSpPr>
        <p:spPr/>
        <p:txBody>
          <a:bodyPr/>
          <a:lstStyle/>
          <a:p>
            <a:pPr eaLnBrk="1" hangingPunct="1">
              <a:defRPr/>
            </a:pPr>
            <a:r>
              <a:rPr lang="en-US" smtClean="0"/>
              <a:t>Need for Security…</a:t>
            </a:r>
          </a:p>
        </p:txBody>
      </p:sp>
      <p:sp>
        <p:nvSpPr>
          <p:cNvPr id="651267" name="Rectangle 3"/>
          <p:cNvSpPr>
            <a:spLocks noGrp="1" noRot="1" noChangeArrowheads="1"/>
          </p:cNvSpPr>
          <p:nvPr>
            <p:ph type="body" idx="1"/>
          </p:nvPr>
        </p:nvSpPr>
        <p:spPr/>
        <p:txBody>
          <a:bodyPr/>
          <a:lstStyle/>
          <a:p>
            <a:pPr eaLnBrk="1" hangingPunct="1">
              <a:lnSpc>
                <a:spcPct val="90000"/>
              </a:lnSpc>
              <a:buFont typeface="Wingdings" pitchFamily="2" charset="2"/>
              <a:buChar char="§"/>
              <a:defRPr/>
            </a:pPr>
            <a:r>
              <a:rPr lang="en-US" sz="2400" smtClean="0"/>
              <a:t>Authentication</a:t>
            </a:r>
          </a:p>
          <a:p>
            <a:pPr lvl="1" eaLnBrk="1" hangingPunct="1">
              <a:lnSpc>
                <a:spcPct val="90000"/>
              </a:lnSpc>
              <a:buFont typeface="Wingdings" pitchFamily="2" charset="2"/>
              <a:buChar char="§"/>
              <a:defRPr/>
            </a:pPr>
            <a:r>
              <a:rPr lang="en-US" sz="2000" smtClean="0"/>
              <a:t>Do you trust the sender of a message?</a:t>
            </a:r>
          </a:p>
          <a:p>
            <a:pPr lvl="1" eaLnBrk="1" hangingPunct="1">
              <a:lnSpc>
                <a:spcPct val="90000"/>
              </a:lnSpc>
              <a:buFont typeface="Wingdings" pitchFamily="2" charset="2"/>
              <a:buChar char="§"/>
              <a:defRPr/>
            </a:pPr>
            <a:endParaRPr lang="en-US" sz="2000" smtClean="0"/>
          </a:p>
          <a:p>
            <a:pPr eaLnBrk="1" hangingPunct="1">
              <a:lnSpc>
                <a:spcPct val="90000"/>
              </a:lnSpc>
              <a:buFont typeface="Wingdings" pitchFamily="2" charset="2"/>
              <a:buChar char="§"/>
              <a:defRPr/>
            </a:pPr>
            <a:r>
              <a:rPr lang="en-US" sz="2400" smtClean="0"/>
              <a:t>Integrity</a:t>
            </a:r>
          </a:p>
          <a:p>
            <a:pPr lvl="1" eaLnBrk="1" hangingPunct="1">
              <a:lnSpc>
                <a:spcPct val="90000"/>
              </a:lnSpc>
              <a:buFont typeface="Wingdings" pitchFamily="2" charset="2"/>
              <a:buChar char="§"/>
              <a:defRPr/>
            </a:pPr>
            <a:r>
              <a:rPr lang="en-US" sz="2000" smtClean="0"/>
              <a:t>Is the message changed during transit?</a:t>
            </a:r>
          </a:p>
          <a:p>
            <a:pPr lvl="1" eaLnBrk="1" hangingPunct="1">
              <a:lnSpc>
                <a:spcPct val="90000"/>
              </a:lnSpc>
              <a:buFont typeface="Wingdings" pitchFamily="2" charset="2"/>
              <a:buChar char="§"/>
              <a:defRPr/>
            </a:pPr>
            <a:endParaRPr lang="en-US" sz="2000" smtClean="0"/>
          </a:p>
          <a:p>
            <a:pPr eaLnBrk="1" hangingPunct="1">
              <a:lnSpc>
                <a:spcPct val="90000"/>
              </a:lnSpc>
              <a:buFont typeface="Wingdings" pitchFamily="2" charset="2"/>
              <a:buChar char="§"/>
              <a:defRPr/>
            </a:pPr>
            <a:r>
              <a:rPr lang="en-US" sz="2400" smtClean="0"/>
              <a:t>Confidentiality</a:t>
            </a:r>
          </a:p>
          <a:p>
            <a:pPr lvl="1" eaLnBrk="1" hangingPunct="1">
              <a:lnSpc>
                <a:spcPct val="90000"/>
              </a:lnSpc>
              <a:buFont typeface="Wingdings" pitchFamily="2" charset="2"/>
              <a:buChar char="§"/>
              <a:defRPr/>
            </a:pPr>
            <a:r>
              <a:rPr lang="en-US" sz="2000" smtClean="0"/>
              <a:t>Is the message seen by someone else?</a:t>
            </a:r>
          </a:p>
          <a:p>
            <a:pPr lvl="1" eaLnBrk="1" hangingPunct="1">
              <a:lnSpc>
                <a:spcPct val="90000"/>
              </a:lnSpc>
              <a:buFont typeface="Wingdings" pitchFamily="2" charset="2"/>
              <a:buChar char="§"/>
              <a:defRPr/>
            </a:pPr>
            <a:endParaRPr lang="en-US" sz="2000" smtClean="0"/>
          </a:p>
          <a:p>
            <a:pPr eaLnBrk="1" hangingPunct="1">
              <a:lnSpc>
                <a:spcPct val="90000"/>
              </a:lnSpc>
              <a:buFont typeface="Wingdings" pitchFamily="2" charset="2"/>
              <a:buChar char="§"/>
              <a:defRPr/>
            </a:pPr>
            <a:r>
              <a:rPr lang="en-US" sz="2400" smtClean="0"/>
              <a:t>Non-repudiation</a:t>
            </a:r>
          </a:p>
          <a:p>
            <a:pPr lvl="1" eaLnBrk="1" hangingPunct="1">
              <a:lnSpc>
                <a:spcPct val="90000"/>
              </a:lnSpc>
              <a:buFont typeface="Wingdings" pitchFamily="2" charset="2"/>
              <a:buChar char="§"/>
              <a:defRPr/>
            </a:pPr>
            <a:r>
              <a:rPr lang="en-US" sz="2000" smtClean="0"/>
              <a:t>Can the sender refute the message?</a:t>
            </a:r>
          </a:p>
        </p:txBody>
      </p:sp>
      <p:pic>
        <p:nvPicPr>
          <p:cNvPr id="29702" name="Picture 4" descr="mail"/>
          <p:cNvPicPr>
            <a:picLocks noChangeAspect="1" noChangeArrowheads="1"/>
          </p:cNvPicPr>
          <p:nvPr/>
        </p:nvPicPr>
        <p:blipFill>
          <a:blip r:embed="rId2"/>
          <a:srcRect/>
          <a:stretch>
            <a:fillRect/>
          </a:stretch>
        </p:blipFill>
        <p:spPr bwMode="auto">
          <a:xfrm>
            <a:off x="6904038" y="4710113"/>
            <a:ext cx="1323975" cy="150653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3"/>
          <p:cNvSpPr>
            <a:spLocks noGrp="1"/>
          </p:cNvSpPr>
          <p:nvPr>
            <p:ph type="dt" sz="quarter" idx="10"/>
          </p:nvPr>
        </p:nvSpPr>
        <p:spPr/>
        <p:txBody>
          <a:bodyPr/>
          <a:lstStyle/>
          <a:p>
            <a:pPr>
              <a:defRPr/>
            </a:pPr>
            <a:fld id="{8532BAF5-74B4-4320-BAFB-BD4916C1A5EB}" type="datetime1">
              <a:rPr lang="en-US"/>
              <a:pPr>
                <a:defRPr/>
              </a:pPr>
              <a:t>3/30/2018</a:t>
            </a:fld>
            <a:endParaRPr lang="en-US"/>
          </a:p>
        </p:txBody>
      </p:sp>
      <p:sp>
        <p:nvSpPr>
          <p:cNvPr id="14" name="Slide Number Placeholder 5"/>
          <p:cNvSpPr>
            <a:spLocks noGrp="1"/>
          </p:cNvSpPr>
          <p:nvPr>
            <p:ph type="sldNum" sz="quarter" idx="12"/>
          </p:nvPr>
        </p:nvSpPr>
        <p:spPr/>
        <p:txBody>
          <a:bodyPr/>
          <a:lstStyle/>
          <a:p>
            <a:pPr>
              <a:defRPr/>
            </a:pPr>
            <a:fld id="{54F7BBF2-CB68-4E3B-9A5B-261CB3F7BC20}" type="slidenum">
              <a:rPr lang="en-US"/>
              <a:pPr>
                <a:defRPr/>
              </a:pPr>
              <a:t>6</a:t>
            </a:fld>
            <a:endParaRPr lang="en-US"/>
          </a:p>
        </p:txBody>
      </p:sp>
      <p:sp>
        <p:nvSpPr>
          <p:cNvPr id="652290" name="Rectangle 2"/>
          <p:cNvSpPr>
            <a:spLocks noGrp="1" noRot="1" noChangeArrowheads="1"/>
          </p:cNvSpPr>
          <p:nvPr>
            <p:ph type="title"/>
          </p:nvPr>
        </p:nvSpPr>
        <p:spPr/>
        <p:txBody>
          <a:bodyPr/>
          <a:lstStyle/>
          <a:p>
            <a:pPr eaLnBrk="1" hangingPunct="1">
              <a:defRPr/>
            </a:pPr>
            <a:r>
              <a:rPr lang="en-US" smtClean="0"/>
              <a:t>Authentication…</a:t>
            </a:r>
          </a:p>
        </p:txBody>
      </p:sp>
      <p:grpSp>
        <p:nvGrpSpPr>
          <p:cNvPr id="2" name="Group 3"/>
          <p:cNvGrpSpPr>
            <a:grpSpLocks/>
          </p:cNvGrpSpPr>
          <p:nvPr/>
        </p:nvGrpSpPr>
        <p:grpSpPr bwMode="auto">
          <a:xfrm>
            <a:off x="1862138" y="1952625"/>
            <a:ext cx="5810250" cy="3235325"/>
            <a:chOff x="3510" y="8120"/>
            <a:chExt cx="6300" cy="3195"/>
          </a:xfrm>
        </p:grpSpPr>
        <p:sp>
          <p:nvSpPr>
            <p:cNvPr id="30727" name="Rectangle 4"/>
            <p:cNvSpPr>
              <a:spLocks noChangeArrowheads="1"/>
            </p:cNvSpPr>
            <p:nvPr/>
          </p:nvSpPr>
          <p:spPr bwMode="auto">
            <a:xfrm>
              <a:off x="3510" y="8120"/>
              <a:ext cx="6300" cy="3195"/>
            </a:xfrm>
            <a:prstGeom prst="rect">
              <a:avLst/>
            </a:prstGeom>
            <a:solidFill>
              <a:srgbClr val="FFFFFF"/>
            </a:solidFill>
            <a:ln w="9525">
              <a:solidFill>
                <a:srgbClr val="000000"/>
              </a:solidFill>
              <a:miter lim="800000"/>
              <a:headEnd/>
              <a:tailEnd/>
            </a:ln>
          </p:spPr>
          <p:txBody>
            <a:bodyPr/>
            <a:lstStyle/>
            <a:p>
              <a:endParaRPr lang="en-US"/>
            </a:p>
          </p:txBody>
        </p:sp>
        <p:sp>
          <p:nvSpPr>
            <p:cNvPr id="30728" name="computr1"/>
            <p:cNvSpPr>
              <a:spLocks noEditPoints="1" noChangeArrowheads="1"/>
            </p:cNvSpPr>
            <p:nvPr/>
          </p:nvSpPr>
          <p:spPr bwMode="auto">
            <a:xfrm>
              <a:off x="4199" y="8651"/>
              <a:ext cx="932" cy="885"/>
            </a:xfrm>
            <a:custGeom>
              <a:avLst/>
              <a:gdLst>
                <a:gd name="T0" fmla="*/ 843 w 21600"/>
                <a:gd name="T1" fmla="*/ 0 h 21600"/>
                <a:gd name="T2" fmla="*/ 466 w 21600"/>
                <a:gd name="T3" fmla="*/ 0 h 21600"/>
                <a:gd name="T4" fmla="*/ 89 w 21600"/>
                <a:gd name="T5" fmla="*/ 0 h 21600"/>
                <a:gd name="T6" fmla="*/ 0 w 21600"/>
                <a:gd name="T7" fmla="*/ 630 h 21600"/>
                <a:gd name="T8" fmla="*/ 0 w 21600"/>
                <a:gd name="T9" fmla="*/ 885 h 21600"/>
                <a:gd name="T10" fmla="*/ 466 w 21600"/>
                <a:gd name="T11" fmla="*/ 885 h 21600"/>
                <a:gd name="T12" fmla="*/ 932 w 21600"/>
                <a:gd name="T13" fmla="*/ 885 h 21600"/>
                <a:gd name="T14" fmla="*/ 932 w 21600"/>
                <a:gd name="T15" fmla="*/ 630 h 21600"/>
                <a:gd name="T16" fmla="*/ 843 w 21600"/>
                <a:gd name="T17" fmla="*/ 555 h 21600"/>
                <a:gd name="T18" fmla="*/ 89 w 21600"/>
                <a:gd name="T19" fmla="*/ 555 h 21600"/>
                <a:gd name="T20" fmla="*/ 89 w 21600"/>
                <a:gd name="T21" fmla="*/ 278 h 21600"/>
                <a:gd name="T22" fmla="*/ 843 w 21600"/>
                <a:gd name="T23" fmla="*/ 278 h 21600"/>
                <a:gd name="T24" fmla="*/ 0 w 21600"/>
                <a:gd name="T25" fmla="*/ 758 h 21600"/>
                <a:gd name="T26" fmla="*/ 932 w 21600"/>
                <a:gd name="T27" fmla="*/ 758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t>A</a:t>
              </a:r>
            </a:p>
          </p:txBody>
        </p:sp>
        <p:sp>
          <p:nvSpPr>
            <p:cNvPr id="30729" name="computr1"/>
            <p:cNvSpPr>
              <a:spLocks noEditPoints="1" noChangeArrowheads="1"/>
            </p:cNvSpPr>
            <p:nvPr/>
          </p:nvSpPr>
          <p:spPr bwMode="auto">
            <a:xfrm>
              <a:off x="7949" y="8636"/>
              <a:ext cx="932" cy="885"/>
            </a:xfrm>
            <a:custGeom>
              <a:avLst/>
              <a:gdLst>
                <a:gd name="T0" fmla="*/ 843 w 21600"/>
                <a:gd name="T1" fmla="*/ 0 h 21600"/>
                <a:gd name="T2" fmla="*/ 466 w 21600"/>
                <a:gd name="T3" fmla="*/ 0 h 21600"/>
                <a:gd name="T4" fmla="*/ 89 w 21600"/>
                <a:gd name="T5" fmla="*/ 0 h 21600"/>
                <a:gd name="T6" fmla="*/ 0 w 21600"/>
                <a:gd name="T7" fmla="*/ 630 h 21600"/>
                <a:gd name="T8" fmla="*/ 0 w 21600"/>
                <a:gd name="T9" fmla="*/ 885 h 21600"/>
                <a:gd name="T10" fmla="*/ 466 w 21600"/>
                <a:gd name="T11" fmla="*/ 885 h 21600"/>
                <a:gd name="T12" fmla="*/ 932 w 21600"/>
                <a:gd name="T13" fmla="*/ 885 h 21600"/>
                <a:gd name="T14" fmla="*/ 932 w 21600"/>
                <a:gd name="T15" fmla="*/ 630 h 21600"/>
                <a:gd name="T16" fmla="*/ 843 w 21600"/>
                <a:gd name="T17" fmla="*/ 555 h 21600"/>
                <a:gd name="T18" fmla="*/ 89 w 21600"/>
                <a:gd name="T19" fmla="*/ 555 h 21600"/>
                <a:gd name="T20" fmla="*/ 89 w 21600"/>
                <a:gd name="T21" fmla="*/ 278 h 21600"/>
                <a:gd name="T22" fmla="*/ 843 w 21600"/>
                <a:gd name="T23" fmla="*/ 278 h 21600"/>
                <a:gd name="T24" fmla="*/ 0 w 21600"/>
                <a:gd name="T25" fmla="*/ 758 h 21600"/>
                <a:gd name="T26" fmla="*/ 932 w 21600"/>
                <a:gd name="T27" fmla="*/ 758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solidFill>
                    <a:schemeClr val="accent2"/>
                  </a:solidFill>
                </a:rPr>
                <a:t>B</a:t>
              </a:r>
            </a:p>
          </p:txBody>
        </p:sp>
        <p:sp>
          <p:nvSpPr>
            <p:cNvPr id="30730" name="computr1"/>
            <p:cNvSpPr>
              <a:spLocks noEditPoints="1" noChangeArrowheads="1"/>
            </p:cNvSpPr>
            <p:nvPr/>
          </p:nvSpPr>
          <p:spPr bwMode="auto">
            <a:xfrm>
              <a:off x="5954" y="10151"/>
              <a:ext cx="932" cy="885"/>
            </a:xfrm>
            <a:custGeom>
              <a:avLst/>
              <a:gdLst>
                <a:gd name="T0" fmla="*/ 843 w 21600"/>
                <a:gd name="T1" fmla="*/ 0 h 21600"/>
                <a:gd name="T2" fmla="*/ 466 w 21600"/>
                <a:gd name="T3" fmla="*/ 0 h 21600"/>
                <a:gd name="T4" fmla="*/ 89 w 21600"/>
                <a:gd name="T5" fmla="*/ 0 h 21600"/>
                <a:gd name="T6" fmla="*/ 0 w 21600"/>
                <a:gd name="T7" fmla="*/ 630 h 21600"/>
                <a:gd name="T8" fmla="*/ 0 w 21600"/>
                <a:gd name="T9" fmla="*/ 885 h 21600"/>
                <a:gd name="T10" fmla="*/ 466 w 21600"/>
                <a:gd name="T11" fmla="*/ 885 h 21600"/>
                <a:gd name="T12" fmla="*/ 932 w 21600"/>
                <a:gd name="T13" fmla="*/ 885 h 21600"/>
                <a:gd name="T14" fmla="*/ 932 w 21600"/>
                <a:gd name="T15" fmla="*/ 630 h 21600"/>
                <a:gd name="T16" fmla="*/ 843 w 21600"/>
                <a:gd name="T17" fmla="*/ 555 h 21600"/>
                <a:gd name="T18" fmla="*/ 89 w 21600"/>
                <a:gd name="T19" fmla="*/ 555 h 21600"/>
                <a:gd name="T20" fmla="*/ 89 w 21600"/>
                <a:gd name="T21" fmla="*/ 278 h 21600"/>
                <a:gd name="T22" fmla="*/ 843 w 21600"/>
                <a:gd name="T23" fmla="*/ 278 h 21600"/>
                <a:gd name="T24" fmla="*/ 0 w 21600"/>
                <a:gd name="T25" fmla="*/ 758 h 21600"/>
                <a:gd name="T26" fmla="*/ 932 w 21600"/>
                <a:gd name="T27" fmla="*/ 758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solidFill>
                    <a:schemeClr val="accent2"/>
                  </a:solidFill>
                </a:rPr>
                <a:t>C</a:t>
              </a:r>
            </a:p>
          </p:txBody>
        </p:sp>
        <p:sp>
          <p:nvSpPr>
            <p:cNvPr id="30731" name="Text Box 8"/>
            <p:cNvSpPr txBox="1">
              <a:spLocks noChangeArrowheads="1"/>
            </p:cNvSpPr>
            <p:nvPr/>
          </p:nvSpPr>
          <p:spPr bwMode="auto">
            <a:xfrm>
              <a:off x="5865" y="8598"/>
              <a:ext cx="1035" cy="660"/>
            </a:xfrm>
            <a:prstGeom prst="rect">
              <a:avLst/>
            </a:prstGeom>
            <a:solidFill>
              <a:srgbClr val="FFFFFF"/>
            </a:solidFill>
            <a:ln w="9525">
              <a:solidFill>
                <a:srgbClr val="000000"/>
              </a:solidFill>
              <a:miter lim="800000"/>
              <a:headEnd/>
              <a:tailEnd/>
            </a:ln>
          </p:spPr>
          <p:txBody>
            <a:bodyPr/>
            <a:lstStyle/>
            <a:p>
              <a:pPr algn="ctr" eaLnBrk="0" hangingPunct="0"/>
              <a:r>
                <a:rPr lang="en-US" sz="1200" b="1">
                  <a:solidFill>
                    <a:schemeClr val="accent2"/>
                  </a:solidFill>
                </a:rPr>
                <a:t>I am user A</a:t>
              </a:r>
            </a:p>
          </p:txBody>
        </p:sp>
        <p:sp>
          <p:nvSpPr>
            <p:cNvPr id="30732" name="AutoShape 9" descr="Large checker board"/>
            <p:cNvSpPr>
              <a:spLocks noChangeArrowheads="1"/>
            </p:cNvSpPr>
            <p:nvPr/>
          </p:nvSpPr>
          <p:spPr bwMode="auto">
            <a:xfrm>
              <a:off x="6915" y="8793"/>
              <a:ext cx="1125" cy="315"/>
            </a:xfrm>
            <a:prstGeom prst="rightArrow">
              <a:avLst>
                <a:gd name="adj1" fmla="val 50000"/>
                <a:gd name="adj2" fmla="val 89286"/>
              </a:avLst>
            </a:prstGeom>
            <a:pattFill prst="lgCheck">
              <a:fgClr>
                <a:srgbClr val="333333"/>
              </a:fgClr>
              <a:bgClr>
                <a:srgbClr val="FFFFFF"/>
              </a:bgClr>
            </a:pattFill>
            <a:ln w="9525">
              <a:solidFill>
                <a:srgbClr val="000000"/>
              </a:solidFill>
              <a:miter lim="800000"/>
              <a:headEnd/>
              <a:tailEnd/>
            </a:ln>
          </p:spPr>
          <p:txBody>
            <a:bodyPr/>
            <a:lstStyle/>
            <a:p>
              <a:endParaRPr lang="en-US"/>
            </a:p>
          </p:txBody>
        </p:sp>
        <p:sp>
          <p:nvSpPr>
            <p:cNvPr id="30733" name="AutoShape 10" descr="Large checker board"/>
            <p:cNvSpPr>
              <a:spLocks noChangeArrowheads="1"/>
            </p:cNvSpPr>
            <p:nvPr/>
          </p:nvSpPr>
          <p:spPr bwMode="auto">
            <a:xfrm>
              <a:off x="6300" y="9273"/>
              <a:ext cx="233" cy="840"/>
            </a:xfrm>
            <a:prstGeom prst="upArrow">
              <a:avLst>
                <a:gd name="adj1" fmla="val 50000"/>
                <a:gd name="adj2" fmla="val 90129"/>
              </a:avLst>
            </a:prstGeom>
            <a:pattFill prst="lgCheck">
              <a:fgClr>
                <a:srgbClr val="333333"/>
              </a:fgClr>
              <a:bgClr>
                <a:srgbClr val="FFFFFF"/>
              </a:bgClr>
            </a:pattFill>
            <a:ln w="9525">
              <a:solidFill>
                <a:srgbClr val="000000"/>
              </a:solidFill>
              <a:miter lim="800000"/>
              <a:headEnd/>
              <a:tailEnd/>
            </a:ln>
          </p:spPr>
          <p:txBody>
            <a:bodyPr/>
            <a:lstStyle/>
            <a:p>
              <a:endParaRPr lang="en-US"/>
            </a:p>
          </p:txBody>
        </p:sp>
      </p:grpSp>
      <p:sp>
        <p:nvSpPr>
          <p:cNvPr id="30726" name="Text Box 11"/>
          <p:cNvSpPr txBox="1">
            <a:spLocks noChangeArrowheads="1"/>
          </p:cNvSpPr>
          <p:nvPr/>
        </p:nvSpPr>
        <p:spPr bwMode="auto">
          <a:xfrm>
            <a:off x="4030663" y="5378450"/>
            <a:ext cx="1657350" cy="384175"/>
          </a:xfrm>
          <a:prstGeom prst="rect">
            <a:avLst/>
          </a:prstGeom>
          <a:noFill/>
          <a:ln w="12700" algn="ctr">
            <a:noFill/>
            <a:miter lim="800000"/>
            <a:headEnd type="none" w="sm" len="sm"/>
            <a:tailEnd type="none" w="sm" len="sm"/>
          </a:ln>
        </p:spPr>
        <p:txBody>
          <a:bodyPr wrap="none">
            <a:spAutoFit/>
          </a:bodyPr>
          <a:lstStyle/>
          <a:p>
            <a:pPr>
              <a:lnSpc>
                <a:spcPct val="80000"/>
              </a:lnSpc>
              <a:spcBef>
                <a:spcPct val="20000"/>
              </a:spcBef>
            </a:pPr>
            <a:r>
              <a:rPr lang="en-US">
                <a:latin typeface="Arial" charset="0"/>
              </a:rPr>
              <a:t>Who am I?</a:t>
            </a:r>
            <a:endParaRPr lang="en-US" i="1">
              <a:solidFill>
                <a:srgbClr val="0000CC"/>
              </a:solidFill>
              <a:latin typeface="Arial" charset="0"/>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Date Placeholder 3"/>
          <p:cNvSpPr>
            <a:spLocks noGrp="1"/>
          </p:cNvSpPr>
          <p:nvPr>
            <p:ph type="dt" sz="quarter" idx="10"/>
          </p:nvPr>
        </p:nvSpPr>
        <p:spPr/>
        <p:txBody>
          <a:bodyPr/>
          <a:lstStyle/>
          <a:p>
            <a:pPr>
              <a:defRPr/>
            </a:pPr>
            <a:fld id="{3F56F539-FAF2-4C53-BB42-366A3211C51F}" type="datetime1">
              <a:rPr lang="en-US"/>
              <a:pPr>
                <a:defRPr/>
              </a:pPr>
              <a:t>3/30/2018</a:t>
            </a:fld>
            <a:endParaRPr lang="en-US"/>
          </a:p>
        </p:txBody>
      </p:sp>
      <p:sp>
        <p:nvSpPr>
          <p:cNvPr id="17" name="Slide Number Placeholder 5"/>
          <p:cNvSpPr>
            <a:spLocks noGrp="1"/>
          </p:cNvSpPr>
          <p:nvPr>
            <p:ph type="sldNum" sz="quarter" idx="12"/>
          </p:nvPr>
        </p:nvSpPr>
        <p:spPr/>
        <p:txBody>
          <a:bodyPr/>
          <a:lstStyle/>
          <a:p>
            <a:pPr>
              <a:defRPr/>
            </a:pPr>
            <a:fld id="{92A15E36-879E-4B83-91BC-7CAF6EAFD13D}" type="slidenum">
              <a:rPr lang="en-US"/>
              <a:pPr>
                <a:defRPr/>
              </a:pPr>
              <a:t>7</a:t>
            </a:fld>
            <a:endParaRPr lang="en-US"/>
          </a:p>
        </p:txBody>
      </p:sp>
      <p:sp>
        <p:nvSpPr>
          <p:cNvPr id="653314" name="Rectangle 2"/>
          <p:cNvSpPr>
            <a:spLocks noGrp="1" noRot="1" noChangeArrowheads="1"/>
          </p:cNvSpPr>
          <p:nvPr>
            <p:ph type="title"/>
          </p:nvPr>
        </p:nvSpPr>
        <p:spPr/>
        <p:txBody>
          <a:bodyPr/>
          <a:lstStyle/>
          <a:p>
            <a:pPr eaLnBrk="1" hangingPunct="1">
              <a:defRPr/>
            </a:pPr>
            <a:r>
              <a:rPr lang="en-US" smtClean="0"/>
              <a:t>Integrity…</a:t>
            </a:r>
          </a:p>
        </p:txBody>
      </p:sp>
      <p:sp>
        <p:nvSpPr>
          <p:cNvPr id="653315" name="Rectangle 3"/>
          <p:cNvSpPr>
            <a:spLocks noGrp="1" noRot="1" noChangeArrowheads="1"/>
          </p:cNvSpPr>
          <p:nvPr>
            <p:ph type="body" idx="1"/>
          </p:nvPr>
        </p:nvSpPr>
        <p:spPr>
          <a:xfrm>
            <a:off x="1398588" y="5802313"/>
            <a:ext cx="6764337" cy="407987"/>
          </a:xfrm>
        </p:spPr>
        <p:txBody>
          <a:bodyPr>
            <a:normAutofit fontScale="92500" lnSpcReduction="10000"/>
          </a:bodyPr>
          <a:lstStyle/>
          <a:p>
            <a:pPr algn="ctr" eaLnBrk="1" hangingPunct="1">
              <a:buFont typeface="Wingdings" pitchFamily="2" charset="2"/>
              <a:buNone/>
              <a:defRPr/>
            </a:pPr>
            <a:r>
              <a:rPr lang="en-US" sz="2400" smtClean="0"/>
              <a:t>Has the Message Changed?</a:t>
            </a:r>
          </a:p>
        </p:txBody>
      </p:sp>
      <p:grpSp>
        <p:nvGrpSpPr>
          <p:cNvPr id="2" name="Group 4"/>
          <p:cNvGrpSpPr>
            <a:grpSpLocks/>
          </p:cNvGrpSpPr>
          <p:nvPr/>
        </p:nvGrpSpPr>
        <p:grpSpPr bwMode="auto">
          <a:xfrm>
            <a:off x="1317625" y="1901825"/>
            <a:ext cx="7162800" cy="3886200"/>
            <a:chOff x="3105" y="2300"/>
            <a:chExt cx="6300" cy="3195"/>
          </a:xfrm>
        </p:grpSpPr>
        <p:sp>
          <p:nvSpPr>
            <p:cNvPr id="31751" name="Rectangle 5"/>
            <p:cNvSpPr>
              <a:spLocks noChangeArrowheads="1"/>
            </p:cNvSpPr>
            <p:nvPr/>
          </p:nvSpPr>
          <p:spPr bwMode="auto">
            <a:xfrm>
              <a:off x="3105" y="2300"/>
              <a:ext cx="6300" cy="3195"/>
            </a:xfrm>
            <a:prstGeom prst="rect">
              <a:avLst/>
            </a:prstGeom>
            <a:solidFill>
              <a:srgbClr val="FFFFFF"/>
            </a:solidFill>
            <a:ln w="9525">
              <a:solidFill>
                <a:srgbClr val="000000"/>
              </a:solidFill>
              <a:miter lim="800000"/>
              <a:headEnd/>
              <a:tailEnd/>
            </a:ln>
          </p:spPr>
          <p:txBody>
            <a:bodyPr/>
            <a:lstStyle/>
            <a:p>
              <a:endParaRPr lang="en-US"/>
            </a:p>
          </p:txBody>
        </p:sp>
        <p:sp>
          <p:nvSpPr>
            <p:cNvPr id="31752" name="computr1"/>
            <p:cNvSpPr>
              <a:spLocks noEditPoints="1" noChangeArrowheads="1"/>
            </p:cNvSpPr>
            <p:nvPr/>
          </p:nvSpPr>
          <p:spPr bwMode="auto">
            <a:xfrm>
              <a:off x="3449" y="2801"/>
              <a:ext cx="932" cy="885"/>
            </a:xfrm>
            <a:custGeom>
              <a:avLst/>
              <a:gdLst>
                <a:gd name="T0" fmla="*/ 843 w 21600"/>
                <a:gd name="T1" fmla="*/ 0 h 21600"/>
                <a:gd name="T2" fmla="*/ 466 w 21600"/>
                <a:gd name="T3" fmla="*/ 0 h 21600"/>
                <a:gd name="T4" fmla="*/ 89 w 21600"/>
                <a:gd name="T5" fmla="*/ 0 h 21600"/>
                <a:gd name="T6" fmla="*/ 0 w 21600"/>
                <a:gd name="T7" fmla="*/ 630 h 21600"/>
                <a:gd name="T8" fmla="*/ 0 w 21600"/>
                <a:gd name="T9" fmla="*/ 885 h 21600"/>
                <a:gd name="T10" fmla="*/ 466 w 21600"/>
                <a:gd name="T11" fmla="*/ 885 h 21600"/>
                <a:gd name="T12" fmla="*/ 932 w 21600"/>
                <a:gd name="T13" fmla="*/ 885 h 21600"/>
                <a:gd name="T14" fmla="*/ 932 w 21600"/>
                <a:gd name="T15" fmla="*/ 630 h 21600"/>
                <a:gd name="T16" fmla="*/ 843 w 21600"/>
                <a:gd name="T17" fmla="*/ 555 h 21600"/>
                <a:gd name="T18" fmla="*/ 89 w 21600"/>
                <a:gd name="T19" fmla="*/ 555 h 21600"/>
                <a:gd name="T20" fmla="*/ 89 w 21600"/>
                <a:gd name="T21" fmla="*/ 278 h 21600"/>
                <a:gd name="T22" fmla="*/ 843 w 21600"/>
                <a:gd name="T23" fmla="*/ 278 h 21600"/>
                <a:gd name="T24" fmla="*/ 0 w 21600"/>
                <a:gd name="T25" fmla="*/ 758 h 21600"/>
                <a:gd name="T26" fmla="*/ 932 w 21600"/>
                <a:gd name="T27" fmla="*/ 758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solidFill>
                    <a:schemeClr val="accent2"/>
                  </a:solidFill>
                </a:rPr>
                <a:t>A</a:t>
              </a:r>
            </a:p>
          </p:txBody>
        </p:sp>
        <p:sp>
          <p:nvSpPr>
            <p:cNvPr id="31753" name="computr1"/>
            <p:cNvSpPr>
              <a:spLocks noEditPoints="1" noChangeArrowheads="1"/>
            </p:cNvSpPr>
            <p:nvPr/>
          </p:nvSpPr>
          <p:spPr bwMode="auto">
            <a:xfrm>
              <a:off x="7994" y="2816"/>
              <a:ext cx="932" cy="885"/>
            </a:xfrm>
            <a:custGeom>
              <a:avLst/>
              <a:gdLst>
                <a:gd name="T0" fmla="*/ 843 w 21600"/>
                <a:gd name="T1" fmla="*/ 0 h 21600"/>
                <a:gd name="T2" fmla="*/ 466 w 21600"/>
                <a:gd name="T3" fmla="*/ 0 h 21600"/>
                <a:gd name="T4" fmla="*/ 89 w 21600"/>
                <a:gd name="T5" fmla="*/ 0 h 21600"/>
                <a:gd name="T6" fmla="*/ 0 w 21600"/>
                <a:gd name="T7" fmla="*/ 630 h 21600"/>
                <a:gd name="T8" fmla="*/ 0 w 21600"/>
                <a:gd name="T9" fmla="*/ 885 h 21600"/>
                <a:gd name="T10" fmla="*/ 466 w 21600"/>
                <a:gd name="T11" fmla="*/ 885 h 21600"/>
                <a:gd name="T12" fmla="*/ 932 w 21600"/>
                <a:gd name="T13" fmla="*/ 885 h 21600"/>
                <a:gd name="T14" fmla="*/ 932 w 21600"/>
                <a:gd name="T15" fmla="*/ 630 h 21600"/>
                <a:gd name="T16" fmla="*/ 843 w 21600"/>
                <a:gd name="T17" fmla="*/ 555 h 21600"/>
                <a:gd name="T18" fmla="*/ 89 w 21600"/>
                <a:gd name="T19" fmla="*/ 555 h 21600"/>
                <a:gd name="T20" fmla="*/ 89 w 21600"/>
                <a:gd name="T21" fmla="*/ 278 h 21600"/>
                <a:gd name="T22" fmla="*/ 843 w 21600"/>
                <a:gd name="T23" fmla="*/ 278 h 21600"/>
                <a:gd name="T24" fmla="*/ 0 w 21600"/>
                <a:gd name="T25" fmla="*/ 758 h 21600"/>
                <a:gd name="T26" fmla="*/ 932 w 21600"/>
                <a:gd name="T27" fmla="*/ 758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solidFill>
                    <a:schemeClr val="accent2"/>
                  </a:solidFill>
                </a:rPr>
                <a:t>B</a:t>
              </a:r>
            </a:p>
          </p:txBody>
        </p:sp>
        <p:sp>
          <p:nvSpPr>
            <p:cNvPr id="31754" name="computr1"/>
            <p:cNvSpPr>
              <a:spLocks noEditPoints="1" noChangeArrowheads="1"/>
            </p:cNvSpPr>
            <p:nvPr/>
          </p:nvSpPr>
          <p:spPr bwMode="auto">
            <a:xfrm>
              <a:off x="5549" y="4331"/>
              <a:ext cx="932" cy="885"/>
            </a:xfrm>
            <a:custGeom>
              <a:avLst/>
              <a:gdLst>
                <a:gd name="T0" fmla="*/ 843 w 21600"/>
                <a:gd name="T1" fmla="*/ 0 h 21600"/>
                <a:gd name="T2" fmla="*/ 466 w 21600"/>
                <a:gd name="T3" fmla="*/ 0 h 21600"/>
                <a:gd name="T4" fmla="*/ 89 w 21600"/>
                <a:gd name="T5" fmla="*/ 0 h 21600"/>
                <a:gd name="T6" fmla="*/ 0 w 21600"/>
                <a:gd name="T7" fmla="*/ 630 h 21600"/>
                <a:gd name="T8" fmla="*/ 0 w 21600"/>
                <a:gd name="T9" fmla="*/ 885 h 21600"/>
                <a:gd name="T10" fmla="*/ 466 w 21600"/>
                <a:gd name="T11" fmla="*/ 885 h 21600"/>
                <a:gd name="T12" fmla="*/ 932 w 21600"/>
                <a:gd name="T13" fmla="*/ 885 h 21600"/>
                <a:gd name="T14" fmla="*/ 932 w 21600"/>
                <a:gd name="T15" fmla="*/ 630 h 21600"/>
                <a:gd name="T16" fmla="*/ 843 w 21600"/>
                <a:gd name="T17" fmla="*/ 555 h 21600"/>
                <a:gd name="T18" fmla="*/ 89 w 21600"/>
                <a:gd name="T19" fmla="*/ 555 h 21600"/>
                <a:gd name="T20" fmla="*/ 89 w 21600"/>
                <a:gd name="T21" fmla="*/ 278 h 21600"/>
                <a:gd name="T22" fmla="*/ 843 w 21600"/>
                <a:gd name="T23" fmla="*/ 278 h 21600"/>
                <a:gd name="T24" fmla="*/ 0 w 21600"/>
                <a:gd name="T25" fmla="*/ 758 h 21600"/>
                <a:gd name="T26" fmla="*/ 932 w 21600"/>
                <a:gd name="T27" fmla="*/ 758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solidFill>
                    <a:schemeClr val="accent2"/>
                  </a:solidFill>
                </a:rPr>
                <a:t>C</a:t>
              </a:r>
            </a:p>
          </p:txBody>
        </p:sp>
        <p:sp>
          <p:nvSpPr>
            <p:cNvPr id="31755" name="AutoShape 9" descr="Large checker board"/>
            <p:cNvSpPr>
              <a:spLocks noChangeArrowheads="1"/>
            </p:cNvSpPr>
            <p:nvPr/>
          </p:nvSpPr>
          <p:spPr bwMode="auto">
            <a:xfrm rot="-2397925">
              <a:off x="4740" y="3510"/>
              <a:ext cx="390" cy="945"/>
            </a:xfrm>
            <a:prstGeom prst="downArrow">
              <a:avLst>
                <a:gd name="adj1" fmla="val 50000"/>
                <a:gd name="adj2" fmla="val 60577"/>
              </a:avLst>
            </a:prstGeom>
            <a:pattFill prst="lgCheck">
              <a:fgClr>
                <a:srgbClr val="333333"/>
              </a:fgClr>
              <a:bgClr>
                <a:srgbClr val="FFFFFF"/>
              </a:bgClr>
            </a:pattFill>
            <a:ln w="9525">
              <a:solidFill>
                <a:srgbClr val="000000"/>
              </a:solidFill>
              <a:miter lim="800000"/>
              <a:headEnd/>
              <a:tailEnd/>
            </a:ln>
          </p:spPr>
          <p:txBody>
            <a:bodyPr/>
            <a:lstStyle/>
            <a:p>
              <a:endParaRPr lang="en-US"/>
            </a:p>
          </p:txBody>
        </p:sp>
        <p:sp>
          <p:nvSpPr>
            <p:cNvPr id="31756" name="AutoShape 10" descr="Large checker board"/>
            <p:cNvSpPr>
              <a:spLocks noChangeArrowheads="1"/>
            </p:cNvSpPr>
            <p:nvPr/>
          </p:nvSpPr>
          <p:spPr bwMode="auto">
            <a:xfrm rot="2117320">
              <a:off x="6945" y="3585"/>
              <a:ext cx="450" cy="900"/>
            </a:xfrm>
            <a:prstGeom prst="upArrow">
              <a:avLst>
                <a:gd name="adj1" fmla="val 50000"/>
                <a:gd name="adj2" fmla="val 50000"/>
              </a:avLst>
            </a:prstGeom>
            <a:pattFill prst="lgCheck">
              <a:fgClr>
                <a:srgbClr val="333333"/>
              </a:fgClr>
              <a:bgClr>
                <a:srgbClr val="FFFFFF"/>
              </a:bgClr>
            </a:pattFill>
            <a:ln w="9525">
              <a:solidFill>
                <a:srgbClr val="000000"/>
              </a:solidFill>
              <a:miter lim="800000"/>
              <a:headEnd/>
              <a:tailEnd/>
            </a:ln>
          </p:spPr>
          <p:txBody>
            <a:bodyPr/>
            <a:lstStyle/>
            <a:p>
              <a:endParaRPr lang="en-US"/>
            </a:p>
          </p:txBody>
        </p:sp>
        <p:sp>
          <p:nvSpPr>
            <p:cNvPr id="31757" name="AutoShape 11"/>
            <p:cNvSpPr>
              <a:spLocks noChangeArrowheads="1"/>
            </p:cNvSpPr>
            <p:nvPr/>
          </p:nvSpPr>
          <p:spPr bwMode="auto">
            <a:xfrm>
              <a:off x="4725" y="3045"/>
              <a:ext cx="3105" cy="510"/>
            </a:xfrm>
            <a:prstGeom prst="rightArrow">
              <a:avLst>
                <a:gd name="adj1" fmla="val 50000"/>
                <a:gd name="adj2" fmla="val 152206"/>
              </a:avLst>
            </a:prstGeom>
            <a:solidFill>
              <a:srgbClr val="333333"/>
            </a:solidFill>
            <a:ln w="9525">
              <a:solidFill>
                <a:srgbClr val="000000"/>
              </a:solidFill>
              <a:prstDash val="sysDot"/>
              <a:miter lim="800000"/>
              <a:headEnd/>
              <a:tailEnd/>
            </a:ln>
          </p:spPr>
          <p:txBody>
            <a:bodyPr/>
            <a:lstStyle/>
            <a:p>
              <a:pPr algn="ctr" eaLnBrk="0" hangingPunct="0"/>
              <a:endParaRPr lang="en-US" sz="1200" b="1"/>
            </a:p>
          </p:txBody>
        </p:sp>
        <p:sp>
          <p:nvSpPr>
            <p:cNvPr id="31758" name="Text Box 12"/>
            <p:cNvSpPr txBox="1">
              <a:spLocks noChangeArrowheads="1"/>
            </p:cNvSpPr>
            <p:nvPr/>
          </p:nvSpPr>
          <p:spPr bwMode="auto">
            <a:xfrm>
              <a:off x="3480" y="3990"/>
              <a:ext cx="1065" cy="825"/>
            </a:xfrm>
            <a:prstGeom prst="rect">
              <a:avLst/>
            </a:prstGeom>
            <a:solidFill>
              <a:srgbClr val="FFFFFF"/>
            </a:solidFill>
            <a:ln w="9525">
              <a:solidFill>
                <a:srgbClr val="000000"/>
              </a:solidFill>
              <a:miter lim="800000"/>
              <a:headEnd/>
              <a:tailEnd/>
            </a:ln>
          </p:spPr>
          <p:txBody>
            <a:bodyPr/>
            <a:lstStyle/>
            <a:p>
              <a:pPr algn="ctr" eaLnBrk="0" hangingPunct="0"/>
              <a:r>
                <a:rPr lang="en-US" sz="1200" b="1">
                  <a:solidFill>
                    <a:schemeClr val="accent2"/>
                  </a:solidFill>
                </a:rPr>
                <a:t>Transfer $100 </a:t>
              </a:r>
            </a:p>
            <a:p>
              <a:pPr algn="ctr" eaLnBrk="0" hangingPunct="0"/>
              <a:r>
                <a:rPr lang="en-US" sz="1200" b="1">
                  <a:solidFill>
                    <a:schemeClr val="accent2"/>
                  </a:solidFill>
                </a:rPr>
                <a:t>to C</a:t>
              </a:r>
            </a:p>
          </p:txBody>
        </p:sp>
        <p:sp>
          <p:nvSpPr>
            <p:cNvPr id="31759" name="Text Box 13"/>
            <p:cNvSpPr txBox="1">
              <a:spLocks noChangeArrowheads="1"/>
            </p:cNvSpPr>
            <p:nvPr/>
          </p:nvSpPr>
          <p:spPr bwMode="auto">
            <a:xfrm>
              <a:off x="7890" y="4080"/>
              <a:ext cx="1065" cy="825"/>
            </a:xfrm>
            <a:prstGeom prst="rect">
              <a:avLst/>
            </a:prstGeom>
            <a:solidFill>
              <a:srgbClr val="FFFFFF"/>
            </a:solidFill>
            <a:ln w="9525">
              <a:solidFill>
                <a:srgbClr val="000000"/>
              </a:solidFill>
              <a:miter lim="800000"/>
              <a:headEnd/>
              <a:tailEnd/>
            </a:ln>
          </p:spPr>
          <p:txBody>
            <a:bodyPr/>
            <a:lstStyle/>
            <a:p>
              <a:pPr algn="ctr" eaLnBrk="0" hangingPunct="0"/>
              <a:r>
                <a:rPr lang="en-US" sz="1200" b="1">
                  <a:solidFill>
                    <a:schemeClr val="accent2"/>
                  </a:solidFill>
                </a:rPr>
                <a:t>Transfer $100</a:t>
              </a:r>
              <a:r>
                <a:rPr lang="en-US" sz="1400" b="1">
                  <a:solidFill>
                    <a:schemeClr val="accent2"/>
                  </a:solidFill>
                </a:rPr>
                <a:t>0 </a:t>
              </a:r>
            </a:p>
            <a:p>
              <a:pPr algn="ctr" eaLnBrk="0" hangingPunct="0"/>
              <a:r>
                <a:rPr lang="en-US" sz="1200" b="1">
                  <a:solidFill>
                    <a:schemeClr val="accent2"/>
                  </a:solidFill>
                </a:rPr>
                <a:t>to C</a:t>
              </a:r>
            </a:p>
          </p:txBody>
        </p:sp>
        <p:sp>
          <p:nvSpPr>
            <p:cNvPr id="31760" name="Text Box 14"/>
            <p:cNvSpPr txBox="1">
              <a:spLocks noChangeArrowheads="1"/>
            </p:cNvSpPr>
            <p:nvPr/>
          </p:nvSpPr>
          <p:spPr bwMode="auto">
            <a:xfrm>
              <a:off x="4695" y="2625"/>
              <a:ext cx="2640" cy="420"/>
            </a:xfrm>
            <a:prstGeom prst="rect">
              <a:avLst/>
            </a:prstGeom>
            <a:solidFill>
              <a:srgbClr val="FFFFFF"/>
            </a:solidFill>
            <a:ln w="9525">
              <a:noFill/>
              <a:miter lim="800000"/>
              <a:headEnd/>
              <a:tailEnd/>
            </a:ln>
          </p:spPr>
          <p:txBody>
            <a:bodyPr/>
            <a:lstStyle/>
            <a:p>
              <a:pPr algn="ctr" eaLnBrk="0" hangingPunct="0"/>
              <a:r>
                <a:rPr lang="en-US" sz="1400" b="1">
                  <a:solidFill>
                    <a:schemeClr val="accent2"/>
                  </a:solidFill>
                </a:rPr>
                <a:t>Ideal</a:t>
              </a:r>
              <a:r>
                <a:rPr lang="en-US" sz="1400" b="1"/>
                <a:t> </a:t>
              </a:r>
              <a:r>
                <a:rPr lang="en-US" sz="1400" b="1">
                  <a:solidFill>
                    <a:schemeClr val="accent2"/>
                  </a:solidFill>
                </a:rPr>
                <a:t>route of the message</a:t>
              </a:r>
            </a:p>
          </p:txBody>
        </p:sp>
      </p:gr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ate Placeholder 3"/>
          <p:cNvSpPr>
            <a:spLocks noGrp="1"/>
          </p:cNvSpPr>
          <p:nvPr>
            <p:ph type="dt" sz="quarter" idx="10"/>
          </p:nvPr>
        </p:nvSpPr>
        <p:spPr/>
        <p:txBody>
          <a:bodyPr/>
          <a:lstStyle/>
          <a:p>
            <a:pPr>
              <a:defRPr/>
            </a:pPr>
            <a:fld id="{6380723C-7970-4B5B-8DD8-454CDF141B44}" type="datetime1">
              <a:rPr lang="en-US"/>
              <a:pPr>
                <a:defRPr/>
              </a:pPr>
              <a:t>3/30/2018</a:t>
            </a:fld>
            <a:endParaRPr lang="en-US"/>
          </a:p>
        </p:txBody>
      </p:sp>
      <p:sp>
        <p:nvSpPr>
          <p:cNvPr id="15" name="Slide Number Placeholder 5"/>
          <p:cNvSpPr>
            <a:spLocks noGrp="1"/>
          </p:cNvSpPr>
          <p:nvPr>
            <p:ph type="sldNum" sz="quarter" idx="12"/>
          </p:nvPr>
        </p:nvSpPr>
        <p:spPr/>
        <p:txBody>
          <a:bodyPr/>
          <a:lstStyle/>
          <a:p>
            <a:pPr>
              <a:defRPr/>
            </a:pPr>
            <a:fld id="{4365E735-EB17-4ED6-B76A-CEC128EA12F3}" type="slidenum">
              <a:rPr lang="en-US"/>
              <a:pPr>
                <a:defRPr/>
              </a:pPr>
              <a:t>8</a:t>
            </a:fld>
            <a:endParaRPr lang="en-US"/>
          </a:p>
        </p:txBody>
      </p:sp>
      <p:sp>
        <p:nvSpPr>
          <p:cNvPr id="654338" name="Rectangle 2"/>
          <p:cNvSpPr>
            <a:spLocks noGrp="1" noRot="1" noChangeArrowheads="1"/>
          </p:cNvSpPr>
          <p:nvPr>
            <p:ph type="title"/>
          </p:nvPr>
        </p:nvSpPr>
        <p:spPr/>
        <p:txBody>
          <a:bodyPr/>
          <a:lstStyle/>
          <a:p>
            <a:pPr eaLnBrk="1" hangingPunct="1">
              <a:defRPr/>
            </a:pPr>
            <a:r>
              <a:rPr lang="en-US" smtClean="0"/>
              <a:t>Confidentiality…</a:t>
            </a:r>
          </a:p>
        </p:txBody>
      </p:sp>
      <p:sp>
        <p:nvSpPr>
          <p:cNvPr id="654339" name="Rectangle 3"/>
          <p:cNvSpPr>
            <a:spLocks noGrp="1" noRot="1" noChangeArrowheads="1"/>
          </p:cNvSpPr>
          <p:nvPr>
            <p:ph type="body" idx="1"/>
          </p:nvPr>
        </p:nvSpPr>
        <p:spPr>
          <a:xfrm>
            <a:off x="2671763" y="5711825"/>
            <a:ext cx="4146550" cy="460375"/>
          </a:xfrm>
        </p:spPr>
        <p:txBody>
          <a:bodyPr/>
          <a:lstStyle/>
          <a:p>
            <a:pPr algn="ctr" eaLnBrk="1" hangingPunct="1">
              <a:buFont typeface="Wingdings" pitchFamily="2" charset="2"/>
              <a:buNone/>
              <a:defRPr/>
            </a:pPr>
            <a:r>
              <a:rPr lang="en-US" sz="2400" smtClean="0"/>
              <a:t>Has someone seen it?</a:t>
            </a:r>
          </a:p>
        </p:txBody>
      </p:sp>
      <p:grpSp>
        <p:nvGrpSpPr>
          <p:cNvPr id="2" name="Group 4"/>
          <p:cNvGrpSpPr>
            <a:grpSpLocks/>
          </p:cNvGrpSpPr>
          <p:nvPr/>
        </p:nvGrpSpPr>
        <p:grpSpPr bwMode="auto">
          <a:xfrm>
            <a:off x="1427163" y="1922463"/>
            <a:ext cx="6858000" cy="3581400"/>
            <a:chOff x="3465" y="1565"/>
            <a:chExt cx="6300" cy="3195"/>
          </a:xfrm>
        </p:grpSpPr>
        <p:sp>
          <p:nvSpPr>
            <p:cNvPr id="32775" name="Rectangle 5"/>
            <p:cNvSpPr>
              <a:spLocks noChangeArrowheads="1"/>
            </p:cNvSpPr>
            <p:nvPr/>
          </p:nvSpPr>
          <p:spPr bwMode="auto">
            <a:xfrm>
              <a:off x="3465" y="1565"/>
              <a:ext cx="6300" cy="3195"/>
            </a:xfrm>
            <a:prstGeom prst="rect">
              <a:avLst/>
            </a:prstGeom>
            <a:solidFill>
              <a:srgbClr val="FFFFFF"/>
            </a:solidFill>
            <a:ln w="9525">
              <a:solidFill>
                <a:srgbClr val="000000"/>
              </a:solidFill>
              <a:miter lim="800000"/>
              <a:headEnd/>
              <a:tailEnd/>
            </a:ln>
          </p:spPr>
          <p:txBody>
            <a:bodyPr/>
            <a:lstStyle/>
            <a:p>
              <a:endParaRPr lang="en-US"/>
            </a:p>
          </p:txBody>
        </p:sp>
        <p:sp>
          <p:nvSpPr>
            <p:cNvPr id="32776" name="computr1"/>
            <p:cNvSpPr>
              <a:spLocks noEditPoints="1" noChangeArrowheads="1"/>
            </p:cNvSpPr>
            <p:nvPr/>
          </p:nvSpPr>
          <p:spPr bwMode="auto">
            <a:xfrm>
              <a:off x="4154" y="2096"/>
              <a:ext cx="932" cy="885"/>
            </a:xfrm>
            <a:custGeom>
              <a:avLst/>
              <a:gdLst>
                <a:gd name="T0" fmla="*/ 843 w 21600"/>
                <a:gd name="T1" fmla="*/ 0 h 21600"/>
                <a:gd name="T2" fmla="*/ 466 w 21600"/>
                <a:gd name="T3" fmla="*/ 0 h 21600"/>
                <a:gd name="T4" fmla="*/ 89 w 21600"/>
                <a:gd name="T5" fmla="*/ 0 h 21600"/>
                <a:gd name="T6" fmla="*/ 0 w 21600"/>
                <a:gd name="T7" fmla="*/ 630 h 21600"/>
                <a:gd name="T8" fmla="*/ 0 w 21600"/>
                <a:gd name="T9" fmla="*/ 885 h 21600"/>
                <a:gd name="T10" fmla="*/ 466 w 21600"/>
                <a:gd name="T11" fmla="*/ 885 h 21600"/>
                <a:gd name="T12" fmla="*/ 932 w 21600"/>
                <a:gd name="T13" fmla="*/ 885 h 21600"/>
                <a:gd name="T14" fmla="*/ 932 w 21600"/>
                <a:gd name="T15" fmla="*/ 630 h 21600"/>
                <a:gd name="T16" fmla="*/ 843 w 21600"/>
                <a:gd name="T17" fmla="*/ 555 h 21600"/>
                <a:gd name="T18" fmla="*/ 89 w 21600"/>
                <a:gd name="T19" fmla="*/ 555 h 21600"/>
                <a:gd name="T20" fmla="*/ 89 w 21600"/>
                <a:gd name="T21" fmla="*/ 278 h 21600"/>
                <a:gd name="T22" fmla="*/ 843 w 21600"/>
                <a:gd name="T23" fmla="*/ 278 h 21600"/>
                <a:gd name="T24" fmla="*/ 0 w 21600"/>
                <a:gd name="T25" fmla="*/ 758 h 21600"/>
                <a:gd name="T26" fmla="*/ 932 w 21600"/>
                <a:gd name="T27" fmla="*/ 758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solidFill>
                    <a:schemeClr val="accent2"/>
                  </a:solidFill>
                </a:rPr>
                <a:t>A</a:t>
              </a:r>
            </a:p>
          </p:txBody>
        </p:sp>
        <p:sp>
          <p:nvSpPr>
            <p:cNvPr id="32777" name="computr1"/>
            <p:cNvSpPr>
              <a:spLocks noEditPoints="1" noChangeArrowheads="1"/>
            </p:cNvSpPr>
            <p:nvPr/>
          </p:nvSpPr>
          <p:spPr bwMode="auto">
            <a:xfrm>
              <a:off x="7904" y="2081"/>
              <a:ext cx="932" cy="885"/>
            </a:xfrm>
            <a:custGeom>
              <a:avLst/>
              <a:gdLst>
                <a:gd name="T0" fmla="*/ 843 w 21600"/>
                <a:gd name="T1" fmla="*/ 0 h 21600"/>
                <a:gd name="T2" fmla="*/ 466 w 21600"/>
                <a:gd name="T3" fmla="*/ 0 h 21600"/>
                <a:gd name="T4" fmla="*/ 89 w 21600"/>
                <a:gd name="T5" fmla="*/ 0 h 21600"/>
                <a:gd name="T6" fmla="*/ 0 w 21600"/>
                <a:gd name="T7" fmla="*/ 630 h 21600"/>
                <a:gd name="T8" fmla="*/ 0 w 21600"/>
                <a:gd name="T9" fmla="*/ 885 h 21600"/>
                <a:gd name="T10" fmla="*/ 466 w 21600"/>
                <a:gd name="T11" fmla="*/ 885 h 21600"/>
                <a:gd name="T12" fmla="*/ 932 w 21600"/>
                <a:gd name="T13" fmla="*/ 885 h 21600"/>
                <a:gd name="T14" fmla="*/ 932 w 21600"/>
                <a:gd name="T15" fmla="*/ 630 h 21600"/>
                <a:gd name="T16" fmla="*/ 843 w 21600"/>
                <a:gd name="T17" fmla="*/ 555 h 21600"/>
                <a:gd name="T18" fmla="*/ 89 w 21600"/>
                <a:gd name="T19" fmla="*/ 555 h 21600"/>
                <a:gd name="T20" fmla="*/ 89 w 21600"/>
                <a:gd name="T21" fmla="*/ 278 h 21600"/>
                <a:gd name="T22" fmla="*/ 843 w 21600"/>
                <a:gd name="T23" fmla="*/ 278 h 21600"/>
                <a:gd name="T24" fmla="*/ 0 w 21600"/>
                <a:gd name="T25" fmla="*/ 758 h 21600"/>
                <a:gd name="T26" fmla="*/ 932 w 21600"/>
                <a:gd name="T27" fmla="*/ 758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solidFill>
                    <a:schemeClr val="accent2"/>
                  </a:solidFill>
                </a:rPr>
                <a:t>B</a:t>
              </a:r>
            </a:p>
          </p:txBody>
        </p:sp>
        <p:sp>
          <p:nvSpPr>
            <p:cNvPr id="32778" name="computr1"/>
            <p:cNvSpPr>
              <a:spLocks noEditPoints="1" noChangeArrowheads="1"/>
            </p:cNvSpPr>
            <p:nvPr/>
          </p:nvSpPr>
          <p:spPr bwMode="auto">
            <a:xfrm>
              <a:off x="6029" y="3596"/>
              <a:ext cx="932" cy="885"/>
            </a:xfrm>
            <a:custGeom>
              <a:avLst/>
              <a:gdLst>
                <a:gd name="T0" fmla="*/ 843 w 21600"/>
                <a:gd name="T1" fmla="*/ 0 h 21600"/>
                <a:gd name="T2" fmla="*/ 466 w 21600"/>
                <a:gd name="T3" fmla="*/ 0 h 21600"/>
                <a:gd name="T4" fmla="*/ 89 w 21600"/>
                <a:gd name="T5" fmla="*/ 0 h 21600"/>
                <a:gd name="T6" fmla="*/ 0 w 21600"/>
                <a:gd name="T7" fmla="*/ 630 h 21600"/>
                <a:gd name="T8" fmla="*/ 0 w 21600"/>
                <a:gd name="T9" fmla="*/ 885 h 21600"/>
                <a:gd name="T10" fmla="*/ 466 w 21600"/>
                <a:gd name="T11" fmla="*/ 885 h 21600"/>
                <a:gd name="T12" fmla="*/ 932 w 21600"/>
                <a:gd name="T13" fmla="*/ 885 h 21600"/>
                <a:gd name="T14" fmla="*/ 932 w 21600"/>
                <a:gd name="T15" fmla="*/ 630 h 21600"/>
                <a:gd name="T16" fmla="*/ 843 w 21600"/>
                <a:gd name="T17" fmla="*/ 555 h 21600"/>
                <a:gd name="T18" fmla="*/ 89 w 21600"/>
                <a:gd name="T19" fmla="*/ 555 h 21600"/>
                <a:gd name="T20" fmla="*/ 89 w 21600"/>
                <a:gd name="T21" fmla="*/ 278 h 21600"/>
                <a:gd name="T22" fmla="*/ 843 w 21600"/>
                <a:gd name="T23" fmla="*/ 278 h 21600"/>
                <a:gd name="T24" fmla="*/ 0 w 21600"/>
                <a:gd name="T25" fmla="*/ 758 h 21600"/>
                <a:gd name="T26" fmla="*/ 932 w 21600"/>
                <a:gd name="T27" fmla="*/ 758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13 w 21600"/>
                <a:gd name="T43" fmla="*/ 2538 h 21600"/>
                <a:gd name="T44" fmla="*/ 16756 w 21600"/>
                <a:gd name="T45" fmla="*/ 11154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solidFill>
                    <a:schemeClr val="accent2"/>
                  </a:solidFill>
                </a:rPr>
                <a:t>C</a:t>
              </a:r>
            </a:p>
          </p:txBody>
        </p:sp>
        <p:sp>
          <p:nvSpPr>
            <p:cNvPr id="32779" name="Text Box 9"/>
            <p:cNvSpPr txBox="1">
              <a:spLocks noChangeArrowheads="1"/>
            </p:cNvSpPr>
            <p:nvPr/>
          </p:nvSpPr>
          <p:spPr bwMode="auto">
            <a:xfrm>
              <a:off x="6030" y="2163"/>
              <a:ext cx="885" cy="540"/>
            </a:xfrm>
            <a:prstGeom prst="rect">
              <a:avLst/>
            </a:prstGeom>
            <a:solidFill>
              <a:srgbClr val="FFFFFF"/>
            </a:solidFill>
            <a:ln w="9525">
              <a:solidFill>
                <a:srgbClr val="000000"/>
              </a:solidFill>
              <a:miter lim="800000"/>
              <a:headEnd/>
              <a:tailEnd/>
            </a:ln>
          </p:spPr>
          <p:txBody>
            <a:bodyPr/>
            <a:lstStyle/>
            <a:p>
              <a:pPr algn="ctr" eaLnBrk="0" hangingPunct="0"/>
              <a:r>
                <a:rPr lang="en-US" sz="1400" b="1">
                  <a:solidFill>
                    <a:srgbClr val="FF0000"/>
                  </a:solidFill>
                </a:rPr>
                <a:t>Secret</a:t>
              </a:r>
            </a:p>
          </p:txBody>
        </p:sp>
        <p:sp>
          <p:nvSpPr>
            <p:cNvPr id="32780" name="Rectangle 10"/>
            <p:cNvSpPr>
              <a:spLocks noChangeArrowheads="1"/>
            </p:cNvSpPr>
            <p:nvPr/>
          </p:nvSpPr>
          <p:spPr bwMode="auto">
            <a:xfrm>
              <a:off x="4995" y="2373"/>
              <a:ext cx="1005" cy="143"/>
            </a:xfrm>
            <a:prstGeom prst="rect">
              <a:avLst/>
            </a:prstGeom>
            <a:solidFill>
              <a:srgbClr val="333333"/>
            </a:solidFill>
            <a:ln w="9525">
              <a:solidFill>
                <a:srgbClr val="000000"/>
              </a:solidFill>
              <a:miter lim="800000"/>
              <a:headEnd/>
              <a:tailEnd/>
            </a:ln>
          </p:spPr>
          <p:txBody>
            <a:bodyPr/>
            <a:lstStyle/>
            <a:p>
              <a:endParaRPr lang="en-US"/>
            </a:p>
          </p:txBody>
        </p:sp>
        <p:sp>
          <p:nvSpPr>
            <p:cNvPr id="32781" name="AutoShape 11"/>
            <p:cNvSpPr>
              <a:spLocks noChangeArrowheads="1"/>
            </p:cNvSpPr>
            <p:nvPr/>
          </p:nvSpPr>
          <p:spPr bwMode="auto">
            <a:xfrm>
              <a:off x="6930" y="2298"/>
              <a:ext cx="1065" cy="315"/>
            </a:xfrm>
            <a:prstGeom prst="rightArrow">
              <a:avLst>
                <a:gd name="adj1" fmla="val 50000"/>
                <a:gd name="adj2" fmla="val 84524"/>
              </a:avLst>
            </a:prstGeom>
            <a:solidFill>
              <a:srgbClr val="333333"/>
            </a:solidFill>
            <a:ln w="9525">
              <a:solidFill>
                <a:srgbClr val="000000"/>
              </a:solidFill>
              <a:miter lim="800000"/>
              <a:headEnd/>
              <a:tailEnd/>
            </a:ln>
          </p:spPr>
          <p:txBody>
            <a:bodyPr/>
            <a:lstStyle/>
            <a:p>
              <a:endParaRPr lang="en-US"/>
            </a:p>
          </p:txBody>
        </p:sp>
        <p:sp>
          <p:nvSpPr>
            <p:cNvPr id="32782" name="AutoShape 12" descr="Large checker board"/>
            <p:cNvSpPr>
              <a:spLocks noChangeArrowheads="1"/>
            </p:cNvSpPr>
            <p:nvPr/>
          </p:nvSpPr>
          <p:spPr bwMode="auto">
            <a:xfrm>
              <a:off x="6270" y="2718"/>
              <a:ext cx="338" cy="840"/>
            </a:xfrm>
            <a:prstGeom prst="upArrow">
              <a:avLst>
                <a:gd name="adj1" fmla="val 50000"/>
                <a:gd name="adj2" fmla="val 62130"/>
              </a:avLst>
            </a:prstGeom>
            <a:pattFill prst="lgCheck">
              <a:fgClr>
                <a:srgbClr val="333333"/>
              </a:fgClr>
              <a:bgClr>
                <a:srgbClr val="FFFFFF"/>
              </a:bgClr>
            </a:pattFill>
            <a:ln w="9525">
              <a:solidFill>
                <a:srgbClr val="000000"/>
              </a:solidFill>
              <a:miter lim="800000"/>
              <a:headEnd/>
              <a:tailEnd/>
            </a:ln>
          </p:spPr>
          <p:txBody>
            <a:bodyPr/>
            <a:lstStyle/>
            <a:p>
              <a:endParaRPr lang="en-US"/>
            </a:p>
          </p:txBody>
        </p:sp>
      </p:gr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e Placeholder 3"/>
          <p:cNvSpPr>
            <a:spLocks noGrp="1"/>
          </p:cNvSpPr>
          <p:nvPr>
            <p:ph type="dt" sz="quarter" idx="10"/>
          </p:nvPr>
        </p:nvSpPr>
        <p:spPr/>
        <p:txBody>
          <a:bodyPr/>
          <a:lstStyle/>
          <a:p>
            <a:pPr>
              <a:defRPr/>
            </a:pPr>
            <a:fld id="{2E5FB3BF-B857-438B-B12C-E7AE1CBBD5A3}" type="datetime1">
              <a:rPr lang="en-US"/>
              <a:pPr>
                <a:defRPr/>
              </a:pPr>
              <a:t>3/30/2018</a:t>
            </a:fld>
            <a:endParaRPr lang="en-US"/>
          </a:p>
        </p:txBody>
      </p:sp>
      <p:sp>
        <p:nvSpPr>
          <p:cNvPr id="12" name="Slide Number Placeholder 5"/>
          <p:cNvSpPr>
            <a:spLocks noGrp="1"/>
          </p:cNvSpPr>
          <p:nvPr>
            <p:ph type="sldNum" sz="quarter" idx="12"/>
          </p:nvPr>
        </p:nvSpPr>
        <p:spPr/>
        <p:txBody>
          <a:bodyPr/>
          <a:lstStyle/>
          <a:p>
            <a:pPr>
              <a:defRPr/>
            </a:pPr>
            <a:fld id="{222B6960-E5CE-4522-A147-B5C2265ED42A}" type="slidenum">
              <a:rPr lang="en-US"/>
              <a:pPr>
                <a:defRPr/>
              </a:pPr>
              <a:t>9</a:t>
            </a:fld>
            <a:endParaRPr lang="en-US"/>
          </a:p>
        </p:txBody>
      </p:sp>
      <p:sp>
        <p:nvSpPr>
          <p:cNvPr id="655362" name="Rectangle 2"/>
          <p:cNvSpPr>
            <a:spLocks noGrp="1" noRot="1" noChangeArrowheads="1"/>
          </p:cNvSpPr>
          <p:nvPr>
            <p:ph type="title"/>
          </p:nvPr>
        </p:nvSpPr>
        <p:spPr/>
        <p:txBody>
          <a:bodyPr/>
          <a:lstStyle/>
          <a:p>
            <a:pPr eaLnBrk="1" hangingPunct="1">
              <a:defRPr/>
            </a:pPr>
            <a:r>
              <a:rPr lang="en-US" smtClean="0"/>
              <a:t>Non-repudiation …</a:t>
            </a:r>
          </a:p>
        </p:txBody>
      </p:sp>
      <p:sp>
        <p:nvSpPr>
          <p:cNvPr id="33797" name="Rectangle 3"/>
          <p:cNvSpPr>
            <a:spLocks noChangeArrowheads="1"/>
          </p:cNvSpPr>
          <p:nvPr/>
        </p:nvSpPr>
        <p:spPr bwMode="auto">
          <a:xfrm>
            <a:off x="1731963" y="1966913"/>
            <a:ext cx="5810250" cy="3235325"/>
          </a:xfrm>
          <a:prstGeom prst="rect">
            <a:avLst/>
          </a:prstGeom>
          <a:solidFill>
            <a:srgbClr val="FFFFFF"/>
          </a:solidFill>
          <a:ln w="9525">
            <a:solidFill>
              <a:srgbClr val="000000"/>
            </a:solidFill>
            <a:miter lim="800000"/>
            <a:headEnd/>
            <a:tailEnd/>
          </a:ln>
        </p:spPr>
        <p:txBody>
          <a:bodyPr/>
          <a:lstStyle/>
          <a:p>
            <a:pPr algn="ctr" eaLnBrk="0" hangingPunct="0"/>
            <a:endParaRPr lang="en-US" sz="1800">
              <a:latin typeface="Tahoma" charset="0"/>
            </a:endParaRPr>
          </a:p>
        </p:txBody>
      </p:sp>
      <p:sp>
        <p:nvSpPr>
          <p:cNvPr id="33798" name="computr1"/>
          <p:cNvSpPr>
            <a:spLocks noEditPoints="1" noChangeArrowheads="1"/>
          </p:cNvSpPr>
          <p:nvPr/>
        </p:nvSpPr>
        <p:spPr bwMode="auto">
          <a:xfrm>
            <a:off x="2613025" y="2301875"/>
            <a:ext cx="860425" cy="895350"/>
          </a:xfrm>
          <a:custGeom>
            <a:avLst/>
            <a:gdLst>
              <a:gd name="T0" fmla="*/ 778167 w 21600"/>
              <a:gd name="T1" fmla="*/ 0 h 21600"/>
              <a:gd name="T2" fmla="*/ 430212 w 21600"/>
              <a:gd name="T3" fmla="*/ 0 h 21600"/>
              <a:gd name="T4" fmla="*/ 82258 w 21600"/>
              <a:gd name="T5" fmla="*/ 0 h 21600"/>
              <a:gd name="T6" fmla="*/ 0 w 21600"/>
              <a:gd name="T7" fmla="*/ 637854 h 21600"/>
              <a:gd name="T8" fmla="*/ 0 w 21600"/>
              <a:gd name="T9" fmla="*/ 895350 h 21600"/>
              <a:gd name="T10" fmla="*/ 430212 w 21600"/>
              <a:gd name="T11" fmla="*/ 895350 h 21600"/>
              <a:gd name="T12" fmla="*/ 860425 w 21600"/>
              <a:gd name="T13" fmla="*/ 895350 h 21600"/>
              <a:gd name="T14" fmla="*/ 860425 w 21600"/>
              <a:gd name="T15" fmla="*/ 637854 h 21600"/>
              <a:gd name="T16" fmla="*/ 778167 w 21600"/>
              <a:gd name="T17" fmla="*/ 561791 h 21600"/>
              <a:gd name="T18" fmla="*/ 82258 w 21600"/>
              <a:gd name="T19" fmla="*/ 561791 h 21600"/>
              <a:gd name="T20" fmla="*/ 82258 w 21600"/>
              <a:gd name="T21" fmla="*/ 280875 h 21600"/>
              <a:gd name="T22" fmla="*/ 778167 w 21600"/>
              <a:gd name="T23" fmla="*/ 280875 h 21600"/>
              <a:gd name="T24" fmla="*/ 0 w 21600"/>
              <a:gd name="T25" fmla="*/ 766602 h 21600"/>
              <a:gd name="T26" fmla="*/ 860425 w 21600"/>
              <a:gd name="T27" fmla="*/ 766602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solidFill>
                  <a:schemeClr val="accent2"/>
                </a:solidFill>
              </a:rPr>
              <a:t>A</a:t>
            </a:r>
          </a:p>
        </p:txBody>
      </p:sp>
      <p:sp>
        <p:nvSpPr>
          <p:cNvPr id="33799" name="computr1"/>
          <p:cNvSpPr>
            <a:spLocks noEditPoints="1" noChangeArrowheads="1"/>
          </p:cNvSpPr>
          <p:nvPr/>
        </p:nvSpPr>
        <p:spPr bwMode="auto">
          <a:xfrm>
            <a:off x="6072188" y="2286000"/>
            <a:ext cx="858837" cy="896938"/>
          </a:xfrm>
          <a:custGeom>
            <a:avLst/>
            <a:gdLst>
              <a:gd name="T0" fmla="*/ 776731 w 21600"/>
              <a:gd name="T1" fmla="*/ 0 h 21600"/>
              <a:gd name="T2" fmla="*/ 429419 w 21600"/>
              <a:gd name="T3" fmla="*/ 0 h 21600"/>
              <a:gd name="T4" fmla="*/ 82106 w 21600"/>
              <a:gd name="T5" fmla="*/ 0 h 21600"/>
              <a:gd name="T6" fmla="*/ 0 w 21600"/>
              <a:gd name="T7" fmla="*/ 638985 h 21600"/>
              <a:gd name="T8" fmla="*/ 0 w 21600"/>
              <a:gd name="T9" fmla="*/ 896938 h 21600"/>
              <a:gd name="T10" fmla="*/ 429419 w 21600"/>
              <a:gd name="T11" fmla="*/ 896938 h 21600"/>
              <a:gd name="T12" fmla="*/ 858837 w 21600"/>
              <a:gd name="T13" fmla="*/ 896938 h 21600"/>
              <a:gd name="T14" fmla="*/ 858837 w 21600"/>
              <a:gd name="T15" fmla="*/ 638985 h 21600"/>
              <a:gd name="T16" fmla="*/ 776731 w 21600"/>
              <a:gd name="T17" fmla="*/ 562787 h 21600"/>
              <a:gd name="T18" fmla="*/ 82106 w 21600"/>
              <a:gd name="T19" fmla="*/ 562787 h 21600"/>
              <a:gd name="T20" fmla="*/ 82106 w 21600"/>
              <a:gd name="T21" fmla="*/ 281373 h 21600"/>
              <a:gd name="T22" fmla="*/ 776731 w 21600"/>
              <a:gd name="T23" fmla="*/ 281373 h 21600"/>
              <a:gd name="T24" fmla="*/ 0 w 21600"/>
              <a:gd name="T25" fmla="*/ 767962 h 21600"/>
              <a:gd name="T26" fmla="*/ 858837 w 21600"/>
              <a:gd name="T27" fmla="*/ 767962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923 w 21600"/>
              <a:gd name="T43" fmla="*/ 2541 h 21600"/>
              <a:gd name="T44" fmla="*/ 16756 w 21600"/>
              <a:gd name="T45" fmla="*/ 11153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pPr algn="ctr" eaLnBrk="0" hangingPunct="0"/>
            <a:r>
              <a:rPr lang="en-US" sz="1200" b="1">
                <a:solidFill>
                  <a:schemeClr val="accent2"/>
                </a:solidFill>
              </a:rPr>
              <a:t>B</a:t>
            </a:r>
          </a:p>
        </p:txBody>
      </p:sp>
      <p:sp>
        <p:nvSpPr>
          <p:cNvPr id="33800" name="Text Box 6"/>
          <p:cNvSpPr txBox="1">
            <a:spLocks noChangeArrowheads="1"/>
          </p:cNvSpPr>
          <p:nvPr/>
        </p:nvSpPr>
        <p:spPr bwMode="auto">
          <a:xfrm>
            <a:off x="4149725" y="2247900"/>
            <a:ext cx="954088" cy="668338"/>
          </a:xfrm>
          <a:prstGeom prst="rect">
            <a:avLst/>
          </a:prstGeom>
          <a:solidFill>
            <a:srgbClr val="FFFFFF"/>
          </a:solidFill>
          <a:ln w="9525">
            <a:solidFill>
              <a:srgbClr val="000000"/>
            </a:solidFill>
            <a:miter lim="800000"/>
            <a:headEnd/>
            <a:tailEnd/>
          </a:ln>
        </p:spPr>
        <p:txBody>
          <a:bodyPr/>
          <a:lstStyle/>
          <a:p>
            <a:pPr algn="ctr" eaLnBrk="0" hangingPunct="0"/>
            <a:r>
              <a:rPr lang="en-US" sz="1200" b="1">
                <a:solidFill>
                  <a:schemeClr val="accent2"/>
                </a:solidFill>
              </a:rPr>
              <a:t>I never sent </a:t>
            </a:r>
            <a:r>
              <a:rPr lang="en-US" sz="1200" b="1" i="1">
                <a:solidFill>
                  <a:schemeClr val="accent2"/>
                </a:solidFill>
              </a:rPr>
              <a:t>that</a:t>
            </a:r>
            <a:r>
              <a:rPr lang="en-US" sz="1200" b="1">
                <a:solidFill>
                  <a:schemeClr val="accent2"/>
                </a:solidFill>
              </a:rPr>
              <a:t> message!</a:t>
            </a:r>
          </a:p>
        </p:txBody>
      </p:sp>
      <p:sp>
        <p:nvSpPr>
          <p:cNvPr id="33801" name="AutoShape 7" descr="Large checker board"/>
          <p:cNvSpPr>
            <a:spLocks noChangeArrowheads="1"/>
          </p:cNvSpPr>
          <p:nvPr/>
        </p:nvSpPr>
        <p:spPr bwMode="auto">
          <a:xfrm>
            <a:off x="5118100" y="2444750"/>
            <a:ext cx="1038225" cy="319088"/>
          </a:xfrm>
          <a:prstGeom prst="rightArrow">
            <a:avLst>
              <a:gd name="adj1" fmla="val 50000"/>
              <a:gd name="adj2" fmla="val 81343"/>
            </a:avLst>
          </a:prstGeom>
          <a:pattFill prst="lgCheck">
            <a:fgClr>
              <a:srgbClr val="333333"/>
            </a:fgClr>
            <a:bgClr>
              <a:srgbClr val="FFFFFF"/>
            </a:bgClr>
          </a:pattFill>
          <a:ln w="9525">
            <a:solidFill>
              <a:srgbClr val="000000"/>
            </a:solidFill>
            <a:miter lim="800000"/>
            <a:headEnd/>
            <a:tailEnd/>
          </a:ln>
        </p:spPr>
        <p:txBody>
          <a:bodyPr/>
          <a:lstStyle/>
          <a:p>
            <a:endParaRPr lang="en-US"/>
          </a:p>
        </p:txBody>
      </p:sp>
      <p:sp>
        <p:nvSpPr>
          <p:cNvPr id="33802" name="Text Box 8"/>
          <p:cNvSpPr txBox="1">
            <a:spLocks noChangeArrowheads="1"/>
          </p:cNvSpPr>
          <p:nvPr/>
        </p:nvSpPr>
        <p:spPr bwMode="auto">
          <a:xfrm>
            <a:off x="1824038" y="5522913"/>
            <a:ext cx="5764212" cy="384175"/>
          </a:xfrm>
          <a:prstGeom prst="rect">
            <a:avLst/>
          </a:prstGeom>
          <a:noFill/>
          <a:ln w="12700" algn="ctr">
            <a:noFill/>
            <a:miter lim="800000"/>
            <a:headEnd type="none" w="sm" len="sm"/>
            <a:tailEnd type="none" w="sm" len="sm"/>
          </a:ln>
        </p:spPr>
        <p:txBody>
          <a:bodyPr>
            <a:spAutoFit/>
          </a:bodyPr>
          <a:lstStyle/>
          <a:p>
            <a:pPr>
              <a:lnSpc>
                <a:spcPct val="80000"/>
              </a:lnSpc>
              <a:spcBef>
                <a:spcPct val="20000"/>
              </a:spcBef>
            </a:pPr>
            <a:r>
              <a:rPr lang="en-US">
                <a:latin typeface="Arial" charset="0"/>
              </a:rPr>
              <a:t>A sends a message and refutes it later</a:t>
            </a:r>
            <a:endParaRPr lang="en-US" i="1">
              <a:solidFill>
                <a:srgbClr val="0000CC"/>
              </a:solidFill>
              <a:latin typeface="Arial" charset="0"/>
            </a:endParaRPr>
          </a:p>
        </p:txBody>
      </p:sp>
      <p:sp>
        <p:nvSpPr>
          <p:cNvPr id="33803" name="AutoShape 9" descr="Large checker board"/>
          <p:cNvSpPr>
            <a:spLocks noChangeArrowheads="1"/>
          </p:cNvSpPr>
          <p:nvPr/>
        </p:nvSpPr>
        <p:spPr bwMode="auto">
          <a:xfrm>
            <a:off x="3382963" y="2452688"/>
            <a:ext cx="747712" cy="319087"/>
          </a:xfrm>
          <a:prstGeom prst="rightArrow">
            <a:avLst>
              <a:gd name="adj1" fmla="val 50000"/>
              <a:gd name="adj2" fmla="val 58582"/>
            </a:avLst>
          </a:prstGeom>
          <a:pattFill prst="lgCheck">
            <a:fgClr>
              <a:srgbClr val="333333"/>
            </a:fgClr>
            <a:bgClr>
              <a:srgbClr val="FFFFFF"/>
            </a:bgClr>
          </a:pattFill>
          <a:ln w="9525">
            <a:solidFill>
              <a:srgbClr val="000000"/>
            </a:solidFill>
            <a:miter lim="800000"/>
            <a:headEnd/>
            <a:tailEnd/>
          </a:ln>
        </p:spPr>
        <p:txBody>
          <a:bodyPr/>
          <a:lstStyle/>
          <a:p>
            <a:endParaRPr 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9404B376-0A04-43D5-B1D6-D35E41E03FBE}" type="datetime1">
              <a:rPr lang="en-US"/>
              <a:pPr>
                <a:defRPr/>
              </a:pPr>
              <a:t>3/30/2018</a:t>
            </a:fld>
            <a:endParaRPr lang="en-US"/>
          </a:p>
        </p:txBody>
      </p:sp>
      <p:sp>
        <p:nvSpPr>
          <p:cNvPr id="6" name="Slide Number Placeholder 5"/>
          <p:cNvSpPr>
            <a:spLocks noGrp="1"/>
          </p:cNvSpPr>
          <p:nvPr>
            <p:ph type="sldNum" sz="quarter" idx="12"/>
          </p:nvPr>
        </p:nvSpPr>
        <p:spPr/>
        <p:txBody>
          <a:bodyPr/>
          <a:lstStyle/>
          <a:p>
            <a:pPr>
              <a:defRPr/>
            </a:pPr>
            <a:fld id="{B218A303-EE38-456C-8A96-E43615EF6C77}" type="slidenum">
              <a:rPr lang="en-US"/>
              <a:pPr>
                <a:defRPr/>
              </a:pPr>
              <a:t>10</a:t>
            </a:fld>
            <a:endParaRPr lang="en-US"/>
          </a:p>
        </p:txBody>
      </p:sp>
      <p:sp>
        <p:nvSpPr>
          <p:cNvPr id="656386" name="Rectangle 2"/>
          <p:cNvSpPr>
            <a:spLocks noGrp="1" noRot="1" noChangeArrowheads="1"/>
          </p:cNvSpPr>
          <p:nvPr>
            <p:ph type="title"/>
          </p:nvPr>
        </p:nvSpPr>
        <p:spPr/>
        <p:txBody>
          <a:bodyPr/>
          <a:lstStyle/>
          <a:p>
            <a:pPr eaLnBrk="1" hangingPunct="1">
              <a:defRPr/>
            </a:pPr>
            <a:r>
              <a:rPr lang="en-US" smtClean="0"/>
              <a:t>How to achieve Security?</a:t>
            </a:r>
          </a:p>
        </p:txBody>
      </p:sp>
      <p:sp>
        <p:nvSpPr>
          <p:cNvPr id="656387" name="Rectangle 3"/>
          <p:cNvSpPr>
            <a:spLocks noGrp="1" noRot="1" noChangeArrowheads="1"/>
          </p:cNvSpPr>
          <p:nvPr>
            <p:ph type="body" idx="1"/>
          </p:nvPr>
        </p:nvSpPr>
        <p:spPr/>
        <p:txBody>
          <a:bodyPr/>
          <a:lstStyle/>
          <a:p>
            <a:pPr eaLnBrk="1" hangingPunct="1">
              <a:buFont typeface="Wingdings" pitchFamily="2" charset="2"/>
              <a:buChar char="§"/>
              <a:defRPr/>
            </a:pPr>
            <a:r>
              <a:rPr lang="en-US" smtClean="0"/>
              <a:t>Use </a:t>
            </a:r>
            <a:r>
              <a:rPr lang="en-US" smtClean="0">
                <a:solidFill>
                  <a:schemeClr val="hlink"/>
                </a:solidFill>
              </a:rPr>
              <a:t>Cryptography</a:t>
            </a:r>
          </a:p>
          <a:p>
            <a:pPr eaLnBrk="1" hangingPunct="1">
              <a:buFont typeface="Wingdings" pitchFamily="2" charset="2"/>
              <a:buChar char="§"/>
              <a:defRPr/>
            </a:pPr>
            <a:endParaRPr lang="en-US" smtClean="0"/>
          </a:p>
          <a:p>
            <a:pPr eaLnBrk="1" hangingPunct="1">
              <a:buFont typeface="Wingdings" pitchFamily="2" charset="2"/>
              <a:buChar char="§"/>
              <a:defRPr/>
            </a:pPr>
            <a:r>
              <a:rPr lang="en-US" smtClean="0"/>
              <a:t>Art of transforming messages</a:t>
            </a:r>
          </a:p>
          <a:p>
            <a:pPr eaLnBrk="1" hangingPunct="1">
              <a:buFont typeface="Wingdings" pitchFamily="2" charset="2"/>
              <a:buChar char="§"/>
              <a:defRPr/>
            </a:pPr>
            <a:endParaRPr lang="en-US" smtClean="0"/>
          </a:p>
          <a:p>
            <a:pPr eaLnBrk="1" hangingPunct="1">
              <a:buFont typeface="Wingdings" pitchFamily="2" charset="2"/>
              <a:buChar char="§"/>
              <a:defRPr/>
            </a:pPr>
            <a:r>
              <a:rPr lang="en-US" smtClean="0"/>
              <a:t>Messages become unreadable </a:t>
            </a:r>
          </a:p>
          <a:p>
            <a:pPr eaLnBrk="1" hangingPunct="1">
              <a:buFont typeface="Wingdings" pitchFamily="2" charset="2"/>
              <a:buChar char="§"/>
              <a:defRPr/>
            </a:pPr>
            <a:endParaRPr lang="en-US" smtClean="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84784"/>
            <a:ext cx="8229600" cy="4968552"/>
          </a:xfrm>
        </p:spPr>
        <p:txBody>
          <a:bodyPr>
            <a:normAutofit fontScale="62500" lnSpcReduction="20000"/>
          </a:bodyPr>
          <a:lstStyle/>
          <a:p>
            <a:pPr marL="0" indent="0" algn="just">
              <a:spcBef>
                <a:spcPts val="0"/>
              </a:spcBef>
            </a:pPr>
            <a:r>
              <a:rPr lang="en-IN" dirty="0" smtClean="0"/>
              <a:t>ITU-T Recommendation </a:t>
            </a:r>
            <a:r>
              <a:rPr lang="en-IN" dirty="0" smtClean="0">
                <a:hlinkClick r:id="rId2"/>
              </a:rPr>
              <a:t>X.800</a:t>
            </a:r>
            <a:r>
              <a:rPr lang="en-IN" dirty="0" smtClean="0"/>
              <a:t>, Security Architecture for Open System Interconnection (OSI), defines a systematic approach.</a:t>
            </a:r>
          </a:p>
          <a:p>
            <a:pPr marL="0" indent="0" algn="just">
              <a:spcBef>
                <a:spcPts val="0"/>
              </a:spcBef>
            </a:pPr>
            <a:endParaRPr lang="en-IN" dirty="0" smtClean="0"/>
          </a:p>
          <a:p>
            <a:pPr marL="0" indent="0" algn="just">
              <a:lnSpc>
                <a:spcPct val="120000"/>
              </a:lnSpc>
              <a:spcBef>
                <a:spcPts val="0"/>
              </a:spcBef>
            </a:pPr>
            <a:r>
              <a:rPr lang="en-IN" dirty="0" smtClean="0"/>
              <a:t>The OSI security architecture focuses on security </a:t>
            </a:r>
            <a:r>
              <a:rPr lang="en-IN" u="sng" dirty="0" smtClean="0"/>
              <a:t>attacks</a:t>
            </a:r>
            <a:r>
              <a:rPr lang="en-IN" dirty="0" smtClean="0"/>
              <a:t>, </a:t>
            </a:r>
            <a:r>
              <a:rPr lang="en-IN" u="sng" dirty="0" smtClean="0"/>
              <a:t>mechanisms</a:t>
            </a:r>
            <a:r>
              <a:rPr lang="en-IN" dirty="0" smtClean="0"/>
              <a:t>, and </a:t>
            </a:r>
            <a:r>
              <a:rPr lang="en-IN" u="sng" dirty="0" smtClean="0"/>
              <a:t>services</a:t>
            </a:r>
            <a:r>
              <a:rPr lang="en-IN" dirty="0" smtClean="0"/>
              <a:t>. </a:t>
            </a:r>
          </a:p>
          <a:p>
            <a:pPr marL="0" indent="0" algn="just">
              <a:lnSpc>
                <a:spcPct val="120000"/>
              </a:lnSpc>
              <a:spcBef>
                <a:spcPts val="0"/>
              </a:spcBef>
            </a:pPr>
            <a:endParaRPr lang="en-IN" dirty="0" smtClean="0"/>
          </a:p>
          <a:p>
            <a:pPr marL="0" indent="0" algn="just">
              <a:lnSpc>
                <a:spcPct val="120000"/>
              </a:lnSpc>
              <a:spcBef>
                <a:spcPts val="0"/>
              </a:spcBef>
            </a:pPr>
            <a:r>
              <a:rPr lang="en-IN" dirty="0" smtClean="0"/>
              <a:t>These can be defined as:</a:t>
            </a:r>
          </a:p>
          <a:p>
            <a:pPr marL="0" indent="0" algn="just">
              <a:lnSpc>
                <a:spcPct val="120000"/>
              </a:lnSpc>
              <a:spcBef>
                <a:spcPts val="0"/>
              </a:spcBef>
            </a:pPr>
            <a:endParaRPr lang="en-IN" dirty="0" smtClean="0"/>
          </a:p>
          <a:p>
            <a:pPr marL="0" indent="0" algn="just">
              <a:lnSpc>
                <a:spcPct val="120000"/>
              </a:lnSpc>
              <a:spcBef>
                <a:spcPts val="0"/>
              </a:spcBef>
            </a:pPr>
            <a:r>
              <a:rPr lang="en-IN" dirty="0" smtClean="0"/>
              <a:t>• </a:t>
            </a:r>
            <a:r>
              <a:rPr lang="en-IN" b="1" dirty="0" smtClean="0"/>
              <a:t>Security Attack: </a:t>
            </a:r>
            <a:r>
              <a:rPr lang="en-IN" dirty="0" smtClean="0"/>
              <a:t>Any action that compromises the security of information owned by an organization.</a:t>
            </a:r>
          </a:p>
          <a:p>
            <a:pPr marL="0" indent="0" algn="just">
              <a:lnSpc>
                <a:spcPct val="120000"/>
              </a:lnSpc>
              <a:spcBef>
                <a:spcPts val="0"/>
              </a:spcBef>
            </a:pPr>
            <a:endParaRPr lang="en-IN" dirty="0" smtClean="0"/>
          </a:p>
          <a:p>
            <a:pPr marL="0" indent="0" algn="just">
              <a:lnSpc>
                <a:spcPct val="120000"/>
              </a:lnSpc>
              <a:spcBef>
                <a:spcPts val="0"/>
              </a:spcBef>
            </a:pPr>
            <a:r>
              <a:rPr lang="en-IN" dirty="0" smtClean="0"/>
              <a:t>• </a:t>
            </a:r>
            <a:r>
              <a:rPr lang="en-IN" b="1" dirty="0" smtClean="0"/>
              <a:t>Security Mechanism: </a:t>
            </a:r>
            <a:r>
              <a:rPr lang="en-IN" dirty="0" smtClean="0"/>
              <a:t>A process (or a device incorporating such a process) that is designed to </a:t>
            </a:r>
            <a:r>
              <a:rPr lang="en-IN" u="sng" dirty="0" smtClean="0"/>
              <a:t>detect</a:t>
            </a:r>
            <a:r>
              <a:rPr lang="en-IN" dirty="0" smtClean="0"/>
              <a:t>, </a:t>
            </a:r>
            <a:r>
              <a:rPr lang="en-IN" u="sng" dirty="0" smtClean="0"/>
              <a:t>prevent</a:t>
            </a:r>
            <a:r>
              <a:rPr lang="en-IN" dirty="0" smtClean="0"/>
              <a:t>, or </a:t>
            </a:r>
            <a:r>
              <a:rPr lang="en-IN" u="sng" dirty="0" smtClean="0"/>
              <a:t>recover </a:t>
            </a:r>
            <a:r>
              <a:rPr lang="en-IN" dirty="0" smtClean="0"/>
              <a:t>from a security attack.</a:t>
            </a:r>
          </a:p>
          <a:p>
            <a:pPr marL="0" indent="0" algn="just">
              <a:lnSpc>
                <a:spcPct val="120000"/>
              </a:lnSpc>
              <a:spcBef>
                <a:spcPts val="0"/>
              </a:spcBef>
            </a:pPr>
            <a:endParaRPr lang="en-IN" dirty="0" smtClean="0"/>
          </a:p>
          <a:p>
            <a:pPr marL="0" indent="0" algn="just">
              <a:lnSpc>
                <a:spcPct val="120000"/>
              </a:lnSpc>
              <a:spcBef>
                <a:spcPts val="0"/>
              </a:spcBef>
            </a:pPr>
            <a:r>
              <a:rPr lang="en-IN" dirty="0" smtClean="0"/>
              <a:t>• </a:t>
            </a:r>
            <a:r>
              <a:rPr lang="en-IN" b="1" dirty="0" smtClean="0"/>
              <a:t>Security Service: </a:t>
            </a:r>
            <a:r>
              <a:rPr lang="en-IN" dirty="0" smtClean="0"/>
              <a:t>A processing or communication service that enhances the security of the data processing systems and the information transfers of an organization. The services are intended to counter security attacks, and they make use of </a:t>
            </a:r>
            <a:r>
              <a:rPr lang="en-IN" u="sng" dirty="0" smtClean="0"/>
              <a:t>one or more security mechanisms</a:t>
            </a:r>
            <a:r>
              <a:rPr lang="en-IN" dirty="0" smtClean="0"/>
              <a:t> to provide the service.</a:t>
            </a:r>
            <a:endParaRPr lang="en-IN" dirty="0"/>
          </a:p>
        </p:txBody>
      </p:sp>
      <p:sp>
        <p:nvSpPr>
          <p:cNvPr id="3" name="Content Placeholder 2"/>
          <p:cNvSpPr>
            <a:spLocks noGrp="1"/>
          </p:cNvSpPr>
          <p:nvPr>
            <p:ph sz="quarter" idx="10"/>
          </p:nvPr>
        </p:nvSpPr>
        <p:spPr/>
        <p:txBody>
          <a:bodyPr/>
          <a:lstStyle/>
          <a:p>
            <a:r>
              <a:rPr lang="en-IN" b="1" dirty="0" smtClean="0"/>
              <a:t>The OSI Security Architecture</a:t>
            </a:r>
            <a:endParaRPr lang="en-IN" b="1"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11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b="1" dirty="0" smtClean="0"/>
              <a:t>Security Attacks</a:t>
            </a:r>
          </a:p>
          <a:p>
            <a:r>
              <a:rPr lang="en-IN" sz="2000" dirty="0" smtClean="0"/>
              <a:t>Types as described in X.800</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12</a:t>
            </a:fld>
            <a:endParaRPr lang="en-US" dirty="0"/>
          </a:p>
        </p:txBody>
      </p:sp>
      <p:sp>
        <p:nvSpPr>
          <p:cNvPr id="5" name="TextBox 4"/>
          <p:cNvSpPr txBox="1"/>
          <p:nvPr/>
        </p:nvSpPr>
        <p:spPr>
          <a:xfrm>
            <a:off x="3203848" y="1700808"/>
            <a:ext cx="3168352" cy="523220"/>
          </a:xfrm>
          <a:prstGeom prst="rect">
            <a:avLst/>
          </a:prstGeom>
          <a:solidFill>
            <a:srgbClr val="C00000"/>
          </a:solidFill>
          <a:ln w="25400">
            <a:solidFill>
              <a:schemeClr val="tx1"/>
            </a:solidFill>
          </a:ln>
        </p:spPr>
        <p:txBody>
          <a:bodyPr wrap="square" rtlCol="0">
            <a:spAutoFit/>
          </a:bodyPr>
          <a:lstStyle/>
          <a:p>
            <a:pPr algn="ctr"/>
            <a:r>
              <a:rPr lang="en-IN" sz="2800" b="1" dirty="0" smtClean="0">
                <a:solidFill>
                  <a:schemeClr val="bg1"/>
                </a:solidFill>
              </a:rPr>
              <a:t>Security Attacks</a:t>
            </a:r>
            <a:endParaRPr lang="en-IN" sz="2800" b="1" dirty="0">
              <a:solidFill>
                <a:schemeClr val="bg1"/>
              </a:solidFill>
            </a:endParaRPr>
          </a:p>
        </p:txBody>
      </p:sp>
      <p:grpSp>
        <p:nvGrpSpPr>
          <p:cNvPr id="2" name="Group 32"/>
          <p:cNvGrpSpPr/>
          <p:nvPr/>
        </p:nvGrpSpPr>
        <p:grpSpPr>
          <a:xfrm>
            <a:off x="2051720" y="2224028"/>
            <a:ext cx="5472608" cy="556900"/>
            <a:chOff x="2051720" y="2224028"/>
            <a:chExt cx="5472608" cy="556900"/>
          </a:xfrm>
        </p:grpSpPr>
        <p:cxnSp>
          <p:nvCxnSpPr>
            <p:cNvPr id="17" name="Straight Connector 16"/>
            <p:cNvCxnSpPr>
              <a:stCxn id="5" idx="2"/>
            </p:cNvCxnSpPr>
            <p:nvPr/>
          </p:nvCxnSpPr>
          <p:spPr>
            <a:xfrm>
              <a:off x="4788024" y="2224028"/>
              <a:ext cx="0" cy="4756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2051720" y="2564904"/>
              <a:ext cx="26642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644008" y="2564904"/>
              <a:ext cx="2880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endCxn id="14" idx="0"/>
            </p:cNvCxnSpPr>
            <p:nvPr/>
          </p:nvCxnSpPr>
          <p:spPr>
            <a:xfrm>
              <a:off x="4788024" y="2564904"/>
              <a:ext cx="0" cy="216024"/>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15" idx="0"/>
            </p:cNvCxnSpPr>
            <p:nvPr/>
          </p:nvCxnSpPr>
          <p:spPr>
            <a:xfrm flipV="1">
              <a:off x="7524328" y="2564904"/>
              <a:ext cx="0" cy="216024"/>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13" idx="0"/>
            </p:cNvCxnSpPr>
            <p:nvPr/>
          </p:nvCxnSpPr>
          <p:spPr>
            <a:xfrm flipV="1">
              <a:off x="2051720" y="2564904"/>
              <a:ext cx="0" cy="216024"/>
            </a:xfrm>
            <a:prstGeom prst="line">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6" name="Group 38"/>
          <p:cNvGrpSpPr/>
          <p:nvPr/>
        </p:nvGrpSpPr>
        <p:grpSpPr>
          <a:xfrm>
            <a:off x="755576" y="2780928"/>
            <a:ext cx="2592288" cy="1675929"/>
            <a:chOff x="755576" y="2780928"/>
            <a:chExt cx="2592288" cy="1675929"/>
          </a:xfrm>
        </p:grpSpPr>
        <p:grpSp>
          <p:nvGrpSpPr>
            <p:cNvPr id="18" name="Group 34"/>
            <p:cNvGrpSpPr/>
            <p:nvPr/>
          </p:nvGrpSpPr>
          <p:grpSpPr>
            <a:xfrm>
              <a:off x="755576" y="2780928"/>
              <a:ext cx="2592288" cy="1224136"/>
              <a:chOff x="755576" y="2780928"/>
              <a:chExt cx="2592288" cy="1224136"/>
            </a:xfrm>
          </p:grpSpPr>
          <p:sp>
            <p:nvSpPr>
              <p:cNvPr id="6" name="TextBox 5"/>
              <p:cNvSpPr txBox="1"/>
              <p:nvPr/>
            </p:nvSpPr>
            <p:spPr>
              <a:xfrm>
                <a:off x="827584" y="2924944"/>
                <a:ext cx="2448272" cy="369332"/>
              </a:xfrm>
              <a:prstGeom prst="rect">
                <a:avLst/>
              </a:prstGeom>
              <a:solidFill>
                <a:srgbClr val="92D050"/>
              </a:solidFill>
              <a:ln>
                <a:solidFill>
                  <a:schemeClr val="tx1"/>
                </a:solidFill>
              </a:ln>
            </p:spPr>
            <p:txBody>
              <a:bodyPr wrap="square" rtlCol="0">
                <a:spAutoFit/>
              </a:bodyPr>
              <a:lstStyle/>
              <a:p>
                <a:pPr algn="ctr"/>
                <a:r>
                  <a:rPr lang="en-IN" b="1" dirty="0" smtClean="0"/>
                  <a:t>Snooping</a:t>
                </a:r>
                <a:endParaRPr lang="en-IN" b="1" dirty="0"/>
              </a:p>
            </p:txBody>
          </p:sp>
          <p:sp>
            <p:nvSpPr>
              <p:cNvPr id="7" name="TextBox 6"/>
              <p:cNvSpPr txBox="1"/>
              <p:nvPr/>
            </p:nvSpPr>
            <p:spPr>
              <a:xfrm>
                <a:off x="827584" y="3501008"/>
                <a:ext cx="2448272" cy="369332"/>
              </a:xfrm>
              <a:prstGeom prst="rect">
                <a:avLst/>
              </a:prstGeom>
              <a:solidFill>
                <a:srgbClr val="92D050"/>
              </a:solidFill>
              <a:ln>
                <a:solidFill>
                  <a:schemeClr val="tx1"/>
                </a:solidFill>
              </a:ln>
            </p:spPr>
            <p:txBody>
              <a:bodyPr wrap="square" rtlCol="0">
                <a:spAutoFit/>
              </a:bodyPr>
              <a:lstStyle/>
              <a:p>
                <a:pPr algn="ctr"/>
                <a:r>
                  <a:rPr lang="en-IN" b="1" dirty="0" smtClean="0"/>
                  <a:t>Traffic Analysis</a:t>
                </a:r>
                <a:endParaRPr lang="en-IN" b="1" dirty="0"/>
              </a:p>
            </p:txBody>
          </p:sp>
          <p:sp>
            <p:nvSpPr>
              <p:cNvPr id="13" name="Rectangle 12"/>
              <p:cNvSpPr/>
              <p:nvPr/>
            </p:nvSpPr>
            <p:spPr>
              <a:xfrm>
                <a:off x="755576" y="2780928"/>
                <a:ext cx="2592288" cy="12241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8" name="TextBox 37"/>
            <p:cNvSpPr txBox="1"/>
            <p:nvPr/>
          </p:nvSpPr>
          <p:spPr>
            <a:xfrm>
              <a:off x="827584" y="4149080"/>
              <a:ext cx="2448272" cy="307777"/>
            </a:xfrm>
            <a:prstGeom prst="rect">
              <a:avLst/>
            </a:prstGeom>
            <a:noFill/>
            <a:ln>
              <a:noFill/>
            </a:ln>
          </p:spPr>
          <p:txBody>
            <a:bodyPr wrap="square" rtlCol="0">
              <a:spAutoFit/>
            </a:bodyPr>
            <a:lstStyle/>
            <a:p>
              <a:pPr algn="ctr"/>
              <a:r>
                <a:rPr lang="en-IN" sz="1400" b="1" i="1" dirty="0" smtClean="0"/>
                <a:t>Attacking Confidentiality</a:t>
              </a:r>
              <a:endParaRPr lang="en-IN" sz="1400" b="1" i="1" dirty="0"/>
            </a:p>
          </p:txBody>
        </p:sp>
      </p:grpSp>
      <p:grpSp>
        <p:nvGrpSpPr>
          <p:cNvPr id="20" name="Group 40"/>
          <p:cNvGrpSpPr/>
          <p:nvPr/>
        </p:nvGrpSpPr>
        <p:grpSpPr>
          <a:xfrm>
            <a:off x="3491880" y="2780928"/>
            <a:ext cx="2592288" cy="3044081"/>
            <a:chOff x="3491880" y="2780928"/>
            <a:chExt cx="2592288" cy="3044081"/>
          </a:xfrm>
        </p:grpSpPr>
        <p:grpSp>
          <p:nvGrpSpPr>
            <p:cNvPr id="22" name="Group 35"/>
            <p:cNvGrpSpPr/>
            <p:nvPr/>
          </p:nvGrpSpPr>
          <p:grpSpPr>
            <a:xfrm>
              <a:off x="3491880" y="2780928"/>
              <a:ext cx="2592288" cy="2520280"/>
              <a:chOff x="3491880" y="2780928"/>
              <a:chExt cx="2592288" cy="2520280"/>
            </a:xfrm>
          </p:grpSpPr>
          <p:sp>
            <p:nvSpPr>
              <p:cNvPr id="8" name="TextBox 7"/>
              <p:cNvSpPr txBox="1"/>
              <p:nvPr/>
            </p:nvSpPr>
            <p:spPr>
              <a:xfrm>
                <a:off x="3563888" y="2924944"/>
                <a:ext cx="2448272" cy="369332"/>
              </a:xfrm>
              <a:prstGeom prst="rect">
                <a:avLst/>
              </a:prstGeom>
              <a:solidFill>
                <a:srgbClr val="FFFF00"/>
              </a:solidFill>
              <a:ln>
                <a:solidFill>
                  <a:schemeClr val="tx1"/>
                </a:solidFill>
              </a:ln>
            </p:spPr>
            <p:txBody>
              <a:bodyPr wrap="square" rtlCol="0">
                <a:spAutoFit/>
              </a:bodyPr>
              <a:lstStyle/>
              <a:p>
                <a:pPr algn="ctr"/>
                <a:r>
                  <a:rPr lang="en-IN" b="1" dirty="0" smtClean="0"/>
                  <a:t>Modification</a:t>
                </a:r>
                <a:endParaRPr lang="en-IN" b="1" dirty="0"/>
              </a:p>
            </p:txBody>
          </p:sp>
          <p:sp>
            <p:nvSpPr>
              <p:cNvPr id="9" name="TextBox 8"/>
              <p:cNvSpPr txBox="1"/>
              <p:nvPr/>
            </p:nvSpPr>
            <p:spPr>
              <a:xfrm>
                <a:off x="3563888" y="3501008"/>
                <a:ext cx="2448272" cy="369332"/>
              </a:xfrm>
              <a:prstGeom prst="rect">
                <a:avLst/>
              </a:prstGeom>
              <a:solidFill>
                <a:srgbClr val="FFFF00"/>
              </a:solidFill>
              <a:ln>
                <a:solidFill>
                  <a:schemeClr val="tx1"/>
                </a:solidFill>
              </a:ln>
            </p:spPr>
            <p:txBody>
              <a:bodyPr wrap="square" rtlCol="0">
                <a:spAutoFit/>
              </a:bodyPr>
              <a:lstStyle/>
              <a:p>
                <a:pPr algn="ctr"/>
                <a:r>
                  <a:rPr lang="en-IN" b="1" dirty="0" smtClean="0"/>
                  <a:t>Masquerading</a:t>
                </a:r>
                <a:endParaRPr lang="en-IN" b="1" dirty="0"/>
              </a:p>
            </p:txBody>
          </p:sp>
          <p:sp>
            <p:nvSpPr>
              <p:cNvPr id="10" name="TextBox 9"/>
              <p:cNvSpPr txBox="1"/>
              <p:nvPr/>
            </p:nvSpPr>
            <p:spPr>
              <a:xfrm>
                <a:off x="3563888" y="4149080"/>
                <a:ext cx="2448272" cy="369332"/>
              </a:xfrm>
              <a:prstGeom prst="rect">
                <a:avLst/>
              </a:prstGeom>
              <a:solidFill>
                <a:srgbClr val="FFFF00"/>
              </a:solidFill>
              <a:ln>
                <a:solidFill>
                  <a:schemeClr val="tx1"/>
                </a:solidFill>
              </a:ln>
            </p:spPr>
            <p:txBody>
              <a:bodyPr wrap="square" rtlCol="0">
                <a:spAutoFit/>
              </a:bodyPr>
              <a:lstStyle/>
              <a:p>
                <a:pPr algn="ctr"/>
                <a:r>
                  <a:rPr lang="en-IN" b="1" dirty="0" smtClean="0"/>
                  <a:t>Replaying</a:t>
                </a:r>
                <a:endParaRPr lang="en-IN" b="1" dirty="0"/>
              </a:p>
            </p:txBody>
          </p:sp>
          <p:sp>
            <p:nvSpPr>
              <p:cNvPr id="11" name="TextBox 10"/>
              <p:cNvSpPr txBox="1"/>
              <p:nvPr/>
            </p:nvSpPr>
            <p:spPr>
              <a:xfrm>
                <a:off x="3563888" y="4797152"/>
                <a:ext cx="2448272" cy="369332"/>
              </a:xfrm>
              <a:prstGeom prst="rect">
                <a:avLst/>
              </a:prstGeom>
              <a:solidFill>
                <a:srgbClr val="FFFF00"/>
              </a:solidFill>
              <a:ln>
                <a:solidFill>
                  <a:schemeClr val="tx1"/>
                </a:solidFill>
              </a:ln>
            </p:spPr>
            <p:txBody>
              <a:bodyPr wrap="square" rtlCol="0">
                <a:spAutoFit/>
              </a:bodyPr>
              <a:lstStyle/>
              <a:p>
                <a:pPr algn="ctr"/>
                <a:r>
                  <a:rPr lang="en-IN" b="1" dirty="0" smtClean="0"/>
                  <a:t>Repudiation</a:t>
                </a:r>
                <a:endParaRPr lang="en-IN" b="1" dirty="0"/>
              </a:p>
            </p:txBody>
          </p:sp>
          <p:sp>
            <p:nvSpPr>
              <p:cNvPr id="14" name="Rectangle 13"/>
              <p:cNvSpPr/>
              <p:nvPr/>
            </p:nvSpPr>
            <p:spPr>
              <a:xfrm>
                <a:off x="3491880" y="2780928"/>
                <a:ext cx="2592288" cy="25202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0" name="TextBox 39"/>
            <p:cNvSpPr txBox="1"/>
            <p:nvPr/>
          </p:nvSpPr>
          <p:spPr>
            <a:xfrm>
              <a:off x="3491880" y="5517232"/>
              <a:ext cx="2448272" cy="307777"/>
            </a:xfrm>
            <a:prstGeom prst="rect">
              <a:avLst/>
            </a:prstGeom>
            <a:noFill/>
            <a:ln>
              <a:noFill/>
            </a:ln>
          </p:spPr>
          <p:txBody>
            <a:bodyPr wrap="square" rtlCol="0">
              <a:spAutoFit/>
            </a:bodyPr>
            <a:lstStyle/>
            <a:p>
              <a:pPr algn="ctr"/>
              <a:r>
                <a:rPr lang="en-IN" sz="1400" b="1" i="1" dirty="0" smtClean="0"/>
                <a:t>Attacking Integrity</a:t>
              </a:r>
              <a:endParaRPr lang="en-IN" sz="1400" b="1" i="1" dirty="0"/>
            </a:p>
          </p:txBody>
        </p:sp>
      </p:grpSp>
      <p:grpSp>
        <p:nvGrpSpPr>
          <p:cNvPr id="23" name="Group 42"/>
          <p:cNvGrpSpPr/>
          <p:nvPr/>
        </p:nvGrpSpPr>
        <p:grpSpPr>
          <a:xfrm>
            <a:off x="6228184" y="2780928"/>
            <a:ext cx="2592288" cy="1099865"/>
            <a:chOff x="6228184" y="2780928"/>
            <a:chExt cx="2592288" cy="1099865"/>
          </a:xfrm>
        </p:grpSpPr>
        <p:grpSp>
          <p:nvGrpSpPr>
            <p:cNvPr id="24" name="Group 36"/>
            <p:cNvGrpSpPr/>
            <p:nvPr/>
          </p:nvGrpSpPr>
          <p:grpSpPr>
            <a:xfrm>
              <a:off x="6228184" y="2780928"/>
              <a:ext cx="2592288" cy="648072"/>
              <a:chOff x="6228184" y="2780928"/>
              <a:chExt cx="2592288" cy="648072"/>
            </a:xfrm>
          </p:grpSpPr>
          <p:sp>
            <p:nvSpPr>
              <p:cNvPr id="12" name="TextBox 11"/>
              <p:cNvSpPr txBox="1"/>
              <p:nvPr/>
            </p:nvSpPr>
            <p:spPr>
              <a:xfrm>
                <a:off x="6300192" y="2924944"/>
                <a:ext cx="2448272" cy="369332"/>
              </a:xfrm>
              <a:prstGeom prst="rect">
                <a:avLst/>
              </a:prstGeom>
              <a:solidFill>
                <a:srgbClr val="00B0F0"/>
              </a:solidFill>
              <a:ln>
                <a:solidFill>
                  <a:schemeClr val="tx1"/>
                </a:solidFill>
              </a:ln>
            </p:spPr>
            <p:txBody>
              <a:bodyPr wrap="square" rtlCol="0">
                <a:spAutoFit/>
              </a:bodyPr>
              <a:lstStyle/>
              <a:p>
                <a:pPr algn="ctr"/>
                <a:r>
                  <a:rPr lang="en-IN" b="1" dirty="0" smtClean="0"/>
                  <a:t>Denial of Service (DoS)</a:t>
                </a:r>
                <a:endParaRPr lang="en-IN" b="1" dirty="0"/>
              </a:p>
            </p:txBody>
          </p:sp>
          <p:sp>
            <p:nvSpPr>
              <p:cNvPr id="15" name="Rectangle 14"/>
              <p:cNvSpPr/>
              <p:nvPr/>
            </p:nvSpPr>
            <p:spPr>
              <a:xfrm>
                <a:off x="6228184" y="2780928"/>
                <a:ext cx="2592288" cy="6480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2" name="TextBox 41"/>
            <p:cNvSpPr txBox="1"/>
            <p:nvPr/>
          </p:nvSpPr>
          <p:spPr>
            <a:xfrm>
              <a:off x="6300192" y="3573016"/>
              <a:ext cx="2448272" cy="307777"/>
            </a:xfrm>
            <a:prstGeom prst="rect">
              <a:avLst/>
            </a:prstGeom>
            <a:noFill/>
            <a:ln>
              <a:noFill/>
            </a:ln>
          </p:spPr>
          <p:txBody>
            <a:bodyPr wrap="square" rtlCol="0">
              <a:spAutoFit/>
            </a:bodyPr>
            <a:lstStyle/>
            <a:p>
              <a:pPr algn="ctr"/>
              <a:r>
                <a:rPr lang="en-IN" sz="1400" b="1" i="1" dirty="0" smtClean="0"/>
                <a:t>Attacking Availability</a:t>
              </a:r>
              <a:endParaRPr lang="en-IN" sz="1400" b="1" i="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b="1" dirty="0" smtClean="0"/>
              <a:t>Security Attacks</a:t>
            </a:r>
          </a:p>
          <a:p>
            <a:r>
              <a:rPr lang="en-IN" sz="2000" b="1" dirty="0" smtClean="0"/>
              <a:t>Explanation and Examples</a:t>
            </a:r>
            <a:endParaRPr lang="en-IN" sz="2000" b="1"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13</a:t>
            </a:fld>
            <a:endParaRPr lang="en-US" dirty="0"/>
          </a:p>
        </p:txBody>
      </p:sp>
      <p:graphicFrame>
        <p:nvGraphicFramePr>
          <p:cNvPr id="15" name="Table 14"/>
          <p:cNvGraphicFramePr>
            <a:graphicFrameLocks noGrp="1"/>
          </p:cNvGraphicFramePr>
          <p:nvPr/>
        </p:nvGraphicFramePr>
        <p:xfrm>
          <a:off x="2143968" y="1491635"/>
          <a:ext cx="6172448" cy="497205"/>
        </p:xfrm>
        <a:graphic>
          <a:graphicData uri="http://schemas.openxmlformats.org/drawingml/2006/table">
            <a:tbl>
              <a:tblPr/>
              <a:tblGrid>
                <a:gridCol w="1526789"/>
                <a:gridCol w="4645659"/>
              </a:tblGrid>
              <a:tr h="360040">
                <a:tc>
                  <a:txBody>
                    <a:bodyPr/>
                    <a:lstStyle/>
                    <a:p>
                      <a:pPr algn="ctr" fontAlgn="b"/>
                      <a:r>
                        <a:rPr lang="en-IN" sz="1600" b="1" i="0" u="none" strike="noStrike" dirty="0">
                          <a:solidFill>
                            <a:srgbClr val="000000"/>
                          </a:solidFill>
                          <a:latin typeface="Calibri"/>
                        </a:rPr>
                        <a:t>Snooping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IN" sz="1600" b="1" i="0" u="none" strike="noStrike" dirty="0">
                          <a:solidFill>
                            <a:srgbClr val="000000"/>
                          </a:solidFill>
                          <a:latin typeface="Calibri"/>
                        </a:rPr>
                        <a:t>Data is intercepted by an </a:t>
                      </a:r>
                      <a:r>
                        <a:rPr lang="en-IN" sz="1600" b="1" i="0" u="none" strike="noStrike" dirty="0" smtClean="0">
                          <a:solidFill>
                            <a:srgbClr val="000000"/>
                          </a:solidFill>
                          <a:latin typeface="Calibri"/>
                        </a:rPr>
                        <a:t>unauthorized </a:t>
                      </a:r>
                      <a:r>
                        <a:rPr lang="en-IN" sz="1600" b="1" i="0" u="none" strike="noStrike" dirty="0">
                          <a:solidFill>
                            <a:srgbClr val="000000"/>
                          </a:solidFill>
                          <a:latin typeface="Calibri"/>
                        </a:rPr>
                        <a:t>person</a:t>
                      </a:r>
                      <a:r>
                        <a:rPr lang="en-IN" sz="1600" b="1" i="0" u="none" strike="noStrike" dirty="0" smtClean="0">
                          <a:solidFill>
                            <a:srgbClr val="000000"/>
                          </a:solidFill>
                          <a:latin typeface="Calibri"/>
                        </a:rPr>
                        <a:t>. E.g. Tapping</a:t>
                      </a:r>
                      <a:endParaRPr lang="en-IN" sz="1600" b="1" i="0" u="none" strike="noStrike" dirty="0">
                        <a:solidFill>
                          <a:srgbClr val="000000"/>
                        </a:solidFill>
                        <a:latin typeface="Calibri"/>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6" name="Table 15"/>
          <p:cNvGraphicFramePr>
            <a:graphicFrameLocks noGrp="1"/>
          </p:cNvGraphicFramePr>
          <p:nvPr/>
        </p:nvGraphicFramePr>
        <p:xfrm>
          <a:off x="2143968" y="1993404"/>
          <a:ext cx="6172448" cy="984885"/>
        </p:xfrm>
        <a:graphic>
          <a:graphicData uri="http://schemas.openxmlformats.org/drawingml/2006/table">
            <a:tbl>
              <a:tblPr/>
              <a:tblGrid>
                <a:gridCol w="1526789"/>
                <a:gridCol w="4645659"/>
              </a:tblGrid>
              <a:tr h="571500">
                <a:tc>
                  <a:txBody>
                    <a:bodyPr/>
                    <a:lstStyle/>
                    <a:p>
                      <a:pPr algn="ctr" fontAlgn="b"/>
                      <a:r>
                        <a:rPr lang="en-IN" sz="1600" b="1" i="0" u="none" strike="noStrike" dirty="0" smtClean="0">
                          <a:solidFill>
                            <a:srgbClr val="000000"/>
                          </a:solidFill>
                          <a:latin typeface="Calibri"/>
                        </a:rPr>
                        <a:t>  Traffic </a:t>
                      </a:r>
                      <a:r>
                        <a:rPr lang="en-IN" sz="1600" b="1" i="0" u="none" strike="noStrike" dirty="0">
                          <a:solidFill>
                            <a:srgbClr val="000000"/>
                          </a:solidFill>
                          <a:latin typeface="Calibri"/>
                        </a:rPr>
                        <a:t>Analysis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IN" sz="1600" b="1" i="0" u="none" strike="noStrike" dirty="0" smtClean="0">
                          <a:solidFill>
                            <a:srgbClr val="000000"/>
                          </a:solidFill>
                          <a:latin typeface="Calibri"/>
                        </a:rPr>
                        <a:t>May be the data </a:t>
                      </a:r>
                      <a:r>
                        <a:rPr lang="en-IN" sz="1600" b="1" i="0" u="none" strike="noStrike" dirty="0">
                          <a:solidFill>
                            <a:srgbClr val="000000"/>
                          </a:solidFill>
                          <a:latin typeface="Calibri"/>
                        </a:rPr>
                        <a:t>is </a:t>
                      </a:r>
                      <a:r>
                        <a:rPr lang="en-IN" sz="1600" b="1" i="0" u="none" strike="noStrike" dirty="0" smtClean="0">
                          <a:solidFill>
                            <a:srgbClr val="000000"/>
                          </a:solidFill>
                          <a:latin typeface="Calibri"/>
                        </a:rPr>
                        <a:t>masked,</a:t>
                      </a:r>
                      <a:r>
                        <a:rPr lang="en-IN" sz="1600" b="1" i="0" u="none" strike="noStrike" baseline="0" dirty="0" smtClean="0">
                          <a:solidFill>
                            <a:srgbClr val="000000"/>
                          </a:solidFill>
                          <a:latin typeface="Calibri"/>
                        </a:rPr>
                        <a:t> so n</a:t>
                      </a:r>
                      <a:r>
                        <a:rPr lang="en-IN" sz="1600" b="1" i="0" u="none" strike="noStrike" dirty="0" smtClean="0">
                          <a:solidFill>
                            <a:srgbClr val="000000"/>
                          </a:solidFill>
                          <a:latin typeface="Calibri"/>
                        </a:rPr>
                        <a:t>o </a:t>
                      </a:r>
                      <a:r>
                        <a:rPr lang="en-IN" sz="1600" b="1" i="0" u="none" strike="noStrike" dirty="0">
                          <a:solidFill>
                            <a:srgbClr val="000000"/>
                          </a:solidFill>
                          <a:latin typeface="Calibri"/>
                        </a:rPr>
                        <a:t>information can be </a:t>
                      </a:r>
                      <a:r>
                        <a:rPr lang="en-IN" sz="1600" b="1" i="0" u="none" strike="noStrike" dirty="0" smtClean="0">
                          <a:solidFill>
                            <a:srgbClr val="000000"/>
                          </a:solidFill>
                          <a:latin typeface="Calibri"/>
                        </a:rPr>
                        <a:t>extracted </a:t>
                      </a:r>
                      <a:r>
                        <a:rPr lang="en-IN" sz="1600" b="1" i="0" u="none" strike="noStrike" dirty="0">
                          <a:solidFill>
                            <a:srgbClr val="000000"/>
                          </a:solidFill>
                          <a:latin typeface="Calibri"/>
                        </a:rPr>
                        <a:t>but some patterns like - sender, receiver, message length, time of the message </a:t>
                      </a:r>
                      <a:r>
                        <a:rPr lang="en-IN" sz="1600" b="1" i="0" u="none" strike="noStrike" dirty="0" smtClean="0">
                          <a:solidFill>
                            <a:srgbClr val="000000"/>
                          </a:solidFill>
                          <a:latin typeface="Calibri"/>
                        </a:rPr>
                        <a:t>etc.</a:t>
                      </a:r>
                      <a:r>
                        <a:rPr lang="en-IN" sz="1600" b="1" i="0" u="none" strike="noStrike" baseline="0" dirty="0" smtClean="0">
                          <a:solidFill>
                            <a:srgbClr val="000000"/>
                          </a:solidFill>
                          <a:latin typeface="Calibri"/>
                        </a:rPr>
                        <a:t> </a:t>
                      </a:r>
                      <a:r>
                        <a:rPr lang="en-IN" sz="1600" b="1" i="0" u="none" strike="noStrike" dirty="0" smtClean="0">
                          <a:solidFill>
                            <a:srgbClr val="000000"/>
                          </a:solidFill>
                          <a:latin typeface="Calibri"/>
                        </a:rPr>
                        <a:t>can </a:t>
                      </a:r>
                      <a:r>
                        <a:rPr lang="en-IN" sz="1600" b="1" i="0" u="none" strike="noStrike" dirty="0">
                          <a:solidFill>
                            <a:srgbClr val="000000"/>
                          </a:solidFill>
                          <a:latin typeface="Calibri"/>
                        </a:rPr>
                        <a:t>be extracted to make intelligent guesses.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19" name="Rectangle 18"/>
          <p:cNvSpPr/>
          <p:nvPr/>
        </p:nvSpPr>
        <p:spPr>
          <a:xfrm>
            <a:off x="611560" y="1484784"/>
            <a:ext cx="1656184" cy="1512168"/>
          </a:xfrm>
          <a:prstGeom prst="rect">
            <a:avLst/>
          </a:prstGeom>
          <a:solidFill>
            <a:srgbClr val="92D050"/>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chemeClr val="tx1"/>
                </a:solidFill>
              </a:rPr>
              <a:t>Attacking Confidentiality</a:t>
            </a:r>
            <a:endParaRPr lang="en-IN" sz="1600" b="1" dirty="0">
              <a:solidFill>
                <a:schemeClr val="tx1"/>
              </a:solidFill>
            </a:endParaRPr>
          </a:p>
        </p:txBody>
      </p:sp>
      <p:graphicFrame>
        <p:nvGraphicFramePr>
          <p:cNvPr id="20" name="Table 19"/>
          <p:cNvGraphicFramePr>
            <a:graphicFrameLocks noGrp="1"/>
          </p:cNvGraphicFramePr>
          <p:nvPr/>
        </p:nvGraphicFramePr>
        <p:xfrm>
          <a:off x="2195736" y="3212976"/>
          <a:ext cx="6120680" cy="497205"/>
        </p:xfrm>
        <a:graphic>
          <a:graphicData uri="http://schemas.openxmlformats.org/drawingml/2006/table">
            <a:tbl>
              <a:tblPr/>
              <a:tblGrid>
                <a:gridCol w="1458787"/>
                <a:gridCol w="4661893"/>
              </a:tblGrid>
              <a:tr h="190500">
                <a:tc>
                  <a:txBody>
                    <a:bodyPr/>
                    <a:lstStyle/>
                    <a:p>
                      <a:pPr algn="ctr" fontAlgn="b"/>
                      <a:r>
                        <a:rPr lang="en-IN" sz="1600" b="1" i="0" u="none" strike="noStrike" dirty="0">
                          <a:solidFill>
                            <a:srgbClr val="000000"/>
                          </a:solidFill>
                          <a:latin typeface="Calibri"/>
                        </a:rPr>
                        <a:t>Modification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1" i="0" u="none" strike="noStrike" dirty="0">
                          <a:solidFill>
                            <a:srgbClr val="000000"/>
                          </a:solidFill>
                          <a:latin typeface="Calibri"/>
                        </a:rPr>
                        <a:t>Some portion of a legitimate message is altered or </a:t>
                      </a:r>
                      <a:r>
                        <a:rPr lang="en-IN" sz="1600" b="1" i="0" u="none" strike="noStrike" dirty="0" smtClean="0">
                          <a:solidFill>
                            <a:srgbClr val="000000"/>
                          </a:solidFill>
                          <a:latin typeface="Calibri"/>
                        </a:rPr>
                        <a:t>the message is </a:t>
                      </a:r>
                      <a:r>
                        <a:rPr lang="en-IN" sz="1600" b="1" i="0" u="none" strike="noStrike" dirty="0">
                          <a:solidFill>
                            <a:srgbClr val="000000"/>
                          </a:solidFill>
                          <a:latin typeface="Calibri"/>
                        </a:rPr>
                        <a:t>delayed.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1" name="Table 20"/>
          <p:cNvGraphicFramePr>
            <a:graphicFrameLocks noGrp="1"/>
          </p:cNvGraphicFramePr>
          <p:nvPr/>
        </p:nvGraphicFramePr>
        <p:xfrm>
          <a:off x="2195736" y="3717032"/>
          <a:ext cx="6120680" cy="497205"/>
        </p:xfrm>
        <a:graphic>
          <a:graphicData uri="http://schemas.openxmlformats.org/drawingml/2006/table">
            <a:tbl>
              <a:tblPr/>
              <a:tblGrid>
                <a:gridCol w="1458787"/>
                <a:gridCol w="4661893"/>
              </a:tblGrid>
              <a:tr h="190500">
                <a:tc>
                  <a:txBody>
                    <a:bodyPr/>
                    <a:lstStyle/>
                    <a:p>
                      <a:pPr algn="ctr" fontAlgn="b"/>
                      <a:r>
                        <a:rPr lang="en-IN" sz="1600" b="1" i="0" u="none" strike="noStrike" dirty="0">
                          <a:solidFill>
                            <a:srgbClr val="000000"/>
                          </a:solidFill>
                          <a:latin typeface="Calibri"/>
                        </a:rPr>
                        <a:t>Masquerading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1" i="0" u="none" strike="noStrike" dirty="0">
                          <a:solidFill>
                            <a:srgbClr val="000000"/>
                          </a:solidFill>
                          <a:latin typeface="Calibri"/>
                        </a:rPr>
                        <a:t>One entity pretends to be a different entity. E.g. Hoax bank sites.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2" name="Table 21"/>
          <p:cNvGraphicFramePr>
            <a:graphicFrameLocks noGrp="1"/>
          </p:cNvGraphicFramePr>
          <p:nvPr/>
        </p:nvGraphicFramePr>
        <p:xfrm>
          <a:off x="2195736" y="4221088"/>
          <a:ext cx="6120680" cy="741045"/>
        </p:xfrm>
        <a:graphic>
          <a:graphicData uri="http://schemas.openxmlformats.org/drawingml/2006/table">
            <a:tbl>
              <a:tblPr/>
              <a:tblGrid>
                <a:gridCol w="1458787"/>
                <a:gridCol w="4661893"/>
              </a:tblGrid>
              <a:tr h="219075">
                <a:tc>
                  <a:txBody>
                    <a:bodyPr/>
                    <a:lstStyle/>
                    <a:p>
                      <a:pPr algn="ctr" fontAlgn="b"/>
                      <a:r>
                        <a:rPr lang="en-IN" sz="1600" b="1" i="0" u="none" strike="noStrike" dirty="0">
                          <a:solidFill>
                            <a:srgbClr val="000000"/>
                          </a:solidFill>
                          <a:latin typeface="Calibri"/>
                        </a:rPr>
                        <a:t>Replaying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1" i="0" u="none" strike="noStrike" dirty="0">
                          <a:solidFill>
                            <a:srgbClr val="000000"/>
                          </a:solidFill>
                          <a:latin typeface="Calibri"/>
                        </a:rPr>
                        <a:t>Subsequent retransmission of a captured </a:t>
                      </a:r>
                      <a:r>
                        <a:rPr lang="en-IN" sz="1600" b="1" i="0" u="none" strike="noStrike" dirty="0" smtClean="0">
                          <a:solidFill>
                            <a:srgbClr val="000000"/>
                          </a:solidFill>
                          <a:latin typeface="Calibri"/>
                        </a:rPr>
                        <a:t>message to </a:t>
                      </a:r>
                      <a:r>
                        <a:rPr lang="en-IN" sz="1600" b="1" i="0" u="none" strike="noStrike" dirty="0">
                          <a:solidFill>
                            <a:srgbClr val="000000"/>
                          </a:solidFill>
                          <a:latin typeface="Calibri"/>
                        </a:rPr>
                        <a:t>produce an unauthorized effect</a:t>
                      </a:r>
                      <a:r>
                        <a:rPr lang="en-IN" sz="1600" b="1" i="0" u="none" strike="noStrike" dirty="0" smtClean="0">
                          <a:solidFill>
                            <a:srgbClr val="000000"/>
                          </a:solidFill>
                          <a:latin typeface="Calibri"/>
                        </a:rPr>
                        <a:t>. E.g.</a:t>
                      </a:r>
                      <a:r>
                        <a:rPr lang="en-IN" sz="1600" b="1" i="0" u="none" strike="noStrike" baseline="0" dirty="0" smtClean="0">
                          <a:solidFill>
                            <a:srgbClr val="000000"/>
                          </a:solidFill>
                          <a:latin typeface="Calibri"/>
                        </a:rPr>
                        <a:t> Bill payment fake reminders.</a:t>
                      </a:r>
                      <a:endParaRPr lang="en-IN" sz="1600" b="1" i="0" u="none" strike="noStrike" dirty="0">
                        <a:solidFill>
                          <a:srgbClr val="000000"/>
                        </a:solidFill>
                        <a:latin typeface="Calibri"/>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3" name="Table 22"/>
          <p:cNvGraphicFramePr>
            <a:graphicFrameLocks noGrp="1"/>
          </p:cNvGraphicFramePr>
          <p:nvPr/>
        </p:nvGraphicFramePr>
        <p:xfrm>
          <a:off x="2195736" y="4948019"/>
          <a:ext cx="6120680" cy="497205"/>
        </p:xfrm>
        <a:graphic>
          <a:graphicData uri="http://schemas.openxmlformats.org/drawingml/2006/table">
            <a:tbl>
              <a:tblPr/>
              <a:tblGrid>
                <a:gridCol w="1458787"/>
                <a:gridCol w="4661893"/>
              </a:tblGrid>
              <a:tr h="381000">
                <a:tc>
                  <a:txBody>
                    <a:bodyPr/>
                    <a:lstStyle/>
                    <a:p>
                      <a:pPr algn="ctr" fontAlgn="b"/>
                      <a:r>
                        <a:rPr lang="en-IN" sz="1600" b="1" i="0" u="none" strike="noStrike" dirty="0">
                          <a:solidFill>
                            <a:srgbClr val="000000"/>
                          </a:solidFill>
                          <a:latin typeface="Calibri"/>
                        </a:rPr>
                        <a:t>Repudiation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1" i="0" u="none" strike="noStrike" dirty="0">
                          <a:solidFill>
                            <a:srgbClr val="000000"/>
                          </a:solidFill>
                          <a:latin typeface="Calibri"/>
                        </a:rPr>
                        <a:t>Sender denies that it sent the message or </a:t>
                      </a:r>
                      <a:r>
                        <a:rPr lang="en-IN" sz="1600" b="1" i="0" u="none" strike="noStrike" dirty="0" smtClean="0">
                          <a:solidFill>
                            <a:srgbClr val="000000"/>
                          </a:solidFill>
                          <a:latin typeface="Calibri"/>
                        </a:rPr>
                        <a:t>the receiver </a:t>
                      </a:r>
                      <a:r>
                        <a:rPr lang="en-IN" sz="1600" b="1" i="0" u="none" strike="noStrike" dirty="0">
                          <a:solidFill>
                            <a:srgbClr val="000000"/>
                          </a:solidFill>
                          <a:latin typeface="Calibri"/>
                        </a:rPr>
                        <a:t>denies that it received the message.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24" name="Rectangle 23"/>
          <p:cNvSpPr/>
          <p:nvPr/>
        </p:nvSpPr>
        <p:spPr>
          <a:xfrm>
            <a:off x="611560" y="3212976"/>
            <a:ext cx="1656184" cy="2232248"/>
          </a:xfrm>
          <a:prstGeom prst="rect">
            <a:avLst/>
          </a:prstGeom>
          <a:solidFill>
            <a:srgbClr val="FFFF00"/>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chemeClr val="tx1"/>
                </a:solidFill>
              </a:rPr>
              <a:t>Attacking Integrity</a:t>
            </a:r>
            <a:endParaRPr lang="en-IN" sz="1600" b="1" dirty="0">
              <a:solidFill>
                <a:schemeClr val="tx1"/>
              </a:solidFill>
            </a:endParaRPr>
          </a:p>
        </p:txBody>
      </p:sp>
      <p:graphicFrame>
        <p:nvGraphicFramePr>
          <p:cNvPr id="25" name="Table 24"/>
          <p:cNvGraphicFramePr>
            <a:graphicFrameLocks noGrp="1"/>
          </p:cNvGraphicFramePr>
          <p:nvPr/>
        </p:nvGraphicFramePr>
        <p:xfrm>
          <a:off x="2195736" y="5661248"/>
          <a:ext cx="6120680" cy="792088"/>
        </p:xfrm>
        <a:graphic>
          <a:graphicData uri="http://schemas.openxmlformats.org/drawingml/2006/table">
            <a:tbl>
              <a:tblPr/>
              <a:tblGrid>
                <a:gridCol w="1458787"/>
                <a:gridCol w="4661893"/>
              </a:tblGrid>
              <a:tr h="792088">
                <a:tc>
                  <a:txBody>
                    <a:bodyPr/>
                    <a:lstStyle/>
                    <a:p>
                      <a:pPr algn="ctr" fontAlgn="b"/>
                      <a:r>
                        <a:rPr lang="en-IN" sz="1600" b="1" i="0" u="none" strike="noStrike" dirty="0">
                          <a:solidFill>
                            <a:srgbClr val="000000"/>
                          </a:solidFill>
                          <a:latin typeface="Calibri"/>
                        </a:rPr>
                        <a:t>Denial of </a:t>
                      </a:r>
                      <a:endParaRPr lang="en-IN" sz="1600" b="1" i="0" u="none" strike="noStrike" dirty="0" smtClean="0">
                        <a:solidFill>
                          <a:srgbClr val="000000"/>
                        </a:solidFill>
                        <a:latin typeface="Calibri"/>
                      </a:endParaRPr>
                    </a:p>
                    <a:p>
                      <a:pPr algn="ctr" fontAlgn="b"/>
                      <a:r>
                        <a:rPr lang="en-IN" sz="1600" b="1" i="0" u="none" strike="noStrike" dirty="0" smtClean="0">
                          <a:solidFill>
                            <a:srgbClr val="000000"/>
                          </a:solidFill>
                          <a:latin typeface="Calibri"/>
                        </a:rPr>
                        <a:t>Service </a:t>
                      </a:r>
                      <a:r>
                        <a:rPr lang="en-IN" sz="1600" b="1" i="0" u="none" strike="noStrike" dirty="0">
                          <a:solidFill>
                            <a:srgbClr val="000000"/>
                          </a:solidFill>
                          <a:latin typeface="Calibri"/>
                        </a:rPr>
                        <a:t>(DoS)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1" i="0" u="none" strike="noStrike" dirty="0">
                          <a:solidFill>
                            <a:srgbClr val="000000"/>
                          </a:solidFill>
                          <a:latin typeface="Calibri"/>
                        </a:rPr>
                        <a:t>Slowing down or totally </a:t>
                      </a:r>
                      <a:r>
                        <a:rPr lang="en-IN" sz="1600" b="1" i="0" u="none" strike="noStrike" dirty="0" smtClean="0">
                          <a:solidFill>
                            <a:srgbClr val="000000"/>
                          </a:solidFill>
                          <a:latin typeface="Calibri"/>
                        </a:rPr>
                        <a:t>interrupt </a:t>
                      </a:r>
                      <a:r>
                        <a:rPr lang="en-IN" sz="1600" b="1" i="0" u="none" strike="noStrike" dirty="0">
                          <a:solidFill>
                            <a:srgbClr val="000000"/>
                          </a:solidFill>
                          <a:latin typeface="Calibri"/>
                        </a:rPr>
                        <a:t>the service of the system. E.g. multiple </a:t>
                      </a:r>
                      <a:r>
                        <a:rPr lang="en-IN" sz="1600" b="1" i="0" u="none" strike="noStrike" dirty="0" smtClean="0">
                          <a:solidFill>
                            <a:srgbClr val="000000"/>
                          </a:solidFill>
                          <a:latin typeface="Calibri"/>
                        </a:rPr>
                        <a:t>requests </a:t>
                      </a:r>
                      <a:r>
                        <a:rPr lang="en-IN" sz="1600" b="1" i="0" u="none" strike="noStrike" dirty="0">
                          <a:solidFill>
                            <a:srgbClr val="000000"/>
                          </a:solidFill>
                          <a:latin typeface="Calibri"/>
                        </a:rPr>
                        <a:t>to bring </a:t>
                      </a:r>
                      <a:r>
                        <a:rPr lang="en-IN" sz="1600" b="1" i="0" u="none" strike="noStrike" dirty="0" smtClean="0">
                          <a:solidFill>
                            <a:srgbClr val="000000"/>
                          </a:solidFill>
                          <a:latin typeface="Calibri"/>
                        </a:rPr>
                        <a:t>an exam result server </a:t>
                      </a:r>
                      <a:r>
                        <a:rPr lang="en-IN" sz="1600" b="1" i="0" u="none" strike="noStrike" dirty="0">
                          <a:solidFill>
                            <a:srgbClr val="000000"/>
                          </a:solidFill>
                          <a:latin typeface="Calibri"/>
                        </a:rPr>
                        <a:t>down.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26" name="Rectangle 25"/>
          <p:cNvSpPr/>
          <p:nvPr/>
        </p:nvSpPr>
        <p:spPr>
          <a:xfrm>
            <a:off x="611560" y="5661248"/>
            <a:ext cx="1693892" cy="792088"/>
          </a:xfrm>
          <a:prstGeom prst="rect">
            <a:avLst/>
          </a:prstGeom>
          <a:solidFill>
            <a:srgbClr val="00B0F0"/>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chemeClr val="tx1"/>
                </a:solidFill>
              </a:rPr>
              <a:t>Attacking Availability</a:t>
            </a:r>
            <a:endParaRPr lang="en-IN" sz="16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4"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b="1" dirty="0" smtClean="0"/>
              <a:t>Security Attacks</a:t>
            </a:r>
          </a:p>
          <a:p>
            <a:r>
              <a:rPr lang="en-IN" sz="2000" dirty="0" smtClean="0"/>
              <a:t>Another View - Active versus Passive</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14</a:t>
            </a:fld>
            <a:endParaRPr lang="en-US" dirty="0"/>
          </a:p>
        </p:txBody>
      </p:sp>
      <p:sp>
        <p:nvSpPr>
          <p:cNvPr id="7" name="Rectangle 6"/>
          <p:cNvSpPr/>
          <p:nvPr/>
        </p:nvSpPr>
        <p:spPr>
          <a:xfrm>
            <a:off x="4572000" y="3717032"/>
            <a:ext cx="1656184" cy="57606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PASSIVE</a:t>
            </a:r>
            <a:endParaRPr lang="en-IN" sz="1600" dirty="0">
              <a:solidFill>
                <a:schemeClr val="tx1"/>
              </a:solidFill>
            </a:endParaRPr>
          </a:p>
        </p:txBody>
      </p:sp>
      <p:grpSp>
        <p:nvGrpSpPr>
          <p:cNvPr id="2" name="Group 27"/>
          <p:cNvGrpSpPr/>
          <p:nvPr/>
        </p:nvGrpSpPr>
        <p:grpSpPr>
          <a:xfrm>
            <a:off x="1259632" y="3717032"/>
            <a:ext cx="3312368" cy="576064"/>
            <a:chOff x="1259632" y="3717032"/>
            <a:chExt cx="3312368" cy="576064"/>
          </a:xfrm>
        </p:grpSpPr>
        <p:sp>
          <p:nvSpPr>
            <p:cNvPr id="6" name="Rectangle 5"/>
            <p:cNvSpPr/>
            <p:nvPr/>
          </p:nvSpPr>
          <p:spPr>
            <a:xfrm>
              <a:off x="1259632" y="3717032"/>
              <a:ext cx="1656184" cy="57606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Snooping, </a:t>
              </a:r>
            </a:p>
            <a:p>
              <a:pPr algn="ctr"/>
              <a:r>
                <a:rPr lang="en-IN" sz="1600" dirty="0" smtClean="0">
                  <a:solidFill>
                    <a:schemeClr val="tx1"/>
                  </a:solidFill>
                </a:rPr>
                <a:t>Traffic Analysis</a:t>
              </a:r>
              <a:endParaRPr lang="en-IN" sz="1600" dirty="0">
                <a:solidFill>
                  <a:schemeClr val="tx1"/>
                </a:solidFill>
              </a:endParaRPr>
            </a:p>
          </p:txBody>
        </p:sp>
        <p:sp>
          <p:nvSpPr>
            <p:cNvPr id="8" name="Rectangle 7"/>
            <p:cNvSpPr/>
            <p:nvPr/>
          </p:nvSpPr>
          <p:spPr>
            <a:xfrm>
              <a:off x="2915816" y="3717032"/>
              <a:ext cx="1656184" cy="57606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Confidentiality</a:t>
              </a:r>
              <a:endParaRPr lang="en-IN" sz="1600" dirty="0">
                <a:solidFill>
                  <a:schemeClr val="tx1"/>
                </a:solidFill>
              </a:endParaRPr>
            </a:p>
          </p:txBody>
        </p:sp>
      </p:grpSp>
      <p:sp>
        <p:nvSpPr>
          <p:cNvPr id="10" name="Rectangle 9"/>
          <p:cNvSpPr/>
          <p:nvPr/>
        </p:nvSpPr>
        <p:spPr>
          <a:xfrm>
            <a:off x="4572000" y="4293096"/>
            <a:ext cx="1656184" cy="129614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ACTIVE</a:t>
            </a:r>
            <a:endParaRPr lang="en-IN" sz="1600" dirty="0">
              <a:solidFill>
                <a:schemeClr val="tx1"/>
              </a:solidFill>
            </a:endParaRPr>
          </a:p>
        </p:txBody>
      </p:sp>
      <p:grpSp>
        <p:nvGrpSpPr>
          <p:cNvPr id="5" name="Group 28"/>
          <p:cNvGrpSpPr/>
          <p:nvPr/>
        </p:nvGrpSpPr>
        <p:grpSpPr>
          <a:xfrm>
            <a:off x="1259632" y="4293096"/>
            <a:ext cx="3312368" cy="1296144"/>
            <a:chOff x="1259632" y="4293096"/>
            <a:chExt cx="3312368" cy="1296144"/>
          </a:xfrm>
        </p:grpSpPr>
        <p:sp>
          <p:nvSpPr>
            <p:cNvPr id="9" name="Rectangle 8"/>
            <p:cNvSpPr/>
            <p:nvPr/>
          </p:nvSpPr>
          <p:spPr>
            <a:xfrm>
              <a:off x="1259632" y="4293096"/>
              <a:ext cx="1656184" cy="129614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Modification,</a:t>
              </a:r>
            </a:p>
            <a:p>
              <a:pPr algn="ctr"/>
              <a:r>
                <a:rPr lang="en-IN" sz="1600" dirty="0" smtClean="0">
                  <a:solidFill>
                    <a:schemeClr val="tx1"/>
                  </a:solidFill>
                </a:rPr>
                <a:t>Masquerading, </a:t>
              </a:r>
            </a:p>
            <a:p>
              <a:pPr algn="ctr"/>
              <a:r>
                <a:rPr lang="en-IN" sz="1600" dirty="0" smtClean="0">
                  <a:solidFill>
                    <a:schemeClr val="tx1"/>
                  </a:solidFill>
                </a:rPr>
                <a:t>Replaying,</a:t>
              </a:r>
            </a:p>
            <a:p>
              <a:pPr algn="ctr"/>
              <a:r>
                <a:rPr lang="en-IN" sz="1600" dirty="0" smtClean="0">
                  <a:solidFill>
                    <a:schemeClr val="tx1"/>
                  </a:solidFill>
                </a:rPr>
                <a:t>Repudiation</a:t>
              </a:r>
            </a:p>
            <a:p>
              <a:pPr algn="ctr"/>
              <a:endParaRPr lang="en-IN" sz="1600" dirty="0">
                <a:solidFill>
                  <a:schemeClr val="tx1"/>
                </a:solidFill>
              </a:endParaRPr>
            </a:p>
          </p:txBody>
        </p:sp>
        <p:sp>
          <p:nvSpPr>
            <p:cNvPr id="11" name="Rectangle 10"/>
            <p:cNvSpPr/>
            <p:nvPr/>
          </p:nvSpPr>
          <p:spPr>
            <a:xfrm>
              <a:off x="2915816" y="4293096"/>
              <a:ext cx="1656184" cy="129614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Integrity</a:t>
              </a:r>
              <a:endParaRPr lang="en-IN" sz="1600" dirty="0">
                <a:solidFill>
                  <a:schemeClr val="tx1"/>
                </a:solidFill>
              </a:endParaRPr>
            </a:p>
          </p:txBody>
        </p:sp>
      </p:grpSp>
      <p:sp>
        <p:nvSpPr>
          <p:cNvPr id="13" name="Rectangle 12"/>
          <p:cNvSpPr/>
          <p:nvPr/>
        </p:nvSpPr>
        <p:spPr>
          <a:xfrm>
            <a:off x="4572000" y="5589240"/>
            <a:ext cx="1656184" cy="57606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ACTIVE</a:t>
            </a:r>
            <a:endParaRPr lang="en-IN" sz="1600" dirty="0">
              <a:solidFill>
                <a:schemeClr val="tx1"/>
              </a:solidFill>
            </a:endParaRPr>
          </a:p>
        </p:txBody>
      </p:sp>
      <p:grpSp>
        <p:nvGrpSpPr>
          <p:cNvPr id="18" name="Group 29"/>
          <p:cNvGrpSpPr/>
          <p:nvPr/>
        </p:nvGrpSpPr>
        <p:grpSpPr>
          <a:xfrm>
            <a:off x="1259632" y="5589240"/>
            <a:ext cx="3312368" cy="576064"/>
            <a:chOff x="1259632" y="5589240"/>
            <a:chExt cx="3312368" cy="576064"/>
          </a:xfrm>
        </p:grpSpPr>
        <p:sp>
          <p:nvSpPr>
            <p:cNvPr id="12" name="Rectangle 11"/>
            <p:cNvSpPr/>
            <p:nvPr/>
          </p:nvSpPr>
          <p:spPr>
            <a:xfrm>
              <a:off x="1259632" y="5589240"/>
              <a:ext cx="1656184" cy="57606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Denial of Service (DoS)</a:t>
              </a:r>
              <a:endParaRPr lang="en-IN" sz="1600" dirty="0">
                <a:solidFill>
                  <a:schemeClr val="tx1"/>
                </a:solidFill>
              </a:endParaRPr>
            </a:p>
          </p:txBody>
        </p:sp>
        <p:sp>
          <p:nvSpPr>
            <p:cNvPr id="14" name="Rectangle 13"/>
            <p:cNvSpPr/>
            <p:nvPr/>
          </p:nvSpPr>
          <p:spPr>
            <a:xfrm>
              <a:off x="2915816" y="5589240"/>
              <a:ext cx="1656184" cy="57606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Availability</a:t>
              </a:r>
              <a:endParaRPr lang="en-IN" sz="1600" dirty="0">
                <a:solidFill>
                  <a:schemeClr val="tx1"/>
                </a:solidFill>
              </a:endParaRPr>
            </a:p>
          </p:txBody>
        </p:sp>
      </p:grpSp>
      <p:grpSp>
        <p:nvGrpSpPr>
          <p:cNvPr id="19" name="Group 30"/>
          <p:cNvGrpSpPr/>
          <p:nvPr/>
        </p:nvGrpSpPr>
        <p:grpSpPr>
          <a:xfrm>
            <a:off x="1259632" y="3140968"/>
            <a:ext cx="4968552" cy="576064"/>
            <a:chOff x="1259632" y="3140968"/>
            <a:chExt cx="4968552" cy="576064"/>
          </a:xfrm>
        </p:grpSpPr>
        <p:sp>
          <p:nvSpPr>
            <p:cNvPr id="15" name="Rectangle 14"/>
            <p:cNvSpPr/>
            <p:nvPr/>
          </p:nvSpPr>
          <p:spPr>
            <a:xfrm>
              <a:off x="1259632" y="3140968"/>
              <a:ext cx="1656184" cy="576064"/>
            </a:xfrm>
            <a:prstGeom prst="rect">
              <a:avLst/>
            </a:prstGeom>
            <a:solidFill>
              <a:srgbClr val="FFC000"/>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rPr>
                <a:t>Attacks</a:t>
              </a:r>
              <a:endParaRPr lang="en-IN" b="1" dirty="0">
                <a:solidFill>
                  <a:schemeClr val="tx1"/>
                </a:solidFill>
              </a:endParaRPr>
            </a:p>
          </p:txBody>
        </p:sp>
        <p:sp>
          <p:nvSpPr>
            <p:cNvPr id="16" name="Rectangle 15"/>
            <p:cNvSpPr/>
            <p:nvPr/>
          </p:nvSpPr>
          <p:spPr>
            <a:xfrm>
              <a:off x="4572000" y="3140968"/>
              <a:ext cx="1656184" cy="576064"/>
            </a:xfrm>
            <a:prstGeom prst="rect">
              <a:avLst/>
            </a:prstGeom>
            <a:solidFill>
              <a:srgbClr val="FFC000"/>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rPr>
                <a:t>Type</a:t>
              </a:r>
              <a:endParaRPr lang="en-IN" b="1" dirty="0">
                <a:solidFill>
                  <a:schemeClr val="tx1"/>
                </a:solidFill>
              </a:endParaRPr>
            </a:p>
          </p:txBody>
        </p:sp>
        <p:sp>
          <p:nvSpPr>
            <p:cNvPr id="17" name="Rectangle 16"/>
            <p:cNvSpPr/>
            <p:nvPr/>
          </p:nvSpPr>
          <p:spPr>
            <a:xfrm>
              <a:off x="2915816" y="3140968"/>
              <a:ext cx="1656184" cy="576064"/>
            </a:xfrm>
            <a:prstGeom prst="rect">
              <a:avLst/>
            </a:prstGeom>
            <a:solidFill>
              <a:srgbClr val="FFC000"/>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rPr>
                <a:t>Attacking</a:t>
              </a:r>
              <a:endParaRPr lang="en-IN" b="1" dirty="0">
                <a:solidFill>
                  <a:schemeClr val="tx1"/>
                </a:solidFill>
              </a:endParaRPr>
            </a:p>
          </p:txBody>
        </p:sp>
      </p:grpSp>
      <p:sp>
        <p:nvSpPr>
          <p:cNvPr id="20" name="Rectangle 19"/>
          <p:cNvSpPr/>
          <p:nvPr/>
        </p:nvSpPr>
        <p:spPr>
          <a:xfrm>
            <a:off x="611560" y="1556792"/>
            <a:ext cx="7200800" cy="576064"/>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u="sng" dirty="0" smtClean="0">
                <a:solidFill>
                  <a:schemeClr val="tx1"/>
                </a:solidFill>
              </a:rPr>
              <a:t>Passive Attacks </a:t>
            </a:r>
            <a:r>
              <a:rPr lang="en-IN" dirty="0" smtClean="0">
                <a:solidFill>
                  <a:schemeClr val="tx1"/>
                </a:solidFill>
              </a:rPr>
              <a:t>– The attacker’s goal is to just obtain the information. The attack does not harm the system.</a:t>
            </a:r>
            <a:endParaRPr lang="en-IN" dirty="0">
              <a:solidFill>
                <a:schemeClr val="tx1"/>
              </a:solidFill>
            </a:endParaRPr>
          </a:p>
        </p:txBody>
      </p:sp>
      <p:sp>
        <p:nvSpPr>
          <p:cNvPr id="23" name="Rectangle 22"/>
          <p:cNvSpPr/>
          <p:nvPr/>
        </p:nvSpPr>
        <p:spPr>
          <a:xfrm>
            <a:off x="611560" y="2348880"/>
            <a:ext cx="7056784" cy="576064"/>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u="sng" dirty="0" smtClean="0">
                <a:solidFill>
                  <a:schemeClr val="tx1"/>
                </a:solidFill>
              </a:rPr>
              <a:t>Active Attacks </a:t>
            </a:r>
            <a:r>
              <a:rPr lang="en-IN" dirty="0" smtClean="0">
                <a:solidFill>
                  <a:schemeClr val="tx1"/>
                </a:solidFill>
              </a:rPr>
              <a:t>– The attacker changes the data or harms the system.</a:t>
            </a:r>
            <a:endParaRPr lang="en-IN" dirty="0">
              <a:solidFill>
                <a:schemeClr val="tx1"/>
              </a:solidFill>
            </a:endParaRPr>
          </a:p>
        </p:txBody>
      </p:sp>
      <p:sp>
        <p:nvSpPr>
          <p:cNvPr id="25602" name="AutoShape 2" descr="data:image/jpeg;base64,/9j/4AAQSkZJRgABAQAAAQABAAD/2wCEAAkGBxAPDxQSERQVFhAUFhQZFxIWFhUXFxoYGRQYFhYVGRYaHCggGBolHBUYIjIhJSwsLi4uFx8zODMtNyotLisBCgoKDQwNGg8QGjcmHyU1NDc4NzIxKzc0Nzc3MzcvNzQ3NjQ0KzQ0LDc3NzUzNDQrKyw0NjA0NzQrLjg0NzgyK//AABEIAMwA9gMBIgACEQEDEQH/xAAcAAEAAgMBAQEAAAAAAAAAAAAABgcDBQgEAQL/xABHEAABAwMBBAYFBwkHBQEAAAABAAIDBAUREgYHITETQVFhcYEiMkKRoRQjUmKCkqIVMzQ1cnSxs8EIQ3ODssLwFyQlJtEW/8QAGQEBAAMBAQAAAAAAAAAAAAAAAAIDBAYF/8QAHxEBAAMAAQUBAQAAAAAAAAAAAAECAwQREhMxUWEF/9oADAMBAAIRAxEAPwC8UREBERARfAV9QEREBERAREQEREBERAREQEREBERAREQEREBERAREQEREBERBqtp7/DbaSSqnPoRj1R6znHg1je8lVJUUE11iFdfamSno5T/21vgzqcPWadOCXHAzkgnHHLRhbXbdwut/gtzsGjo2dPUN6nPI4Nd1Yw5g8HuWKqnNbI6rd6rhphHU2EH0cDqLvXPiB1BWZZzpboxc7m14mXfPufSJbSbLR0NIblY6uoEUbwyeMucyRhyNJOA04GpvBwPBwOcLU2nfHeacYdKyYDqmjB/EzS4+ZU+s0Qd+UIHfm5qJ+od7C4A+OJOf1QqBUb17bTC7jbefGun1fFm3+xu4VVI8HrdA4O5DJOh+Me9Te0b1LNU8BUtjd9GYOj/E4afiuZtkqw09wpZWnBZPEc92sA/AldTXbZi3VeflFLC8/S0AO++3B+KivSGmqY5W6o3Ne0+01wcPeFmVWz7oqJr+kop6qkkxzjky34+l+LHcvjbTtRRfmK2CsYPYqG6Xe/mfvoLTRVc3ePdKQf8AkrTK0D1pac6295xkgD7a29n3t2apwOnMLj7MzSzHcX8WfFBOkXnoq6GduqGRkjfpMc1w94K9CAiIgIiICIiAiIgIiICIiAiIgIiICIiAiIgoW2VRe+91OSJJqg07XDqBkMYI8A8HyCkUkrWxho4ADAHd2KHUJMLbrEeDoa7pSPqCYEu8NLSfJbCsuGG8AXOJw1g5uceTR/zvWzi2isTLm/7mF9tM6x+vXS1ghp7lU54MgEQ/b0ueR59LGPcqKVnbw7gKWhioA4GaQ9JORy9YuPkX8u5irFZb27rTL3uPl4cq5/Ie6xx66qBv0pYh73gLrjplzBu2oenutOMZax3SO7gwFw+IA810e2ZRXNo2ZZGzLVtmWRsyDaNmWuulhoaz9IpoZD2uY3V5O5j3r62ZZGzIIbWbobaX9JSyVFLKM4dDLw4/tAu9zgsbdntpKP8ARbjHUxj+7qW4Pd6RBJ4fWHgp02ZZGzIK+m3kXW3NDrtbdMWoAzwPBZxPDhlw5fWCtVjgRkcQeR7lAN7UAmslW3ra1jx4ska4/AH3rR7Nb4qaGmp466Cphd0UYE5j1RyaWAF7eRwSOoHxQW4ijlm26tdZjoKuIuPsOd0b/uPwetSIFB9REQEREBERAREQEREBERAREQEREFO7y7BUUFebrTRGWmmYG1cTRkjAA6THYQB4EHPrKDP2yt9M3XSQudOQQ3UDhgPVkk4Hc1dNrS3bZK3Vn6RSwvP0ixod98Yd8UOjj+4VslRK6WV2qR5yT/zqHJeZdJXbcZa5TmF88B7GuD2e54LvxKF3DcVXQuDqeaCdoIOiQOjJxxwRxGPtBB83P2UwxPq3jDpRpjzz6MHJd9oj8PerJbMoM+6XeiaBWWyQNaMaqf02gAdjS4AAd6/dBvBoJCA6R0TvoyNIx3FwyB70E6bMsjZlpKO5RTDMUjHjta4O/gvW2ZBtGzLI2ZatsyyNmQbRsyytmWrbMsjZkGr3mVoZZ6snrjDfN72tH8Vuth2htpo4pGggU8OWuAIyWAkEHxVf706k1ApbdGfnKmVpd3RtPre/j9gqwYJw1oa31WgADuAwEHmuu76z1WddJG1x9qLMR8fQwD5haFu62Sl/VlzqqfHEMeQ9nafRbpHvB81L2VSzNqkEM+UbWUWMspa+Mcy3DJMdvNgz5HwWRu90U5DblQVVKc416dcefE6SfLKmratZPlIcMHBB5g8R7kGss28O01mBFVx6j7EhMTs+DwM+SkzHBwBBBB5EcQobddibTV5MtJFqPN7B0bvHLMZPio7/ANK205LrbcKulJOdOvWzPg3STw7coLWRVX/7ZRD0H0tewdTgGSEe9gzjvPmsn/VmWl4XK21VP2yMGtnvOke4lBaCKKWHeNaa5zWQ1LelcQBHIHRuJPIDUAHHwJUrQEREBERAREQEREBERAREQFrLrs9RVYxUU8Mve+NpPiHYyD4LZogrm6bmLVK7XD01NIOIMMnDPg8HHkQtNPu2vNN+h3BsrRyjqGkHw1el/RW+iCjpqm/UmflVuMjR/eUztWR26Wlx/h4LFS7xKInTL0kD84LZI3cPHTnHmr2XiuVppqlumohilb2SMa8fiBQVzQXiCcZilY/9lwJ93Nemqr2QxukkdpYwEuceoBeq8bnrPUcWxPgfw9KB5bjH1Xam/BaKfczI57I3XCaSi1tMkDwdRA44D9WOzq4c0EHt9yq3VjrtLQ1EtO8OZA9jSRGwEtJ5HqyM8B6Tu1Seg3j0EhAdI6Jx9mRjhg9hcMtHmVdFJTMhjbHG0MjY0NaxowA0DAAHZhc7beVNNW7QVXSujEcLWwtDiBqc3GrzDi9BY9Fd4phmKRjx2tcHfwXsbVKkq/ZymiAmEpiA5Pa/hnu68+C/VruFwaM0tb0zB7MmTjsBDskfBBeLapZm1SqfZ/a66TQum+QuqIWPLHSU4dwcACRp9LJw4HIwOK2dLvGoydMvSQPzgtkjdw8dOceaCym1SzNqlE6C+QTjMUrH/suB+C2DapBImVayiq4Y6uxR1tUszKpBF98Fmpxb3VkMUcdVTyQvErGta8/ONZgkDJ4uB8l6KLfA+OKOSut1TFG9rHCeMa43NcAWuBOngQc8yV4d7NzDbVJF7c74mNHWSJGyH4M+KnOz0vyejggJz0UMUZz9Rgb/AEQYrRvOs1UcMqmMd9GUOiPHkMvAB8iVLIJ2SNDmOa5p5OaQR7wojc9nLXWZM9JA5x9sMDX/AH24Kjcm6iiY4voamrpHnH5uTLeHLscfvILWRU3cK+9WOSlM9cyro5aiKJ2uP5xoJy45550h3HUeSuRAREQEREBERAREQEREBERAREQEREBUd/aLgpoY6fo4Im1E0j3PmbG0PLWNAwXAZIJeDx7FYu9atlp7NVSwvdHK1sel7CWuGZmA4I5cCR5qmH7LVVzgglqrlJJljXtbIx0mjW0EgEyeHuQandNszHcKwmYaoogDoPJznZAz2jgTjwUg3h7NmiuVOLcxrZakOi6IaWsLuAGBwDc6h1gZaD2rx7M1bdnq2SOd5MErWFk4Y7GW59kZI5kdfIdqzVlVPfbgJ6eV1PDTD5uo0nV0hOctGQc8vADvQXBuq2efbbVFBK3ROS98rctPpOceZaSD6IaM9ykVxtNNUt01EMUreyRjXj8QVWbpa6t/K9ZS1NXLUsihaWmRziMlzDkNLjg4dhXAgr+77nrPUcWRvgfww6B5bjH1Xam/BaKo3V3Gn40NycW9UdQ0kfe4j8IVuogo+eDaOjJ6aiZURj+8p3DJ7fRyT+ELyR7wYGO0VMc9PIObZI3f04/BX2vPWUUU7SyaNkjDza9rXD3EIOdnxXW6VEdxhonzUUDiIWFzW5I9vSTqcc4OQCPRA6it0N4QhdprKeopn/XYcfwBPuV508DI2NYxrWsaAGtaAGgDgAAOAHck8DJG6Xta5p6nAEe4oKptu2lHPjo52EnqJ0u+67BW9iunevddt2dnqs66SNhPtRZiPjhmB8FFqjcx0XGguFTCRya/D2+GG6eHkUGr3j1PyyW30TOMstXG/A6mty0u8PTJ+yVdir/YTdyaKoNbWTfKa7Bax+MMjaRg6QfaIJGeGASMcSTYCAiIgIiICIiAiIgIiICIiAiIgIiIIrvRt81VZ6qGBhfK9selgxk4mY48+4E+SoGyXyudTgQ0+uOFoYXh3D0Wjr8MFXVvk2jdR2/oIc/K6w9DGB6wB/OOHZwOkHteFWd4oHU1LTWqm41VUQw47CfnHnsBPDwB7EGgbtLU1ML3/JWyQx8XkkOaMDPEEdiz0G0ta+EyQ0oMLMgljuAwASMAdhC9Fhoegt92izq6J0zNXLOhhbnHVnC+7Hwvt8lKJDmmuMIcxx9UShzmlnwA+21BLtxkFTNXVNfJEWwTw6WyZBaXNexpaDzz6J6ldapndfXfku6zWx/CnqiZqY9WvHpM7stYR/ljtVzICIiAiIgIiICIiAiIgIiICIiAiIgIiICIiAiIgIiIC+Er6oFvh2ifSUHQQZNXWO6GJrfWw7g9w48OB0g9rwghkNYLxeJ7g4j5FRAxU59kkAl0nPvLs9jmdi2W6W3m4V1Rd5W/NtJhpQRyaB6TxnuOM9r3habaSgdR0NJZaXBq6shryOHok5lkPY0kEfstd2K59n7RHQ0sVNF+biYGg9Zxzce8nJPigoe3MzSX09k1V/B6lLdlzctkqVsY/wC5hj6WEj1tTXOy0H6zcjx0nqUes7M0F/PZNV/6Xq090/6jov8AC/3uQVPXSvuVqhuFOcV1G4PJbzDmYMg8CMPA8ldmyF+ZcqGGqZj5xo1N+i8cHs8nAqsqykFmv7o8YoLn6TM+qyfJy3uy448JG9i9G76f8j3ie1v4U1WTPSnqDsHUzu9FhH+W3tQW8iIgIiICIiAiIgIiICIiAiIgIiICIiAiIgIiICIiD5lU9ZZm3i9VFzkI+QUAMVO4n0S4Al8nPHIudn6zOxSrfJfH0VomdG4NlmLYmnOD6fr6ce1oDvDmqoodo/lFqgsVHBJDWTSNjmc48C0nXJJngeOOII4NBHFBON1lKblX1N6madGXQ0jXD1WDg5w78HGR1ukVrrw2O1RUVNFTxDEcTA0d+Bxce8nJPeV7kFEWBmbbtCeyar/0vVlbp/1HRf4X+9ypN21xoGXmidTvc6pnqAZNWkR6i5g1N0nPPPMK7t1TC2yUQIIPRA4IxwLiQfAgg+aDHvS2XNztz2R/pMREsLuvW3m0H6zcjxIPUq8uUz7xZIbhBwuNA7U7T62qPSZBjsLdMgHdjtV5KmL3XN2ZvM0ro3OttexzyxgHoztyS1oJwOJ90o+igs7ZC/MuVDDVMx840amj2Xjg9nk7K3KpLcVei2urKQM6GCXNRDA8+k3LgMN4DUNBb2eoFdqAiIgIiICIiAiIgIiICIiAiIgIiICIiAiIgIiim8zaj8l22SZp+ff83CO2R3I/ZGXeSCqd5t+bcLo/0s0Ntac/RfPnBx2nUA37B7VL9yGy4ZTuuNQxpqqpxdG4gFzIsEN0k8W6snlzbpVd2nZl1RU0toBOpxFRXPB4gcywnPMDA8XNPauk4ImsaGNADWgBrRyAAwAO7CD9oiIOWNtY8115PZOP5pXROwP6ooP3Sm/ktXP+1keam+nsmZ8ZyugNgf1RQfulN/Jag3y0e2OzcNzo5KeVrSXA9G8gExvx6L2nmDnnjmMjrW8RBy1SVVRSmOqDcV9ql6OZh5uiyWcT2cXNPcSV0zaLjHV08dREcxysa9p7iM4PYRyI7lUm9i0toLjFcdOaSqHQVbccMkYDz4tx5x969u5y5Oo6ios8zs9GTLTPPtRO4kD3h3m/sQW0iIgIiICIiAiIgIiICIiAiIgIiICIiAiIgKj9rryyvu01RIc22ztPD2ZKgnAaO0l+B/l962m32+anp+mpqJrpZwHM6cECNj+Iy3mXlp8B3qD7KU8V0jobTTa+iL3VNwlI0kuBxozni0ABoPa9p5goLM3LWN7KaS41AzVV7teeyLOWAdgPreGnsVkL8xRhrQ1oAa0AADgABwAC/SAiIg5r2kjzLtEeyaL41BV7bA/qig/dKb+S1Une2Z//AE57Jaf41TldmwP6ooP3Sm/ktQb5ERBqdqrFHcaOalk9WVuA76LhxY8d4cAVQEU1RHA2pAxc7JKI5W8cvp9WkZ4ZLQS5p+qSetdKqo95lGLZc4Lpp1UlQPk9bGBkFrmlocRjj6PxjaOtBZ9lucdZTRVERzHKxr2+Y5HvB4HvC9q503d70obT0tI5kstD0z3QyZAkYwnkYzwOeDsAjBLueVf9oukNZAyeB4fDIMtcP4EHiCORB4hB7EREBERAREQEREBERAREQEREBERAWn2xfM23VZpw4ziCXow0Eu1aDjSBxJ7gtwiDiV9vnbzikHixw/orD3ExVUd5jLY5BE+OVsri1waG6C5pJ5eu1g810sWg8wgGEH1ERAWm2v2hjtlFLVSgkRgYYOBc5xw1o7Mk8+oZK3Khm9fZSe70Agp3tZI2VkmH5DXANc0tJAOPWzyPq+aDmu47U1U0lY7UGNrnh08bQNLsPL2jjkgAnqK6O3ObRR11pha0aX0rWQPbnPqMaGvHc5uD45HUqafuWvQdgRxEfSEzMfHj8Fa25zYWrs7ag1L4yZjHpjjJcG6A7JLiBxOrGB9HmgshERAVVf2h21DrfCyJj3RmbMmgE8mHQHY6sn3gK1UQcSfIZs46N+f2Xf8AxdB/2eI6hlBOyVj2xiYGPWCObBr056uA8yVa2gdgX6QEREBERAREQEREBERAREQEREBERAREQEREBERAREQEREBERAREQEREBERAREQEREBERB//2Q=="/>
          <p:cNvSpPr>
            <a:spLocks noChangeAspect="1" noChangeArrowheads="1"/>
          </p:cNvSpPr>
          <p:nvPr/>
        </p:nvSpPr>
        <p:spPr bwMode="auto">
          <a:xfrm>
            <a:off x="155575" y="-1516063"/>
            <a:ext cx="3810000" cy="31623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25604" name="AutoShape 4" descr="data:image/jpeg;base64,/9j/4AAQSkZJRgABAQAAAQABAAD/2wCEAAkGBxAPDxQSERQVFhAUFhQZFxIWFhUXFxoYGRQYFhYVGRYaHCggGBolHBUYIjIhJSwsLi4uFx8zODMtNyotLisBCgoKDQwNGg8QGjcmHyU1NDc4NzIxKzc0Nzc3MzcvNzQ3NjQ0KzQ0LDc3NzUzNDQrKyw0NjA0NzQrLjg0NzgyK//AABEIAMwA9gMBIgACEQEDEQH/xAAcAAEAAgMBAQEAAAAAAAAAAAAABgcDBQgEAQL/xABHEAABAwMBBAYFBwkHBQEAAAABAAIDBAUREgYHITETQVFhcYEiMkKRoRQjUmKCkqIVMzQ1cnSxs8EIQ3ODssLwFyQlJtEW/8QAGQEBAAMBAQAAAAAAAAAAAAAAAAIDBAYF/8QAHxEBAAMAAQUBAQAAAAAAAAAAAAECAwQREhMxUWEF/9oADAMBAAIRAxEAPwC8UREBERARfAV9QEREBERAREQEREBERAREQEREBERAREQEREBERAREQEREBERBqtp7/DbaSSqnPoRj1R6znHg1je8lVJUUE11iFdfamSno5T/21vgzqcPWadOCXHAzkgnHHLRhbXbdwut/gtzsGjo2dPUN6nPI4Nd1Yw5g8HuWKqnNbI6rd6rhphHU2EH0cDqLvXPiB1BWZZzpboxc7m14mXfPufSJbSbLR0NIblY6uoEUbwyeMucyRhyNJOA04GpvBwPBwOcLU2nfHeacYdKyYDqmjB/EzS4+ZU+s0Qd+UIHfm5qJ+od7C4A+OJOf1QqBUb17bTC7jbefGun1fFm3+xu4VVI8HrdA4O5DJOh+Me9Te0b1LNU8BUtjd9GYOj/E4afiuZtkqw09wpZWnBZPEc92sA/AldTXbZi3VeflFLC8/S0AO++3B+KivSGmqY5W6o3Ne0+01wcPeFmVWz7oqJr+kop6qkkxzjky34+l+LHcvjbTtRRfmK2CsYPYqG6Xe/mfvoLTRVc3ePdKQf8AkrTK0D1pac6295xkgD7a29n3t2apwOnMLj7MzSzHcX8WfFBOkXnoq6GduqGRkjfpMc1w94K9CAiIgIiICIiAiIgIiICIiAiIgIiICIiAiIgoW2VRe+91OSJJqg07XDqBkMYI8A8HyCkUkrWxho4ADAHd2KHUJMLbrEeDoa7pSPqCYEu8NLSfJbCsuGG8AXOJw1g5uceTR/zvWzi2isTLm/7mF9tM6x+vXS1ghp7lU54MgEQ/b0ueR59LGPcqKVnbw7gKWhioA4GaQ9JORy9YuPkX8u5irFZb27rTL3uPl4cq5/Ie6xx66qBv0pYh73gLrjplzBu2oenutOMZax3SO7gwFw+IA810e2ZRXNo2ZZGzLVtmWRsyDaNmWuulhoaz9IpoZD2uY3V5O5j3r62ZZGzIIbWbobaX9JSyVFLKM4dDLw4/tAu9zgsbdntpKP8ARbjHUxj+7qW4Pd6RBJ4fWHgp02ZZGzIK+m3kXW3NDrtbdMWoAzwPBZxPDhlw5fWCtVjgRkcQeR7lAN7UAmslW3ra1jx4ska4/AH3rR7Nb4qaGmp466Cphd0UYE5j1RyaWAF7eRwSOoHxQW4ijlm26tdZjoKuIuPsOd0b/uPwetSIFB9REQEREBERAREQEREBERAREQEREFO7y7BUUFebrTRGWmmYG1cTRkjAA6THYQB4EHPrKDP2yt9M3XSQudOQQ3UDhgPVkk4Hc1dNrS3bZK3Vn6RSwvP0ixod98Yd8UOjj+4VslRK6WV2qR5yT/zqHJeZdJXbcZa5TmF88B7GuD2e54LvxKF3DcVXQuDqeaCdoIOiQOjJxxwRxGPtBB83P2UwxPq3jDpRpjzz6MHJd9oj8PerJbMoM+6XeiaBWWyQNaMaqf02gAdjS4AAd6/dBvBoJCA6R0TvoyNIx3FwyB70E6bMsjZlpKO5RTDMUjHjta4O/gvW2ZBtGzLI2ZatsyyNmQbRsyytmWrbMsjZkGr3mVoZZ6snrjDfN72tH8Vuth2htpo4pGggU8OWuAIyWAkEHxVf706k1ApbdGfnKmVpd3RtPre/j9gqwYJw1oa31WgADuAwEHmuu76z1WddJG1x9qLMR8fQwD5haFu62Sl/VlzqqfHEMeQ9nafRbpHvB81L2VSzNqkEM+UbWUWMspa+Mcy3DJMdvNgz5HwWRu90U5DblQVVKc416dcefE6SfLKmratZPlIcMHBB5g8R7kGss28O01mBFVx6j7EhMTs+DwM+SkzHBwBBBB5EcQobddibTV5MtJFqPN7B0bvHLMZPio7/ANK205LrbcKulJOdOvWzPg3STw7coLWRVX/7ZRD0H0tewdTgGSEe9gzjvPmsn/VmWl4XK21VP2yMGtnvOke4lBaCKKWHeNaa5zWQ1LelcQBHIHRuJPIDUAHHwJUrQEREBERAREQEREBERAREQFrLrs9RVYxUU8Mve+NpPiHYyD4LZogrm6bmLVK7XD01NIOIMMnDPg8HHkQtNPu2vNN+h3BsrRyjqGkHw1el/RW+iCjpqm/UmflVuMjR/eUztWR26Wlx/h4LFS7xKInTL0kD84LZI3cPHTnHmr2XiuVppqlumohilb2SMa8fiBQVzQXiCcZilY/9lwJ93Nemqr2QxukkdpYwEuceoBeq8bnrPUcWxPgfw9KB5bjH1Xam/BaKfczI57I3XCaSi1tMkDwdRA44D9WOzq4c0EHt9yq3VjrtLQ1EtO8OZA9jSRGwEtJ5HqyM8B6Tu1Seg3j0EhAdI6Jx9mRjhg9hcMtHmVdFJTMhjbHG0MjY0NaxowA0DAAHZhc7beVNNW7QVXSujEcLWwtDiBqc3GrzDi9BY9Fd4phmKRjx2tcHfwXsbVKkq/ZymiAmEpiA5Pa/hnu68+C/VruFwaM0tb0zB7MmTjsBDskfBBeLapZm1SqfZ/a66TQum+QuqIWPLHSU4dwcACRp9LJw4HIwOK2dLvGoydMvSQPzgtkjdw8dOceaCym1SzNqlE6C+QTjMUrH/suB+C2DapBImVayiq4Y6uxR1tUszKpBF98Fmpxb3VkMUcdVTyQvErGta8/ONZgkDJ4uB8l6KLfA+OKOSut1TFG9rHCeMa43NcAWuBOngQc8yV4d7NzDbVJF7c74mNHWSJGyH4M+KnOz0vyejggJz0UMUZz9Rgb/AEQYrRvOs1UcMqmMd9GUOiPHkMvAB8iVLIJ2SNDmOa5p5OaQR7wojc9nLXWZM9JA5x9sMDX/AH24Kjcm6iiY4voamrpHnH5uTLeHLscfvILWRU3cK+9WOSlM9cyro5aiKJ2uP5xoJy45550h3HUeSuRAREQEREBERAREQEREBERAREQEREBUd/aLgpoY6fo4Im1E0j3PmbG0PLWNAwXAZIJeDx7FYu9atlp7NVSwvdHK1sel7CWuGZmA4I5cCR5qmH7LVVzgglqrlJJljXtbIx0mjW0EgEyeHuQandNszHcKwmYaoogDoPJznZAz2jgTjwUg3h7NmiuVOLcxrZakOi6IaWsLuAGBwDc6h1gZaD2rx7M1bdnq2SOd5MErWFk4Y7GW59kZI5kdfIdqzVlVPfbgJ6eV1PDTD5uo0nV0hOctGQc8vADvQXBuq2efbbVFBK3ROS98rctPpOceZaSD6IaM9ykVxtNNUt01EMUreyRjXj8QVWbpa6t/K9ZS1NXLUsihaWmRziMlzDkNLjg4dhXAgr+77nrPUcWRvgfww6B5bjH1Xam/BaKo3V3Gn40NycW9UdQ0kfe4j8IVuogo+eDaOjJ6aiZURj+8p3DJ7fRyT+ELyR7wYGO0VMc9PIObZI3f04/BX2vPWUUU7SyaNkjDza9rXD3EIOdnxXW6VEdxhonzUUDiIWFzW5I9vSTqcc4OQCPRA6it0N4QhdprKeopn/XYcfwBPuV508DI2NYxrWsaAGtaAGgDgAAOAHck8DJG6Xta5p6nAEe4oKptu2lHPjo52EnqJ0u+67BW9iunevddt2dnqs66SNhPtRZiPjhmB8FFqjcx0XGguFTCRya/D2+GG6eHkUGr3j1PyyW30TOMstXG/A6mty0u8PTJ+yVdir/YTdyaKoNbWTfKa7Bax+MMjaRg6QfaIJGeGASMcSTYCAiIgIiICIiAiIgIiICIiAiIgIiIIrvRt81VZ6qGBhfK9selgxk4mY48+4E+SoGyXyudTgQ0+uOFoYXh3D0Wjr8MFXVvk2jdR2/oIc/K6w9DGB6wB/OOHZwOkHteFWd4oHU1LTWqm41VUQw47CfnHnsBPDwB7EGgbtLU1ML3/JWyQx8XkkOaMDPEEdiz0G0ta+EyQ0oMLMgljuAwASMAdhC9Fhoegt92izq6J0zNXLOhhbnHVnC+7Hwvt8lKJDmmuMIcxx9UShzmlnwA+21BLtxkFTNXVNfJEWwTw6WyZBaXNexpaDzz6J6ldapndfXfku6zWx/CnqiZqY9WvHpM7stYR/ljtVzICIiAiIgIiICIiAiIgIiICIiAiIgIiICIiAiIgIiIC+Er6oFvh2ifSUHQQZNXWO6GJrfWw7g9w48OB0g9rwghkNYLxeJ7g4j5FRAxU59kkAl0nPvLs9jmdi2W6W3m4V1Rd5W/NtJhpQRyaB6TxnuOM9r3habaSgdR0NJZaXBq6shryOHok5lkPY0kEfstd2K59n7RHQ0sVNF+biYGg9Zxzce8nJPigoe3MzSX09k1V/B6lLdlzctkqVsY/wC5hj6WEj1tTXOy0H6zcjx0nqUes7M0F/PZNV/6Xq090/6jov8AC/3uQVPXSvuVqhuFOcV1G4PJbzDmYMg8CMPA8ldmyF+ZcqGGqZj5xo1N+i8cHs8nAqsqykFmv7o8YoLn6TM+qyfJy3uy448JG9i9G76f8j3ie1v4U1WTPSnqDsHUzu9FhH+W3tQW8iIgIiICIiAiIgIiICIiAiIgIiICIiAiIgIiICIiD5lU9ZZm3i9VFzkI+QUAMVO4n0S4Al8nPHIudn6zOxSrfJfH0VomdG4NlmLYmnOD6fr6ce1oDvDmqoodo/lFqgsVHBJDWTSNjmc48C0nXJJngeOOII4NBHFBON1lKblX1N6madGXQ0jXD1WDg5w78HGR1ukVrrw2O1RUVNFTxDEcTA0d+Bxce8nJPeV7kFEWBmbbtCeyar/0vVlbp/1HRf4X+9ypN21xoGXmidTvc6pnqAZNWkR6i5g1N0nPPPMK7t1TC2yUQIIPRA4IxwLiQfAgg+aDHvS2XNztz2R/pMREsLuvW3m0H6zcjxIPUq8uUz7xZIbhBwuNA7U7T62qPSZBjsLdMgHdjtV5KmL3XN2ZvM0ro3OttexzyxgHoztyS1oJwOJ90o+igs7ZC/MuVDDVMx840amj2Xjg9nk7K3KpLcVei2urKQM6GCXNRDA8+k3LgMN4DUNBb2eoFdqAiIgIiICIiAiIgIiICIiAiIgIiICIiAiIgIiim8zaj8l22SZp+ff83CO2R3I/ZGXeSCqd5t+bcLo/0s0Ntac/RfPnBx2nUA37B7VL9yGy4ZTuuNQxpqqpxdG4gFzIsEN0k8W6snlzbpVd2nZl1RU0toBOpxFRXPB4gcywnPMDA8XNPauk4ImsaGNADWgBrRyAAwAO7CD9oiIOWNtY8115PZOP5pXROwP6ooP3Sm/ktXP+1keam+nsmZ8ZyugNgf1RQfulN/Jag3y0e2OzcNzo5KeVrSXA9G8gExvx6L2nmDnnjmMjrW8RBy1SVVRSmOqDcV9ql6OZh5uiyWcT2cXNPcSV0zaLjHV08dREcxysa9p7iM4PYRyI7lUm9i0toLjFcdOaSqHQVbccMkYDz4tx5x969u5y5Oo6ios8zs9GTLTPPtRO4kD3h3m/sQW0iIgIiICIiAiIgIiICIiAiIgIiICIiAiIgKj9rryyvu01RIc22ztPD2ZKgnAaO0l+B/l962m32+anp+mpqJrpZwHM6cECNj+Iy3mXlp8B3qD7KU8V0jobTTa+iL3VNwlI0kuBxozni0ABoPa9p5goLM3LWN7KaS41AzVV7teeyLOWAdgPreGnsVkL8xRhrQ1oAa0AADgABwAC/SAiIg5r2kjzLtEeyaL41BV7bA/qig/dKb+S1Une2Z//AE57Jaf41TldmwP6ooP3Sm/ktQb5ERBqdqrFHcaOalk9WVuA76LhxY8d4cAVQEU1RHA2pAxc7JKI5W8cvp9WkZ4ZLQS5p+qSetdKqo95lGLZc4Lpp1UlQPk9bGBkFrmlocRjj6PxjaOtBZ9lucdZTRVERzHKxr2+Y5HvB4HvC9q503d70obT0tI5kstD0z3QyZAkYwnkYzwOeDsAjBLueVf9oukNZAyeB4fDIMtcP4EHiCORB4hB7EREBERAREQEREBERAREQEREBERAWn2xfM23VZpw4ziCXow0Eu1aDjSBxJ7gtwiDiV9vnbzikHixw/orD3ExVUd5jLY5BE+OVsri1waG6C5pJ5eu1g810sWg8wgGEH1ERAWm2v2hjtlFLVSgkRgYYOBc5xw1o7Mk8+oZK3Khm9fZSe70Agp3tZI2VkmH5DXANc0tJAOPWzyPq+aDmu47U1U0lY7UGNrnh08bQNLsPL2jjkgAnqK6O3ObRR11pha0aX0rWQPbnPqMaGvHc5uD45HUqafuWvQdgRxEfSEzMfHj8Fa25zYWrs7ag1L4yZjHpjjJcG6A7JLiBxOrGB9HmgshERAVVf2h21DrfCyJj3RmbMmgE8mHQHY6sn3gK1UQcSfIZs46N+f2Xf8AxdB/2eI6hlBOyVj2xiYGPWCObBr056uA8yVa2gdgX6QEREBERAREQEREBERAREQEREBERAREQEREBERAREQEREBERAREQEREBERAREQEREBERB//2Q=="/>
          <p:cNvSpPr>
            <a:spLocks noChangeAspect="1" noChangeArrowheads="1"/>
          </p:cNvSpPr>
          <p:nvPr/>
        </p:nvSpPr>
        <p:spPr bwMode="auto">
          <a:xfrm>
            <a:off x="155575" y="-1516063"/>
            <a:ext cx="3810000" cy="31623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25606" name="Picture 6" descr="http://www.how-to-draw-funny-cartoons.com/image-files/cartoon-telescope-006.jpg"/>
          <p:cNvPicPr>
            <a:picLocks noChangeAspect="1" noChangeArrowheads="1"/>
          </p:cNvPicPr>
          <p:nvPr/>
        </p:nvPicPr>
        <p:blipFill>
          <a:blip r:embed="rId2" cstate="print"/>
          <a:srcRect/>
          <a:stretch>
            <a:fillRect/>
          </a:stretch>
        </p:blipFill>
        <p:spPr bwMode="auto">
          <a:xfrm>
            <a:off x="4139952" y="260648"/>
            <a:ext cx="975332" cy="80952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P spid="20"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b="1" dirty="0" smtClean="0"/>
              <a:t>Security Mechanisms</a:t>
            </a:r>
          </a:p>
          <a:p>
            <a:r>
              <a:rPr lang="en-IN" sz="2000" dirty="0" smtClean="0"/>
              <a:t>As described in X.800</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15</a:t>
            </a:fld>
            <a:endParaRPr lang="en-US" dirty="0"/>
          </a:p>
        </p:txBody>
      </p:sp>
      <p:sp>
        <p:nvSpPr>
          <p:cNvPr id="5" name="TextBox 4"/>
          <p:cNvSpPr txBox="1"/>
          <p:nvPr/>
        </p:nvSpPr>
        <p:spPr>
          <a:xfrm>
            <a:off x="251520" y="3284984"/>
            <a:ext cx="2448272" cy="954107"/>
          </a:xfrm>
          <a:prstGeom prst="rect">
            <a:avLst/>
          </a:prstGeom>
          <a:solidFill>
            <a:srgbClr val="C00000"/>
          </a:solidFill>
          <a:ln w="25400">
            <a:solidFill>
              <a:schemeClr val="tx1"/>
            </a:solidFill>
          </a:ln>
        </p:spPr>
        <p:txBody>
          <a:bodyPr wrap="square" rtlCol="0">
            <a:spAutoFit/>
          </a:bodyPr>
          <a:lstStyle/>
          <a:p>
            <a:pPr algn="ctr"/>
            <a:r>
              <a:rPr lang="en-IN" sz="2800" b="1" dirty="0" smtClean="0">
                <a:solidFill>
                  <a:schemeClr val="bg1"/>
                </a:solidFill>
              </a:rPr>
              <a:t>Security Mechanisms</a:t>
            </a:r>
            <a:endParaRPr lang="en-IN" sz="2800" b="1" dirty="0">
              <a:solidFill>
                <a:schemeClr val="bg1"/>
              </a:solidFill>
            </a:endParaRPr>
          </a:p>
        </p:txBody>
      </p:sp>
      <p:sp>
        <p:nvSpPr>
          <p:cNvPr id="16" name="TextBox 15"/>
          <p:cNvSpPr txBox="1"/>
          <p:nvPr/>
        </p:nvSpPr>
        <p:spPr>
          <a:xfrm>
            <a:off x="3563888" y="1628800"/>
            <a:ext cx="1584176" cy="307777"/>
          </a:xfrm>
          <a:prstGeom prst="rect">
            <a:avLst/>
          </a:prstGeom>
          <a:solidFill>
            <a:srgbClr val="92D050"/>
          </a:solidFill>
          <a:ln>
            <a:solidFill>
              <a:schemeClr val="tx1"/>
            </a:solidFill>
          </a:ln>
        </p:spPr>
        <p:txBody>
          <a:bodyPr wrap="square" rtlCol="0">
            <a:spAutoFit/>
          </a:bodyPr>
          <a:lstStyle/>
          <a:p>
            <a:pPr algn="ctr"/>
            <a:r>
              <a:rPr lang="en-IN" sz="1400" b="1" dirty="0" smtClean="0"/>
              <a:t>Encipherment</a:t>
            </a:r>
            <a:endParaRPr lang="en-IN" sz="1400" b="1" dirty="0"/>
          </a:p>
        </p:txBody>
      </p:sp>
      <p:sp>
        <p:nvSpPr>
          <p:cNvPr id="39" name="TextBox 38"/>
          <p:cNvSpPr txBox="1"/>
          <p:nvPr/>
        </p:nvSpPr>
        <p:spPr>
          <a:xfrm>
            <a:off x="3563888" y="2185119"/>
            <a:ext cx="1584176" cy="307777"/>
          </a:xfrm>
          <a:prstGeom prst="rect">
            <a:avLst/>
          </a:prstGeom>
          <a:solidFill>
            <a:srgbClr val="92D050"/>
          </a:solidFill>
          <a:ln>
            <a:solidFill>
              <a:schemeClr val="tx1"/>
            </a:solidFill>
          </a:ln>
        </p:spPr>
        <p:txBody>
          <a:bodyPr wrap="square" rtlCol="0">
            <a:spAutoFit/>
          </a:bodyPr>
          <a:lstStyle/>
          <a:p>
            <a:pPr algn="ctr"/>
            <a:r>
              <a:rPr lang="en-IN" sz="1400" b="1" dirty="0" smtClean="0"/>
              <a:t>Digital Signature</a:t>
            </a:r>
            <a:endParaRPr lang="en-IN" sz="1400" b="1" dirty="0"/>
          </a:p>
        </p:txBody>
      </p:sp>
      <p:sp>
        <p:nvSpPr>
          <p:cNvPr id="40" name="TextBox 39"/>
          <p:cNvSpPr txBox="1"/>
          <p:nvPr/>
        </p:nvSpPr>
        <p:spPr>
          <a:xfrm>
            <a:off x="3563888" y="2780928"/>
            <a:ext cx="1584176" cy="307777"/>
          </a:xfrm>
          <a:prstGeom prst="rect">
            <a:avLst/>
          </a:prstGeom>
          <a:solidFill>
            <a:srgbClr val="92D050"/>
          </a:solidFill>
          <a:ln>
            <a:solidFill>
              <a:schemeClr val="tx1"/>
            </a:solidFill>
          </a:ln>
        </p:spPr>
        <p:txBody>
          <a:bodyPr wrap="square" rtlCol="0">
            <a:spAutoFit/>
          </a:bodyPr>
          <a:lstStyle/>
          <a:p>
            <a:pPr algn="ctr"/>
            <a:r>
              <a:rPr lang="en-IN" sz="1400" b="1" dirty="0" smtClean="0"/>
              <a:t>Access Control</a:t>
            </a:r>
            <a:endParaRPr lang="en-IN" sz="1400" b="1" dirty="0"/>
          </a:p>
        </p:txBody>
      </p:sp>
      <p:sp>
        <p:nvSpPr>
          <p:cNvPr id="41" name="TextBox 40"/>
          <p:cNvSpPr txBox="1"/>
          <p:nvPr/>
        </p:nvSpPr>
        <p:spPr>
          <a:xfrm>
            <a:off x="3563888" y="3356992"/>
            <a:ext cx="1584176" cy="307777"/>
          </a:xfrm>
          <a:prstGeom prst="rect">
            <a:avLst/>
          </a:prstGeom>
          <a:solidFill>
            <a:srgbClr val="92D050"/>
          </a:solidFill>
          <a:ln>
            <a:solidFill>
              <a:schemeClr val="tx1"/>
            </a:solidFill>
          </a:ln>
        </p:spPr>
        <p:txBody>
          <a:bodyPr wrap="square" rtlCol="0">
            <a:spAutoFit/>
          </a:bodyPr>
          <a:lstStyle/>
          <a:p>
            <a:pPr algn="ctr"/>
            <a:r>
              <a:rPr lang="en-IN" sz="1400" b="1" dirty="0" smtClean="0"/>
              <a:t>Data Integrity</a:t>
            </a:r>
            <a:endParaRPr lang="en-IN" sz="1400" b="1" dirty="0"/>
          </a:p>
        </p:txBody>
      </p:sp>
      <p:sp>
        <p:nvSpPr>
          <p:cNvPr id="42" name="TextBox 41"/>
          <p:cNvSpPr txBox="1"/>
          <p:nvPr/>
        </p:nvSpPr>
        <p:spPr>
          <a:xfrm>
            <a:off x="3563888" y="4005064"/>
            <a:ext cx="1584176" cy="523220"/>
          </a:xfrm>
          <a:prstGeom prst="rect">
            <a:avLst/>
          </a:prstGeom>
          <a:solidFill>
            <a:srgbClr val="92D050"/>
          </a:solidFill>
          <a:ln>
            <a:solidFill>
              <a:schemeClr val="tx1"/>
            </a:solidFill>
          </a:ln>
        </p:spPr>
        <p:txBody>
          <a:bodyPr wrap="square" rtlCol="0">
            <a:spAutoFit/>
          </a:bodyPr>
          <a:lstStyle/>
          <a:p>
            <a:pPr algn="ctr"/>
            <a:r>
              <a:rPr lang="en-IN" sz="1400" b="1" dirty="0" smtClean="0"/>
              <a:t>Authentication Exchange</a:t>
            </a:r>
            <a:endParaRPr lang="en-IN" sz="1400" b="1" dirty="0"/>
          </a:p>
        </p:txBody>
      </p:sp>
      <p:sp>
        <p:nvSpPr>
          <p:cNvPr id="43" name="TextBox 42"/>
          <p:cNvSpPr txBox="1"/>
          <p:nvPr/>
        </p:nvSpPr>
        <p:spPr>
          <a:xfrm>
            <a:off x="3563888" y="4797152"/>
            <a:ext cx="1584176" cy="307777"/>
          </a:xfrm>
          <a:prstGeom prst="rect">
            <a:avLst/>
          </a:prstGeom>
          <a:solidFill>
            <a:srgbClr val="92D050"/>
          </a:solidFill>
          <a:ln>
            <a:solidFill>
              <a:schemeClr val="tx1"/>
            </a:solidFill>
          </a:ln>
        </p:spPr>
        <p:txBody>
          <a:bodyPr wrap="square" rtlCol="0">
            <a:spAutoFit/>
          </a:bodyPr>
          <a:lstStyle/>
          <a:p>
            <a:pPr algn="ctr"/>
            <a:r>
              <a:rPr lang="en-IN" sz="1400" b="1" dirty="0" smtClean="0"/>
              <a:t>Traffic Padding</a:t>
            </a:r>
            <a:endParaRPr lang="en-IN" sz="1400" b="1" dirty="0"/>
          </a:p>
        </p:txBody>
      </p:sp>
      <p:sp>
        <p:nvSpPr>
          <p:cNvPr id="44" name="TextBox 43"/>
          <p:cNvSpPr txBox="1"/>
          <p:nvPr/>
        </p:nvSpPr>
        <p:spPr>
          <a:xfrm>
            <a:off x="3563888" y="5373216"/>
            <a:ext cx="1584176" cy="307777"/>
          </a:xfrm>
          <a:prstGeom prst="rect">
            <a:avLst/>
          </a:prstGeom>
          <a:solidFill>
            <a:srgbClr val="92D050"/>
          </a:solidFill>
          <a:ln>
            <a:solidFill>
              <a:schemeClr val="tx1"/>
            </a:solidFill>
          </a:ln>
        </p:spPr>
        <p:txBody>
          <a:bodyPr wrap="square" rtlCol="0">
            <a:spAutoFit/>
          </a:bodyPr>
          <a:lstStyle/>
          <a:p>
            <a:pPr algn="ctr"/>
            <a:r>
              <a:rPr lang="en-IN" sz="1400" b="1" dirty="0" smtClean="0"/>
              <a:t>Routing Control</a:t>
            </a:r>
            <a:endParaRPr lang="en-IN" sz="1400" b="1" dirty="0"/>
          </a:p>
        </p:txBody>
      </p:sp>
      <p:sp>
        <p:nvSpPr>
          <p:cNvPr id="45" name="TextBox 44"/>
          <p:cNvSpPr txBox="1"/>
          <p:nvPr/>
        </p:nvSpPr>
        <p:spPr>
          <a:xfrm>
            <a:off x="3563888" y="5949280"/>
            <a:ext cx="1584176" cy="307777"/>
          </a:xfrm>
          <a:prstGeom prst="rect">
            <a:avLst/>
          </a:prstGeom>
          <a:solidFill>
            <a:srgbClr val="92D050"/>
          </a:solidFill>
          <a:ln>
            <a:solidFill>
              <a:schemeClr val="tx1"/>
            </a:solidFill>
          </a:ln>
        </p:spPr>
        <p:txBody>
          <a:bodyPr wrap="square" rtlCol="0">
            <a:spAutoFit/>
          </a:bodyPr>
          <a:lstStyle/>
          <a:p>
            <a:pPr algn="ctr"/>
            <a:r>
              <a:rPr lang="en-IN" sz="1400" b="1" dirty="0" smtClean="0"/>
              <a:t>Notarization</a:t>
            </a:r>
            <a:endParaRPr lang="en-IN" sz="1400" b="1" dirty="0"/>
          </a:p>
        </p:txBody>
      </p:sp>
      <p:cxnSp>
        <p:nvCxnSpPr>
          <p:cNvPr id="51" name="Straight Connector 50"/>
          <p:cNvCxnSpPr/>
          <p:nvPr/>
        </p:nvCxnSpPr>
        <p:spPr>
          <a:xfrm>
            <a:off x="3131840" y="1772816"/>
            <a:ext cx="0" cy="43204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endCxn id="16" idx="1"/>
          </p:cNvCxnSpPr>
          <p:nvPr/>
        </p:nvCxnSpPr>
        <p:spPr>
          <a:xfrm>
            <a:off x="3131840" y="1772816"/>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3131840" y="2348880"/>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a:off x="3131840" y="2924944"/>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3131840" y="3501008"/>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3131840" y="4293096"/>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a:off x="3131840" y="4941168"/>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3131840" y="5517232"/>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3131840" y="6093296"/>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a:off x="2699792" y="3717032"/>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 name="Group 49"/>
          <p:cNvGrpSpPr/>
          <p:nvPr/>
        </p:nvGrpSpPr>
        <p:grpSpPr>
          <a:xfrm>
            <a:off x="5148064" y="1412776"/>
            <a:ext cx="3491880" cy="646331"/>
            <a:chOff x="5148064" y="1412776"/>
            <a:chExt cx="3491880" cy="646331"/>
          </a:xfrm>
        </p:grpSpPr>
        <p:sp>
          <p:nvSpPr>
            <p:cNvPr id="89" name="Rectangle 88"/>
            <p:cNvSpPr/>
            <p:nvPr/>
          </p:nvSpPr>
          <p:spPr>
            <a:xfrm>
              <a:off x="5868144" y="1412776"/>
              <a:ext cx="2771800" cy="646331"/>
            </a:xfrm>
            <a:prstGeom prst="rect">
              <a:avLst/>
            </a:prstGeom>
            <a:ln w="3175">
              <a:solidFill>
                <a:schemeClr val="tx1"/>
              </a:solidFill>
              <a:prstDash val="sysDash"/>
            </a:ln>
          </p:spPr>
          <p:txBody>
            <a:bodyPr wrap="square">
              <a:spAutoFit/>
            </a:bodyPr>
            <a:lstStyle/>
            <a:p>
              <a:pPr algn="just"/>
              <a:r>
                <a:rPr lang="en-IN" sz="1200" dirty="0" smtClean="0"/>
                <a:t>The use of mathematical algorithms to transform data into a form that is not readily intelligible.</a:t>
              </a:r>
              <a:endParaRPr lang="en-IN" sz="1200" dirty="0"/>
            </a:p>
          </p:txBody>
        </p:sp>
        <p:cxnSp>
          <p:nvCxnSpPr>
            <p:cNvPr id="32" name="Straight Arrow Connector 31"/>
            <p:cNvCxnSpPr>
              <a:stCxn id="16" idx="3"/>
            </p:cNvCxnSpPr>
            <p:nvPr/>
          </p:nvCxnSpPr>
          <p:spPr>
            <a:xfrm>
              <a:off x="5148064" y="1782689"/>
              <a:ext cx="720080" cy="62135"/>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1"/>
          <p:cNvGrpSpPr/>
          <p:nvPr/>
        </p:nvGrpSpPr>
        <p:grpSpPr>
          <a:xfrm>
            <a:off x="5148064" y="2132856"/>
            <a:ext cx="3491880" cy="461665"/>
            <a:chOff x="5148064" y="2132856"/>
            <a:chExt cx="3491880" cy="461665"/>
          </a:xfrm>
        </p:grpSpPr>
        <p:sp>
          <p:nvSpPr>
            <p:cNvPr id="90" name="Rectangle 89"/>
            <p:cNvSpPr/>
            <p:nvPr/>
          </p:nvSpPr>
          <p:spPr>
            <a:xfrm>
              <a:off x="5868144" y="2132856"/>
              <a:ext cx="2771800" cy="461665"/>
            </a:xfrm>
            <a:prstGeom prst="rect">
              <a:avLst/>
            </a:prstGeom>
            <a:ln w="3175">
              <a:solidFill>
                <a:schemeClr val="tx1"/>
              </a:solidFill>
              <a:prstDash val="sysDash"/>
            </a:ln>
          </p:spPr>
          <p:txBody>
            <a:bodyPr wrap="square">
              <a:spAutoFit/>
            </a:bodyPr>
            <a:lstStyle/>
            <a:p>
              <a:pPr algn="just"/>
              <a:r>
                <a:rPr lang="en-IN" sz="1200" dirty="0" smtClean="0"/>
                <a:t>A data unit that allows a recipient of the data unit to prove the source.</a:t>
              </a:r>
              <a:endParaRPr lang="en-IN" sz="1200" dirty="0"/>
            </a:p>
          </p:txBody>
        </p:sp>
        <p:cxnSp>
          <p:nvCxnSpPr>
            <p:cNvPr id="34" name="Straight Arrow Connector 33"/>
            <p:cNvCxnSpPr/>
            <p:nvPr/>
          </p:nvCxnSpPr>
          <p:spPr>
            <a:xfrm>
              <a:off x="5148064" y="2348880"/>
              <a:ext cx="720080" cy="62135"/>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7" name="Group 52"/>
          <p:cNvGrpSpPr/>
          <p:nvPr/>
        </p:nvGrpSpPr>
        <p:grpSpPr>
          <a:xfrm>
            <a:off x="5148064" y="2708920"/>
            <a:ext cx="3491880" cy="276999"/>
            <a:chOff x="5148064" y="2708920"/>
            <a:chExt cx="3491880" cy="276999"/>
          </a:xfrm>
        </p:grpSpPr>
        <p:sp>
          <p:nvSpPr>
            <p:cNvPr id="91" name="Rectangle 90"/>
            <p:cNvSpPr/>
            <p:nvPr/>
          </p:nvSpPr>
          <p:spPr>
            <a:xfrm>
              <a:off x="5868144" y="2708920"/>
              <a:ext cx="2771800" cy="276999"/>
            </a:xfrm>
            <a:prstGeom prst="rect">
              <a:avLst/>
            </a:prstGeom>
            <a:ln w="3175">
              <a:solidFill>
                <a:schemeClr val="tx1"/>
              </a:solidFill>
              <a:prstDash val="sysDash"/>
            </a:ln>
          </p:spPr>
          <p:txBody>
            <a:bodyPr wrap="square">
              <a:spAutoFit/>
            </a:bodyPr>
            <a:lstStyle/>
            <a:p>
              <a:pPr algn="just"/>
              <a:r>
                <a:rPr lang="en-IN" sz="1200" dirty="0" smtClean="0"/>
                <a:t>Access rights to the resources restrained.</a:t>
              </a:r>
              <a:endParaRPr lang="en-IN" sz="1200" dirty="0"/>
            </a:p>
          </p:txBody>
        </p:sp>
        <p:cxnSp>
          <p:nvCxnSpPr>
            <p:cNvPr id="35" name="Straight Arrow Connector 34"/>
            <p:cNvCxnSpPr>
              <a:endCxn id="91" idx="1"/>
            </p:cNvCxnSpPr>
            <p:nvPr/>
          </p:nvCxnSpPr>
          <p:spPr>
            <a:xfrm flipV="1">
              <a:off x="5148064" y="2847420"/>
              <a:ext cx="720080" cy="77524"/>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53"/>
          <p:cNvGrpSpPr/>
          <p:nvPr/>
        </p:nvGrpSpPr>
        <p:grpSpPr>
          <a:xfrm>
            <a:off x="5148064" y="3102059"/>
            <a:ext cx="3491880" cy="830997"/>
            <a:chOff x="5148064" y="3102059"/>
            <a:chExt cx="3491880" cy="830997"/>
          </a:xfrm>
        </p:grpSpPr>
        <p:sp>
          <p:nvSpPr>
            <p:cNvPr id="92" name="Rectangle 91"/>
            <p:cNvSpPr/>
            <p:nvPr/>
          </p:nvSpPr>
          <p:spPr>
            <a:xfrm>
              <a:off x="5868144" y="3102059"/>
              <a:ext cx="2771800" cy="830997"/>
            </a:xfrm>
            <a:prstGeom prst="rect">
              <a:avLst/>
            </a:prstGeom>
            <a:ln w="3175">
              <a:solidFill>
                <a:schemeClr val="tx1"/>
              </a:solidFill>
              <a:prstDash val="sysDash"/>
            </a:ln>
          </p:spPr>
          <p:txBody>
            <a:bodyPr wrap="square">
              <a:spAutoFit/>
            </a:bodyPr>
            <a:lstStyle/>
            <a:p>
              <a:pPr algn="just"/>
              <a:r>
                <a:rPr lang="en-IN" sz="1200" dirty="0" smtClean="0"/>
                <a:t>A mechanism to append a check value with the data. Receiver calculates check value on the data and compares it with the received one.</a:t>
              </a:r>
              <a:endParaRPr lang="en-IN" sz="1200" dirty="0"/>
            </a:p>
          </p:txBody>
        </p:sp>
        <p:cxnSp>
          <p:nvCxnSpPr>
            <p:cNvPr id="37" name="Straight Arrow Connector 36"/>
            <p:cNvCxnSpPr/>
            <p:nvPr/>
          </p:nvCxnSpPr>
          <p:spPr>
            <a:xfrm>
              <a:off x="5148064" y="3501008"/>
              <a:ext cx="720080" cy="62135"/>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54"/>
          <p:cNvGrpSpPr/>
          <p:nvPr/>
        </p:nvGrpSpPr>
        <p:grpSpPr>
          <a:xfrm>
            <a:off x="5148064" y="4005064"/>
            <a:ext cx="3491880" cy="461665"/>
            <a:chOff x="5148064" y="4005064"/>
            <a:chExt cx="3491880" cy="461665"/>
          </a:xfrm>
        </p:grpSpPr>
        <p:sp>
          <p:nvSpPr>
            <p:cNvPr id="93" name="Rectangle 92"/>
            <p:cNvSpPr/>
            <p:nvPr/>
          </p:nvSpPr>
          <p:spPr>
            <a:xfrm>
              <a:off x="5868144" y="4005064"/>
              <a:ext cx="2771800" cy="461665"/>
            </a:xfrm>
            <a:prstGeom prst="rect">
              <a:avLst/>
            </a:prstGeom>
            <a:ln w="3175">
              <a:solidFill>
                <a:schemeClr val="tx1"/>
              </a:solidFill>
              <a:prstDash val="sysDash"/>
            </a:ln>
          </p:spPr>
          <p:txBody>
            <a:bodyPr wrap="square">
              <a:spAutoFit/>
            </a:bodyPr>
            <a:lstStyle/>
            <a:p>
              <a:pPr algn="just"/>
              <a:r>
                <a:rPr lang="en-IN" sz="1200" dirty="0" smtClean="0"/>
                <a:t>Two entities exchange the messages to prove their identities to each other.</a:t>
              </a:r>
              <a:endParaRPr lang="en-IN" sz="1200" dirty="0"/>
            </a:p>
          </p:txBody>
        </p:sp>
        <p:cxnSp>
          <p:nvCxnSpPr>
            <p:cNvPr id="38" name="Straight Arrow Connector 37"/>
            <p:cNvCxnSpPr>
              <a:endCxn id="93" idx="1"/>
            </p:cNvCxnSpPr>
            <p:nvPr/>
          </p:nvCxnSpPr>
          <p:spPr>
            <a:xfrm flipV="1">
              <a:off x="5148064" y="4235897"/>
              <a:ext cx="720080" cy="57199"/>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55"/>
          <p:cNvGrpSpPr/>
          <p:nvPr/>
        </p:nvGrpSpPr>
        <p:grpSpPr>
          <a:xfrm>
            <a:off x="5148064" y="4725144"/>
            <a:ext cx="3491880" cy="461665"/>
            <a:chOff x="5148064" y="4725144"/>
            <a:chExt cx="3491880" cy="461665"/>
          </a:xfrm>
        </p:grpSpPr>
        <p:sp>
          <p:nvSpPr>
            <p:cNvPr id="94" name="Rectangle 93"/>
            <p:cNvSpPr/>
            <p:nvPr/>
          </p:nvSpPr>
          <p:spPr>
            <a:xfrm>
              <a:off x="5868144" y="4725144"/>
              <a:ext cx="2771800" cy="461665"/>
            </a:xfrm>
            <a:prstGeom prst="rect">
              <a:avLst/>
            </a:prstGeom>
            <a:ln w="3175">
              <a:solidFill>
                <a:schemeClr val="tx1"/>
              </a:solidFill>
              <a:prstDash val="sysDash"/>
            </a:ln>
          </p:spPr>
          <p:txBody>
            <a:bodyPr wrap="square">
              <a:spAutoFit/>
            </a:bodyPr>
            <a:lstStyle/>
            <a:p>
              <a:pPr algn="just"/>
              <a:r>
                <a:rPr lang="en-IN" sz="1200" dirty="0" smtClean="0"/>
                <a:t>Insertion of bogus data to thwart the traffic analysis.</a:t>
              </a:r>
              <a:endParaRPr lang="en-IN" sz="1200" dirty="0"/>
            </a:p>
          </p:txBody>
        </p:sp>
        <p:cxnSp>
          <p:nvCxnSpPr>
            <p:cNvPr id="47" name="Straight Arrow Connector 46"/>
            <p:cNvCxnSpPr/>
            <p:nvPr/>
          </p:nvCxnSpPr>
          <p:spPr>
            <a:xfrm>
              <a:off x="5148064" y="4941168"/>
              <a:ext cx="720080" cy="62135"/>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56"/>
          <p:cNvGrpSpPr/>
          <p:nvPr/>
        </p:nvGrpSpPr>
        <p:grpSpPr>
          <a:xfrm>
            <a:off x="5148064" y="5229200"/>
            <a:ext cx="3491880" cy="646331"/>
            <a:chOff x="5148064" y="5229200"/>
            <a:chExt cx="3491880" cy="646331"/>
          </a:xfrm>
        </p:grpSpPr>
        <p:sp>
          <p:nvSpPr>
            <p:cNvPr id="95" name="Rectangle 94"/>
            <p:cNvSpPr/>
            <p:nvPr/>
          </p:nvSpPr>
          <p:spPr>
            <a:xfrm>
              <a:off x="5868144" y="5229200"/>
              <a:ext cx="2771800" cy="646331"/>
            </a:xfrm>
            <a:prstGeom prst="rect">
              <a:avLst/>
            </a:prstGeom>
            <a:ln w="3175">
              <a:solidFill>
                <a:schemeClr val="tx1"/>
              </a:solidFill>
              <a:prstDash val="sysDash"/>
            </a:ln>
          </p:spPr>
          <p:txBody>
            <a:bodyPr wrap="square">
              <a:spAutoFit/>
            </a:bodyPr>
            <a:lstStyle/>
            <a:p>
              <a:pPr algn="just"/>
              <a:r>
                <a:rPr lang="en-IN" sz="1200" dirty="0" smtClean="0"/>
                <a:t>Discretionary selection of routes between sender and receiver based of the security risks.</a:t>
              </a:r>
              <a:endParaRPr lang="en-IN" sz="1200" dirty="0"/>
            </a:p>
          </p:txBody>
        </p:sp>
        <p:cxnSp>
          <p:nvCxnSpPr>
            <p:cNvPr id="48" name="Straight Arrow Connector 47"/>
            <p:cNvCxnSpPr/>
            <p:nvPr/>
          </p:nvCxnSpPr>
          <p:spPr>
            <a:xfrm>
              <a:off x="5148064" y="5517232"/>
              <a:ext cx="720080" cy="62135"/>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57"/>
          <p:cNvGrpSpPr/>
          <p:nvPr/>
        </p:nvGrpSpPr>
        <p:grpSpPr>
          <a:xfrm>
            <a:off x="5148064" y="5949280"/>
            <a:ext cx="3491880" cy="461665"/>
            <a:chOff x="5148064" y="5949280"/>
            <a:chExt cx="3491880" cy="461665"/>
          </a:xfrm>
        </p:grpSpPr>
        <p:sp>
          <p:nvSpPr>
            <p:cNvPr id="96" name="Rectangle 95"/>
            <p:cNvSpPr/>
            <p:nvPr/>
          </p:nvSpPr>
          <p:spPr>
            <a:xfrm>
              <a:off x="5868144" y="5949280"/>
              <a:ext cx="2771800" cy="461665"/>
            </a:xfrm>
            <a:prstGeom prst="rect">
              <a:avLst/>
            </a:prstGeom>
            <a:ln w="3175">
              <a:solidFill>
                <a:schemeClr val="tx1"/>
              </a:solidFill>
              <a:prstDash val="sysDash"/>
            </a:ln>
          </p:spPr>
          <p:txBody>
            <a:bodyPr wrap="square">
              <a:spAutoFit/>
            </a:bodyPr>
            <a:lstStyle/>
            <a:p>
              <a:pPr algn="just"/>
              <a:r>
                <a:rPr lang="en-IN" sz="1200" dirty="0" smtClean="0"/>
                <a:t>Trusted third party assures the information exchange.</a:t>
              </a:r>
              <a:endParaRPr lang="en-IN" sz="1200" dirty="0"/>
            </a:p>
          </p:txBody>
        </p:sp>
        <p:cxnSp>
          <p:nvCxnSpPr>
            <p:cNvPr id="49" name="Straight Arrow Connector 48"/>
            <p:cNvCxnSpPr/>
            <p:nvPr/>
          </p:nvCxnSpPr>
          <p:spPr>
            <a:xfrm>
              <a:off x="5148064" y="6093296"/>
              <a:ext cx="720080" cy="62135"/>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9" grpId="0" animBg="1"/>
      <p:bldP spid="40" grpId="0" animBg="1"/>
      <p:bldP spid="41" grpId="0" animBg="1"/>
      <p:bldP spid="42" grpId="0" animBg="1"/>
      <p:bldP spid="43" grpId="0" animBg="1"/>
      <p:bldP spid="44" grpId="0" animBg="1"/>
      <p:bldP spid="4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Security Services</a:t>
            </a:r>
          </a:p>
          <a:p>
            <a:r>
              <a:rPr lang="en-IN" sz="2000" dirty="0" smtClean="0"/>
              <a:t>As described in X.800</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16</a:t>
            </a:fld>
            <a:endParaRPr lang="en-US" dirty="0"/>
          </a:p>
        </p:txBody>
      </p:sp>
      <p:sp>
        <p:nvSpPr>
          <p:cNvPr id="5" name="TextBox 4"/>
          <p:cNvSpPr txBox="1"/>
          <p:nvPr/>
        </p:nvSpPr>
        <p:spPr>
          <a:xfrm>
            <a:off x="107504" y="3212976"/>
            <a:ext cx="1584176" cy="954107"/>
          </a:xfrm>
          <a:prstGeom prst="rect">
            <a:avLst/>
          </a:prstGeom>
          <a:solidFill>
            <a:srgbClr val="C00000"/>
          </a:solidFill>
          <a:ln w="25400">
            <a:solidFill>
              <a:schemeClr val="tx1"/>
            </a:solidFill>
          </a:ln>
        </p:spPr>
        <p:txBody>
          <a:bodyPr wrap="square" rtlCol="0">
            <a:spAutoFit/>
          </a:bodyPr>
          <a:lstStyle/>
          <a:p>
            <a:pPr algn="ctr"/>
            <a:r>
              <a:rPr lang="en-IN" sz="2800" b="1" dirty="0" smtClean="0">
                <a:solidFill>
                  <a:schemeClr val="bg1"/>
                </a:solidFill>
              </a:rPr>
              <a:t>Security </a:t>
            </a:r>
          </a:p>
          <a:p>
            <a:pPr algn="ctr"/>
            <a:r>
              <a:rPr lang="en-IN" sz="2800" b="1" dirty="0" smtClean="0">
                <a:solidFill>
                  <a:schemeClr val="bg1"/>
                </a:solidFill>
              </a:rPr>
              <a:t>Services</a:t>
            </a:r>
            <a:endParaRPr lang="en-IN" sz="2800" b="1" dirty="0">
              <a:solidFill>
                <a:schemeClr val="bg1"/>
              </a:solidFill>
            </a:endParaRPr>
          </a:p>
        </p:txBody>
      </p:sp>
      <p:sp>
        <p:nvSpPr>
          <p:cNvPr id="16" name="TextBox 15"/>
          <p:cNvSpPr txBox="1"/>
          <p:nvPr/>
        </p:nvSpPr>
        <p:spPr>
          <a:xfrm>
            <a:off x="2411760" y="1628800"/>
            <a:ext cx="1296144" cy="307777"/>
          </a:xfrm>
          <a:prstGeom prst="rect">
            <a:avLst/>
          </a:prstGeom>
          <a:solidFill>
            <a:srgbClr val="92D050"/>
          </a:solidFill>
          <a:ln>
            <a:solidFill>
              <a:schemeClr val="tx1"/>
            </a:solidFill>
          </a:ln>
        </p:spPr>
        <p:txBody>
          <a:bodyPr wrap="square" rtlCol="0">
            <a:spAutoFit/>
          </a:bodyPr>
          <a:lstStyle/>
          <a:p>
            <a:pPr algn="ctr"/>
            <a:r>
              <a:rPr lang="en-IN" sz="1400" b="1" dirty="0" smtClean="0"/>
              <a:t>Authentication</a:t>
            </a:r>
            <a:endParaRPr lang="en-IN" sz="1400" b="1" dirty="0"/>
          </a:p>
        </p:txBody>
      </p:sp>
      <p:sp>
        <p:nvSpPr>
          <p:cNvPr id="33" name="TextBox 32"/>
          <p:cNvSpPr txBox="1"/>
          <p:nvPr/>
        </p:nvSpPr>
        <p:spPr>
          <a:xfrm>
            <a:off x="2411760" y="2545159"/>
            <a:ext cx="1296144" cy="307777"/>
          </a:xfrm>
          <a:prstGeom prst="rect">
            <a:avLst/>
          </a:prstGeom>
          <a:solidFill>
            <a:srgbClr val="92D050"/>
          </a:solidFill>
          <a:ln>
            <a:solidFill>
              <a:schemeClr val="tx1"/>
            </a:solidFill>
          </a:ln>
        </p:spPr>
        <p:txBody>
          <a:bodyPr wrap="square" rtlCol="0">
            <a:spAutoFit/>
          </a:bodyPr>
          <a:lstStyle/>
          <a:p>
            <a:pPr algn="ctr"/>
            <a:r>
              <a:rPr lang="en-IN" sz="1400" b="1" dirty="0" smtClean="0"/>
              <a:t>Access Control</a:t>
            </a:r>
            <a:endParaRPr lang="en-IN" sz="1400" b="1" dirty="0"/>
          </a:p>
        </p:txBody>
      </p:sp>
      <p:sp>
        <p:nvSpPr>
          <p:cNvPr id="34" name="TextBox 33"/>
          <p:cNvSpPr txBox="1"/>
          <p:nvPr/>
        </p:nvSpPr>
        <p:spPr>
          <a:xfrm>
            <a:off x="2411760" y="3553271"/>
            <a:ext cx="1296144" cy="523220"/>
          </a:xfrm>
          <a:prstGeom prst="rect">
            <a:avLst/>
          </a:prstGeom>
          <a:solidFill>
            <a:srgbClr val="92D050"/>
          </a:solidFill>
          <a:ln>
            <a:solidFill>
              <a:schemeClr val="tx1"/>
            </a:solidFill>
          </a:ln>
        </p:spPr>
        <p:txBody>
          <a:bodyPr wrap="square" rtlCol="0">
            <a:spAutoFit/>
          </a:bodyPr>
          <a:lstStyle/>
          <a:p>
            <a:pPr algn="ctr"/>
            <a:r>
              <a:rPr lang="en-IN" sz="1400" b="1" dirty="0" smtClean="0"/>
              <a:t>Data Confidentiality</a:t>
            </a:r>
            <a:endParaRPr lang="en-IN" sz="1400" b="1" dirty="0"/>
          </a:p>
        </p:txBody>
      </p:sp>
      <p:sp>
        <p:nvSpPr>
          <p:cNvPr id="35" name="TextBox 34"/>
          <p:cNvSpPr txBox="1"/>
          <p:nvPr/>
        </p:nvSpPr>
        <p:spPr>
          <a:xfrm>
            <a:off x="2411760" y="4777407"/>
            <a:ext cx="1296144" cy="307777"/>
          </a:xfrm>
          <a:prstGeom prst="rect">
            <a:avLst/>
          </a:prstGeom>
          <a:solidFill>
            <a:srgbClr val="92D050"/>
          </a:solidFill>
          <a:ln>
            <a:solidFill>
              <a:schemeClr val="tx1"/>
            </a:solidFill>
          </a:ln>
        </p:spPr>
        <p:txBody>
          <a:bodyPr wrap="square" rtlCol="0">
            <a:spAutoFit/>
          </a:bodyPr>
          <a:lstStyle/>
          <a:p>
            <a:pPr algn="ctr"/>
            <a:r>
              <a:rPr lang="en-IN" sz="1400" b="1" dirty="0" smtClean="0"/>
              <a:t>Data Integrity</a:t>
            </a:r>
            <a:endParaRPr lang="en-IN" sz="1400" b="1" dirty="0"/>
          </a:p>
        </p:txBody>
      </p:sp>
      <p:sp>
        <p:nvSpPr>
          <p:cNvPr id="36" name="TextBox 35"/>
          <p:cNvSpPr txBox="1"/>
          <p:nvPr/>
        </p:nvSpPr>
        <p:spPr>
          <a:xfrm>
            <a:off x="2411760" y="5929535"/>
            <a:ext cx="1368152" cy="307777"/>
          </a:xfrm>
          <a:prstGeom prst="rect">
            <a:avLst/>
          </a:prstGeom>
          <a:solidFill>
            <a:srgbClr val="92D050"/>
          </a:solidFill>
          <a:ln>
            <a:solidFill>
              <a:schemeClr val="tx1"/>
            </a:solidFill>
          </a:ln>
        </p:spPr>
        <p:txBody>
          <a:bodyPr wrap="square" rtlCol="0">
            <a:spAutoFit/>
          </a:bodyPr>
          <a:lstStyle/>
          <a:p>
            <a:pPr algn="ctr"/>
            <a:r>
              <a:rPr lang="en-IN" sz="1400" b="1" dirty="0" smtClean="0"/>
              <a:t>Nonrepudiation</a:t>
            </a:r>
            <a:endParaRPr lang="en-IN" sz="1400" b="1" dirty="0"/>
          </a:p>
        </p:txBody>
      </p:sp>
      <p:cxnSp>
        <p:nvCxnSpPr>
          <p:cNvPr id="41" name="Straight Connector 40"/>
          <p:cNvCxnSpPr/>
          <p:nvPr/>
        </p:nvCxnSpPr>
        <p:spPr>
          <a:xfrm>
            <a:off x="1979712" y="1772816"/>
            <a:ext cx="0" cy="43924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1979712" y="1772816"/>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1979712" y="2689175"/>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1979712" y="3717032"/>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1979712" y="4921423"/>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1979712" y="6155431"/>
            <a:ext cx="432048" cy="98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 name="Group 69"/>
          <p:cNvGrpSpPr/>
          <p:nvPr/>
        </p:nvGrpSpPr>
        <p:grpSpPr>
          <a:xfrm>
            <a:off x="3707904" y="1412777"/>
            <a:ext cx="5256584" cy="1384995"/>
            <a:chOff x="3707904" y="1412777"/>
            <a:chExt cx="5256584" cy="1384995"/>
          </a:xfrm>
        </p:grpSpPr>
        <p:sp>
          <p:nvSpPr>
            <p:cNvPr id="40" name="Rectangle 39"/>
            <p:cNvSpPr/>
            <p:nvPr/>
          </p:nvSpPr>
          <p:spPr>
            <a:xfrm>
              <a:off x="4139952" y="1412777"/>
              <a:ext cx="4824536" cy="1384995"/>
            </a:xfrm>
            <a:prstGeom prst="rect">
              <a:avLst/>
            </a:prstGeom>
            <a:ln w="3175">
              <a:solidFill>
                <a:schemeClr val="tx1"/>
              </a:solidFill>
              <a:prstDash val="sysDash"/>
            </a:ln>
          </p:spPr>
          <p:txBody>
            <a:bodyPr wrap="square">
              <a:spAutoFit/>
            </a:bodyPr>
            <a:lstStyle/>
            <a:p>
              <a:pPr algn="just"/>
              <a:r>
                <a:rPr lang="en-IN" sz="1400" dirty="0" smtClean="0"/>
                <a:t>The assurance that the communicating entity is the one that it claims to be.</a:t>
              </a:r>
            </a:p>
            <a:p>
              <a:pPr marL="342900" indent="-342900" algn="just">
                <a:buFont typeface="+mj-lt"/>
                <a:buAutoNum type="arabicPeriod"/>
              </a:pPr>
              <a:r>
                <a:rPr lang="en-IN" sz="1400" dirty="0" smtClean="0"/>
                <a:t>Peer Entity: Sender/receiver authentication in connection oriented communication.</a:t>
              </a:r>
            </a:p>
            <a:p>
              <a:pPr marL="342900" indent="-342900" algn="just">
                <a:buFont typeface="+mj-lt"/>
                <a:buAutoNum type="arabicPeriod"/>
              </a:pPr>
              <a:r>
                <a:rPr lang="en-IN" sz="1400" dirty="0" smtClean="0"/>
                <a:t>Data Origin: Data source authentication in connectionless communication.</a:t>
              </a:r>
              <a:endParaRPr lang="en-IN" sz="1400" dirty="0"/>
            </a:p>
          </p:txBody>
        </p:sp>
        <p:cxnSp>
          <p:nvCxnSpPr>
            <p:cNvPr id="51" name="Straight Arrow Connector 50"/>
            <p:cNvCxnSpPr>
              <a:stCxn id="16" idx="3"/>
              <a:endCxn id="40" idx="1"/>
            </p:cNvCxnSpPr>
            <p:nvPr/>
          </p:nvCxnSpPr>
          <p:spPr>
            <a:xfrm>
              <a:off x="3707904" y="1782689"/>
              <a:ext cx="432048" cy="322586"/>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cxnSp>
        <p:nvCxnSpPr>
          <p:cNvPr id="55" name="Straight Arrow Connector 54"/>
          <p:cNvCxnSpPr/>
          <p:nvPr/>
        </p:nvCxnSpPr>
        <p:spPr>
          <a:xfrm>
            <a:off x="1691680" y="3717032"/>
            <a:ext cx="28803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 name="Group 70"/>
          <p:cNvGrpSpPr/>
          <p:nvPr/>
        </p:nvGrpSpPr>
        <p:grpSpPr>
          <a:xfrm>
            <a:off x="3707904" y="2699048"/>
            <a:ext cx="5256584" cy="934943"/>
            <a:chOff x="3707904" y="2699048"/>
            <a:chExt cx="5256584" cy="934943"/>
          </a:xfrm>
        </p:grpSpPr>
        <p:sp>
          <p:nvSpPr>
            <p:cNvPr id="50" name="Rectangle 49"/>
            <p:cNvSpPr/>
            <p:nvPr/>
          </p:nvSpPr>
          <p:spPr>
            <a:xfrm>
              <a:off x="4139952" y="2895327"/>
              <a:ext cx="4824536" cy="738664"/>
            </a:xfrm>
            <a:prstGeom prst="rect">
              <a:avLst/>
            </a:prstGeom>
            <a:ln w="3175">
              <a:solidFill>
                <a:schemeClr val="tx1"/>
              </a:solidFill>
              <a:prstDash val="sysDash"/>
            </a:ln>
          </p:spPr>
          <p:txBody>
            <a:bodyPr wrap="square">
              <a:spAutoFit/>
            </a:bodyPr>
            <a:lstStyle/>
            <a:p>
              <a:pPr algn="just"/>
              <a:r>
                <a:rPr lang="en-IN" sz="1400" dirty="0" smtClean="0"/>
                <a:t>The prevention of unauthorized access of a resource. Access definition could be broad here and can involve – read, write, modify, execute etc.</a:t>
              </a:r>
            </a:p>
          </p:txBody>
        </p:sp>
        <p:cxnSp>
          <p:nvCxnSpPr>
            <p:cNvPr id="58" name="Straight Arrow Connector 57"/>
            <p:cNvCxnSpPr>
              <a:stCxn id="33" idx="3"/>
              <a:endCxn id="50" idx="1"/>
            </p:cNvCxnSpPr>
            <p:nvPr/>
          </p:nvCxnSpPr>
          <p:spPr>
            <a:xfrm>
              <a:off x="3707904" y="2699048"/>
              <a:ext cx="432048" cy="565611"/>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7" name="Group 71"/>
          <p:cNvGrpSpPr/>
          <p:nvPr/>
        </p:nvGrpSpPr>
        <p:grpSpPr>
          <a:xfrm>
            <a:off x="3707904" y="3790781"/>
            <a:ext cx="5256584" cy="954107"/>
            <a:chOff x="3707904" y="3790781"/>
            <a:chExt cx="5256584" cy="954107"/>
          </a:xfrm>
        </p:grpSpPr>
        <p:sp>
          <p:nvSpPr>
            <p:cNvPr id="60" name="Rectangle 59"/>
            <p:cNvSpPr/>
            <p:nvPr/>
          </p:nvSpPr>
          <p:spPr>
            <a:xfrm>
              <a:off x="4139952" y="3790781"/>
              <a:ext cx="4824536" cy="954107"/>
            </a:xfrm>
            <a:prstGeom prst="rect">
              <a:avLst/>
            </a:prstGeom>
            <a:ln w="3175">
              <a:solidFill>
                <a:schemeClr val="tx1"/>
              </a:solidFill>
              <a:prstDash val="sysDash"/>
            </a:ln>
          </p:spPr>
          <p:txBody>
            <a:bodyPr wrap="square">
              <a:spAutoFit/>
            </a:bodyPr>
            <a:lstStyle/>
            <a:p>
              <a:pPr algn="just"/>
              <a:r>
                <a:rPr lang="en-IN" sz="1400" dirty="0" smtClean="0"/>
                <a:t>The protection of data from unauthorized disclosure. X.800 is very broad and encompasses confidentiality of the whole message or the part of the message and also protection against traffic analysis.</a:t>
              </a:r>
            </a:p>
          </p:txBody>
        </p:sp>
        <p:cxnSp>
          <p:nvCxnSpPr>
            <p:cNvPr id="61" name="Straight Arrow Connector 60"/>
            <p:cNvCxnSpPr>
              <a:stCxn id="34" idx="3"/>
              <a:endCxn id="60" idx="1"/>
            </p:cNvCxnSpPr>
            <p:nvPr/>
          </p:nvCxnSpPr>
          <p:spPr>
            <a:xfrm>
              <a:off x="3707904" y="3814881"/>
              <a:ext cx="432048" cy="452954"/>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2"/>
          <p:cNvGrpSpPr/>
          <p:nvPr/>
        </p:nvGrpSpPr>
        <p:grpSpPr>
          <a:xfrm>
            <a:off x="3707904" y="4869160"/>
            <a:ext cx="5256584" cy="738664"/>
            <a:chOff x="3707904" y="4869160"/>
            <a:chExt cx="5256584" cy="738664"/>
          </a:xfrm>
        </p:grpSpPr>
        <p:sp>
          <p:nvSpPr>
            <p:cNvPr id="65" name="Rectangle 64"/>
            <p:cNvSpPr/>
            <p:nvPr/>
          </p:nvSpPr>
          <p:spPr>
            <a:xfrm>
              <a:off x="4139952" y="4869160"/>
              <a:ext cx="4824536" cy="738664"/>
            </a:xfrm>
            <a:prstGeom prst="rect">
              <a:avLst/>
            </a:prstGeom>
            <a:ln w="3175">
              <a:solidFill>
                <a:schemeClr val="tx1"/>
              </a:solidFill>
              <a:prstDash val="sysDash"/>
            </a:ln>
          </p:spPr>
          <p:txBody>
            <a:bodyPr wrap="square">
              <a:spAutoFit/>
            </a:bodyPr>
            <a:lstStyle/>
            <a:p>
              <a:pPr algn="just"/>
              <a:r>
                <a:rPr lang="en-IN" sz="1400" dirty="0" smtClean="0"/>
                <a:t>The assurance that data received is exactly as sent by an authorized entity (i.e. It contains no modification, insertion, deletion, or replay).</a:t>
              </a:r>
            </a:p>
          </p:txBody>
        </p:sp>
        <p:cxnSp>
          <p:nvCxnSpPr>
            <p:cNvPr id="66" name="Straight Arrow Connector 65"/>
            <p:cNvCxnSpPr/>
            <p:nvPr/>
          </p:nvCxnSpPr>
          <p:spPr>
            <a:xfrm>
              <a:off x="3707904" y="4941168"/>
              <a:ext cx="432048" cy="452954"/>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73"/>
          <p:cNvGrpSpPr/>
          <p:nvPr/>
        </p:nvGrpSpPr>
        <p:grpSpPr>
          <a:xfrm>
            <a:off x="3779912" y="5733256"/>
            <a:ext cx="5112568" cy="738664"/>
            <a:chOff x="3779912" y="5733256"/>
            <a:chExt cx="5112568" cy="738664"/>
          </a:xfrm>
        </p:grpSpPr>
        <p:sp>
          <p:nvSpPr>
            <p:cNvPr id="67" name="Rectangle 66"/>
            <p:cNvSpPr/>
            <p:nvPr/>
          </p:nvSpPr>
          <p:spPr>
            <a:xfrm>
              <a:off x="4067944" y="5733256"/>
              <a:ext cx="4824536" cy="738664"/>
            </a:xfrm>
            <a:prstGeom prst="rect">
              <a:avLst/>
            </a:prstGeom>
            <a:ln w="3175">
              <a:solidFill>
                <a:schemeClr val="tx1"/>
              </a:solidFill>
              <a:prstDash val="sysDash"/>
            </a:ln>
          </p:spPr>
          <p:txBody>
            <a:bodyPr wrap="square">
              <a:spAutoFit/>
            </a:bodyPr>
            <a:lstStyle/>
            <a:p>
              <a:pPr algn="just"/>
              <a:r>
                <a:rPr lang="en-IN" sz="1400" dirty="0" smtClean="0"/>
                <a:t>Provides protection against denial by one of the entities involved in a communication of having participated in all or part of the communication.</a:t>
              </a:r>
            </a:p>
          </p:txBody>
        </p:sp>
        <p:cxnSp>
          <p:nvCxnSpPr>
            <p:cNvPr id="68" name="Straight Arrow Connector 67"/>
            <p:cNvCxnSpPr>
              <a:endCxn id="67" idx="1"/>
            </p:cNvCxnSpPr>
            <p:nvPr/>
          </p:nvCxnSpPr>
          <p:spPr>
            <a:xfrm>
              <a:off x="3779912" y="6093296"/>
              <a:ext cx="288032" cy="9292"/>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3" grpId="0" animBg="1"/>
      <p:bldP spid="34" grpId="0" animBg="1"/>
      <p:bldP spid="35" grpId="0" animBg="1"/>
      <p:bldP spid="3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spcBef>
                <a:spcPts val="0"/>
              </a:spcBef>
            </a:pPr>
            <a:r>
              <a:rPr lang="en-IN" b="1" u="sng" dirty="0" smtClean="0"/>
              <a:t>Availability</a:t>
            </a:r>
            <a:r>
              <a:rPr lang="en-IN" b="1" dirty="0" smtClean="0"/>
              <a:t>:</a:t>
            </a:r>
            <a:r>
              <a:rPr lang="en-IN" dirty="0" smtClean="0"/>
              <a:t> Both X.800 and RFC-4949 define availability to be the property of a system or a system resource being accessible and usable upon demand by an authorized entity. A variety of attacks can result in the </a:t>
            </a:r>
            <a:r>
              <a:rPr lang="en-IN" u="sng" dirty="0" smtClean="0"/>
              <a:t>loss</a:t>
            </a:r>
            <a:r>
              <a:rPr lang="en-IN" dirty="0" smtClean="0"/>
              <a:t> of or </a:t>
            </a:r>
            <a:r>
              <a:rPr lang="en-IN" u="sng" dirty="0" smtClean="0"/>
              <a:t>reduction </a:t>
            </a:r>
            <a:r>
              <a:rPr lang="en-IN" dirty="0" smtClean="0"/>
              <a:t>in availability.</a:t>
            </a:r>
          </a:p>
          <a:p>
            <a:pPr marL="0" indent="0" algn="just">
              <a:spcBef>
                <a:spcPts val="0"/>
              </a:spcBef>
            </a:pPr>
            <a:endParaRPr lang="en-IN" dirty="0" smtClean="0"/>
          </a:p>
          <a:p>
            <a:pPr marL="0" indent="0" algn="just">
              <a:spcBef>
                <a:spcPts val="0"/>
              </a:spcBef>
            </a:pPr>
            <a:r>
              <a:rPr lang="en-IN" dirty="0" smtClean="0"/>
              <a:t>The availability service addresses the security concerns raised by Denial of Service attacks. It can be treated as sixth type of security service.</a:t>
            </a:r>
          </a:p>
          <a:p>
            <a:pPr marL="0" indent="0" algn="just">
              <a:spcBef>
                <a:spcPts val="0"/>
              </a:spcBef>
            </a:pPr>
            <a:endParaRPr lang="en-IN" dirty="0" smtClean="0"/>
          </a:p>
        </p:txBody>
      </p:sp>
      <p:sp>
        <p:nvSpPr>
          <p:cNvPr id="3" name="Content Placeholder 2"/>
          <p:cNvSpPr>
            <a:spLocks noGrp="1"/>
          </p:cNvSpPr>
          <p:nvPr>
            <p:ph sz="quarter" idx="10"/>
          </p:nvPr>
        </p:nvSpPr>
        <p:spPr/>
        <p:txBody>
          <a:bodyPr/>
          <a:lstStyle/>
          <a:p>
            <a:r>
              <a:rPr lang="en-IN" dirty="0" smtClean="0"/>
              <a:t>Availability &amp; Availability Service</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17</a:t>
            </a:fld>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A Model for Network Security</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18</a:t>
            </a:fld>
            <a:endParaRPr lang="en-US" dirty="0"/>
          </a:p>
        </p:txBody>
      </p:sp>
      <p:sp>
        <p:nvSpPr>
          <p:cNvPr id="1026" name="AutoShape 2" descr="data:image/jpeg;base64,/9j/4AAQSkZJRgABAQAAAQABAAD/2wCEAAkGBxEODxUQEBEVEhEQEBEXEhAQFhkPDxAUFBQXGBYXFhMYKCggGBonGxQWIjMiKCksLjAuFx83ODMtNygtLisBCgoKDg0OGxAQGy4kICQuLCwsLDQsLCwsLCwsLSwsLCwsLCwvLCwsLCwsLCwsLCwsLCwsLCwsLCwsLCwsLCwsLP/AABEIALQBGAMBEQACEQEDEQH/xAAbAAEBAQEAAwEAAAAAAAAAAAAABwYFAgMEAf/EAEcQAAEDAQEIDwUHAwMFAAAAAAEAAgMEEQUGEhQhMVFUBxMVFjVBUnFykZKTs9HSImGBg7EjMjRzssHCQoKhJGLwJTNDU6L/xAAZAQEAAwEBAAAAAAAAAAAAAAAAAwQFAQL/xAApEQEAAQMDAwQDAQADAAAAAAAAAQIDUQQREhMyMxQhMVJBkfAiYYGx/9oADAMBAAIRAxEAPwC4oCAgICAgICAgICAgICAgICAgICAgICAgICAgICAgICAgICAgICAg593bqNo6d878uCPZbmLnHI0da926Jrq4w81VcY3SC6d8FTVOLpJnAHMxhLI2jQGj6m0rWos0URtEKdVyqp+3LvhqqVwdHK4gZ43uL43DQWnNziwrldmiqPeCmuaVguLdJlXAydmQPGVuctcMjmnmIKyq6JoqmmVymrlG77l4ehAQEBAQEBBgb+765IpMVpnYDmgbbIPvAkWhrdGQgk+8K7ptPFUcqle7c2naGDNfNhYW3SYXK2x2F122q/wp222Qcpy3F419kj5RTVLsPD/7Ujvvh2fBceO3iOe3nyUdTp4iOVKe1cn4lQlRWBAQEBAQEBB8d1boMpYXzv8AuxttsGdxzAD3kkD4r1RTNVUUw5VO0bpBda+Sqqnlz5XNbbkijcWRtGiwfe5yta3Yooj2hTquVTPy9Nzru1NM4Ojmfk/oc4vjd7i05P3Xa7VFce8ORXVCvXu3XbW07Zmiwm0PZnwHjOP35iFk3bc26uMrlFXKN3TXh6EBAQEBAQEGD2VpyI4I+Jz5HH+xoA/WVd0Ue8yr359ohOVoqwgpOxVOTBNHxMla4f3ts/gs3Wx/qJWrE+zcqmnEBAQEBAQEEGunOZZ5ZDnfLIetxsW3bjamIUKp3mZfMvby9tLOYpGSDPG9rhztIP7LzVG9Mw7E7TuvgNqw2g/UBAQEBAQEGL2Upy2ljYP65hb7w1pP1IVvRxvXuhvz/lMVpqggoOxTUH7eLiG1PHOcIH9LepZ+tj3iVmxPzCgqisCAgICAgICDA7K0JLKeTia6Vp53BpH6Cruin3mFe/Hwna0VYQUfYphIinfxOkY0f2tJP6ws7Wz/AKiFqx8S3apJxAQEBAQEBBBK+IxzSMOdkr2n4OIW3RO9MSoVfMvQvby84YjI5rBne4NHO42D6rzVO0bux8r80WCzQsNoP1AQEBAQEBBidlOEmmifyZrD/cw+lW9HP+5hBf8AhM1pqouDf7FEJwqiTisiaOf2yf261R1s/ELFiPmVDVBZEBAQEBAQEHGvtuVjlI+No9sWOj6bcoHxFo+Kls18K4l4uU8qdkXIsyHIRnByELYURrSTYASSQABlJJzADSkzt7i13rXLxOkjiP37MKSzluynqzfBY165zrmV6injTs6yjexAQEBAQEBBKtka5JhqtvA+zqMtvEJALHD4gA9ehaekucqOOFS9TtO7JK2hajY+uSairEhH2dPY4niL/wCgdeX+33qrqrnGjb8yms071bq0spbF0EBAQEBAQcy+K5mN0skP9Tm2sJzB7crfhaF7tV8Koqea6eUbIlIwtJa4EOaSHNOQtINhB99q2onf3hRn2eKOLJeXck0dG1jhZI8l8g4w51lg+DQB8FkX7nOuZj4XbdPGl3lCkEBAQEBAQeqoqGRNL5HBjW53OIa0fErsRM+0OTO3yxV3NkKNlrKRm2O/9klrYhzN+87/AArdvRzPvUhqvRHw+K+a90VUTboU1g25jXyxnI21wtLwf6Tp4uPJlt92b3CenV+Hmu3vHKH03l3rCD/WVVlrAXRtP3WAC0vOk2ZuLjy5LPOov8v8Uu27e3vL4aDZFma87dGHxOc4twfYlY0nINDrBYOLnXurRxt7T7vMX53924uNd+nrR9jJa4DLG72ZG87f3FoVOu1VR8wsU1xV8Ooo3oQEBAQEHIu3fJTUQslfa+zJEz2pD8OLnNilt2a6/iHiquKflmrn3fZdmWSjmiDInxF0ZBtlD2EZcLNbYSc3Ec9qnqszYiK4n3RxX1JmmWdkvNqBU4uCCLckn+zlYH/BbkttVj1VPDf8opszvs0l8FbuLTwQUlmG57nPLxhbYGixxd7yS3NxNsCr2qOvVNVaWuenERD23F2QYZLG1Ldpdyx7cJ5+Nv8Ake9cuaSqn3p93ab0T8tlFK17Q5pDmuFoc02tI0gjOqnwmeaAgICAg8JpWsaXPcGtaLS5xwWge8ldiJn2hzdjLt7IMMdraZu3O5brWxDm43f451at6Sqru9kNV6I+HwXcuFuhTR3QgsEz42mZgyMe4CxxGgggjm61Jbu9KqbdXxDzVRziKoft5N6VjhVVFhDDbEzO0kZnk8YGcWZOO1c1Go3/AM0u2rW3vL0xbIcrJ34TGyQGR2AB7EjWW5LHZjk4iPiu+jiaY2n3eevMS2dxL5KatFkT7H2ZYn+zIPhx84tVS5Zqt/MJ6a4q+HXUb2ICAgIORfLdxlBBtjhhPcbI47bC937AcZ8wpLVqblW0PFdfGN0juxdmesfhzPLrPusGSNnRb++f3rVt2qbcf5U6q5qn3fApXlrLmX4upbninjH24e8NecrY2O9rC95tc4Ae74GpXpuVzlPwmi7tRs9s9+jprnPgktxghrMMZpIz95x0OsBB5+rzGlim7Ex8Ozd3p2/LHK4gecUrmODmOLXNNoc04LgdIIzJMRPtLsTsqN4l87qwGGazbo22h2bbWZibOJwJFvOFmamx0/ePhatXOXtLXKqmEBAQTq/K/N4e6npXYIaSJJm/eLhnaw8QGa3Pos472n00THKpWuXfxDBucSSSSSTaScpJ0kq/t7bQrvuuFXYtVRTcTJBhWck5Hf8AySvF2nnRMPVFW07tLUX/AMuNiRjf9M21u0mzCe0nK4nidkycQzcZKrRo44bT8petPL/hxb77rCtq3SMJMbWsbHbkOCBacnSc5Tae3NujaXi5VyqcVTo3YvdvimoH2sJdET7cJPsu0kcl3v61BdsU3I/5e6K5pWOiqmzRtlYbWSNDmn3EW9ayZpmmdpXYnf3e9cdEBBzbv3XjooDNJl4mMGQvcczR56AV7t25rq2h5rq4xukV27vT1rrZn+zb7MTckbOZvGfecq1rdmm38KdVc1fLmKV4au4V9xo6F0LRbLtjtqJysY1wtJOmw25Peql3T87kT+Pympu8adn0Q37PdQSwykmoLMGOTNhtecFxNmZwBJt48i8zpYi5E0/DsXf87SxiuoHkx5aQQSCDaCDYQdIIzLkxvGxCl3h30vqTi05tla21kmYyNGcO/wBw08Y5subqbEUf6p+Fq1c39pbVVE4gICCO383VNVWOAP2cJMbBxZD7Z+LrfgAtXTW+FG+VO7VvUz6sohcBAXQXAXR0L37oYrVRTcTXjD97HZHf4J6lHdo50TD3RVtVuuIKxV5+oCDhX53VNJRve02SP9iM8Yc7jHMAT8FLYt864h4uVcaUaWyoiAgLgIC6CCm7GF0sOnfTk5YXWt6D7T+oO6wszWUbVcsrVireNm1VROICCS7IV1TUVZjB+zp/ZA4i8/fPXY3+33rU0lHGjfKpeq3q2ZdWkIgLgLoICD6rl1ppp45m543h1mkf1D4i0fFeLlPKmaXqmdp3XWKQOaHNNocAQdIItCxNtvZfeaD5Lq3RjpIjNKSGNwbSBhH2nADJzleqKJrnaHKpiI3lwH3+0RBAfICQbDtZye9T+kuYR9aliMUuXrVQfftQy/4V3le+sINreTFLla1Ud0PJOV/6x+zjbyYpcrWqjuh5Jyv/AFj9nG3kxS5WtVHdDyTlf+sfs428mKXK1qo7oeScr/1j9nG3kxS5WtVHdDyTlf8ArH7ONvJilytaqO6HknK/9Y/Zxt5MUuVrVR3Q8k5X/rH7NreWyor96GKJke2SO2tjW4TozhOwRZabOPIqdWluTO+yaLtMQ0dyrox1cTZoiSx2FYXDBPsuLTkPvBVeuiaJ2lLTVFUbw5l0776WlmdDK5wezBtAYXD2mhwy8xCko09dcbw81XKaZ2lmb5bt3PuhgB88zBHhEBkdoJdZlNvN/kqzZtXbfvEQirroq+ZcPFLla1Ud0PJT8r/1j9o+NvJilytaqO6HknK/9Y/Zxt5MUuVrVR3Q8k5X/rH7ONvJilytaqO6HknK/wDWP2cbeTFLla1Ud0PJOV/6x+zjbyYpcrWqjuh5Jyv/AFj9nG3kxS5WtVHdDyTlf+sfs428upe9X3OoJjKyondawtLXR+yQSDxcdoUV2i9cjaYh7omimd92soL8qSolbDG55fIbGgsIFthOf4KrXp7lMbyli7TM7Q7F0a5lNE6aS0MYLXWC02W2ZvioaaZqnaHuZ2jdn9/1Dyn92VY9Jcwj61LFSwXMe4udVVBc5xJO1DKSbSc2kq5E3ojbjCCYt5eGKXK1qo7oeS7yv/WP2cbeTFLla1Ud0PJOV/6x+zjbyYpcrWqjuh5Jyv8A1j9nG3kxS5WtVHdDyTlf+sfs428mKXK1qo7oeScr/wBY/Zxt5MUuVrVR3Q8k5X/rH7ONvJily9aqO6HknK/9Y/Ztby11y78aGngZDtsrxE0NDnRkEgZrbNAsHwVSvTXKqpq2+U1N2iI2aW491YqyPbYSSzCLfaGCbRZbkPOq9dE0TtKSmqKo3hydkLg2XpQ+KxSaXyQ8Xu1IVrKYuguAgICAgIC6CCvbHnBsXSm8V6ydV5JXbXawV/3CU3yvBYr2l8Uf35V73czynRC6C4CAgICAgIOzebwhT/mfxcodR4pSW+6FNv24On6A/UFnafyQtXO2UZWwoiAgLgICAgICAuirbGf4H50n0asvV+Rcs9joX6UclRQyRQtL5HGOxoIBNkjScpsGYFR6eqKa4mfh6uRM0+ya70K/VndqP1LR9Tayq9OrBvQr9Wd2o/UnqbWTp1YN6Ffqzu1H6k9TaydOrBvQr9Wd2o/UnqbWTp1YN6Ffqzu1H6k9TaydOrBvQr9Wd2o/UnqbWTp1YN6Ffqzu1H6k9TaydOrBvQr9Wd2o/UnqbWTp1YN6Ffqzu1H6k9TaydOrBvQr9Wd2o/UnqbWTp1YUm8qikp6GOKZhZI0y2tJBItkcRlFozELO1FUVVzMLNuJin3Y+/G9yrqK6WWKBz43bXguDmAGyNoOQkHOCrenvW6bcRM+6K7RVNW8ONvQr9Wd2o/UpvU2so+nXg3oV+rO7UfqT1NrJ06sG9Cv1Z3aj9SeptZOnVg3oV+rO7UfqT1NrJ06sG9Cv1Z3aj9SeptZOnVg3oV+rO7UfqT1NrJ06sG9Cv1Z3aj9SeptZOnVg3oV+rO7UfqT1NrJ06sG9Cv1Z3aj9SeptZOnVh072L2ayGthkkp3NYx9rnFzCAMEjiNvGor9+3VbmIl6ot1RVE7N7fVSvmopo4m4T3sAa0WAk4QOc5FRs1RTXEysVxvTMJfvQr9Wd2o/UtP1NrKr068G9Cv1Z3aj9SeptZOnVg3oV+rO7UfqT1NrJ06sG9Cv1Z3aj9SeptZOnVg3oV+rO7UfqT1NrJ06sG9Cv1Z3aj9SeptZOnVg3oV+rO7UfqT1NrJ06sG9Cv1Z3aj9SeptZOnVg3oV+rO7UfqT1NrJ06sG9Cv1Z3aj9SeptZOnXhQ7w7ny01JtczCx+2vOCSCbCBYfZJHEs/U1xXXvSs2qZinaXlf5K5lz5XMcWuBisc0lrh9q3jCaaIm5G5d7Up3UqNYm71/mtTp0YhT5Tk3UqNYm71/mnToxBynJupUaxN3r/ADTp0Yg5Tk3UqNYm71/mnToxBynJupUaxN3r/NOnRiDlOTdSo1ibvX+adOjEHKcm6lRrE3ev806dGIOU5N1KjWJu9f5p06MQcpybqVGsTd6/zTp0Yg5Tk3UqNYm71/mnToxBynKrXhSufc+Jz3Fzi6W1ziXONkr+MrL1MRFydly12sPfzXTMuhM1k0jWjarGte5rR9kw5ACrumopm3EzH9ugu1Tylwd06jWJu9f5qfp0YhFynJupUaxN3r/NOnRiDlOTdSo1ibvX+adOjEHKcm6lRrE3ev8ANOnRiDlOTdSo1ibvX+adOjEHKcm6lRrE3ev806dGIOU5N1KjWJu9f5p06MQcpybqVGsTd6/zTp0Yg5Tk3UqNYm71/mnToxBynLrXpXQmfXwNdNI5pkytdI5zT7Ls4JyqG/RTFudoSW6p5Qo9+MjmUE7muLXBgsc0lrh7QzEZln2IibkRKzc7ZSLdOo1ibvX+a1unRiFLlOTdSo1ibvX+adOjEHKcm6lRrE3ev806dGIOU5N1KjWJu9f5p06MQcpybqVGsTd6/wA06dGIOU5N1KjWJu9f5p06MQcpybqVGsTd6/zTp0Yg5Tk3UqNYm71/mnToxBynJupUaxN3r/NOnRiDlOTdOo1ibvX+adOjEO8pyp2xzM+Siwnvc87c8YT3F5ssbxlZuqiIuey1Znel7dkLg2XpReKxedL5Idu9qQrXUhAQEBAQEBAQEFe2PODYulN4r1k6rySu2u1gr/uEpvleCxXtL4o/vyr3u6WeVhEICAgICAgICDs3m8IU/wCZ/Fyg1Hil7t90KbftwdP0B+pqzdP5YWrnbKMrZUhAQEBAQEBAQEFW2M/wPzpPo1Zer8i5Z7X0bIXBsvSi8Vi8aXyQ7d7UhWupCAgICAgICAgIK9secGxdKbxXrJ1XkldtdrBX/cJTfK8FivaXxR/flXvd0s8rCIQEBAQEBAQEHZvN4Qp/zP4uUGo8UvdvuhTb9uDp+gP1NWbp/LC1c7ZRlbKkICAgICAgICAgq2xn+B+dJ9GrL1fkXLPa+jZC4Nl6UXisXjS+SHbvakK11IQEBAQEBAQEBBXtjzg2LpTeK9ZOq8krtrtYK/7hKb5XgsV7S+KP78q97ulnlYRCAgICAgICAg7N5vCFP+Z/Fyg1Hil7t90KbftwdP0B+pqzdP5YWrnbKMrZUhAQEBAQEBAQEFW2M/wPzpPo1Zer8i5Z7X0bIXBsvSi8Vi8aXyQ7d7UhWupCAgICAgICAgIK9secGxdKbxXrJ1XkldtdrBX/AHCU3yvBYr2l8Uf35V73dLPKwiEBAQEBAQEBB2bzeEKf8z+LlBqPFL3b7oU2/bg6foD9TVm6fywtXO2UZWypCAgICAgICAgIKtsZ/gfnSfRqy9X5Fyz2vo2QuDZelF4rF40vkh272pCtdSEBAQEBAQEBAQV7Y84Ni6U3ivWTqvJK7a7WCv8AuEpvleCxXtL4o/vyr3u6WeVhEICAgICAgICDs3m8IU/5n8XKDUeKXu33Qpt+3B0/QH6mrN0/lhaudsoytlSEBAQEBAQEBAQVbYz/AAPzpPo1Zer8i5Z7X0bIXBsvSi8Vi8aXyQ7d7UhWupCAgICAgICAgIK9secGxdKbxXrJ1XkldtdrBX/cJTfK8FivaXxR/flXvd0s8rCIQEBAQEBAQEHZvN4Qp/zP4uUGo8UvdvuhTb9uDp+gP1NWbp/LC1c7ZRlbKkICAgICAgICAgq2xn+B+dJ9GrL1fkXLPa+jZC4Nl6UXitXjS+SHbvakK11IQEBAQEBAQEBBXtjzg2LpTeK9ZOq8krtrtYG/7hKb5XgsV7S+KP78q97vln1YRCAgICAgICAg7N5vCFP+Z/Fyg1Hil7t90KbftwdP0B+pqztP5YWrvbKMrYUhAQEBAQEBAQEFW2M/wPzpPo1Zer8i5Z7Xv2RODpOlF4jV50vkgvdqRLWUxAQEBAQEBAQEFe2PODYulN4r1k6rySu2u1gL/eEp+eLwY1e0vij+/Kvd75cBWEQgICAgICAgIOzebwhT/mfxcoNR4pe7fdCl388HT9FniNWdp/LC1d7JRtbCkICAgICAgICAgq2xn+B+dJ9GrL1fkXLPa9+yJwdJ0ovEavOl8kF7tSJaymICAgICAgICAgr2x5wbF0pvFesnVeSV212sBf7wlPzxeDGr2l8Uf35V7vfLgKwiEBAQEBAQEBB2bzeEKf8AM/i5QajxS92+6FLv54On6LPEas7T+WFq72Sja2FIQEBAQEBAQEBBVtjP8D86T6NWXq/IuWe17tkQ/wDTpOlF4jV50vkh292pFhDStVTMIaV0MIaVwMIaUDCGlAwhpQMIaV0MIaUDCGlcDCGlBX9jzg2LpTeK9ZOq8srlrtT+/wBI3Sn54vBjV/S+KP8Av/1Xu98uBhDSp0RhDSjphDSgYQ0roYQ0rgYQ0oGENK6GENKBhDSuDs3mkboU+X/yfxcodR45e7fdCmX9cHT9FniNWdpvJCzd7ZRrCGlbCmYQ0oGENKOGENK46YQ0oGENKBhDSuhhDSgYQ0rgYQ0oKvsZH/QfPk+jVl6vyLdntap7QRYQCNByhVoSvDF2chvUF3ecm0GLs5DeoJvOTaDF2chvUE3nJtBi7OQ3qCbzk2gxdnIb1BN5ybQYuzkN6gm85NoMXZyG9QTecm0GLs5DeoJvOTaDF2chvUE3nJtBi7OQ3qCbzlzaHmxoGQCwaBkC468XQtJtLQTpIBK7vMG0PzF2chvUF3ecm0GLs5DeoLm85NoMXZyG9QTecm0GLs5DeoJvOTaDF2chvUE3nJtBi7OQ3qCbzk2gxdnIb1BN5ybQYuzkN6gm85NoMXZyG9QTecm0P1sLQbQ1oOkAApMybQ8nNByEWjQcoXB4YuzkN6guxM5NoMXZyG9QTecm0GLs5DeoJvOTaDF2chvUE3nJtBi7OQ3qCbzk2gxdnIb1BN5ybQYuzkN6gm85NoMXZyG9QTecm0GLs5DeoJvOTaDF2chvUE3nJtDzYwNyAADQMi4P/9k="/>
          <p:cNvSpPr>
            <a:spLocks noChangeAspect="1" noChangeArrowheads="1"/>
          </p:cNvSpPr>
          <p:nvPr/>
        </p:nvSpPr>
        <p:spPr bwMode="auto">
          <a:xfrm>
            <a:off x="155575" y="-1760538"/>
            <a:ext cx="5715000" cy="3667126"/>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32" name="AutoShape 8" descr="data:image/png;base64,iVBORw0KGgoAAAANSUhEUgAAAOMAAADfCAMAAAAz6JSoAAAAh1BMVEX///8AAAAjIyMoKCgaGRllZWU/Pz+5ubl4eHjs7Oze3t4cHBzHx8fy8vL4+Pj7+/vn5+ezs7OHh4eUlJSenp7Ozs7W1ta+vr6kpKTh4eGZmZlnZ2fExMReXl52dnasrKxHR0cwMDBUVFRFRUWMjIxubm42NjYSEhJ/f39PT09YWFgtLS0MDAwJ6YLUAAAUvElEQVR4nO2d53bquhKAMQkd00xvBgKEhLz/813PSLIlWbLVyFkrd8+fneyApc8eTVNx49n863JvvEd/Xd7+Mf4J+cf4N+Qf49+Qf4wBZfBxOM6S+Rplfn3cLvffafgXGN8vs3TYHzWU0lt25rf2azvwWsbP3XoRq+FEmayuXy/rxesYn49VzwSvkOX68JKevIjxMFXzjXqTTT+TzSQeqzmTc/jevIDxtpfJNvv1bHdqyh+8f3eT6UK+G5P1R+AOhWZsiYC9YbIrscny8UiXwmOdbN9C9iko43PNW5hNerO49Mdsz3952Q3Wq5CMrUXRxbhz++H/1r5d151FfxKPGlnn++NRb7PcT+ePg/DA2smS0/B1rQKYSijGWTGueinnCL5m06XgP4BRUMzh+vgsPt8dFn8anoJ0LRDjNvfxo2nesc/jdNMoicyIMl7Mi/vSLRRi+R2gc0EYt3mfFjf2f610UubTMpIvJyy6G2zzR98PQOnPeGU2cZyPIF7hzBkbvJoXo3vprbG+jEd2x3sz+j+3hQbAgDGTOKXx673D/mvvaX38GNusuxOqpO2pOoAxZ8xkQ2/XZ8r+Z/3fMU4lwm5d780YM+nQh8ko491/w3ijxjSm/nqrSaBcGLNhSCL0T6axw8//gJHZlYT8ujbpuAVjprJEO+5sfD9+m3FHx93qx4rQhjEbA0RDW9SuLX6qehSckWpQ74K/bfXd9GLM3OOFv4Vjt1HpxNimgdscfzsajUM3xmwcYkh7pt+Z/hbjg7Q3QdvXtuqxPSNzHAn5ZTP4FcYO33Sq71soxkaMJvZOg0P7iog14w+Js0cYR34blaR8GTPLxt/P5NWMbTL4FvjLtKJbQRkboxa01+KJX8a4I62gsfmwLLz5MFJr0yT62n8l44y0hzc1cempO2Ojh5nXivxsZXmsGOfYQHyGn6uzixcw4lfZrR2dX8RIxjwqStve2PgzNjrQ9I38bFGhtGAkPmPItfPbjOT+nsjP5qmzOSNBxKE/d0f0Y2yMYFC+ESUyniIxZiR+Yl3Q/ieMjQb45R8CafokTRnJWNzCj8uqLryckVge4kMMZ/UMGYl2YoShqCf+KmPjCr1A3zw2K/SYMRK/uM0v/p8ycv2IjTJKI0YSQ61DIIZgJGEWjslJKMY2XngaBDEII0IOMHJehGH8wYuhX9TUvm0kCCNahjv+lAZhRCPTz3/ylDCMDSjBfuNP9aWsekb0hjH85BqiChKIsQFFO1KQqI3qahnJdWD2bBWia8EYMQLAWtbIl5EoPdTDbIpvFRKMEZ0jxiN1dqeOEQ0pmDGPMFyQYIyNHvQPPUhN9aOGEQfjMn+eASQcIz4/4teqg7pqRixtjPL7FUKOvgEvJ6BfGIL1PBix4A+RfhCTirJdjO/RYJcGuWkH1rVKL1nJOGRfd6zdKOTcYZp1CxBQjGEyC0OUqmSyihE1FSLCD//eULlGnWL0+KTaVMBUHOCHKm2tYsQbBB3yj1Kp9CKeMYStBpOKhrFiqrmCMWVfdSkVq+UmMkY7f/NzZw/j7MCIVhlU4Nu7H0wmkcQYwRpJq2kv5TVxUC0dGPEWg00N5jbQDMqM0EUvhwnairb1VmaoYcSxso8cZqZ0MkHbp2DMHqbPfXzLckn4N7ZmxFY/wwU4GzoHrGT0igtASTGY1oV0OsYrfAkKJ2ECr2LtiYbRx3bf2COxZARDAA//GASxU1xYx+jhR6CfXfhB4z80jPjsH1EggzPjrqxjbHpcH/QNaxTqMp2GEQJV8BtBgjghmNQxnn1aiGi0ow5b1YyIBmoeAlEcJjrGmU8LwNYvNVXNCKMRnKv50qIKEdP0F9icTAb0Qc6NGfGeZolemMcomnQNo2d8DkYNHuTYmBHuaS/UY8SbVchUGVnufBsZ0GvMytdWMh7Yh30bJpIz3luzOSzB3qfb7kVYxvjl3UhKH41qckDFCNEfPPRAmTEWeXepHEzEw4RVRlsBWonoEFMsUVIwoqeC+xIoGE+jmS5Si6ew5q8bohXwkeDxhkaMOArfQoU4jWWBMNosOqCr+yW3GyQJUyyCYAfTh/JaXgUjPD6Ic4NEqosvOhO03LZwUQ2zOe1Hvrnu6pdBUrnR/KEcmZcZD/QL7QDtbjCdGsT7IrfjfcczwQgsTA2ePZay1SkzwrTGKAqSNxJD/pxyIbnsH9tT1LLPih0hpnKmkzOlOZ4yI3wM5lO9FWiJEfIder/VMmaC8/sB6ldr2vlS0FpixLa+ArSZMCSQwqKXGddj9KCfvuMf9GHfUNQDSozsU77KgwvBH/mv+SbAMmPG1sc/+9b/LsUTqmYEFU0j3xgnxlUlnFPIa7xlRvw7Dl3PoGNKLyanyjIjWtUvX+eItu1L2JbEfHOJkbrPPfezozD1ky2rzAjWFKyqvHHaSvChPaT/vGkY2cOe+EN+0QtIS5NkRvDXq8hPVWOl3h3VjEWNA9ekynfGSrIx9gP/SsmHxPgOH+l61sbBgJTzQc1z5NzwGFYd+ORzoApgnaWYVWLER/3pFwAcVE9Ry8h/BKf4fQz6G7lH0ioIiRHc2STyWmy0jdTDSl1DFteJopZ7pDsPqoHiiJcYgS0zwZ/uzUDYeFL9oaViPJh+20z2VDHEASky4nA8egU5oG7KMPCgYByUdr2Cb3MfkqAHkKuKO0BERkzIBz7DEYJPRT4YL/btMmNToZYQH7nX6Jqk770KRrCGcC+cQ0cYy6XwYdjltmNwjAfV3uVYocHmwnSwghGewDDy8I6gkFLPO6IDLhg16X8aecxipUDUkKo6IiMoydwjPYbVkaKex3KAXDDqbPebxyILsFlgDYRigMgIH7t5BBsHeW5mE8lSMOrCxaH+GdfKOFIYHYERy5x3d5ND5/vF/9Ayas3n3WNEPkmKJuw6Exjx+XncxZnkWVXzgQWjNv5eVShynbRImVWIdARGuLNw610jjUiMU5V7TDi7etfdy8g9lUyoDvAb6wRGGCEwy+R4/b14ey4qRDEG0Hf03bEPHWoReFMnMIJbTN2XOWTO6VL8ptkCLjBqHuQmcnbR7BHxE0kCIzyEq/v0QySUZNSIIuNVc6Wzc8kVIhzwgLzzEBjhQ0fnKd1+xEdhinmHMuOb5lJX58icOQ9ei3hGVOSL83xnZkWfxW+6g8XEvEN3JFJUCpdMJSIZ6F7DiOHN07kGKAYPuu1eIqMmwRlFzvHcnfSfXz3HM2J6+eNcr3rj7452Q0JljpzL2TkQoXrIB1g8I4vYHe+g8E3t9na51vF+mCsU9uZsFW7EkvHZFc8Imgb3323LkRg88OOhkhE5S8cLJc5ls0fBoWIEfkjf3FJUMXjQHpBitq5jKtgvG7mWM0ieEeKnXuQaynUEV6BdqK9bnyPuxndPYrfUv2sYwe1OnC8+FXyadnm3eu0KCD9E+s7dWNOAVcPI7FFr17KX3UcUDfIvHrZDteyzgbBQ/2UxO+QX+3buRpuO5BrGEOK0yS7Q6bKXX2J0C6l9TpErpO45YpG85yDxGg7XYb+N7u8DpcAD/vpU/y2TNCYXA9fj0otenFQz+tnVlWBXtTdZZ1epUEfpblfn1TaHxQch/KMrI414p86LdhO6OFDDCNETxAButRQxztEe4lPDSBtPnMtWM1Io4hd58oxQ4IYYyDEFj/h4Vbu1tI6RrPLcOcerx+JZqRiZHjuW5c5CrqAzkXWMRBfenPOOA7ErfNWTZzzBZwbOG8iP4lSH5iiNWka2zssx+/kgd4fPe3jGM/cZB0nFIrlJzUoll4nXnAt9RnyppVTP2TnXNuHW8ebKkTHLOFYP96XJERlr/BI9gRGc08N9AUkkqoB6H5sBYxa4OxeVmF/gcwKBEf44d7+FD7GaplZWE8ZTFlA4ng3Sp4+Kny0XGOEhr+hOOweBKICLH9TlDhPGTBtWjvMRbEUAPwEpMLIZH0dGMKXcWFbutTBiHEOq6/Yg13Tykn9Zj8AIHQSFdj1DJhHvjysjxHMDRzf9oA6Mv57AyIoEries5OvWidTNW+mkR02/y2qkE7FWwqIHgZEVyp2Xd4vb0JShTj1jN789DpBRMfumZsT6+8xjFhciqMLoq/YFGTDGRZXbOtZha8SEcpLICNF4x2eZVb5tFkS5ia2WEZQo13LbFIiZVWGPl8gIlXmodjgvAhJW1ygdZB0jlFWLFQs/ljM7Ca3mCO9AExnZggD3FbrzqJjDUE7P1TH2G4JRtFzV9kUyfdFtiYxt7nOOAneQqoEyCKhhhCUJwkljdkMyIoZKPPNBWvcIqpF4HbQCo56W8ZWHElQzgvcS971eKluTBNjAHIgVbIlxQdvw2MACswB0SFozwkoEeVbPxjawad5WFSMYNVBmn8XAYNNI6Un19sMqRjzeUF58ZpPNXmiJRLyCxIgpx5fnLm8od+MFVEFABeM7qFlpjt1iYRs8HTCXUiFc3hcAA3LunnqQppq0ayoHqWfEI4C3pf+2CEjAkIMqSBNKMiMoKdhDr6MdR++kbyrnoWVEFVJMd1msFmLlA+l9UTIj6ti771523Ip0jlXZVeUZCMrIyLzZH+J75GZlRgzLZ947PMc4BTVUGB0N4562qxBjGw+eA4I/eZ6+tKdsw33YR7CacyuvYFEy7pDjEG1VB40aM86oYstmq8SIifxPgO2z4Cfv5Xq5gpGsf5w0QSt7pYPizA9kieiaWPkKJcYnvSO6ZV7mMjlDJBZLClhifJKMfM3qgdJKgpax9WPlpNIxnuW9unBNsKwBTmWc4+zFaM5rrMR4IBWNDWRT1EvEfL3JIhjZUata8rBlRozHz2FOJogPZDAtZ/k8Fs/4RU99HNFnzUbegi19tXn1AsSAuM5LRlQwYoKcRgE2XYOsWW1oMn2grZ2SQ3mbh2TB3nOWj9kipOmlx1O7ZXVoP7hWiGDKb2lRnIEA2hNo8zxo/Vta3KzRBt6ju1z2itS335WadpUmvUflF0YqGLE61w1hdRo0k9utNDqxmZ+Fpj0OtYKYCvJrxeGWqnNXYBCA1QlwLkGuOaftUBpbm063PNnsvn/+QiciFJO7KkZ0jacQp9pIAejHbZZkFGnyOJxLraI4F1n67MuKiyrPQYLPQkAUwH1c5WtP1WklFecWd1TRO4qLKhnRnj2DnNhZCs6qax2uzUCFBW2k6tpKxju7I/4PshRmVzI6p+asQK88qlx99hpam6ZlwUgpJV2tZHQ1OZD4Y6iq3DejZjzB5+FBeh9RZBKTS/fWQSD6g3/VU56asxCR7RzgoCA7RscdCeCEU8ZqzIgF1mHk+Q6khqI+U8nomNC1acCiWaivO5sUtQZyuV9ldLM5MKjQN6p3sWkZz+y+eEwLgNjZHLfjAiMaruje/6A9KxiHBsTLfkWPkr+vZHSagwAXvFG2VceISjp2bZdJebNuJeOPQxOgbKjj2u0WesYr+55PjlVS1fBxzpN9TXvRinPmUUnB7HgcjVpeGFjNaL8qB5xTReGyhhGDHEjH3PMPxQr8akbr8jxo6k7TlAFj8a4B56K5YjKgmtE6roIUNH93gwNj8WYM1zhScYZ/NaNtyAGGHzW14rUP1YyoBDAb7LrLW5GVVzNarn4C74/1w8qXzVS/awabhGzZ+RTYvrzCM6SugmciJaDK113WvBcJ7Rw4WY95rP2V32NUzWhnwqE2jVZKOd9lykhMKgQQflnWZJheW8i2qqp12NXlIMvAcKzmndB17/DCTAAXaAR4xU+jMZo8Dt31Opl1b4fLqX1+G7zzLtSq7gDxBSnmVyPUMpJmwT6+O25ml6SrcoLj8SgTuwAAQjCS3tbtRKt/byA6kDQKc7BuuPeULfK+VbkNQ0YSk0Ok5H7MFCeBGDGsQYXQv0fHnJHqPAzwEO/VC8OI/hDNoPYNM1aMNPEAB+B14iSRIIwIRoo/FQVpG0ZaLjtHnmuTUEIwIiI5Kqo8S+XISHo1YkuLvCQAYwzHrJMNCPUvYzVmJPEHLi3ynV72Z8SxSBDLq7I8GN/RSseQyXi+hsKbEYMaUkkzeG+wBWPUxAhgBMfH+k3Z+TKiXyR1WNUclQ9jdEbIMZixp88LITwZsTBFzE154t+XMXqSWA7rtB699GPEGljHDtGCMXqSSf1j0cyvM6KnIBmQqaLaMUYDoqNozJx9iAfjBEzeD8l/DM2NNSPLr3Bd4YfjoHRnxCd3Ispk5jScGGmCt8EFGW7rE5wZsWjyyC/yOkbhPQ5O5+07Mi4HXOsmAZwHI9vEiUnbp0MBxI0R7emTDJX4addje0aWRfbxxtpHdi6MS1w4SfW0Pl/0Z4yatLJD4mHb/aD2jCMy+uhagdqsPwhjPiwWWG76sitmWTMSL3Gj1ST1jP8LGHNrQ+aKHjarQC0ZF2dogb1SaFl+edXLGKMm7Wef1IMt1ipYMfbJDD+br7fyit6MxSZ5OntrXEe3YOwTxfymg2FSfz5EYMbozLpK521K5xl6Mi4JYX5ocnW9/zWMRXEnphWHh4n1MWRckTmSAQv++wa1qVcwRj/McfRocHWpj+9MGHtbMkEwYOuuxkZ1m5cwZo6D1fV7bDr+WjPdXc+4ov7hnCdwNklGeMbMjbD8YzSnhv08r9LZGsYh2/X+nceJwzdt42bizZg9udzY7NlirnOinYGqYIw7+YTsNb9Ny8rpUyMJwJj5kZyyt8335OxSpdZqGMfDJLcq30V8uCxtv3KQIIyZiS0mgJezIhg5bIfyzHCZcdyfzgqryfbugAz9nyFIIMYsoOS0c5nwlv70WK/6eccfxWzteLKYJjs+UzpMuepC6jsOmQRjxNdVFtLrHKXdG+/3y647g7UB3dnjeDjJWeAp4bPRiX7ZlLUEZMzkIZia3mpmpmzvu/mSn6UeTcMoKZWwjFmwnkijbbKfH0+a8/Sy5g+zdClVv/ZhTmHlGgnMmEnzWnYc48lyn86TTEmPt9ux+7hu151hv1zaizuhAaOXMILspg7LQJbbQIcFS/Iixkw+b6XXd+slHiYhPKFaXseI0u6mi+q1U+P+anvQvUAhjLyYkTby/ZhP98tNb0Ss53gcT/qLVZrcgtpPbfO/wfgfyz/GvyH/GP+G/GP8G/L/wXhu/nW5/w8o1jsTXzKfgQAAAABJRU5ErkJggg=="/>
          <p:cNvSpPr>
            <a:spLocks noChangeAspect="1" noChangeArrowheads="1"/>
          </p:cNvSpPr>
          <p:nvPr/>
        </p:nvSpPr>
        <p:spPr bwMode="auto">
          <a:xfrm>
            <a:off x="155575" y="-1790700"/>
            <a:ext cx="3810000" cy="37433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64" name="Rectangle 63"/>
          <p:cNvSpPr/>
          <p:nvPr/>
        </p:nvSpPr>
        <p:spPr>
          <a:xfrm>
            <a:off x="395536" y="4725144"/>
            <a:ext cx="8496944" cy="1754326"/>
          </a:xfrm>
          <a:prstGeom prst="rect">
            <a:avLst/>
          </a:prstGeom>
        </p:spPr>
        <p:txBody>
          <a:bodyPr wrap="square">
            <a:spAutoFit/>
          </a:bodyPr>
          <a:lstStyle/>
          <a:p>
            <a:pPr algn="just">
              <a:buFont typeface="Wingdings" pitchFamily="2" charset="2"/>
              <a:buChar char="Ø"/>
            </a:pPr>
            <a:r>
              <a:rPr lang="en-IN" sz="1200" dirty="0" smtClean="0"/>
              <a:t> A logical information channel is established by defining a route through the Internet from source to destination and by the cooperative use of communication protocols (e.g., TCP/IP) by the sender and receiver.</a:t>
            </a:r>
          </a:p>
          <a:p>
            <a:pPr algn="just">
              <a:buFont typeface="Wingdings" pitchFamily="2" charset="2"/>
              <a:buChar char="Ø"/>
            </a:pPr>
            <a:endParaRPr lang="en-IN" sz="1200" dirty="0" smtClean="0"/>
          </a:p>
          <a:p>
            <a:pPr algn="just">
              <a:buFont typeface="Wingdings" pitchFamily="2" charset="2"/>
              <a:buChar char="Ø"/>
            </a:pPr>
            <a:r>
              <a:rPr lang="en-IN" sz="1200" dirty="0" smtClean="0"/>
              <a:t> An opponent may present a threat to the confidentiality of the message that is being transmitted.</a:t>
            </a:r>
          </a:p>
          <a:p>
            <a:pPr algn="just">
              <a:buFont typeface="Wingdings" pitchFamily="2" charset="2"/>
              <a:buChar char="Ø"/>
            </a:pPr>
            <a:endParaRPr lang="en-IN" sz="1200" dirty="0" smtClean="0"/>
          </a:p>
          <a:p>
            <a:pPr algn="just">
              <a:buFont typeface="Wingdings" pitchFamily="2" charset="2"/>
              <a:buChar char="Ø"/>
            </a:pPr>
            <a:r>
              <a:rPr lang="en-IN" sz="1200" dirty="0" smtClean="0"/>
              <a:t> Using a secret information, sender secures the original message (encrypted or ciphered) and using the same or different secret information receiver recovers the original message (decrypted or deciphered). </a:t>
            </a:r>
          </a:p>
          <a:p>
            <a:pPr algn="just">
              <a:buFont typeface="Wingdings" pitchFamily="2" charset="2"/>
              <a:buChar char="Ø"/>
            </a:pPr>
            <a:endParaRPr lang="en-IN" sz="1200" dirty="0" smtClean="0"/>
          </a:p>
          <a:p>
            <a:pPr algn="just">
              <a:buFont typeface="Wingdings" pitchFamily="2" charset="2"/>
              <a:buChar char="Ø"/>
            </a:pPr>
            <a:r>
              <a:rPr lang="en-IN" sz="1200" dirty="0" smtClean="0"/>
              <a:t> A trusted third party distributes the secret information to both the sender and receiver.</a:t>
            </a:r>
            <a:endParaRPr lang="en-IN" sz="1200" dirty="0"/>
          </a:p>
        </p:txBody>
      </p:sp>
      <p:grpSp>
        <p:nvGrpSpPr>
          <p:cNvPr id="2" name="Group 66"/>
          <p:cNvGrpSpPr/>
          <p:nvPr/>
        </p:nvGrpSpPr>
        <p:grpSpPr>
          <a:xfrm>
            <a:off x="251520" y="1340768"/>
            <a:ext cx="8424936" cy="3362310"/>
            <a:chOff x="251520" y="1340768"/>
            <a:chExt cx="8424936" cy="3362310"/>
          </a:xfrm>
        </p:grpSpPr>
        <p:grpSp>
          <p:nvGrpSpPr>
            <p:cNvPr id="5" name="Group 60"/>
            <p:cNvGrpSpPr/>
            <p:nvPr/>
          </p:nvGrpSpPr>
          <p:grpSpPr>
            <a:xfrm>
              <a:off x="251520" y="1340768"/>
              <a:ext cx="8424936" cy="3362310"/>
              <a:chOff x="251520" y="1556792"/>
              <a:chExt cx="8424936" cy="3362310"/>
            </a:xfrm>
          </p:grpSpPr>
          <p:sp>
            <p:nvSpPr>
              <p:cNvPr id="6" name="Flowchart: Document 5"/>
              <p:cNvSpPr/>
              <p:nvPr/>
            </p:nvSpPr>
            <p:spPr>
              <a:xfrm>
                <a:off x="395536" y="3140968"/>
                <a:ext cx="1080120" cy="720080"/>
              </a:xfrm>
              <a:prstGeom prst="flowChartDocumen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chemeClr val="tx1"/>
                    </a:solidFill>
                  </a:rPr>
                  <a:t>Message</a:t>
                </a:r>
                <a:endParaRPr lang="en-IN" sz="1400" b="1" dirty="0">
                  <a:solidFill>
                    <a:schemeClr val="tx1"/>
                  </a:solidFill>
                </a:endParaRPr>
              </a:p>
            </p:txBody>
          </p:sp>
          <p:sp>
            <p:nvSpPr>
              <p:cNvPr id="8" name="Flowchart: Document 7"/>
              <p:cNvSpPr/>
              <p:nvPr/>
            </p:nvSpPr>
            <p:spPr>
              <a:xfrm>
                <a:off x="2051720" y="3140968"/>
                <a:ext cx="1080120" cy="720080"/>
              </a:xfrm>
              <a:prstGeom prst="flowChartDocumen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chemeClr val="tx1"/>
                    </a:solidFill>
                  </a:rPr>
                  <a:t>Secure Message</a:t>
                </a:r>
                <a:endParaRPr lang="en-IN" sz="1400" b="1" dirty="0">
                  <a:solidFill>
                    <a:schemeClr val="tx1"/>
                  </a:solidFill>
                </a:endParaRPr>
              </a:p>
            </p:txBody>
          </p:sp>
          <p:sp>
            <p:nvSpPr>
              <p:cNvPr id="9" name="Flowchart: Document 8"/>
              <p:cNvSpPr/>
              <p:nvPr/>
            </p:nvSpPr>
            <p:spPr>
              <a:xfrm>
                <a:off x="5868144" y="3140968"/>
                <a:ext cx="1080120" cy="720080"/>
              </a:xfrm>
              <a:prstGeom prst="flowChartDocumen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chemeClr val="tx1"/>
                    </a:solidFill>
                  </a:rPr>
                  <a:t>Secure Message</a:t>
                </a:r>
                <a:endParaRPr lang="en-IN" sz="1400" b="1" dirty="0">
                  <a:solidFill>
                    <a:schemeClr val="tx1"/>
                  </a:solidFill>
                </a:endParaRPr>
              </a:p>
            </p:txBody>
          </p:sp>
          <p:sp>
            <p:nvSpPr>
              <p:cNvPr id="10" name="Flowchart: Document 9"/>
              <p:cNvSpPr/>
              <p:nvPr/>
            </p:nvSpPr>
            <p:spPr>
              <a:xfrm>
                <a:off x="7524328" y="3140968"/>
                <a:ext cx="1080120" cy="720080"/>
              </a:xfrm>
              <a:prstGeom prst="flowChartDocumen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chemeClr val="tx1"/>
                    </a:solidFill>
                  </a:rPr>
                  <a:t>Message</a:t>
                </a:r>
                <a:endParaRPr lang="en-IN" sz="1400" b="1" dirty="0">
                  <a:solidFill>
                    <a:schemeClr val="tx1"/>
                  </a:solidFill>
                </a:endParaRPr>
              </a:p>
            </p:txBody>
          </p:sp>
          <p:cxnSp>
            <p:nvCxnSpPr>
              <p:cNvPr id="15" name="Straight Arrow Connector 14"/>
              <p:cNvCxnSpPr>
                <a:stCxn id="6" idx="3"/>
                <a:endCxn id="8" idx="1"/>
              </p:cNvCxnSpPr>
              <p:nvPr/>
            </p:nvCxnSpPr>
            <p:spPr>
              <a:xfrm>
                <a:off x="1475656" y="3501008"/>
                <a:ext cx="576064"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1691680" y="3429000"/>
                <a:ext cx="144016" cy="14401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Connector 18"/>
              <p:cNvCxnSpPr/>
              <p:nvPr/>
            </p:nvCxnSpPr>
            <p:spPr>
              <a:xfrm>
                <a:off x="3707904" y="3501008"/>
                <a:ext cx="1800200" cy="0"/>
              </a:xfrm>
              <a:prstGeom prst="line">
                <a:avLst/>
              </a:prstGeom>
              <a:ln w="127000"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948264" y="3501008"/>
                <a:ext cx="576064"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7164288" y="3429000"/>
                <a:ext cx="144016" cy="14401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Arrow Connector 23"/>
              <p:cNvCxnSpPr/>
              <p:nvPr/>
            </p:nvCxnSpPr>
            <p:spPr>
              <a:xfrm>
                <a:off x="3131840" y="3501008"/>
                <a:ext cx="576064"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508104" y="3501008"/>
                <a:ext cx="36004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259632" y="2348880"/>
                <a:ext cx="1152128" cy="646331"/>
              </a:xfrm>
              <a:prstGeom prst="rect">
                <a:avLst/>
              </a:prstGeom>
              <a:noFill/>
            </p:spPr>
            <p:txBody>
              <a:bodyPr wrap="square" rtlCol="0">
                <a:spAutoFit/>
              </a:bodyPr>
              <a:lstStyle/>
              <a:p>
                <a:pPr algn="ctr"/>
                <a:r>
                  <a:rPr lang="en-IN" sz="1200" dirty="0" smtClean="0"/>
                  <a:t>Security Related Transformation</a:t>
                </a:r>
                <a:endParaRPr lang="en-IN" sz="1200" dirty="0"/>
              </a:p>
            </p:txBody>
          </p:sp>
          <p:sp>
            <p:nvSpPr>
              <p:cNvPr id="28" name="TextBox 27"/>
              <p:cNvSpPr txBox="1"/>
              <p:nvPr/>
            </p:nvSpPr>
            <p:spPr>
              <a:xfrm>
                <a:off x="6732240" y="2348880"/>
                <a:ext cx="1152128" cy="646331"/>
              </a:xfrm>
              <a:prstGeom prst="rect">
                <a:avLst/>
              </a:prstGeom>
              <a:noFill/>
            </p:spPr>
            <p:txBody>
              <a:bodyPr wrap="square" rtlCol="0">
                <a:spAutoFit/>
              </a:bodyPr>
              <a:lstStyle/>
              <a:p>
                <a:pPr algn="ctr"/>
                <a:r>
                  <a:rPr lang="en-IN" sz="1200" dirty="0" smtClean="0"/>
                  <a:t>Security Related Transformation</a:t>
                </a:r>
                <a:endParaRPr lang="en-IN" sz="1200" dirty="0"/>
              </a:p>
            </p:txBody>
          </p:sp>
          <p:sp>
            <p:nvSpPr>
              <p:cNvPr id="29" name="TextBox 28"/>
              <p:cNvSpPr txBox="1"/>
              <p:nvPr/>
            </p:nvSpPr>
            <p:spPr>
              <a:xfrm>
                <a:off x="1187624" y="4149080"/>
                <a:ext cx="1152128" cy="461665"/>
              </a:xfrm>
              <a:prstGeom prst="rect">
                <a:avLst/>
              </a:prstGeom>
              <a:noFill/>
            </p:spPr>
            <p:txBody>
              <a:bodyPr wrap="square" rtlCol="0">
                <a:spAutoFit/>
              </a:bodyPr>
              <a:lstStyle/>
              <a:p>
                <a:pPr algn="ctr"/>
                <a:r>
                  <a:rPr lang="en-IN" sz="1200" dirty="0" smtClean="0"/>
                  <a:t>Secret Information</a:t>
                </a:r>
                <a:endParaRPr lang="en-IN" sz="1200" dirty="0"/>
              </a:p>
            </p:txBody>
          </p:sp>
          <p:sp>
            <p:nvSpPr>
              <p:cNvPr id="30" name="TextBox 29"/>
              <p:cNvSpPr txBox="1"/>
              <p:nvPr/>
            </p:nvSpPr>
            <p:spPr>
              <a:xfrm>
                <a:off x="6732240" y="4149080"/>
                <a:ext cx="1152128" cy="461665"/>
              </a:xfrm>
              <a:prstGeom prst="rect">
                <a:avLst/>
              </a:prstGeom>
              <a:noFill/>
            </p:spPr>
            <p:txBody>
              <a:bodyPr wrap="square" rtlCol="0">
                <a:spAutoFit/>
              </a:bodyPr>
              <a:lstStyle/>
              <a:p>
                <a:pPr algn="ctr"/>
                <a:r>
                  <a:rPr lang="en-IN" sz="1200" dirty="0" smtClean="0"/>
                  <a:t>Secret Information</a:t>
                </a:r>
                <a:endParaRPr lang="en-IN" sz="1200" dirty="0"/>
              </a:p>
            </p:txBody>
          </p:sp>
          <p:cxnSp>
            <p:nvCxnSpPr>
              <p:cNvPr id="32" name="Straight Arrow Connector 31"/>
              <p:cNvCxnSpPr>
                <a:stCxn id="29" idx="0"/>
              </p:cNvCxnSpPr>
              <p:nvPr/>
            </p:nvCxnSpPr>
            <p:spPr>
              <a:xfrm flipV="1">
                <a:off x="1763688" y="3717032"/>
                <a:ext cx="0" cy="432048"/>
              </a:xfrm>
              <a:prstGeom prst="straightConnector1">
                <a:avLst/>
              </a:prstGeom>
              <a:ln w="22225">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7236296" y="3717032"/>
                <a:ext cx="0" cy="432048"/>
              </a:xfrm>
              <a:prstGeom prst="straightConnector1">
                <a:avLst/>
              </a:prstGeom>
              <a:ln w="22225">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923928" y="2924944"/>
                <a:ext cx="1152128" cy="461665"/>
              </a:xfrm>
              <a:prstGeom prst="rect">
                <a:avLst/>
              </a:prstGeom>
              <a:noFill/>
            </p:spPr>
            <p:txBody>
              <a:bodyPr wrap="square" rtlCol="0">
                <a:spAutoFit/>
              </a:bodyPr>
              <a:lstStyle/>
              <a:p>
                <a:pPr algn="ctr"/>
                <a:r>
                  <a:rPr lang="en-IN" sz="1200" dirty="0" smtClean="0"/>
                  <a:t>Information Channel</a:t>
                </a:r>
                <a:endParaRPr lang="en-IN" sz="1200" dirty="0"/>
              </a:p>
            </p:txBody>
          </p:sp>
          <p:sp>
            <p:nvSpPr>
              <p:cNvPr id="35" name="TextBox 34"/>
              <p:cNvSpPr txBox="1"/>
              <p:nvPr/>
            </p:nvSpPr>
            <p:spPr>
              <a:xfrm>
                <a:off x="7524328" y="3933056"/>
                <a:ext cx="1152128" cy="276999"/>
              </a:xfrm>
              <a:prstGeom prst="rect">
                <a:avLst/>
              </a:prstGeom>
              <a:noFill/>
            </p:spPr>
            <p:txBody>
              <a:bodyPr wrap="square" rtlCol="0">
                <a:spAutoFit/>
              </a:bodyPr>
              <a:lstStyle/>
              <a:p>
                <a:pPr algn="ctr"/>
                <a:r>
                  <a:rPr lang="en-IN" sz="1200" dirty="0" smtClean="0"/>
                  <a:t>Receiver</a:t>
                </a:r>
                <a:endParaRPr lang="en-IN" sz="1200" dirty="0"/>
              </a:p>
            </p:txBody>
          </p:sp>
          <p:sp>
            <p:nvSpPr>
              <p:cNvPr id="36" name="TextBox 35"/>
              <p:cNvSpPr txBox="1"/>
              <p:nvPr/>
            </p:nvSpPr>
            <p:spPr>
              <a:xfrm>
                <a:off x="251520" y="3933056"/>
                <a:ext cx="1152128" cy="276999"/>
              </a:xfrm>
              <a:prstGeom prst="rect">
                <a:avLst/>
              </a:prstGeom>
              <a:noFill/>
            </p:spPr>
            <p:txBody>
              <a:bodyPr wrap="square" rtlCol="0">
                <a:spAutoFit/>
              </a:bodyPr>
              <a:lstStyle/>
              <a:p>
                <a:pPr algn="ctr"/>
                <a:r>
                  <a:rPr lang="en-IN" sz="1200" dirty="0" smtClean="0"/>
                  <a:t>Sender</a:t>
                </a:r>
                <a:endParaRPr lang="en-IN" sz="1200" dirty="0"/>
              </a:p>
            </p:txBody>
          </p:sp>
          <p:pic>
            <p:nvPicPr>
              <p:cNvPr id="1028" name="Picture 4" descr="http://l.rgbimg.com/cache1vvfLh/users/x/xy/xymonau/600/ok86agU.jpg"/>
              <p:cNvPicPr>
                <a:picLocks noChangeAspect="1" noChangeArrowheads="1"/>
              </p:cNvPicPr>
              <p:nvPr/>
            </p:nvPicPr>
            <p:blipFill>
              <a:blip r:embed="rId2" cstate="print"/>
              <a:srcRect/>
              <a:stretch>
                <a:fillRect/>
              </a:stretch>
            </p:blipFill>
            <p:spPr bwMode="auto">
              <a:xfrm>
                <a:off x="3995936" y="1556792"/>
                <a:ext cx="866527" cy="556022"/>
              </a:xfrm>
              <a:prstGeom prst="rect">
                <a:avLst/>
              </a:prstGeom>
              <a:noFill/>
            </p:spPr>
          </p:pic>
          <p:sp>
            <p:nvSpPr>
              <p:cNvPr id="39" name="TextBox 38"/>
              <p:cNvSpPr txBox="1"/>
              <p:nvPr/>
            </p:nvSpPr>
            <p:spPr>
              <a:xfrm>
                <a:off x="2915816" y="2132856"/>
                <a:ext cx="3096344" cy="461665"/>
              </a:xfrm>
              <a:prstGeom prst="rect">
                <a:avLst/>
              </a:prstGeom>
              <a:noFill/>
            </p:spPr>
            <p:txBody>
              <a:bodyPr wrap="square" rtlCol="0">
                <a:spAutoFit/>
              </a:bodyPr>
              <a:lstStyle/>
              <a:p>
                <a:pPr algn="ctr"/>
                <a:r>
                  <a:rPr lang="en-IN" sz="1200" dirty="0" smtClean="0"/>
                  <a:t>Trusted Third Party </a:t>
                </a:r>
              </a:p>
              <a:p>
                <a:pPr algn="ctr"/>
                <a:r>
                  <a:rPr lang="en-IN" sz="1200" dirty="0" smtClean="0"/>
                  <a:t>(Secret Information Distribution, Arbitration)</a:t>
                </a:r>
                <a:endParaRPr lang="en-IN" sz="1200" dirty="0"/>
              </a:p>
            </p:txBody>
          </p:sp>
          <p:cxnSp>
            <p:nvCxnSpPr>
              <p:cNvPr id="43" name="Straight Connector 42"/>
              <p:cNvCxnSpPr/>
              <p:nvPr/>
            </p:nvCxnSpPr>
            <p:spPr>
              <a:xfrm flipH="1">
                <a:off x="827585" y="1916832"/>
                <a:ext cx="2952327" cy="0"/>
              </a:xfrm>
              <a:prstGeom prst="line">
                <a:avLst/>
              </a:prstGeom>
              <a:ln>
                <a:solidFill>
                  <a:schemeClr val="tx1"/>
                </a:solidFill>
                <a:prstDash val="dash"/>
                <a:headEnd type="triangl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827584" y="1916832"/>
                <a:ext cx="0" cy="1080120"/>
              </a:xfrm>
              <a:prstGeom prst="line">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5364090" y="1916832"/>
                <a:ext cx="2664294" cy="10244"/>
              </a:xfrm>
              <a:prstGeom prst="line">
                <a:avLst/>
              </a:prstGeom>
              <a:ln>
                <a:solidFill>
                  <a:schemeClr val="tx1"/>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8028384" y="1916832"/>
                <a:ext cx="0" cy="1152128"/>
              </a:xfrm>
              <a:prstGeom prst="line">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4427984" y="2553871"/>
                <a:ext cx="0" cy="432048"/>
              </a:xfrm>
              <a:prstGeom prst="line">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4499992" y="3633991"/>
                <a:ext cx="0" cy="432048"/>
              </a:xfrm>
              <a:prstGeom prst="line">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https://encrypted-tbn1.gstatic.com/images?q=tbn:ANd9GcRwxzvvzYe_8E99MUhnJFYO0Wb9hTEpzidm7KJRrgvPveNV4B_aXg"/>
              <p:cNvPicPr>
                <a:picLocks noChangeAspect="1" noChangeArrowheads="1"/>
              </p:cNvPicPr>
              <p:nvPr/>
            </p:nvPicPr>
            <p:blipFill>
              <a:blip r:embed="rId3" cstate="print"/>
              <a:srcRect/>
              <a:stretch>
                <a:fillRect/>
              </a:stretch>
            </p:blipFill>
            <p:spPr bwMode="auto">
              <a:xfrm>
                <a:off x="4211960" y="4138047"/>
                <a:ext cx="509042" cy="509042"/>
              </a:xfrm>
              <a:prstGeom prst="rect">
                <a:avLst/>
              </a:prstGeom>
              <a:noFill/>
            </p:spPr>
          </p:pic>
          <p:sp>
            <p:nvSpPr>
              <p:cNvPr id="60" name="TextBox 59"/>
              <p:cNvSpPr txBox="1"/>
              <p:nvPr/>
            </p:nvSpPr>
            <p:spPr>
              <a:xfrm>
                <a:off x="3851920" y="4642103"/>
                <a:ext cx="1440160" cy="276999"/>
              </a:xfrm>
              <a:prstGeom prst="rect">
                <a:avLst/>
              </a:prstGeom>
              <a:noFill/>
            </p:spPr>
            <p:txBody>
              <a:bodyPr wrap="square" rtlCol="0">
                <a:spAutoFit/>
              </a:bodyPr>
              <a:lstStyle/>
              <a:p>
                <a:pPr algn="ctr"/>
                <a:r>
                  <a:rPr lang="en-IN" sz="1200" dirty="0" smtClean="0"/>
                  <a:t>Opponent</a:t>
                </a:r>
                <a:endParaRPr lang="en-IN" sz="1200" dirty="0"/>
              </a:p>
            </p:txBody>
          </p:sp>
        </p:grpSp>
        <p:pic>
          <p:nvPicPr>
            <p:cNvPr id="1036" name="Picture 12" descr="http://images.clipartpanda.com/human-clip-art-human-vector-buddy-icon-symbol-clip-art-434427-picture-243x248.jpg"/>
            <p:cNvPicPr>
              <a:picLocks noChangeAspect="1" noChangeArrowheads="1"/>
            </p:cNvPicPr>
            <p:nvPr/>
          </p:nvPicPr>
          <p:blipFill>
            <a:blip r:embed="rId4" cstate="print"/>
            <a:srcRect/>
            <a:stretch>
              <a:fillRect/>
            </a:stretch>
          </p:blipFill>
          <p:spPr bwMode="auto">
            <a:xfrm>
              <a:off x="611560" y="4005064"/>
              <a:ext cx="432048" cy="440938"/>
            </a:xfrm>
            <a:prstGeom prst="rect">
              <a:avLst/>
            </a:prstGeom>
            <a:noFill/>
          </p:spPr>
        </p:pic>
        <p:pic>
          <p:nvPicPr>
            <p:cNvPr id="66" name="Picture 12" descr="http://images.clipartpanda.com/human-clip-art-human-vector-buddy-icon-symbol-clip-art-434427-picture-243x248.jpg"/>
            <p:cNvPicPr>
              <a:picLocks noChangeAspect="1" noChangeArrowheads="1"/>
            </p:cNvPicPr>
            <p:nvPr/>
          </p:nvPicPr>
          <p:blipFill>
            <a:blip r:embed="rId4" cstate="print"/>
            <a:srcRect/>
            <a:stretch>
              <a:fillRect/>
            </a:stretch>
          </p:blipFill>
          <p:spPr bwMode="auto">
            <a:xfrm>
              <a:off x="7884368" y="4005064"/>
              <a:ext cx="432048" cy="440938"/>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959499"/>
          </a:xfrm>
        </p:spPr>
        <p:txBody>
          <a:bodyPr>
            <a:normAutofit fontScale="77500" lnSpcReduction="20000"/>
          </a:bodyPr>
          <a:lstStyle/>
          <a:p>
            <a:pPr marL="0" indent="0" algn="just">
              <a:spcBef>
                <a:spcPts val="0"/>
              </a:spcBef>
            </a:pPr>
            <a:r>
              <a:rPr lang="en-IN" b="1" u="sng" dirty="0" smtClean="0"/>
              <a:t>Cryptography:</a:t>
            </a:r>
            <a:r>
              <a:rPr lang="en-IN" dirty="0" smtClean="0"/>
              <a:t> in Greek it means “</a:t>
            </a:r>
            <a:r>
              <a:rPr lang="en-IN" i="1" dirty="0" smtClean="0"/>
              <a:t>secret writing”</a:t>
            </a:r>
            <a:r>
              <a:rPr lang="en-IN" dirty="0" smtClean="0"/>
              <a:t>. In the network security it means the science of transforming the messages to make them secure and immune to attacks.</a:t>
            </a:r>
          </a:p>
          <a:p>
            <a:pPr marL="0" indent="0" algn="just">
              <a:spcBef>
                <a:spcPts val="0"/>
              </a:spcBef>
            </a:pPr>
            <a:endParaRPr lang="en-IN" dirty="0" smtClean="0"/>
          </a:p>
          <a:p>
            <a:pPr marL="1314450" lvl="2" indent="-514350" algn="just">
              <a:spcBef>
                <a:spcPts val="0"/>
              </a:spcBef>
              <a:buFont typeface="+mj-lt"/>
              <a:buAutoNum type="romanLcPeriod"/>
            </a:pPr>
            <a:r>
              <a:rPr lang="en-IN" dirty="0" smtClean="0">
                <a:latin typeface="+mn-lt"/>
              </a:rPr>
              <a:t>Symmetric-Key Encipherment</a:t>
            </a:r>
          </a:p>
          <a:p>
            <a:pPr marL="1314450" lvl="2" indent="-514350" algn="just">
              <a:spcBef>
                <a:spcPts val="0"/>
              </a:spcBef>
              <a:buFont typeface="+mj-lt"/>
              <a:buAutoNum type="romanLcPeriod"/>
            </a:pPr>
            <a:r>
              <a:rPr lang="en-IN" dirty="0" smtClean="0">
                <a:latin typeface="+mn-lt"/>
              </a:rPr>
              <a:t>Asymmetric (or Public) Key Encipherment</a:t>
            </a:r>
          </a:p>
          <a:p>
            <a:pPr marL="1314450" lvl="2" indent="-514350" algn="just">
              <a:spcBef>
                <a:spcPts val="0"/>
              </a:spcBef>
              <a:buFont typeface="+mj-lt"/>
              <a:buAutoNum type="romanLcPeriod"/>
            </a:pPr>
            <a:r>
              <a:rPr lang="en-IN" dirty="0" smtClean="0">
                <a:latin typeface="+mn-lt"/>
              </a:rPr>
              <a:t>Data Integrity</a:t>
            </a:r>
          </a:p>
          <a:p>
            <a:pPr marL="1314450" lvl="2" indent="-514350" algn="just">
              <a:spcBef>
                <a:spcPts val="0"/>
              </a:spcBef>
              <a:buFont typeface="+mj-lt"/>
              <a:buAutoNum type="romanLcPeriod"/>
            </a:pPr>
            <a:r>
              <a:rPr lang="en-IN" dirty="0" smtClean="0">
                <a:latin typeface="+mn-lt"/>
              </a:rPr>
              <a:t>Mutual Trust</a:t>
            </a:r>
          </a:p>
          <a:p>
            <a:pPr marL="1314450" lvl="2" indent="-514350" algn="just">
              <a:spcBef>
                <a:spcPts val="0"/>
              </a:spcBef>
              <a:buFont typeface="+mj-lt"/>
              <a:buAutoNum type="romanLcPeriod"/>
            </a:pPr>
            <a:endParaRPr lang="en-IN" dirty="0" smtClean="0">
              <a:latin typeface="+mn-lt"/>
            </a:endParaRPr>
          </a:p>
          <a:p>
            <a:pPr marL="1314450" lvl="2" indent="-514350" algn="just">
              <a:spcBef>
                <a:spcPts val="0"/>
              </a:spcBef>
              <a:buNone/>
            </a:pPr>
            <a:endParaRPr lang="en-IN" dirty="0" smtClean="0">
              <a:latin typeface="+mn-lt"/>
            </a:endParaRPr>
          </a:p>
          <a:p>
            <a:pPr marL="0" indent="0" algn="just">
              <a:spcBef>
                <a:spcPts val="0"/>
              </a:spcBef>
            </a:pPr>
            <a:r>
              <a:rPr lang="en-IN" b="1" u="sng" dirty="0" smtClean="0"/>
              <a:t>Steganography:</a:t>
            </a:r>
            <a:r>
              <a:rPr lang="en-IN" dirty="0" smtClean="0"/>
              <a:t> in Greek it means “</a:t>
            </a:r>
            <a:r>
              <a:rPr lang="en-IN" i="1" dirty="0" smtClean="0"/>
              <a:t>covered writing”. </a:t>
            </a:r>
            <a:r>
              <a:rPr lang="en-IN" dirty="0" smtClean="0"/>
              <a:t>In contrast with cryptography, it means concealing the message itself by covering it with something else. Example:</a:t>
            </a:r>
          </a:p>
          <a:p>
            <a:pPr marL="0" indent="0" algn="just">
              <a:spcBef>
                <a:spcPts val="0"/>
              </a:spcBef>
            </a:pPr>
            <a:endParaRPr lang="en-IN" dirty="0" smtClean="0"/>
          </a:p>
          <a:p>
            <a:pPr marL="400050" lvl="1" indent="0" algn="just">
              <a:spcBef>
                <a:spcPts val="0"/>
              </a:spcBef>
              <a:buNone/>
            </a:pPr>
            <a:r>
              <a:rPr lang="en-IN" sz="2400" dirty="0" smtClean="0"/>
              <a:t>A letter is written on the paper using onion juice or ammonia salts which would not be visible unless exposed to heat.</a:t>
            </a:r>
          </a:p>
          <a:p>
            <a:pPr marL="400050" lvl="1" indent="0" algn="just">
              <a:spcBef>
                <a:spcPts val="0"/>
              </a:spcBef>
              <a:buNone/>
            </a:pPr>
            <a:endParaRPr lang="en-IN" sz="2400" dirty="0" smtClean="0"/>
          </a:p>
          <a:p>
            <a:pPr marL="400050" lvl="1" indent="0" algn="just">
              <a:spcBef>
                <a:spcPts val="0"/>
              </a:spcBef>
              <a:buNone/>
            </a:pPr>
            <a:endParaRPr lang="en-IN" sz="2400" dirty="0" smtClean="0"/>
          </a:p>
          <a:p>
            <a:pPr marL="0" indent="0" algn="just">
              <a:spcBef>
                <a:spcPts val="0"/>
              </a:spcBef>
            </a:pPr>
            <a:r>
              <a:rPr lang="en-IN" sz="2400" b="1" i="1" dirty="0" smtClean="0"/>
              <a:t>This course primarily deals with Cryptographic Techniques in Network Security.</a:t>
            </a:r>
            <a:endParaRPr lang="en-IN" sz="2400" b="1" i="1" dirty="0"/>
          </a:p>
        </p:txBody>
      </p:sp>
      <p:sp>
        <p:nvSpPr>
          <p:cNvPr id="3" name="Content Placeholder 2"/>
          <p:cNvSpPr>
            <a:spLocks noGrp="1"/>
          </p:cNvSpPr>
          <p:nvPr>
            <p:ph sz="quarter" idx="10"/>
          </p:nvPr>
        </p:nvSpPr>
        <p:spPr/>
        <p:txBody>
          <a:bodyPr/>
          <a:lstStyle/>
          <a:p>
            <a:r>
              <a:rPr lang="en-IN" dirty="0" smtClean="0"/>
              <a:t>Techniques to Implement Security Mechanisms</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19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0" end="1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2439219"/>
          </a:xfrm>
        </p:spPr>
        <p:txBody>
          <a:bodyPr>
            <a:normAutofit fontScale="92500" lnSpcReduction="20000"/>
          </a:bodyPr>
          <a:lstStyle/>
          <a:p>
            <a:pPr marL="0" lvl="2" indent="0" algn="just">
              <a:spcBef>
                <a:spcPts val="0"/>
              </a:spcBef>
              <a:buClr>
                <a:srgbClr val="101141"/>
              </a:buClr>
              <a:buNone/>
            </a:pPr>
            <a:r>
              <a:rPr lang="en-IN" dirty="0" smtClean="0">
                <a:latin typeface="+mn-lt"/>
              </a:rPr>
              <a:t>Sender encrypts the message using an encryption algorithm and the receiver decrypts the message using a decryption algorithm.</a:t>
            </a:r>
            <a:r>
              <a:rPr lang="en-IN" sz="2000" dirty="0" smtClean="0"/>
              <a:t> </a:t>
            </a:r>
            <a:r>
              <a:rPr lang="en-IN" dirty="0" smtClean="0">
                <a:latin typeface="+mn-lt"/>
              </a:rPr>
              <a:t>Symmetric-Key Encipherment uses a single secret key for both encryption and decryption. </a:t>
            </a:r>
          </a:p>
          <a:p>
            <a:pPr marL="0" lvl="2" indent="0" algn="just">
              <a:spcBef>
                <a:spcPts val="0"/>
              </a:spcBef>
              <a:buClr>
                <a:srgbClr val="101141"/>
              </a:buClr>
              <a:buNone/>
            </a:pPr>
            <a:endParaRPr lang="en-IN" sz="2000" dirty="0" smtClean="0">
              <a:latin typeface="+mn-lt"/>
            </a:endParaRPr>
          </a:p>
          <a:p>
            <a:pPr marL="0" lvl="2" indent="0" algn="just">
              <a:spcBef>
                <a:spcPts val="0"/>
              </a:spcBef>
              <a:buClr>
                <a:srgbClr val="101141"/>
              </a:buClr>
              <a:buNone/>
            </a:pPr>
            <a:r>
              <a:rPr lang="en-IN" dirty="0" smtClean="0">
                <a:latin typeface="+mn-lt"/>
              </a:rPr>
              <a:t>It is analogous to that the sender puts the message in a box and locks the box with a shared key. Receiver opens the box with the same shared key and gets the message.</a:t>
            </a:r>
          </a:p>
        </p:txBody>
      </p:sp>
      <p:sp>
        <p:nvSpPr>
          <p:cNvPr id="3" name="Content Placeholder 2"/>
          <p:cNvSpPr>
            <a:spLocks noGrp="1"/>
          </p:cNvSpPr>
          <p:nvPr>
            <p:ph sz="quarter" idx="10"/>
          </p:nvPr>
        </p:nvSpPr>
        <p:spPr/>
        <p:txBody>
          <a:bodyPr/>
          <a:lstStyle/>
          <a:p>
            <a:r>
              <a:rPr lang="en-IN" dirty="0" smtClean="0"/>
              <a:t>Symmetric-Key Encipherment</a:t>
            </a:r>
          </a:p>
        </p:txBody>
      </p:sp>
      <p:sp>
        <p:nvSpPr>
          <p:cNvPr id="4" name="Slide Number Placeholder 3"/>
          <p:cNvSpPr>
            <a:spLocks noGrp="1"/>
          </p:cNvSpPr>
          <p:nvPr>
            <p:ph type="sldNum" sz="quarter" idx="12"/>
          </p:nvPr>
        </p:nvSpPr>
        <p:spPr/>
        <p:txBody>
          <a:bodyPr/>
          <a:lstStyle/>
          <a:p>
            <a:fld id="{04252BD6-4F37-4D57-B6B7-636C2217F7DD}" type="slidenum">
              <a:rPr lang="en-US" smtClean="0"/>
              <a:pPr/>
              <a:t>20</a:t>
            </a:fld>
            <a:endParaRPr lang="en-US" dirty="0"/>
          </a:p>
        </p:txBody>
      </p:sp>
      <p:pic>
        <p:nvPicPr>
          <p:cNvPr id="6" name="Picture 7"/>
          <p:cNvPicPr>
            <a:picLocks noChangeAspect="1" noChangeArrowheads="1"/>
          </p:cNvPicPr>
          <p:nvPr/>
        </p:nvPicPr>
        <p:blipFill>
          <a:blip r:embed="rId2" cstate="print"/>
          <a:srcRect/>
          <a:stretch>
            <a:fillRect/>
          </a:stretch>
        </p:blipFill>
        <p:spPr bwMode="auto">
          <a:xfrm>
            <a:off x="1979712" y="3861048"/>
            <a:ext cx="5003081" cy="20369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1431107"/>
          </a:xfrm>
        </p:spPr>
        <p:txBody>
          <a:bodyPr>
            <a:normAutofit/>
          </a:bodyPr>
          <a:lstStyle/>
          <a:p>
            <a:pPr marL="0" lvl="2" indent="0" algn="just">
              <a:lnSpc>
                <a:spcPct val="80000"/>
              </a:lnSpc>
              <a:spcBef>
                <a:spcPts val="0"/>
              </a:spcBef>
              <a:buClr>
                <a:srgbClr val="101141"/>
              </a:buClr>
              <a:buNone/>
            </a:pPr>
            <a:r>
              <a:rPr lang="en-IN" sz="2800" dirty="0" smtClean="0">
                <a:latin typeface="+mn-lt"/>
              </a:rPr>
              <a:t>To send a secure message, the sender first encrypts the message using </a:t>
            </a:r>
            <a:r>
              <a:rPr lang="en-IN" sz="2800" u="sng" dirty="0" smtClean="0">
                <a:latin typeface="+mn-lt"/>
              </a:rPr>
              <a:t>receiver’s public key</a:t>
            </a:r>
            <a:r>
              <a:rPr lang="en-IN" sz="2800" dirty="0" smtClean="0">
                <a:latin typeface="+mn-lt"/>
              </a:rPr>
              <a:t>. To decrypt the message, the receiver uses </a:t>
            </a:r>
            <a:r>
              <a:rPr lang="en-IN" sz="2800" u="sng" dirty="0" smtClean="0">
                <a:latin typeface="+mn-lt"/>
              </a:rPr>
              <a:t>its own private key</a:t>
            </a:r>
            <a:r>
              <a:rPr lang="en-IN" sz="2800" dirty="0" smtClean="0">
                <a:latin typeface="+mn-lt"/>
              </a:rPr>
              <a:t>.</a:t>
            </a:r>
          </a:p>
        </p:txBody>
      </p:sp>
      <p:sp>
        <p:nvSpPr>
          <p:cNvPr id="3" name="Content Placeholder 2"/>
          <p:cNvSpPr>
            <a:spLocks noGrp="1"/>
          </p:cNvSpPr>
          <p:nvPr>
            <p:ph sz="quarter" idx="10"/>
          </p:nvPr>
        </p:nvSpPr>
        <p:spPr/>
        <p:txBody>
          <a:bodyPr/>
          <a:lstStyle/>
          <a:p>
            <a:endParaRPr lang="en-IN" dirty="0" smtClean="0"/>
          </a:p>
          <a:p>
            <a:r>
              <a:rPr lang="en-IN" dirty="0" smtClean="0"/>
              <a:t>Asymmetric-Key Encipherment</a:t>
            </a:r>
          </a:p>
          <a:p>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21</a:t>
            </a:fld>
            <a:endParaRPr lang="en-US" dirty="0"/>
          </a:p>
        </p:txBody>
      </p:sp>
      <p:pic>
        <p:nvPicPr>
          <p:cNvPr id="5" name="Picture 12"/>
          <p:cNvPicPr>
            <a:picLocks noChangeAspect="1" noChangeArrowheads="1"/>
          </p:cNvPicPr>
          <p:nvPr/>
        </p:nvPicPr>
        <p:blipFill>
          <a:blip r:embed="rId2" cstate="print"/>
          <a:srcRect/>
          <a:stretch>
            <a:fillRect/>
          </a:stretch>
        </p:blipFill>
        <p:spPr bwMode="auto">
          <a:xfrm>
            <a:off x="899592" y="3068960"/>
            <a:ext cx="7048500" cy="318224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Security at Application Layer</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22</a:t>
            </a:fld>
            <a:endParaRPr lang="en-US" dirty="0"/>
          </a:p>
        </p:txBody>
      </p:sp>
      <p:grpSp>
        <p:nvGrpSpPr>
          <p:cNvPr id="2" name="Group 12"/>
          <p:cNvGrpSpPr/>
          <p:nvPr/>
        </p:nvGrpSpPr>
        <p:grpSpPr>
          <a:xfrm>
            <a:off x="6444208" y="2708920"/>
            <a:ext cx="2520280" cy="2421019"/>
            <a:chOff x="467544" y="1691516"/>
            <a:chExt cx="1944216" cy="1524049"/>
          </a:xfrm>
        </p:grpSpPr>
        <p:grpSp>
          <p:nvGrpSpPr>
            <p:cNvPr id="5" name="Group 4"/>
            <p:cNvGrpSpPr/>
            <p:nvPr/>
          </p:nvGrpSpPr>
          <p:grpSpPr>
            <a:xfrm>
              <a:off x="683568" y="1691516"/>
              <a:ext cx="1512168" cy="1524049"/>
              <a:chOff x="827584" y="1475492"/>
              <a:chExt cx="1512168" cy="1524049"/>
            </a:xfrm>
            <a:solidFill>
              <a:srgbClr val="FFFF00"/>
            </a:solidFill>
          </p:grpSpPr>
          <p:sp>
            <p:nvSpPr>
              <p:cNvPr id="6" name="TextBox 5"/>
              <p:cNvSpPr txBox="1"/>
              <p:nvPr/>
            </p:nvSpPr>
            <p:spPr>
              <a:xfrm>
                <a:off x="827584" y="1475492"/>
                <a:ext cx="1512168" cy="600617"/>
              </a:xfrm>
              <a:prstGeom prst="rect">
                <a:avLst/>
              </a:prstGeom>
              <a:solidFill>
                <a:srgbClr val="92D050"/>
              </a:solidFill>
              <a:ln>
                <a:solidFill>
                  <a:schemeClr val="tx1"/>
                </a:solidFill>
              </a:ln>
            </p:spPr>
            <p:txBody>
              <a:bodyPr wrap="square" rtlCol="0">
                <a:spAutoFit/>
              </a:bodyPr>
              <a:lstStyle/>
              <a:p>
                <a:pPr algn="ctr"/>
                <a:r>
                  <a:rPr lang="en-IN" sz="2800" b="1" dirty="0" smtClean="0"/>
                  <a:t>Application</a:t>
                </a:r>
                <a:endParaRPr lang="en-IN" sz="2800" b="1" dirty="0"/>
              </a:p>
            </p:txBody>
          </p:sp>
          <p:sp>
            <p:nvSpPr>
              <p:cNvPr id="7" name="TextBox 6"/>
              <p:cNvSpPr txBox="1"/>
              <p:nvPr/>
            </p:nvSpPr>
            <p:spPr>
              <a:xfrm>
                <a:off x="827584" y="1844824"/>
                <a:ext cx="1512168" cy="290621"/>
              </a:xfrm>
              <a:prstGeom prst="rect">
                <a:avLst/>
              </a:prstGeom>
              <a:solidFill>
                <a:srgbClr val="92D050"/>
              </a:solidFill>
              <a:ln>
                <a:solidFill>
                  <a:schemeClr val="tx1"/>
                </a:solidFill>
              </a:ln>
            </p:spPr>
            <p:txBody>
              <a:bodyPr wrap="square" rtlCol="0">
                <a:spAutoFit/>
              </a:bodyPr>
              <a:lstStyle/>
              <a:p>
                <a:pPr algn="ctr"/>
                <a:r>
                  <a:rPr lang="en-IN" sz="2400" dirty="0" smtClean="0"/>
                  <a:t>Transport</a:t>
                </a:r>
                <a:endParaRPr lang="en-IN" sz="2400" dirty="0"/>
              </a:p>
            </p:txBody>
          </p:sp>
          <p:sp>
            <p:nvSpPr>
              <p:cNvPr id="8" name="TextBox 7"/>
              <p:cNvSpPr txBox="1"/>
              <p:nvPr/>
            </p:nvSpPr>
            <p:spPr>
              <a:xfrm>
                <a:off x="827584" y="2132857"/>
                <a:ext cx="1512168" cy="290621"/>
              </a:xfrm>
              <a:prstGeom prst="rect">
                <a:avLst/>
              </a:prstGeom>
              <a:solidFill>
                <a:srgbClr val="92D050"/>
              </a:solidFill>
              <a:ln>
                <a:solidFill>
                  <a:schemeClr val="tx1"/>
                </a:solidFill>
              </a:ln>
            </p:spPr>
            <p:txBody>
              <a:bodyPr wrap="square" rtlCol="0">
                <a:spAutoFit/>
              </a:bodyPr>
              <a:lstStyle/>
              <a:p>
                <a:pPr algn="ctr"/>
                <a:r>
                  <a:rPr lang="en-IN" sz="2400" dirty="0" smtClean="0"/>
                  <a:t>Network</a:t>
                </a:r>
                <a:endParaRPr lang="en-IN" sz="2400" dirty="0"/>
              </a:p>
            </p:txBody>
          </p:sp>
          <p:sp>
            <p:nvSpPr>
              <p:cNvPr id="9" name="TextBox 8"/>
              <p:cNvSpPr txBox="1"/>
              <p:nvPr/>
            </p:nvSpPr>
            <p:spPr>
              <a:xfrm>
                <a:off x="827584" y="2420888"/>
                <a:ext cx="1512168" cy="290621"/>
              </a:xfrm>
              <a:prstGeom prst="rect">
                <a:avLst/>
              </a:prstGeom>
              <a:solidFill>
                <a:srgbClr val="92D050"/>
              </a:solidFill>
              <a:ln>
                <a:solidFill>
                  <a:schemeClr val="tx1"/>
                </a:solidFill>
              </a:ln>
            </p:spPr>
            <p:txBody>
              <a:bodyPr wrap="square" rtlCol="0">
                <a:spAutoFit/>
              </a:bodyPr>
              <a:lstStyle/>
              <a:p>
                <a:pPr algn="ctr"/>
                <a:r>
                  <a:rPr lang="en-IN" sz="2400" dirty="0" smtClean="0"/>
                  <a:t>Data Link</a:t>
                </a:r>
                <a:endParaRPr lang="en-IN" sz="2400" dirty="0"/>
              </a:p>
            </p:txBody>
          </p:sp>
          <p:sp>
            <p:nvSpPr>
              <p:cNvPr id="10" name="TextBox 9"/>
              <p:cNvSpPr txBox="1"/>
              <p:nvPr/>
            </p:nvSpPr>
            <p:spPr>
              <a:xfrm>
                <a:off x="827584" y="2708920"/>
                <a:ext cx="1512168" cy="290621"/>
              </a:xfrm>
              <a:prstGeom prst="rect">
                <a:avLst/>
              </a:prstGeom>
              <a:solidFill>
                <a:srgbClr val="92D050"/>
              </a:solidFill>
              <a:ln>
                <a:solidFill>
                  <a:schemeClr val="tx1"/>
                </a:solidFill>
              </a:ln>
            </p:spPr>
            <p:txBody>
              <a:bodyPr wrap="square" rtlCol="0">
                <a:spAutoFit/>
              </a:bodyPr>
              <a:lstStyle/>
              <a:p>
                <a:pPr algn="ctr"/>
                <a:r>
                  <a:rPr lang="en-IN" sz="2400" dirty="0" smtClean="0"/>
                  <a:t>Physical</a:t>
                </a:r>
                <a:endParaRPr lang="en-IN" sz="2400" dirty="0"/>
              </a:p>
            </p:txBody>
          </p:sp>
        </p:grpSp>
        <p:sp>
          <p:nvSpPr>
            <p:cNvPr id="11" name="Oval 10"/>
            <p:cNvSpPr/>
            <p:nvPr/>
          </p:nvSpPr>
          <p:spPr>
            <a:xfrm>
              <a:off x="467544" y="1700808"/>
              <a:ext cx="1944216" cy="3080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00" dirty="0"/>
            </a:p>
          </p:txBody>
        </p:sp>
      </p:grpSp>
      <p:sp>
        <p:nvSpPr>
          <p:cNvPr id="12" name="Rectangle 11"/>
          <p:cNvSpPr/>
          <p:nvPr/>
        </p:nvSpPr>
        <p:spPr>
          <a:xfrm>
            <a:off x="251520" y="1484784"/>
            <a:ext cx="5760640" cy="4382738"/>
          </a:xfrm>
          <a:prstGeom prst="rect">
            <a:avLst/>
          </a:prstGeom>
        </p:spPr>
        <p:txBody>
          <a:bodyPr wrap="square">
            <a:spAutoFit/>
          </a:bodyPr>
          <a:lstStyle/>
          <a:p>
            <a:pPr marL="514350" lvl="1" indent="-514350" algn="just">
              <a:spcBef>
                <a:spcPct val="20000"/>
              </a:spcBef>
              <a:buClr>
                <a:srgbClr val="101141"/>
              </a:buClr>
              <a:buFont typeface="Arial" pitchFamily="34" charset="0"/>
              <a:buChar char="•"/>
            </a:pPr>
            <a:r>
              <a:rPr lang="en-IN" sz="1700" dirty="0" smtClean="0">
                <a:cs typeface="Arial" pitchFamily="34" charset="0"/>
              </a:rPr>
              <a:t>Application Layer p</a:t>
            </a:r>
            <a:r>
              <a:rPr lang="hu-HU" sz="1700" dirty="0" smtClean="0">
                <a:cs typeface="Arial" pitchFamily="34" charset="0"/>
              </a:rPr>
              <a:t>rovides services for an application to send and recieve data over the network</a:t>
            </a:r>
            <a:r>
              <a:rPr lang="en-IN" sz="1700" dirty="0" smtClean="0">
                <a:cs typeface="Arial" pitchFamily="34" charset="0"/>
              </a:rPr>
              <a:t>.</a:t>
            </a:r>
          </a:p>
          <a:p>
            <a:pPr marL="514350" lvl="1" indent="-514350" algn="just">
              <a:spcBef>
                <a:spcPct val="20000"/>
              </a:spcBef>
              <a:buClr>
                <a:srgbClr val="101141"/>
              </a:buClr>
              <a:buFont typeface="Arial" pitchFamily="34" charset="0"/>
              <a:buChar char="•"/>
            </a:pPr>
            <a:r>
              <a:rPr lang="en-IN" sz="1700" dirty="0" smtClean="0">
                <a:cs typeface="Arial" pitchFamily="34" charset="0"/>
              </a:rPr>
              <a:t>Its interface to the transport layer is o</a:t>
            </a:r>
            <a:r>
              <a:rPr lang="hu-HU" sz="1700" dirty="0" smtClean="0">
                <a:cs typeface="Arial" pitchFamily="34" charset="0"/>
              </a:rPr>
              <a:t>perating system dependent</a:t>
            </a:r>
            <a:r>
              <a:rPr lang="en-IN" sz="1700" dirty="0" smtClean="0">
                <a:cs typeface="Arial" pitchFamily="34" charset="0"/>
              </a:rPr>
              <a:t>. E.g. Sockets.</a:t>
            </a:r>
          </a:p>
          <a:p>
            <a:pPr marL="514350" lvl="1" indent="-514350" algn="just">
              <a:lnSpc>
                <a:spcPct val="90000"/>
              </a:lnSpc>
              <a:spcBef>
                <a:spcPct val="20000"/>
              </a:spcBef>
              <a:buClr>
                <a:srgbClr val="101141"/>
              </a:buClr>
              <a:buSzPct val="80000"/>
              <a:buFont typeface="Arial" pitchFamily="34" charset="0"/>
              <a:buChar char="•"/>
            </a:pPr>
            <a:r>
              <a:rPr lang="en-IN" sz="1700" dirty="0" smtClean="0">
                <a:cs typeface="Arial" pitchFamily="34" charset="0"/>
              </a:rPr>
              <a:t>There are certain a</a:t>
            </a:r>
            <a:r>
              <a:rPr lang="hu-HU" sz="1700" dirty="0" smtClean="0">
                <a:cs typeface="Arial" pitchFamily="34" charset="0"/>
              </a:rPr>
              <a:t>dvantages</a:t>
            </a:r>
            <a:r>
              <a:rPr lang="en-IN" sz="1700" dirty="0" smtClean="0">
                <a:cs typeface="Arial" pitchFamily="34" charset="0"/>
              </a:rPr>
              <a:t> providing security right at the application layer:</a:t>
            </a:r>
            <a:endParaRPr lang="en-US" sz="1700" dirty="0" smtClean="0">
              <a:cs typeface="Arial" pitchFamily="34" charset="0"/>
            </a:endParaRPr>
          </a:p>
          <a:p>
            <a:pPr marL="971550" lvl="2" indent="-514350" algn="just">
              <a:lnSpc>
                <a:spcPct val="90000"/>
              </a:lnSpc>
              <a:spcBef>
                <a:spcPct val="20000"/>
              </a:spcBef>
              <a:buClr>
                <a:srgbClr val="101141"/>
              </a:buClr>
              <a:buSzPct val="80000"/>
              <a:buFont typeface="Courier New" pitchFamily="49" charset="0"/>
              <a:buChar char="o"/>
            </a:pPr>
            <a:r>
              <a:rPr lang="hu-HU" sz="1700" dirty="0" smtClean="0">
                <a:cs typeface="Arial" pitchFamily="34" charset="0"/>
              </a:rPr>
              <a:t>Executing in the context of the user</a:t>
            </a:r>
            <a:r>
              <a:rPr lang="en-IN" sz="1700" dirty="0" smtClean="0">
                <a:cs typeface="Arial" pitchFamily="34" charset="0"/>
              </a:rPr>
              <a:t>. E</a:t>
            </a:r>
            <a:r>
              <a:rPr lang="hu-HU" sz="1700" dirty="0" smtClean="0">
                <a:cs typeface="Arial" pitchFamily="34" charset="0"/>
              </a:rPr>
              <a:t>asy access to user’s credentials</a:t>
            </a:r>
            <a:r>
              <a:rPr lang="en-IN" sz="1700" dirty="0" smtClean="0">
                <a:cs typeface="Arial" pitchFamily="34" charset="0"/>
              </a:rPr>
              <a:t>.</a:t>
            </a:r>
            <a:endParaRPr lang="hu-HU" sz="1700" dirty="0" smtClean="0">
              <a:cs typeface="Arial" pitchFamily="34" charset="0"/>
            </a:endParaRPr>
          </a:p>
          <a:p>
            <a:pPr marL="971550" lvl="2" indent="-514350" algn="just">
              <a:lnSpc>
                <a:spcPct val="90000"/>
              </a:lnSpc>
              <a:spcBef>
                <a:spcPct val="20000"/>
              </a:spcBef>
              <a:buClr>
                <a:srgbClr val="101141"/>
              </a:buClr>
              <a:buSzPct val="90000"/>
              <a:buFont typeface="Courier New" pitchFamily="49" charset="0"/>
              <a:buChar char="o"/>
            </a:pPr>
            <a:r>
              <a:rPr lang="hu-HU" sz="1700" dirty="0" smtClean="0">
                <a:cs typeface="Arial" pitchFamily="34" charset="0"/>
              </a:rPr>
              <a:t>Complete access to </a:t>
            </a:r>
            <a:r>
              <a:rPr lang="en-IN" sz="1700" dirty="0" smtClean="0">
                <a:cs typeface="Arial" pitchFamily="34" charset="0"/>
              </a:rPr>
              <a:t>the </a:t>
            </a:r>
            <a:r>
              <a:rPr lang="hu-HU" sz="1700" dirty="0" smtClean="0">
                <a:cs typeface="Arial" pitchFamily="34" charset="0"/>
              </a:rPr>
              <a:t>dat</a:t>
            </a:r>
            <a:r>
              <a:rPr lang="en-IN" sz="1700" dirty="0" smtClean="0">
                <a:cs typeface="Arial" pitchFamily="34" charset="0"/>
              </a:rPr>
              <a:t>a. E</a:t>
            </a:r>
            <a:r>
              <a:rPr lang="hu-HU" sz="1700" dirty="0" smtClean="0">
                <a:cs typeface="Arial" pitchFamily="34" charset="0"/>
              </a:rPr>
              <a:t>asier to ensure nonrepudation</a:t>
            </a:r>
            <a:r>
              <a:rPr lang="en-US" sz="1700" dirty="0" smtClean="0">
                <a:cs typeface="Arial" pitchFamily="34" charset="0"/>
              </a:rPr>
              <a:t> and small security granularity.</a:t>
            </a:r>
            <a:endParaRPr lang="hu-HU" sz="1700" dirty="0" smtClean="0">
              <a:cs typeface="Arial" pitchFamily="34" charset="0"/>
            </a:endParaRPr>
          </a:p>
          <a:p>
            <a:pPr marL="971550" lvl="2" indent="-514350" algn="just">
              <a:lnSpc>
                <a:spcPct val="90000"/>
              </a:lnSpc>
              <a:spcBef>
                <a:spcPct val="20000"/>
              </a:spcBef>
              <a:buClr>
                <a:srgbClr val="101141"/>
              </a:buClr>
              <a:buSzPct val="90000"/>
              <a:buFont typeface="Courier New" pitchFamily="49" charset="0"/>
              <a:buChar char="o"/>
            </a:pPr>
            <a:r>
              <a:rPr lang="hu-HU" sz="1700" dirty="0" smtClean="0">
                <a:cs typeface="Arial" pitchFamily="34" charset="0"/>
              </a:rPr>
              <a:t>Application</a:t>
            </a:r>
            <a:r>
              <a:rPr lang="en-US" sz="1700" dirty="0" smtClean="0">
                <a:cs typeface="Arial" pitchFamily="34" charset="0"/>
              </a:rPr>
              <a:t> specific </a:t>
            </a:r>
            <a:r>
              <a:rPr lang="hu-HU" sz="1700" dirty="0" smtClean="0">
                <a:cs typeface="Arial" pitchFamily="34" charset="0"/>
              </a:rPr>
              <a:t>security</a:t>
            </a:r>
            <a:r>
              <a:rPr lang="en-IN" sz="1700" dirty="0" smtClean="0">
                <a:cs typeface="Arial" pitchFamily="34" charset="0"/>
              </a:rPr>
              <a:t>.</a:t>
            </a:r>
            <a:r>
              <a:rPr lang="hu-HU" sz="1700" dirty="0" smtClean="0">
                <a:cs typeface="Arial" pitchFamily="34" charset="0"/>
              </a:rPr>
              <a:t> </a:t>
            </a:r>
          </a:p>
          <a:p>
            <a:pPr marL="514350" lvl="1" indent="-514350" algn="just">
              <a:lnSpc>
                <a:spcPct val="90000"/>
              </a:lnSpc>
              <a:spcBef>
                <a:spcPct val="20000"/>
              </a:spcBef>
              <a:buClr>
                <a:srgbClr val="101141"/>
              </a:buClr>
              <a:buSzPct val="80000"/>
              <a:buFont typeface="Wingdings" pitchFamily="2" charset="2"/>
              <a:buChar char="§"/>
            </a:pPr>
            <a:r>
              <a:rPr lang="en-IN" sz="1700" dirty="0" smtClean="0">
                <a:cs typeface="Arial" pitchFamily="34" charset="0"/>
              </a:rPr>
              <a:t>There are certain </a:t>
            </a:r>
            <a:r>
              <a:rPr lang="en-IN" sz="1700" u="sng" dirty="0" smtClean="0">
                <a:cs typeface="Arial" pitchFamily="34" charset="0"/>
              </a:rPr>
              <a:t>disadvantages </a:t>
            </a:r>
            <a:r>
              <a:rPr lang="en-IN" sz="1700" dirty="0" smtClean="0">
                <a:cs typeface="Arial" pitchFamily="34" charset="0"/>
              </a:rPr>
              <a:t>also providing security at the application layer:</a:t>
            </a:r>
            <a:endParaRPr lang="en-US" sz="1700" dirty="0" smtClean="0">
              <a:cs typeface="Arial" pitchFamily="34" charset="0"/>
            </a:endParaRPr>
          </a:p>
          <a:p>
            <a:pPr marL="971550" lvl="2" indent="-514350" algn="just">
              <a:lnSpc>
                <a:spcPct val="90000"/>
              </a:lnSpc>
              <a:spcBef>
                <a:spcPct val="20000"/>
              </a:spcBef>
              <a:buClr>
                <a:srgbClr val="101141"/>
              </a:buClr>
              <a:buSzPct val="90000"/>
              <a:buFont typeface="Courier New" pitchFamily="49" charset="0"/>
              <a:buChar char="o"/>
            </a:pPr>
            <a:r>
              <a:rPr lang="en-US" sz="1700" dirty="0" smtClean="0">
                <a:cs typeface="Arial" pitchFamily="34" charset="0"/>
              </a:rPr>
              <a:t>Need</a:t>
            </a:r>
            <a:r>
              <a:rPr lang="hu-HU" sz="1700" dirty="0" smtClean="0">
                <a:cs typeface="Arial" pitchFamily="34" charset="0"/>
              </a:rPr>
              <a:t> for each application</a:t>
            </a:r>
            <a:r>
              <a:rPr lang="en-IN" sz="1700" dirty="0" smtClean="0">
                <a:cs typeface="Arial" pitchFamily="34" charset="0"/>
              </a:rPr>
              <a:t> specifically – </a:t>
            </a:r>
            <a:r>
              <a:rPr lang="en-US" sz="1700" dirty="0" smtClean="0">
                <a:cs typeface="Arial" pitchFamily="34" charset="0"/>
              </a:rPr>
              <a:t>e</a:t>
            </a:r>
            <a:r>
              <a:rPr lang="hu-HU" sz="1700" dirty="0" smtClean="0">
                <a:cs typeface="Arial" pitchFamily="34" charset="0"/>
              </a:rPr>
              <a:t>xpensive</a:t>
            </a:r>
            <a:r>
              <a:rPr lang="en-IN" sz="1700" dirty="0" smtClean="0">
                <a:cs typeface="Arial" pitchFamily="34" charset="0"/>
              </a:rPr>
              <a:t>.</a:t>
            </a:r>
            <a:endParaRPr lang="hu-HU" sz="1700" dirty="0" smtClean="0">
              <a:cs typeface="Arial" pitchFamily="34" charset="0"/>
            </a:endParaRPr>
          </a:p>
          <a:p>
            <a:pPr marL="971550" lvl="2" indent="-514350" algn="just">
              <a:lnSpc>
                <a:spcPct val="90000"/>
              </a:lnSpc>
              <a:spcBef>
                <a:spcPct val="20000"/>
              </a:spcBef>
              <a:buClr>
                <a:srgbClr val="101141"/>
              </a:buClr>
              <a:buFont typeface="Courier New" pitchFamily="49" charset="0"/>
              <a:buChar char="o"/>
            </a:pPr>
            <a:r>
              <a:rPr lang="en-IN" sz="1700" dirty="0" smtClean="0">
                <a:cs typeface="Arial" pitchFamily="34" charset="0"/>
              </a:rPr>
              <a:t>Many implementation variants – higher probability of errors and compatibility issues.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fontScale="70000" lnSpcReduction="20000"/>
          </a:bodyPr>
          <a:lstStyle/>
          <a:p>
            <a:pPr indent="0">
              <a:lnSpc>
                <a:spcPct val="120000"/>
              </a:lnSpc>
            </a:pPr>
            <a:r>
              <a:rPr lang="en-IN" sz="5800" dirty="0" smtClean="0"/>
              <a:t>E-Mail System Architecture</a:t>
            </a:r>
          </a:p>
          <a:p>
            <a:pPr indent="0">
              <a:lnSpc>
                <a:spcPct val="120000"/>
              </a:lnSpc>
            </a:pPr>
            <a:r>
              <a:rPr lang="en-IN" sz="3200" dirty="0" smtClean="0"/>
              <a:t>Internet Based E-Mail Architecture - Reference </a:t>
            </a:r>
            <a:r>
              <a:rPr lang="en-IN" sz="3200" dirty="0" smtClean="0">
                <a:hlinkClick r:id="rId2"/>
              </a:rPr>
              <a:t>IETF RFC -5598</a:t>
            </a:r>
            <a:endParaRPr lang="en-IN" sz="32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23</a:t>
            </a:fld>
            <a:endParaRPr lang="en-US" dirty="0"/>
          </a:p>
        </p:txBody>
      </p:sp>
      <p:sp>
        <p:nvSpPr>
          <p:cNvPr id="51" name="Content Placeholder 2"/>
          <p:cNvSpPr>
            <a:spLocks noGrp="1"/>
          </p:cNvSpPr>
          <p:nvPr>
            <p:ph sz="half" idx="4294967295"/>
          </p:nvPr>
        </p:nvSpPr>
        <p:spPr>
          <a:xfrm>
            <a:off x="4427984" y="1340768"/>
            <a:ext cx="4563616" cy="5184576"/>
          </a:xfrm>
          <a:prstGeom prst="rect">
            <a:avLst/>
          </a:prstGeom>
        </p:spPr>
        <p:txBody>
          <a:bodyPr>
            <a:normAutofit lnSpcReduction="10000"/>
          </a:bodyPr>
          <a:lstStyle/>
          <a:p>
            <a:pPr algn="just"/>
            <a:r>
              <a:rPr lang="en-IN" sz="1600" b="1" dirty="0" smtClean="0">
                <a:latin typeface="+mn-lt"/>
              </a:rPr>
              <a:t>Message User Agent (MUA):</a:t>
            </a:r>
            <a:r>
              <a:rPr lang="en-IN" sz="1600" dirty="0" smtClean="0">
                <a:latin typeface="+mn-lt"/>
              </a:rPr>
              <a:t> A client user program for formatting, submission and reception of emails.</a:t>
            </a:r>
          </a:p>
          <a:p>
            <a:pPr algn="just"/>
            <a:r>
              <a:rPr lang="en-IN" sz="1600" b="1" dirty="0" smtClean="0">
                <a:latin typeface="+mn-lt"/>
              </a:rPr>
              <a:t>Message Submission Agent (MSA):</a:t>
            </a:r>
            <a:r>
              <a:rPr lang="en-IN" sz="1600" dirty="0" smtClean="0">
                <a:latin typeface="+mn-lt"/>
              </a:rPr>
              <a:t> May be co-located with MUA. Enforces the policies of hosting domain and performs sanity checks.</a:t>
            </a:r>
          </a:p>
          <a:p>
            <a:pPr algn="just"/>
            <a:r>
              <a:rPr lang="en-IN" sz="1600" b="1" dirty="0" smtClean="0">
                <a:latin typeface="+mn-lt"/>
              </a:rPr>
              <a:t>Message Transfer Agent (MTA):</a:t>
            </a:r>
            <a:r>
              <a:rPr lang="en-IN" sz="1600" dirty="0" smtClean="0">
                <a:latin typeface="+mn-lt"/>
              </a:rPr>
              <a:t> It is kind of a router/forwarder for the emails over the internet. Act as relays until an email reaches to the destination delivery agent.</a:t>
            </a:r>
          </a:p>
          <a:p>
            <a:pPr algn="just"/>
            <a:r>
              <a:rPr lang="en-IN" sz="1600" b="1" dirty="0" smtClean="0">
                <a:latin typeface="+mn-lt"/>
              </a:rPr>
              <a:t>Message Delivery Agent (MDA):</a:t>
            </a:r>
            <a:r>
              <a:rPr lang="en-IN" sz="1600" dirty="0" smtClean="0">
                <a:latin typeface="+mn-lt"/>
              </a:rPr>
              <a:t> It delivers the email to the message store.</a:t>
            </a:r>
          </a:p>
          <a:p>
            <a:pPr algn="just"/>
            <a:r>
              <a:rPr lang="en-IN" sz="1600" b="1" dirty="0" smtClean="0">
                <a:latin typeface="+mn-lt"/>
              </a:rPr>
              <a:t>Message Store (MS):</a:t>
            </a:r>
            <a:r>
              <a:rPr lang="en-IN" sz="1600" dirty="0" smtClean="0">
                <a:latin typeface="+mn-lt"/>
              </a:rPr>
              <a:t> A server which stores the emails for the users.</a:t>
            </a:r>
          </a:p>
          <a:p>
            <a:pPr algn="just"/>
            <a:r>
              <a:rPr lang="en-IN" sz="1600" b="1" dirty="0" smtClean="0">
                <a:latin typeface="+mn-lt"/>
              </a:rPr>
              <a:t>SMTP (Simple Mail Transfer Protocol):</a:t>
            </a:r>
            <a:r>
              <a:rPr lang="en-IN" sz="1600" dirty="0" smtClean="0">
                <a:latin typeface="+mn-lt"/>
              </a:rPr>
              <a:t> The protocol used for email delivery. Defined in </a:t>
            </a:r>
            <a:r>
              <a:rPr lang="en-IN" sz="1600" dirty="0" smtClean="0">
                <a:latin typeface="+mn-lt"/>
                <a:hlinkClick r:id="rId3"/>
              </a:rPr>
              <a:t>RFC-2821</a:t>
            </a:r>
            <a:r>
              <a:rPr lang="en-IN" sz="1600" u="sng" dirty="0" smtClean="0">
                <a:latin typeface="+mn-lt"/>
                <a:hlinkClick r:id="rId3"/>
              </a:rPr>
              <a:t> </a:t>
            </a:r>
            <a:r>
              <a:rPr lang="en-IN" sz="1600" dirty="0" smtClean="0">
                <a:latin typeface="+mn-lt"/>
              </a:rPr>
              <a:t>(Obsoletes: 821).</a:t>
            </a:r>
          </a:p>
          <a:p>
            <a:pPr algn="just"/>
            <a:r>
              <a:rPr lang="en-IN" sz="1600" b="1" dirty="0" smtClean="0">
                <a:latin typeface="+mn-lt"/>
              </a:rPr>
              <a:t>IMAP (Internet Message Access Protocol)/  POP(Post Office Protocol):</a:t>
            </a:r>
            <a:r>
              <a:rPr lang="en-IN" sz="1600" dirty="0" smtClean="0">
                <a:latin typeface="+mn-lt"/>
              </a:rPr>
              <a:t>  MUA retrieves messages from MS using it.</a:t>
            </a:r>
            <a:endParaRPr lang="en-IN" sz="1600" dirty="0">
              <a:latin typeface="+mn-lt"/>
            </a:endParaRPr>
          </a:p>
        </p:txBody>
      </p:sp>
      <p:grpSp>
        <p:nvGrpSpPr>
          <p:cNvPr id="2" name="Group 37"/>
          <p:cNvGrpSpPr/>
          <p:nvPr/>
        </p:nvGrpSpPr>
        <p:grpSpPr>
          <a:xfrm>
            <a:off x="251520" y="1844824"/>
            <a:ext cx="4176464" cy="4545394"/>
            <a:chOff x="251520" y="1844824"/>
            <a:chExt cx="4176464" cy="4545394"/>
          </a:xfrm>
        </p:grpSpPr>
        <p:grpSp>
          <p:nvGrpSpPr>
            <p:cNvPr id="7" name="Group 60"/>
            <p:cNvGrpSpPr/>
            <p:nvPr/>
          </p:nvGrpSpPr>
          <p:grpSpPr>
            <a:xfrm>
              <a:off x="323528" y="3266400"/>
              <a:ext cx="1512168" cy="1170712"/>
              <a:chOff x="323528" y="3266400"/>
              <a:chExt cx="1512168" cy="1170712"/>
            </a:xfrm>
          </p:grpSpPr>
          <p:sp>
            <p:nvSpPr>
              <p:cNvPr id="6" name="TextBox 5"/>
              <p:cNvSpPr txBox="1"/>
              <p:nvPr/>
            </p:nvSpPr>
            <p:spPr>
              <a:xfrm>
                <a:off x="323528" y="3266400"/>
                <a:ext cx="1512168" cy="738664"/>
              </a:xfrm>
              <a:prstGeom prst="rect">
                <a:avLst/>
              </a:prstGeom>
              <a:solidFill>
                <a:srgbClr val="00B0F0"/>
              </a:solidFill>
              <a:ln w="6350">
                <a:solidFill>
                  <a:schemeClr val="tx1"/>
                </a:solidFill>
              </a:ln>
            </p:spPr>
            <p:txBody>
              <a:bodyPr wrap="square" rtlCol="0">
                <a:spAutoFit/>
              </a:bodyPr>
              <a:lstStyle/>
              <a:p>
                <a:pPr algn="ctr"/>
                <a:r>
                  <a:rPr lang="en-IN" sz="1400" b="1" dirty="0" smtClean="0"/>
                  <a:t>Message Submission Agent</a:t>
                </a:r>
              </a:p>
              <a:p>
                <a:pPr algn="ctr"/>
                <a:r>
                  <a:rPr lang="en-IN" sz="1400" b="1" dirty="0" smtClean="0"/>
                  <a:t>(MSA)</a:t>
                </a:r>
                <a:endParaRPr lang="en-IN" sz="1400" b="1" dirty="0"/>
              </a:p>
            </p:txBody>
          </p:sp>
          <p:cxnSp>
            <p:nvCxnSpPr>
              <p:cNvPr id="16" name="Straight Arrow Connector 15"/>
              <p:cNvCxnSpPr>
                <a:stCxn id="5" idx="0"/>
                <a:endCxn id="6" idx="2"/>
              </p:cNvCxnSpPr>
              <p:nvPr/>
            </p:nvCxnSpPr>
            <p:spPr>
              <a:xfrm flipV="1">
                <a:off x="1079612" y="4005064"/>
                <a:ext cx="0" cy="4320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9" name="Group 61"/>
            <p:cNvGrpSpPr/>
            <p:nvPr/>
          </p:nvGrpSpPr>
          <p:grpSpPr>
            <a:xfrm>
              <a:off x="395536" y="2060848"/>
              <a:ext cx="1440160" cy="1205552"/>
              <a:chOff x="395536" y="2060848"/>
              <a:chExt cx="1440160" cy="1205552"/>
            </a:xfrm>
          </p:grpSpPr>
          <p:sp>
            <p:nvSpPr>
              <p:cNvPr id="8" name="TextBox 7"/>
              <p:cNvSpPr txBox="1"/>
              <p:nvPr/>
            </p:nvSpPr>
            <p:spPr>
              <a:xfrm>
                <a:off x="395536" y="2060848"/>
                <a:ext cx="1440160" cy="738664"/>
              </a:xfrm>
              <a:prstGeom prst="rect">
                <a:avLst/>
              </a:prstGeom>
              <a:solidFill>
                <a:srgbClr val="00B0F0"/>
              </a:solidFill>
              <a:ln w="6350">
                <a:solidFill>
                  <a:schemeClr val="tx1"/>
                </a:solidFill>
              </a:ln>
            </p:spPr>
            <p:txBody>
              <a:bodyPr wrap="square" rtlCol="0">
                <a:spAutoFit/>
              </a:bodyPr>
              <a:lstStyle/>
              <a:p>
                <a:pPr algn="ctr"/>
                <a:r>
                  <a:rPr lang="en-IN" sz="1400" b="1" dirty="0" smtClean="0"/>
                  <a:t>Message Transfer Agent (MTA)</a:t>
                </a:r>
                <a:endParaRPr lang="en-IN" sz="1400" b="1" dirty="0"/>
              </a:p>
            </p:txBody>
          </p:sp>
          <p:cxnSp>
            <p:nvCxnSpPr>
              <p:cNvPr id="20" name="Straight Arrow Connector 19"/>
              <p:cNvCxnSpPr/>
              <p:nvPr/>
            </p:nvCxnSpPr>
            <p:spPr>
              <a:xfrm flipV="1">
                <a:off x="1115616" y="2780928"/>
                <a:ext cx="0" cy="48547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5" name="Group 62"/>
            <p:cNvGrpSpPr/>
            <p:nvPr/>
          </p:nvGrpSpPr>
          <p:grpSpPr>
            <a:xfrm>
              <a:off x="1835696" y="2060848"/>
              <a:ext cx="2376264" cy="738664"/>
              <a:chOff x="1835696" y="2060848"/>
              <a:chExt cx="2376264" cy="738664"/>
            </a:xfrm>
          </p:grpSpPr>
          <p:sp>
            <p:nvSpPr>
              <p:cNvPr id="10" name="TextBox 9"/>
              <p:cNvSpPr txBox="1"/>
              <p:nvPr/>
            </p:nvSpPr>
            <p:spPr>
              <a:xfrm>
                <a:off x="2771800" y="2060848"/>
                <a:ext cx="1440160" cy="738664"/>
              </a:xfrm>
              <a:prstGeom prst="rect">
                <a:avLst/>
              </a:prstGeom>
              <a:solidFill>
                <a:srgbClr val="00B0F0"/>
              </a:solidFill>
              <a:ln w="6350">
                <a:solidFill>
                  <a:schemeClr val="tx1"/>
                </a:solidFill>
              </a:ln>
            </p:spPr>
            <p:txBody>
              <a:bodyPr wrap="square" rtlCol="0">
                <a:spAutoFit/>
              </a:bodyPr>
              <a:lstStyle/>
              <a:p>
                <a:pPr algn="ctr"/>
                <a:r>
                  <a:rPr lang="en-IN" sz="1400" b="1" dirty="0" smtClean="0"/>
                  <a:t>Message Transfer Agent (MTA)</a:t>
                </a:r>
                <a:endParaRPr lang="en-IN" sz="1400" b="1" dirty="0"/>
              </a:p>
            </p:txBody>
          </p:sp>
          <p:cxnSp>
            <p:nvCxnSpPr>
              <p:cNvPr id="30" name="Straight Arrow Connector 29"/>
              <p:cNvCxnSpPr>
                <a:stCxn id="8" idx="3"/>
                <a:endCxn id="10" idx="1"/>
              </p:cNvCxnSpPr>
              <p:nvPr/>
            </p:nvCxnSpPr>
            <p:spPr>
              <a:xfrm>
                <a:off x="1835696" y="2430180"/>
                <a:ext cx="936104"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grpSp>
        <p:grpSp>
          <p:nvGrpSpPr>
            <p:cNvPr id="17" name="Group 69"/>
            <p:cNvGrpSpPr/>
            <p:nvPr/>
          </p:nvGrpSpPr>
          <p:grpSpPr>
            <a:xfrm>
              <a:off x="2771800" y="2799512"/>
              <a:ext cx="1440160" cy="1637600"/>
              <a:chOff x="2771800" y="2799512"/>
              <a:chExt cx="1440160" cy="1637600"/>
            </a:xfrm>
          </p:grpSpPr>
          <p:grpSp>
            <p:nvGrpSpPr>
              <p:cNvPr id="18" name="Group 63"/>
              <p:cNvGrpSpPr/>
              <p:nvPr/>
            </p:nvGrpSpPr>
            <p:grpSpPr>
              <a:xfrm>
                <a:off x="2771800" y="2799512"/>
                <a:ext cx="1440160" cy="1152128"/>
                <a:chOff x="2771800" y="2799512"/>
                <a:chExt cx="1440160" cy="1152128"/>
              </a:xfrm>
            </p:grpSpPr>
            <p:sp>
              <p:nvSpPr>
                <p:cNvPr id="11" name="TextBox 10"/>
                <p:cNvSpPr txBox="1"/>
                <p:nvPr/>
              </p:nvSpPr>
              <p:spPr>
                <a:xfrm>
                  <a:off x="2771800" y="3212976"/>
                  <a:ext cx="1440160" cy="738664"/>
                </a:xfrm>
                <a:prstGeom prst="rect">
                  <a:avLst/>
                </a:prstGeom>
                <a:solidFill>
                  <a:srgbClr val="00B0F0"/>
                </a:solidFill>
                <a:ln w="6350">
                  <a:solidFill>
                    <a:schemeClr val="tx1"/>
                  </a:solidFill>
                </a:ln>
              </p:spPr>
              <p:txBody>
                <a:bodyPr wrap="square" rtlCol="0">
                  <a:spAutoFit/>
                </a:bodyPr>
                <a:lstStyle/>
                <a:p>
                  <a:pPr algn="ctr"/>
                  <a:r>
                    <a:rPr lang="en-IN" sz="1400" b="1" dirty="0" smtClean="0"/>
                    <a:t>Message Delivery Agent (MDA)</a:t>
                  </a:r>
                  <a:endParaRPr lang="en-IN" sz="1400" b="1" dirty="0"/>
                </a:p>
              </p:txBody>
            </p:sp>
            <p:cxnSp>
              <p:nvCxnSpPr>
                <p:cNvPr id="32" name="Straight Arrow Connector 31"/>
                <p:cNvCxnSpPr>
                  <a:stCxn id="10" idx="2"/>
                  <a:endCxn id="11" idx="0"/>
                </p:cNvCxnSpPr>
                <p:nvPr/>
              </p:nvCxnSpPr>
              <p:spPr>
                <a:xfrm>
                  <a:off x="3491880" y="2799512"/>
                  <a:ext cx="0" cy="41346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34" name="Straight Arrow Connector 33"/>
              <p:cNvCxnSpPr>
                <a:stCxn id="11" idx="2"/>
                <a:endCxn id="12" idx="0"/>
              </p:cNvCxnSpPr>
              <p:nvPr/>
            </p:nvCxnSpPr>
            <p:spPr>
              <a:xfrm>
                <a:off x="3491880" y="3951640"/>
                <a:ext cx="0" cy="48547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9" name="Group 64"/>
            <p:cNvGrpSpPr/>
            <p:nvPr/>
          </p:nvGrpSpPr>
          <p:grpSpPr>
            <a:xfrm>
              <a:off x="2771800" y="4437112"/>
              <a:ext cx="1440160" cy="864096"/>
              <a:chOff x="2771800" y="4437112"/>
              <a:chExt cx="1440160" cy="864096"/>
            </a:xfrm>
          </p:grpSpPr>
          <p:sp>
            <p:nvSpPr>
              <p:cNvPr id="12" name="TextBox 11"/>
              <p:cNvSpPr txBox="1"/>
              <p:nvPr/>
            </p:nvSpPr>
            <p:spPr>
              <a:xfrm>
                <a:off x="2771800" y="4437112"/>
                <a:ext cx="1440160" cy="523220"/>
              </a:xfrm>
              <a:prstGeom prst="rect">
                <a:avLst/>
              </a:prstGeom>
              <a:solidFill>
                <a:srgbClr val="FFFF00"/>
              </a:solidFill>
              <a:ln w="6350">
                <a:solidFill>
                  <a:schemeClr val="tx1"/>
                </a:solidFill>
              </a:ln>
            </p:spPr>
            <p:txBody>
              <a:bodyPr wrap="square" rtlCol="0">
                <a:spAutoFit/>
              </a:bodyPr>
              <a:lstStyle/>
              <a:p>
                <a:pPr algn="ctr"/>
                <a:r>
                  <a:rPr lang="en-IN" sz="1400" b="1" dirty="0" smtClean="0"/>
                  <a:t>Message Store(MS)</a:t>
                </a:r>
                <a:endParaRPr lang="en-IN" sz="1400" b="1" dirty="0"/>
              </a:p>
            </p:txBody>
          </p:sp>
          <p:cxnSp>
            <p:nvCxnSpPr>
              <p:cNvPr id="36" name="Straight Arrow Connector 35"/>
              <p:cNvCxnSpPr>
                <a:stCxn id="12" idx="2"/>
                <a:endCxn id="13" idx="0"/>
              </p:cNvCxnSpPr>
              <p:nvPr/>
            </p:nvCxnSpPr>
            <p:spPr>
              <a:xfrm>
                <a:off x="3491880" y="4960332"/>
                <a:ext cx="0" cy="34087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21" name="Group 68"/>
            <p:cNvGrpSpPr/>
            <p:nvPr/>
          </p:nvGrpSpPr>
          <p:grpSpPr>
            <a:xfrm>
              <a:off x="251520" y="1844824"/>
              <a:ext cx="4032448" cy="2304256"/>
              <a:chOff x="251520" y="1844824"/>
              <a:chExt cx="4032448" cy="2304256"/>
            </a:xfrm>
            <a:noFill/>
          </p:grpSpPr>
          <p:sp>
            <p:nvSpPr>
              <p:cNvPr id="14" name="Rectangle 13"/>
              <p:cNvSpPr/>
              <p:nvPr/>
            </p:nvSpPr>
            <p:spPr>
              <a:xfrm>
                <a:off x="251520" y="1844824"/>
                <a:ext cx="4032448" cy="2304256"/>
              </a:xfrm>
              <a:prstGeom prst="rect">
                <a:avLst/>
              </a:prstGeom>
              <a:grpFill/>
              <a:ln w="2540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7" name="TextBox 36"/>
              <p:cNvSpPr txBox="1"/>
              <p:nvPr/>
            </p:nvSpPr>
            <p:spPr>
              <a:xfrm>
                <a:off x="1907704" y="3212976"/>
                <a:ext cx="936104" cy="830997"/>
              </a:xfrm>
              <a:prstGeom prst="rect">
                <a:avLst/>
              </a:prstGeom>
              <a:grpFill/>
              <a:ln w="6350">
                <a:noFill/>
              </a:ln>
            </p:spPr>
            <p:txBody>
              <a:bodyPr wrap="square" rtlCol="0">
                <a:spAutoFit/>
              </a:bodyPr>
              <a:lstStyle/>
              <a:p>
                <a:pPr algn="ctr"/>
                <a:r>
                  <a:rPr lang="en-IN" sz="1200" b="1" dirty="0" smtClean="0"/>
                  <a:t>Message Handling System (MHS)</a:t>
                </a:r>
                <a:endParaRPr lang="en-IN" sz="1200" b="1" dirty="0"/>
              </a:p>
            </p:txBody>
          </p:sp>
        </p:grpSp>
        <p:grpSp>
          <p:nvGrpSpPr>
            <p:cNvPr id="22" name="Group 59"/>
            <p:cNvGrpSpPr/>
            <p:nvPr/>
          </p:nvGrpSpPr>
          <p:grpSpPr>
            <a:xfrm>
              <a:off x="323528" y="4437112"/>
              <a:ext cx="1512168" cy="1089010"/>
              <a:chOff x="323528" y="4437112"/>
              <a:chExt cx="1512168" cy="1089010"/>
            </a:xfrm>
          </p:grpSpPr>
          <p:sp>
            <p:nvSpPr>
              <p:cNvPr id="5" name="TextBox 4"/>
              <p:cNvSpPr txBox="1"/>
              <p:nvPr/>
            </p:nvSpPr>
            <p:spPr>
              <a:xfrm>
                <a:off x="323528" y="4437112"/>
                <a:ext cx="1512168" cy="523220"/>
              </a:xfrm>
              <a:prstGeom prst="rect">
                <a:avLst/>
              </a:prstGeom>
              <a:solidFill>
                <a:srgbClr val="FFFF00"/>
              </a:solidFill>
              <a:ln w="6350">
                <a:solidFill>
                  <a:schemeClr val="tx1"/>
                </a:solidFill>
              </a:ln>
            </p:spPr>
            <p:txBody>
              <a:bodyPr wrap="square" rtlCol="0">
                <a:spAutoFit/>
              </a:bodyPr>
              <a:lstStyle/>
              <a:p>
                <a:pPr algn="ctr"/>
                <a:r>
                  <a:rPr lang="en-IN" sz="1400" b="1" dirty="0" smtClean="0"/>
                  <a:t>Message User Agent(MUA)</a:t>
                </a:r>
                <a:endParaRPr lang="en-IN" sz="1400" b="1" dirty="0"/>
              </a:p>
            </p:txBody>
          </p:sp>
          <p:pic>
            <p:nvPicPr>
              <p:cNvPr id="48" name="Picture 12" descr="http://images.clipartpanda.com/human-clip-art-human-vector-buddy-icon-symbol-clip-art-434427-picture-243x248.jpg"/>
              <p:cNvPicPr>
                <a:picLocks noChangeAspect="1" noChangeArrowheads="1"/>
              </p:cNvPicPr>
              <p:nvPr/>
            </p:nvPicPr>
            <p:blipFill>
              <a:blip r:embed="rId4" cstate="print"/>
              <a:srcRect/>
              <a:stretch>
                <a:fillRect/>
              </a:stretch>
            </p:blipFill>
            <p:spPr bwMode="auto">
              <a:xfrm>
                <a:off x="827584" y="5085184"/>
                <a:ext cx="432048" cy="440938"/>
              </a:xfrm>
              <a:prstGeom prst="rect">
                <a:avLst/>
              </a:prstGeom>
              <a:noFill/>
            </p:spPr>
          </p:pic>
        </p:grpSp>
        <p:grpSp>
          <p:nvGrpSpPr>
            <p:cNvPr id="23" name="Group 65"/>
            <p:cNvGrpSpPr/>
            <p:nvPr/>
          </p:nvGrpSpPr>
          <p:grpSpPr>
            <a:xfrm>
              <a:off x="2771800" y="5301208"/>
              <a:ext cx="1440160" cy="1089010"/>
              <a:chOff x="2771800" y="5301208"/>
              <a:chExt cx="1440160" cy="1089010"/>
            </a:xfrm>
          </p:grpSpPr>
          <p:sp>
            <p:nvSpPr>
              <p:cNvPr id="13" name="TextBox 12"/>
              <p:cNvSpPr txBox="1"/>
              <p:nvPr/>
            </p:nvSpPr>
            <p:spPr>
              <a:xfrm>
                <a:off x="2771800" y="5301208"/>
                <a:ext cx="1440160" cy="523220"/>
              </a:xfrm>
              <a:prstGeom prst="rect">
                <a:avLst/>
              </a:prstGeom>
              <a:solidFill>
                <a:srgbClr val="FFFF00"/>
              </a:solidFill>
              <a:ln w="6350">
                <a:solidFill>
                  <a:schemeClr val="tx1"/>
                </a:solidFill>
              </a:ln>
            </p:spPr>
            <p:txBody>
              <a:bodyPr wrap="square" rtlCol="0">
                <a:spAutoFit/>
              </a:bodyPr>
              <a:lstStyle/>
              <a:p>
                <a:pPr algn="ctr"/>
                <a:r>
                  <a:rPr lang="en-IN" sz="1400" b="1" dirty="0" smtClean="0"/>
                  <a:t>Message User Agent (MUA)</a:t>
                </a:r>
                <a:endParaRPr lang="en-IN" sz="1400" b="1" dirty="0"/>
              </a:p>
            </p:txBody>
          </p:sp>
          <p:pic>
            <p:nvPicPr>
              <p:cNvPr id="49" name="Picture 12" descr="http://images.clipartpanda.com/human-clip-art-human-vector-buddy-icon-symbol-clip-art-434427-picture-243x248.jpg"/>
              <p:cNvPicPr>
                <a:picLocks noChangeAspect="1" noChangeArrowheads="1"/>
              </p:cNvPicPr>
              <p:nvPr/>
            </p:nvPicPr>
            <p:blipFill>
              <a:blip r:embed="rId4" cstate="print"/>
              <a:srcRect/>
              <a:stretch>
                <a:fillRect/>
              </a:stretch>
            </p:blipFill>
            <p:spPr bwMode="auto">
              <a:xfrm>
                <a:off x="3275856" y="5949280"/>
                <a:ext cx="432048" cy="440938"/>
              </a:xfrm>
              <a:prstGeom prst="rect">
                <a:avLst/>
              </a:prstGeom>
              <a:noFill/>
            </p:spPr>
          </p:pic>
        </p:grpSp>
        <p:grpSp>
          <p:nvGrpSpPr>
            <p:cNvPr id="24" name="Group 67"/>
            <p:cNvGrpSpPr/>
            <p:nvPr/>
          </p:nvGrpSpPr>
          <p:grpSpPr>
            <a:xfrm>
              <a:off x="1115616" y="2564904"/>
              <a:ext cx="3240360" cy="1872208"/>
              <a:chOff x="1115616" y="2564904"/>
              <a:chExt cx="3240360" cy="1872208"/>
            </a:xfrm>
          </p:grpSpPr>
          <p:sp>
            <p:nvSpPr>
              <p:cNvPr id="52" name="TextBox 51"/>
              <p:cNvSpPr txBox="1"/>
              <p:nvPr/>
            </p:nvSpPr>
            <p:spPr>
              <a:xfrm>
                <a:off x="1115616" y="4175502"/>
                <a:ext cx="792088" cy="261610"/>
              </a:xfrm>
              <a:prstGeom prst="rect">
                <a:avLst/>
              </a:prstGeom>
              <a:noFill/>
            </p:spPr>
            <p:txBody>
              <a:bodyPr wrap="square" rtlCol="0">
                <a:spAutoFit/>
              </a:bodyPr>
              <a:lstStyle/>
              <a:p>
                <a:pPr algn="ctr"/>
                <a:r>
                  <a:rPr lang="en-IN" sz="1100" b="1" dirty="0" smtClean="0"/>
                  <a:t>SMTP</a:t>
                </a:r>
                <a:endParaRPr lang="en-IN" sz="1100" b="1" dirty="0"/>
              </a:p>
            </p:txBody>
          </p:sp>
          <p:sp>
            <p:nvSpPr>
              <p:cNvPr id="55" name="TextBox 54"/>
              <p:cNvSpPr txBox="1"/>
              <p:nvPr/>
            </p:nvSpPr>
            <p:spPr>
              <a:xfrm>
                <a:off x="1115616" y="2924944"/>
                <a:ext cx="792088" cy="261610"/>
              </a:xfrm>
              <a:prstGeom prst="rect">
                <a:avLst/>
              </a:prstGeom>
              <a:noFill/>
            </p:spPr>
            <p:txBody>
              <a:bodyPr wrap="square" rtlCol="0">
                <a:spAutoFit/>
              </a:bodyPr>
              <a:lstStyle/>
              <a:p>
                <a:pPr algn="ctr"/>
                <a:r>
                  <a:rPr lang="en-IN" sz="1100" b="1" dirty="0" smtClean="0"/>
                  <a:t>SMTP</a:t>
                </a:r>
                <a:endParaRPr lang="en-IN" sz="1100" b="1" dirty="0"/>
              </a:p>
            </p:txBody>
          </p:sp>
          <p:sp>
            <p:nvSpPr>
              <p:cNvPr id="56" name="TextBox 55"/>
              <p:cNvSpPr txBox="1"/>
              <p:nvPr/>
            </p:nvSpPr>
            <p:spPr>
              <a:xfrm>
                <a:off x="1979712" y="2564904"/>
                <a:ext cx="792088" cy="261610"/>
              </a:xfrm>
              <a:prstGeom prst="rect">
                <a:avLst/>
              </a:prstGeom>
              <a:noFill/>
            </p:spPr>
            <p:txBody>
              <a:bodyPr wrap="square" rtlCol="0">
                <a:spAutoFit/>
              </a:bodyPr>
              <a:lstStyle/>
              <a:p>
                <a:pPr algn="ctr"/>
                <a:r>
                  <a:rPr lang="en-IN" sz="1100" b="1" dirty="0" smtClean="0"/>
                  <a:t>SMTP</a:t>
                </a:r>
                <a:endParaRPr lang="en-IN" sz="1100" b="1" dirty="0"/>
              </a:p>
            </p:txBody>
          </p:sp>
          <p:sp>
            <p:nvSpPr>
              <p:cNvPr id="57" name="TextBox 56"/>
              <p:cNvSpPr txBox="1"/>
              <p:nvPr/>
            </p:nvSpPr>
            <p:spPr>
              <a:xfrm>
                <a:off x="3563888" y="2852936"/>
                <a:ext cx="792088" cy="261610"/>
              </a:xfrm>
              <a:prstGeom prst="rect">
                <a:avLst/>
              </a:prstGeom>
              <a:noFill/>
            </p:spPr>
            <p:txBody>
              <a:bodyPr wrap="square" rtlCol="0">
                <a:spAutoFit/>
              </a:bodyPr>
              <a:lstStyle/>
              <a:p>
                <a:pPr algn="ctr"/>
                <a:r>
                  <a:rPr lang="en-IN" sz="1100" b="1" dirty="0" smtClean="0"/>
                  <a:t>SMTP</a:t>
                </a:r>
                <a:endParaRPr lang="en-IN" sz="1100" b="1" dirty="0"/>
              </a:p>
            </p:txBody>
          </p:sp>
          <p:sp>
            <p:nvSpPr>
              <p:cNvPr id="58" name="TextBox 57"/>
              <p:cNvSpPr txBox="1"/>
              <p:nvPr/>
            </p:nvSpPr>
            <p:spPr>
              <a:xfrm>
                <a:off x="3563888" y="4175502"/>
                <a:ext cx="792088" cy="261610"/>
              </a:xfrm>
              <a:prstGeom prst="rect">
                <a:avLst/>
              </a:prstGeom>
              <a:noFill/>
            </p:spPr>
            <p:txBody>
              <a:bodyPr wrap="square" rtlCol="0">
                <a:spAutoFit/>
              </a:bodyPr>
              <a:lstStyle/>
              <a:p>
                <a:pPr algn="ctr"/>
                <a:r>
                  <a:rPr lang="en-IN" sz="1100" b="1" dirty="0" smtClean="0"/>
                  <a:t>SMTP</a:t>
                </a:r>
                <a:endParaRPr lang="en-IN" sz="1100" b="1" dirty="0"/>
              </a:p>
            </p:txBody>
          </p:sp>
        </p:grpSp>
        <p:sp>
          <p:nvSpPr>
            <p:cNvPr id="59" name="TextBox 58"/>
            <p:cNvSpPr txBox="1"/>
            <p:nvPr/>
          </p:nvSpPr>
          <p:spPr>
            <a:xfrm>
              <a:off x="3563888" y="5013176"/>
              <a:ext cx="864096" cy="261610"/>
            </a:xfrm>
            <a:prstGeom prst="rect">
              <a:avLst/>
            </a:prstGeom>
            <a:noFill/>
          </p:spPr>
          <p:txBody>
            <a:bodyPr wrap="square" rtlCol="0">
              <a:spAutoFit/>
            </a:bodyPr>
            <a:lstStyle/>
            <a:p>
              <a:pPr algn="ctr"/>
              <a:r>
                <a:rPr lang="en-IN" sz="1100" b="1" dirty="0" smtClean="0"/>
                <a:t>IMAP/POP</a:t>
              </a:r>
              <a:endParaRPr lang="en-IN" sz="11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6859488" cy="4525963"/>
          </a:xfrm>
        </p:spPr>
        <p:txBody>
          <a:bodyPr>
            <a:noAutofit/>
          </a:bodyPr>
          <a:lstStyle/>
          <a:p>
            <a:pPr marL="514350" lvl="1" indent="-514350" algn="just">
              <a:lnSpc>
                <a:spcPct val="110000"/>
              </a:lnSpc>
              <a:buClr>
                <a:srgbClr val="101141"/>
              </a:buClr>
              <a:buFont typeface="Wingdings" pitchFamily="2" charset="2"/>
              <a:buChar char="§"/>
            </a:pPr>
            <a:r>
              <a:rPr lang="en-IN" sz="1800" dirty="0" smtClean="0"/>
              <a:t>It is created by </a:t>
            </a:r>
            <a:r>
              <a:rPr lang="en-IN" sz="1800" dirty="0" smtClean="0">
                <a:hlinkClick r:id="rId2"/>
              </a:rPr>
              <a:t>Phillip R. Zimmermann</a:t>
            </a:r>
            <a:r>
              <a:rPr lang="en-IN" sz="1800" dirty="0" smtClean="0"/>
              <a:t>. He is a member and leading advisor with many universities, Internet and security research groups.</a:t>
            </a:r>
          </a:p>
          <a:p>
            <a:pPr marL="514350" lvl="1" indent="-514350" algn="just">
              <a:lnSpc>
                <a:spcPct val="110000"/>
              </a:lnSpc>
              <a:buClr>
                <a:srgbClr val="101141"/>
              </a:buClr>
              <a:buFont typeface="Wingdings" pitchFamily="2" charset="2"/>
              <a:buChar char="§"/>
            </a:pPr>
            <a:r>
              <a:rPr lang="en-IN" sz="1800" dirty="0" smtClean="0"/>
              <a:t>It provides protection from Confidentiality and Integrity attacks on E-Mails and file storage applications.</a:t>
            </a:r>
          </a:p>
          <a:p>
            <a:pPr marL="514350" lvl="1" indent="-514350" algn="just">
              <a:lnSpc>
                <a:spcPct val="110000"/>
              </a:lnSpc>
              <a:buClr>
                <a:srgbClr val="101141"/>
              </a:buClr>
              <a:buFont typeface="Wingdings" pitchFamily="2" charset="2"/>
              <a:buChar char="§"/>
            </a:pPr>
            <a:r>
              <a:rPr lang="en-IN" sz="1800" dirty="0" smtClean="0"/>
              <a:t>First published on the Internet in 1991.</a:t>
            </a:r>
          </a:p>
          <a:p>
            <a:pPr marL="514350" lvl="1" indent="-514350" algn="just">
              <a:lnSpc>
                <a:spcPct val="110000"/>
              </a:lnSpc>
              <a:buClr>
                <a:srgbClr val="101141"/>
              </a:buClr>
              <a:buFont typeface="Wingdings" pitchFamily="2" charset="2"/>
              <a:buChar char="§"/>
            </a:pPr>
            <a:r>
              <a:rPr lang="en-IN" sz="1800" dirty="0" smtClean="0"/>
              <a:t>PGP source code can be downloaded from </a:t>
            </a:r>
            <a:r>
              <a:rPr lang="en-IN" sz="1800" dirty="0" smtClean="0">
                <a:hlinkClick r:id="rId3"/>
              </a:rPr>
              <a:t>http://www.pgpi.org/</a:t>
            </a:r>
            <a:r>
              <a:rPr lang="en-IN" sz="1800" dirty="0" smtClean="0"/>
              <a:t> for various operating systems.</a:t>
            </a:r>
          </a:p>
          <a:p>
            <a:pPr marL="514350" lvl="1" indent="-514350" algn="just">
              <a:lnSpc>
                <a:spcPct val="110000"/>
              </a:lnSpc>
              <a:buClr>
                <a:srgbClr val="101141"/>
              </a:buClr>
              <a:buFont typeface="Wingdings" pitchFamily="2" charset="2"/>
              <a:buChar char="§"/>
            </a:pPr>
            <a:r>
              <a:rPr lang="en-IN" sz="1800" dirty="0" smtClean="0"/>
              <a:t>Many products and web browser plug-ins use PGP for providing e-mails security.</a:t>
            </a:r>
          </a:p>
          <a:p>
            <a:pPr marL="514350" lvl="1" indent="-514350" algn="just">
              <a:lnSpc>
                <a:spcPct val="110000"/>
              </a:lnSpc>
              <a:buClr>
                <a:srgbClr val="101141"/>
              </a:buClr>
              <a:buFont typeface="Wingdings" pitchFamily="2" charset="2"/>
              <a:buChar char="§"/>
            </a:pPr>
            <a:r>
              <a:rPr lang="en-IN" sz="1800" dirty="0" smtClean="0"/>
              <a:t>It is based on the cryptographic algorithms that are time tested, reviewed and considered extremely safe.</a:t>
            </a:r>
          </a:p>
          <a:p>
            <a:pPr marL="514350" lvl="1" indent="-514350" algn="just">
              <a:lnSpc>
                <a:spcPct val="110000"/>
              </a:lnSpc>
              <a:buClr>
                <a:srgbClr val="101141"/>
              </a:buClr>
              <a:buFont typeface="Wingdings" pitchFamily="2" charset="2"/>
              <a:buChar char="§"/>
            </a:pPr>
            <a:r>
              <a:rPr lang="en-IN" sz="1800" dirty="0" smtClean="0"/>
              <a:t>Originally it was not created keeping any standardization in mind. But now it is on the standards track with IETF </a:t>
            </a:r>
            <a:r>
              <a:rPr lang="en-IN" sz="1800" dirty="0" smtClean="0">
                <a:hlinkClick r:id="rId4"/>
              </a:rPr>
              <a:t>RFC-4880</a:t>
            </a:r>
            <a:r>
              <a:rPr lang="en-IN" sz="1800" dirty="0" smtClean="0"/>
              <a:t> and </a:t>
            </a:r>
            <a:r>
              <a:rPr lang="en-IN" sz="1800" dirty="0" smtClean="0">
                <a:hlinkClick r:id="rId5"/>
              </a:rPr>
              <a:t>RFC-3156</a:t>
            </a:r>
            <a:r>
              <a:rPr lang="en-IN" sz="1800" dirty="0" smtClean="0"/>
              <a:t>.</a:t>
            </a:r>
          </a:p>
        </p:txBody>
      </p:sp>
      <p:sp>
        <p:nvSpPr>
          <p:cNvPr id="3" name="Content Placeholder 2"/>
          <p:cNvSpPr>
            <a:spLocks noGrp="1"/>
          </p:cNvSpPr>
          <p:nvPr>
            <p:ph sz="quarter" idx="10"/>
          </p:nvPr>
        </p:nvSpPr>
        <p:spPr/>
        <p:txBody>
          <a:bodyPr/>
          <a:lstStyle/>
          <a:p>
            <a:r>
              <a:rPr lang="en-IN" dirty="0" smtClean="0"/>
              <a:t>Pretty Good Privacy (PGP)</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24</a:t>
            </a:fld>
            <a:endParaRPr lang="en-US" dirty="0"/>
          </a:p>
        </p:txBody>
      </p:sp>
      <p:pic>
        <p:nvPicPr>
          <p:cNvPr id="1026" name="Picture 2" descr="Picture of Phil"/>
          <p:cNvPicPr>
            <a:picLocks noChangeAspect="1" noChangeArrowheads="1"/>
          </p:cNvPicPr>
          <p:nvPr/>
        </p:nvPicPr>
        <p:blipFill>
          <a:blip r:embed="rId6" cstate="print"/>
          <a:srcRect/>
          <a:stretch>
            <a:fillRect/>
          </a:stretch>
        </p:blipFill>
        <p:spPr bwMode="auto">
          <a:xfrm>
            <a:off x="7236296" y="1628800"/>
            <a:ext cx="1538331" cy="2088232"/>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IN" dirty="0" smtClean="0"/>
              <a:t>E-Mail Integrity using PGP</a:t>
            </a:r>
          </a:p>
          <a:p>
            <a:r>
              <a:rPr lang="en-IN" sz="2000" dirty="0" smtClean="0"/>
              <a:t>Sender Side  Procedure </a:t>
            </a:r>
            <a:endParaRPr lang="en-IN" sz="2000" dirty="0">
              <a:solidFill>
                <a:srgbClr val="FF0000"/>
              </a:solidFill>
            </a:endParaRPr>
          </a:p>
        </p:txBody>
      </p:sp>
      <p:sp>
        <p:nvSpPr>
          <p:cNvPr id="4" name="Slide Number Placeholder 3"/>
          <p:cNvSpPr>
            <a:spLocks noGrp="1"/>
          </p:cNvSpPr>
          <p:nvPr>
            <p:ph type="sldNum" sz="quarter" idx="12"/>
          </p:nvPr>
        </p:nvSpPr>
        <p:spPr/>
        <p:txBody>
          <a:bodyPr/>
          <a:lstStyle/>
          <a:p>
            <a:fld id="{04252BD6-4F37-4D57-B6B7-636C2217F7DD}" type="slidenum">
              <a:rPr lang="en-US" smtClean="0"/>
              <a:pPr/>
              <a:t>25</a:t>
            </a:fld>
            <a:endParaRPr lang="en-US" dirty="0"/>
          </a:p>
        </p:txBody>
      </p:sp>
      <p:sp>
        <p:nvSpPr>
          <p:cNvPr id="1026" name="AutoShape 2" descr="data:image/jpeg;base64,/9j/4AAQSkZJRgABAQAAAQABAAD/2wCEAAkGBxQHEhMSExIVFRUUFxYaFxYTGB0ZFhAUFhoZGBYVFxgkHSgiJB0nIB4VLTEiJSorLi8uFx8zODMsNygtLisBCgoKBQUFDgUFDisZExkrKysrKysrKysrKysrKysrKysrKysrKysrKysrKysrKysrKysrKysrKysrKysrKysrK//AABEIAPgArQMBIgACEQEDEQH/xAAcAAEBAAIDAQEAAAAAAAAAAAAACAYHAQMFBAL/xABNEAABAwIBBQoICggFBQAAAAABAAIDBBEFBgchMVEIEjVBVGFxdJKyExciMkKBodIUFlJygpGxs8HTFSMzU5Oi0fAkNGJj4URzg8Lx/8QAFAEBAAAAAAAAAAAAAAAAAAAAAP/EABQRAQAAAAAAAAAAAAAAAAAAAAD/2gAMAwEAAhEDEQA/AN4oiICIiAiIgIseyuyypckmb6ok8oi7YmaZZPmt2X4zYc60dlVnnrcWLm04FLGdA3vlSkbS8iw9Q0beNBQuJYtBhTd9PNHENsjg2/RfWsRxDO5hdESPhBkP+0xzgfXaymCpndVuL5HOe92lznkuc47STpK/CCiZM+9Aw6Iap3OGM/GQLups+OHSmzm1DOd0YPdcVOCIKuwvOZhmJ6G1jGk6hLeMntALK4J21LQ5jmuadTmkEHoIUSr0cGxyowJ2/pp5ITx7x1mu+c3UfWCgs1FozJDPm5pbHiEQI/fw627N9Hx9LTxait0YXicWLxtmgkbJG7U5huOjp5kH1oiICIiAiIgIiICIiAtX50c6bcm70tLvZKm3lO1spr7dr/8ATxcexdmeLOF8WI/gtOR8KlbpdyaM6N/b5R4h69l5uc4uJJNydJJ1knWSg766skxGR8sr3SSPN3Peblx/viXQi76CikxKRkMLHSSPNmsaLlx/u+niAQdC4ut15JZiy/eyV81uPwEOvofJ+DR61tPB8iaDBgBFSRC3pOaHu6d865ugkIadWnoXF1bjGhgsAANg1LqqqOOsFpI2PGx7Q4fUQgihcqp8ezWYbjIP+HELz6cHkEHbbzT6wtQ5ZZnavAQ6WA/Cohp8ltpWjnZpvba36gg1svcyRysqckphLTvsD58btMco2OG3YRpC8PUiCtsg8tYMs4PCR+RI2wlhJu6J3TxtPE77DoWTqNMnccmycqGVMDt69h9T2nzmOHG0/wDPEqtyKyoiytpWVMWgnRIy9zFIPOafwPGCEHvIiICIiAiIgLx8rcfZkzSTVUmkRt8lt7eEedDGX5zZewp/3Q2URq6iKhYfIhb4SS3pSv0NB+a3vnYg1bi2JSYxNJUTO30kri5x5zxDmGodC+RF+6eF1S5rGNLnPcGtaNbnONgB0myD1MlcnJsqahtPANJ0ucfNiZxvdzDZxqoMhsiafI2LeRDfSOt4SZw8uQ/g3Y0LozbZGMyNpQywM8lnTP2u+QD8lvF6zxrLUBERAREQEREGtM52a2PKRrqimDYqoaSLWZU8ztjtjvr13E41VO6ke6ORpa9ji1zXaC1wNiCrZWoM+2Q4rYnYjC20sQHhwB+1iFhvzztH8vQg0CszzVZYHJKsaXO/w81mTA6mj0ZOlp9hKwxcILdad8LjUVytf5ksojjuHMY83kpj4JxOssA/Vns2H0VsBAREQEREH5keIwXE2ABJJ4gNZUaZRYqccqp6l17zSOcL6w0nyW+oWHqVWZw6s0OGVsg1iCQD6Q3v4qQgg5W19z9k0MRqpKx4BbTWDL8czxr+i3vBanVT5msJGE4VT6BvprzOI4zJqvzhoYPooM3REQEREBERAREQF+JYxM0tcLhwII2g6CF+0QR9lvgfxcrqmm9GN/kc8bwHM9hH1Lw1tbdFUojroJANL4LHn3jjb7VqlBs3c/4v8BxF0BPk1MTh/wCSPy2n6vCD6SpBR/kHWfo/EaOTZOwdo738VYCAiIgIiIMJzyyeDwiq5w0fW4KWFUmengip+h3gpbQcOVnZPxCGlp2gWAijGj5oUYlWVkvUiso6aQanQxn+UIPUREQEREBERAREQEREGht0m209Eba45Rfocz/labW690nGN9Qu47Sj1eSVpRB9mDP8FUQOva0sZvss8FWgw3AUVUH7WP57O8FacPmjoCD9oiICIiDBs9PBFT9DvBS2qkz08EVP0O8FLaDgqu83PBdD1eLuhSIVXebnguh6vH3QgyNERAREQEREBERAREQaX3SX7Oi+fJ3QtFLfe6S/y9H/AN1/cWhEHfQftY/ns7wVpw+aOgKLKD9rH89neCtOHzR0BB+0REGvc9mUFRk5RRS00pie6drS4AG7Sx5I0g8YC0r40sW5a7sR+6tr7ovg6HrLO5Ip3QZJi+XuIY1E6CeqL4323zS1gvY3GkNusbREHCyrD84uJYbEyGKrc2ONoaxu8Yd60ahctusWRBmPjSxblruxH7qeNLFuWu7EfurDkQZj40sW5a7sR+6njSxblruxH7qw5EGY+NLFuWu7Efup40sW5a7sR+6sORBmPjSxblruxH7qeNLFuWu7EfurDkQZj40sW5a7sR+6njSxblruxH7qw5EHuZQZX1mUjWMqpzK1h3zQWtFnEWvoA4l4aIg5Y8xkEaCCCOYjSFl4zo4qP+td2Ge6sPRBmBzpYty13Yj91U1kvUuraKkled8+SCFzj8pzo2lx+slRoVYuRfB9D1Wn+6agwPdF8HQ9ZZ3JFO6ojdF8HQ9ZZ3JFO6AiIgIiICIiAiIgIiICIiAiIgIiICIiDgqxci+D6HqtP901R0VYuRfB9D1Wn+6agwPdF8HQ9ZZ3JFO6ojdF8HQ9ZZ3JFO6AiIgIiICIiAvWybyaqcp5PB00ReRbfO1MjB43u1D7dC7cjMnH5V1cVKw23xu9/wC7ib57/wCnOQqxwDBYcn4GU9OwMjYNQ1uPG5x43HjJQaSocwlRK0GWsijOxjHPtzX3zV8WNZjq2iaXQyxVFvRF2PPQDcX9aotEEUVlI+gkdFKxzJGGzmPFnNPOF0qps6GQkeV9O5zQG1UbSYn2862nwTv9J9hN+Yy1IwxEtcCCCQQdYI0EFBwiIgIiICIiDgqxci+D6HqtP901R0VYuRfB9D1Wn+6agwPdF8HQ9ZZ3JFO6ojdF8HQ9ZZ3JFO6AiIgIiICIiDd+5toWkVk/pAxxjmFi4/gt3LRm5vxNrHVdMbb5wZK3aQ27XWHrb9a3mgIiIClDO1RDD8XrGNFgXteOIfrI2PNvWSqvUl50cRbiuK1krTdvhAwEaiImNjv/AClBiyIiAiIgIiIOCrFyL4Poeq0/3TVHRVi5F8H0PVaf7pqDA90XwdD1lnckU7qiN0XwdD1lnckU7oCIiAiIgIiIPSybxuTJypiqoj5Ubr24ntOhzDzEXCrTJXKCPKeljqorhsgOh2trmmzmnoIOlRwq0zWUX6PwmiZtiDzfiMpMh9rigypERBrzPDl18VafwMV/hNQ1wYbaImanSX1X2Dbp4tMyk3/vWt57pKiuyin2Okj7QDv/AFWjEBERAREQEREHBVi5F8H0PVaf7pqjoqxci+D6HqtP901Bge6L4Oh6yzuSKd1RG6L4Oh6yzuSKd0BERAREQEREH6ijMzmtGtxAHSTZWlhlP8EhijtbeMa22ywAUiZFUf6QxCiitffVEN/mh4LvYCrEQEREGt8/tJ4fCnPt+ylidfYHHefa4KalW+cuh/SOF10dr/qXuA2ui/WN9rQpHQcoiICIiAiIg4KsXIvg+h6rT/dNUdFWLkXwfQ9Vp/umoMG3REZfhsRHo1DCejePH4hToqlzz0JrsIqba495J6mOBPsupZQcoiICIiAiIgz7MbRfC8Xhd+5ZLJ0+T4Me1/sVPrQm5vo9/UVcxHmxsYDzuJJ+wLfaAiIg6quLw7HsPpNcPrFlFlXTmke+M62Oc09LSR+CthSHnEo/0fidbGBYCZxHQ+zh9qDHkREBERAREQcFWVkvD8HoqRmnyaeEadeiNo086j/DKM4jNFCNcsjGdG+cBdWlG3wYA2AD6kHTiFG3EIpIX+bIxzHdDgQVGmLYc/CJpaeQWfE9zHc5abXHMdY5irTWid0FkkYnsxKJvkusye3ouGiOT16j0DboDTCIiAiIgIiIPuw3GqjCg4QVE0IcQXCJ7mBxGomxX2fG+v5fVfxn/wBV4qIPa+N9fy+q/jP/AKp8b6/l9V/Gf/VeKiD2vjfX8vqv4z/6ry6yrkr3ukle6R7rb57yXOdYAC5OnUB9S6UQEREBERAREAvq/wDqDYWYzAzi2JtlI8ilaZHHi358mNvTck/RKptYRmjyT+KtC0SC089pJdrSR5Mf0R7SVm6Avnr6JmIxvhlaHxyNLXNOpzTrC+hEEn5xshpcip96bvgkJ8FLbX/tu2PHt1jYMSVo4vhcWMxPgnjEkbxZzXewjYRtU/5dZnKjBy6WjvUQ6TvAP10Y2W9PpGnmQauRcvaWEggggkEHQQRrBC4QEREBERAREQEREBERARF9eE4ZNjMghp4nSyHU1gubcZPEBq0nQg+NbnzK5uTO6PEaptmDyqeNw0vPozOHyR6O3QeIX9bN5mabh7m1GIFsjxYsgGlkZ2vPpHm1Dn4twAWQcoiICIiAiIg8bHclKPH/APMU0ch+UW2ePpDSsKrcx2HVBux1RENjJAR/M1xREHzeIah5RV9qP8pPENQ8oq+1H+UuUQceIah5RV9qP8pPENQ8oq+1H+UuUQceIah5RV9qP8pPENQ8oq+1H+UuUQceIah5RV9qP8pPENQ8oq+1H+UuUQceIah5RV9qP8pPENQ8oq+1H+UuUQelheZnDKEguZJMR++fcHpa0AexZzhmFw4SwRwRMiYPRjaGj12XCIPsREQEREH/2Q=="/>
          <p:cNvSpPr>
            <a:spLocks noChangeAspect="1" noChangeArrowheads="1"/>
          </p:cNvSpPr>
          <p:nvPr/>
        </p:nvSpPr>
        <p:spPr bwMode="auto">
          <a:xfrm>
            <a:off x="155575" y="-1417638"/>
            <a:ext cx="2066925" cy="2952751"/>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1028" name="AutoShape 4" descr="data:image/jpeg;base64,/9j/4AAQSkZJRgABAQAAAQABAAD/2wCEAAkGBxQHEhMSExIVFRUUFxYaFxYTGB0ZFhAUFhoZGBYVFxgkHSgiJB0nIB4VLTEiJSorLi8uFx8zODMsNygtLisBCgoKBQUFDgUFDisZExkrKysrKysrKysrKysrKysrKysrKysrKysrKysrKysrKysrKysrKysrKysrKysrKysrK//AABEIAPgArQMBIgACEQEDEQH/xAAcAAEBAAIDAQEAAAAAAAAAAAAACAYHAQMFBAL/xABNEAABAwIBBQoICggFBQAAAAABAAIDBBEFBgchMVEIEjVBVGFxdJKyExciMkKBodIUFlJygpGxs8HTFSMzU5Oi0fAkNGJj4URzg8Lx/8QAFAEBAAAAAAAAAAAAAAAAAAAAAP/EABQRAQAAAAAAAAAAAAAAAAAAAAD/2gAMAwEAAhEDEQA/AN4oiICIiAiIgIseyuyypckmb6ok8oi7YmaZZPmt2X4zYc60dlVnnrcWLm04FLGdA3vlSkbS8iw9Q0beNBQuJYtBhTd9PNHENsjg2/RfWsRxDO5hdESPhBkP+0xzgfXaymCpndVuL5HOe92lznkuc47STpK/CCiZM+9Aw6Iap3OGM/GQLups+OHSmzm1DOd0YPdcVOCIKuwvOZhmJ6G1jGk6hLeMntALK4J21LQ5jmuadTmkEHoIUSr0cGxyowJ2/pp5ITx7x1mu+c3UfWCgs1FozJDPm5pbHiEQI/fw627N9Hx9LTxait0YXicWLxtmgkbJG7U5huOjp5kH1oiICIiAiIgIiICIiAtX50c6bcm70tLvZKm3lO1spr7dr/8ATxcexdmeLOF8WI/gtOR8KlbpdyaM6N/b5R4h69l5uc4uJJNydJJ1knWSg766skxGR8sr3SSPN3Peblx/viXQi76CikxKRkMLHSSPNmsaLlx/u+niAQdC4ut15JZiy/eyV81uPwEOvofJ+DR61tPB8iaDBgBFSRC3pOaHu6d865ugkIadWnoXF1bjGhgsAANg1LqqqOOsFpI2PGx7Q4fUQgihcqp8ezWYbjIP+HELz6cHkEHbbzT6wtQ5ZZnavAQ6WA/Cohp8ltpWjnZpvba36gg1svcyRysqckphLTvsD58btMco2OG3YRpC8PUiCtsg8tYMs4PCR+RI2wlhJu6J3TxtPE77DoWTqNMnccmycqGVMDt69h9T2nzmOHG0/wDPEqtyKyoiytpWVMWgnRIy9zFIPOafwPGCEHvIiICIiAiIgLx8rcfZkzSTVUmkRt8lt7eEedDGX5zZewp/3Q2URq6iKhYfIhb4SS3pSv0NB+a3vnYg1bi2JSYxNJUTO30kri5x5zxDmGodC+RF+6eF1S5rGNLnPcGtaNbnONgB0myD1MlcnJsqahtPANJ0ucfNiZxvdzDZxqoMhsiafI2LeRDfSOt4SZw8uQ/g3Y0LozbZGMyNpQywM8lnTP2u+QD8lvF6zxrLUBERAREQEREGtM52a2PKRrqimDYqoaSLWZU8ztjtjvr13E41VO6ke6ORpa9ji1zXaC1wNiCrZWoM+2Q4rYnYjC20sQHhwB+1iFhvzztH8vQg0CszzVZYHJKsaXO/w81mTA6mj0ZOlp9hKwxcILdad8LjUVytf5ksojjuHMY83kpj4JxOssA/Vns2H0VsBAREQEREH5keIwXE2ABJJ4gNZUaZRYqccqp6l17zSOcL6w0nyW+oWHqVWZw6s0OGVsg1iCQD6Q3v4qQgg5W19z9k0MRqpKx4BbTWDL8czxr+i3vBanVT5msJGE4VT6BvprzOI4zJqvzhoYPooM3REQEREBERAREQF+JYxM0tcLhwII2g6CF+0QR9lvgfxcrqmm9GN/kc8bwHM9hH1Lw1tbdFUojroJANL4LHn3jjb7VqlBs3c/4v8BxF0BPk1MTh/wCSPy2n6vCD6SpBR/kHWfo/EaOTZOwdo738VYCAiIgIiIMJzyyeDwiq5w0fW4KWFUmengip+h3gpbQcOVnZPxCGlp2gWAijGj5oUYlWVkvUiso6aQanQxn+UIPUREQEREBERAREQEREGht0m209Eba45Rfocz/labW690nGN9Qu47Sj1eSVpRB9mDP8FUQOva0sZvss8FWgw3AUVUH7WP57O8FacPmjoCD9oiICIiDBs9PBFT9DvBS2qkz08EVP0O8FLaDgqu83PBdD1eLuhSIVXebnguh6vH3QgyNERAREQEREBERAREQaX3SX7Oi+fJ3QtFLfe6S/y9H/AN1/cWhEHfQftY/ns7wVpw+aOgKLKD9rH89neCtOHzR0BB+0REGvc9mUFRk5RRS00pie6drS4AG7Sx5I0g8YC0r40sW5a7sR+6tr7ovg6HrLO5Ip3QZJi+XuIY1E6CeqL4323zS1gvY3GkNusbREHCyrD84uJYbEyGKrc2ONoaxu8Yd60ahctusWRBmPjSxblruxH7qeNLFuWu7EfurDkQZj40sW5a7sR+6njSxblruxH7qw5EGY+NLFuWu7Efup40sW5a7sR+6sORBmPjSxblruxH7qeNLFuWu7EfurDkQZj40sW5a7sR+6njSxblruxH7qw5EHuZQZX1mUjWMqpzK1h3zQWtFnEWvoA4l4aIg5Y8xkEaCCCOYjSFl4zo4qP+td2Ge6sPRBmBzpYty13Yj91U1kvUuraKkled8+SCFzj8pzo2lx+slRoVYuRfB9D1Wn+6agwPdF8HQ9ZZ3JFO6ojdF8HQ9ZZ3JFO6AiIgIiICIiAiIgIiICIiAiIgIiICIiDgqxci+D6HqtP901R0VYuRfB9D1Wn+6agwPdF8HQ9ZZ3JFO6ojdF8HQ9ZZ3JFO6AiIgIiICIiAvWybyaqcp5PB00ReRbfO1MjB43u1D7dC7cjMnH5V1cVKw23xu9/wC7ib57/wCnOQqxwDBYcn4GU9OwMjYNQ1uPG5x43HjJQaSocwlRK0GWsijOxjHPtzX3zV8WNZjq2iaXQyxVFvRF2PPQDcX9aotEEUVlI+gkdFKxzJGGzmPFnNPOF0qps6GQkeV9O5zQG1UbSYn2862nwTv9J9hN+Yy1IwxEtcCCCQQdYI0EFBwiIgIiICIiDgqxci+D6HqtP901R0VYuRfB9D1Wn+6agwPdF8HQ9ZZ3JFO6ojdF8HQ9ZZ3JFO6AiIgIiICIiDd+5toWkVk/pAxxjmFi4/gt3LRm5vxNrHVdMbb5wZK3aQ27XWHrb9a3mgIiIClDO1RDD8XrGNFgXteOIfrI2PNvWSqvUl50cRbiuK1krTdvhAwEaiImNjv/AClBiyIiAiIgIiIOCrFyL4Poeq0/3TVHRVi5F8H0PVaf7pqDA90XwdD1lnckU7qiN0XwdD1lnckU7oCIiAiIgIiIPSybxuTJypiqoj5Ubr24ntOhzDzEXCrTJXKCPKeljqorhsgOh2trmmzmnoIOlRwq0zWUX6PwmiZtiDzfiMpMh9rigypERBrzPDl18VafwMV/hNQ1wYbaImanSX1X2Dbp4tMyk3/vWt57pKiuyin2Okj7QDv/AFWjEBERAREQEREHBVi5F8H0PVaf7pqjoqxci+D6HqtP901Bge6L4Oh6yzuSKd1RG6L4Oh6yzuSKd0BERAREQEREH6ijMzmtGtxAHSTZWlhlP8EhijtbeMa22ywAUiZFUf6QxCiitffVEN/mh4LvYCrEQEREGt8/tJ4fCnPt+ylidfYHHefa4KalW+cuh/SOF10dr/qXuA2ui/WN9rQpHQcoiICIiAiIg4KsXIvg+h6rT/dNUdFWLkXwfQ9Vp/umoMG3REZfhsRHo1DCejePH4hToqlzz0JrsIqba495J6mOBPsupZQcoiICIiAiIgz7MbRfC8Xhd+5ZLJ0+T4Me1/sVPrQm5vo9/UVcxHmxsYDzuJJ+wLfaAiIg6quLw7HsPpNcPrFlFlXTmke+M62Oc09LSR+CthSHnEo/0fidbGBYCZxHQ+zh9qDHkREBERAREQcFWVkvD8HoqRmnyaeEadeiNo086j/DKM4jNFCNcsjGdG+cBdWlG3wYA2AD6kHTiFG3EIpIX+bIxzHdDgQVGmLYc/CJpaeQWfE9zHc5abXHMdY5irTWid0FkkYnsxKJvkusye3ouGiOT16j0DboDTCIiAiIgIiIPuw3GqjCg4QVE0IcQXCJ7mBxGomxX2fG+v5fVfxn/wBV4qIPa+N9fy+q/jP/AKp8b6/l9V/Gf/VeKiD2vjfX8vqv4z/6ry6yrkr3ukle6R7rb57yXOdYAC5OnUB9S6UQEREBERAREAvq/wDqDYWYzAzi2JtlI8ilaZHHi358mNvTck/RKptYRmjyT+KtC0SC089pJdrSR5Mf0R7SVm6Avnr6JmIxvhlaHxyNLXNOpzTrC+hEEn5xshpcip96bvgkJ8FLbX/tu2PHt1jYMSVo4vhcWMxPgnjEkbxZzXewjYRtU/5dZnKjBy6WjvUQ6TvAP10Y2W9PpGnmQauRcvaWEggggkEHQQRrBC4QEREBERAREQEREBERARF9eE4ZNjMghp4nSyHU1gubcZPEBq0nQg+NbnzK5uTO6PEaptmDyqeNw0vPozOHyR6O3QeIX9bN5mabh7m1GIFsjxYsgGlkZ2vPpHm1Dn4twAWQcoiICIiAiIg8bHclKPH/APMU0ch+UW2ePpDSsKrcx2HVBux1RENjJAR/M1xREHzeIah5RV9qP8pPENQ8oq+1H+UuUQceIah5RV9qP8pPENQ8oq+1H+UuUQceIah5RV9qP8pPENQ8oq+1H+UuUQceIah5RV9qP8pPENQ8oq+1H+UuUQceIah5RV9qP8pPENQ8oq+1H+UuUQelheZnDKEguZJMR++fcHpa0AexZzhmFw4SwRwRMiYPRjaGj12XCIPsREQEREH/2Q=="/>
          <p:cNvSpPr>
            <a:spLocks noChangeAspect="1" noChangeArrowheads="1"/>
          </p:cNvSpPr>
          <p:nvPr/>
        </p:nvSpPr>
        <p:spPr bwMode="auto">
          <a:xfrm>
            <a:off x="155575" y="-1417638"/>
            <a:ext cx="2066925" cy="2952751"/>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1036" name="AutoShape 12" descr="data:image/jpeg;base64,/9j/4AAQSkZJRgABAQAAAQABAAD/2wCEAAkGBxQHEhMSExIVFRUUFxYaFxYTGB0ZFhAUFhoZGBYVFxgkHSgiJB0nIB4VLTEiJSorLi8uFx8zODMsNygtLisBCgoKBQUFDgUFDisZExkrKysrKysrKysrKysrKysrKysrKysrKysrKysrKysrKysrKysrKysrKysrKysrKysrK//AABEIAPgArQMBIgACEQEDEQH/xAAcAAEBAAIDAQEAAAAAAAAAAAAACAYHAQMFBAL/xABNEAABAwIBBQoICggFBQAAAAABAAIDBBEFBgchMVEIEjVBVGFxdJKyExciMkKBodIUFlJygpGxs8HTFSMzU5Oi0fAkNGJj4URzg8Lx/8QAFAEBAAAAAAAAAAAAAAAAAAAAAP/EABQRAQAAAAAAAAAAAAAAAAAAAAD/2gAMAwEAAhEDEQA/AN4oiICIiAiIgIseyuyypckmb6ok8oi7YmaZZPmt2X4zYc60dlVnnrcWLm04FLGdA3vlSkbS8iw9Q0beNBQuJYtBhTd9PNHENsjg2/RfWsRxDO5hdESPhBkP+0xzgfXaymCpndVuL5HOe92lznkuc47STpK/CCiZM+9Aw6Iap3OGM/GQLups+OHSmzm1DOd0YPdcVOCIKuwvOZhmJ6G1jGk6hLeMntALK4J21LQ5jmuadTmkEHoIUSr0cGxyowJ2/pp5ITx7x1mu+c3UfWCgs1FozJDPm5pbHiEQI/fw627N9Hx9LTxait0YXicWLxtmgkbJG7U5huOjp5kH1oiICIiAiIgIiICIiAtX50c6bcm70tLvZKm3lO1spr7dr/8ATxcexdmeLOF8WI/gtOR8KlbpdyaM6N/b5R4h69l5uc4uJJNydJJ1knWSg766skxGR8sr3SSPN3Peblx/viXQi76CikxKRkMLHSSPNmsaLlx/u+niAQdC4ut15JZiy/eyV81uPwEOvofJ+DR61tPB8iaDBgBFSRC3pOaHu6d865ugkIadWnoXF1bjGhgsAANg1LqqqOOsFpI2PGx7Q4fUQgihcqp8ezWYbjIP+HELz6cHkEHbbzT6wtQ5ZZnavAQ6WA/Cohp8ltpWjnZpvba36gg1svcyRysqckphLTvsD58btMco2OG3YRpC8PUiCtsg8tYMs4PCR+RI2wlhJu6J3TxtPE77DoWTqNMnccmycqGVMDt69h9T2nzmOHG0/wDPEqtyKyoiytpWVMWgnRIy9zFIPOafwPGCEHvIiICIiAiIgLx8rcfZkzSTVUmkRt8lt7eEedDGX5zZewp/3Q2URq6iKhYfIhb4SS3pSv0NB+a3vnYg1bi2JSYxNJUTO30kri5x5zxDmGodC+RF+6eF1S5rGNLnPcGtaNbnONgB0myD1MlcnJsqahtPANJ0ucfNiZxvdzDZxqoMhsiafI2LeRDfSOt4SZw8uQ/g3Y0LozbZGMyNpQywM8lnTP2u+QD8lvF6zxrLUBERAREQEREGtM52a2PKRrqimDYqoaSLWZU8ztjtjvr13E41VO6ke6ORpa9ji1zXaC1wNiCrZWoM+2Q4rYnYjC20sQHhwB+1iFhvzztH8vQg0CszzVZYHJKsaXO/w81mTA6mj0ZOlp9hKwxcILdad8LjUVytf5ksojjuHMY83kpj4JxOssA/Vns2H0VsBAREQEREH5keIwXE2ABJJ4gNZUaZRYqccqp6l17zSOcL6w0nyW+oWHqVWZw6s0OGVsg1iCQD6Q3v4qQgg5W19z9k0MRqpKx4BbTWDL8czxr+i3vBanVT5msJGE4VT6BvprzOI4zJqvzhoYPooM3REQEREBERAREQF+JYxM0tcLhwII2g6CF+0QR9lvgfxcrqmm9GN/kc8bwHM9hH1Lw1tbdFUojroJANL4LHn3jjb7VqlBs3c/4v8BxF0BPk1MTh/wCSPy2n6vCD6SpBR/kHWfo/EaOTZOwdo738VYCAiIgIiIMJzyyeDwiq5w0fW4KWFUmengip+h3gpbQcOVnZPxCGlp2gWAijGj5oUYlWVkvUiso6aQanQxn+UIPUREQEREBERAREQEREGht0m209Eba45Rfocz/labW690nGN9Qu47Sj1eSVpRB9mDP8FUQOva0sZvss8FWgw3AUVUH7WP57O8FacPmjoCD9oiICIiDBs9PBFT9DvBS2qkz08EVP0O8FLaDgqu83PBdD1eLuhSIVXebnguh6vH3QgyNERAREQEREBERAREQaX3SX7Oi+fJ3QtFLfe6S/y9H/AN1/cWhEHfQftY/ns7wVpw+aOgKLKD9rH89neCtOHzR0BB+0REGvc9mUFRk5RRS00pie6drS4AG7Sx5I0g8YC0r40sW5a7sR+6tr7ovg6HrLO5Ip3QZJi+XuIY1E6CeqL4323zS1gvY3GkNusbREHCyrD84uJYbEyGKrc2ONoaxu8Yd60ahctusWRBmPjSxblruxH7qeNLFuWu7EfurDkQZj40sW5a7sR+6njSxblruxH7qw5EGY+NLFuWu7Efup40sW5a7sR+6sORBmPjSxblruxH7qeNLFuWu7EfurDkQZj40sW5a7sR+6njSxblruxH7qw5EHuZQZX1mUjWMqpzK1h3zQWtFnEWvoA4l4aIg5Y8xkEaCCCOYjSFl4zo4qP+td2Ge6sPRBmBzpYty13Yj91U1kvUuraKkled8+SCFzj8pzo2lx+slRoVYuRfB9D1Wn+6agwPdF8HQ9ZZ3JFO6ojdF8HQ9ZZ3JFO6AiIgIiICIiAiIgIiICIiAiIgIiICIiDgqxci+D6HqtP901R0VYuRfB9D1Wn+6agwPdF8HQ9ZZ3JFO6ojdF8HQ9ZZ3JFO6AiIgIiICIiAvWybyaqcp5PB00ReRbfO1MjB43u1D7dC7cjMnH5V1cVKw23xu9/wC7ib57/wCnOQqxwDBYcn4GU9OwMjYNQ1uPG5x43HjJQaSocwlRK0GWsijOxjHPtzX3zV8WNZjq2iaXQyxVFvRF2PPQDcX9aotEEUVlI+gkdFKxzJGGzmPFnNPOF0qps6GQkeV9O5zQG1UbSYn2862nwTv9J9hN+Yy1IwxEtcCCCQQdYI0EFBwiIgIiICIiDgqxci+D6HqtP901R0VYuRfB9D1Wn+6agwPdF8HQ9ZZ3JFO6ojdF8HQ9ZZ3JFO6AiIgIiICIiDd+5toWkVk/pAxxjmFi4/gt3LRm5vxNrHVdMbb5wZK3aQ27XWHrb9a3mgIiIClDO1RDD8XrGNFgXteOIfrI2PNvWSqvUl50cRbiuK1krTdvhAwEaiImNjv/AClBiyIiAiIgIiIOCrFyL4Poeq0/3TVHRVi5F8H0PVaf7pqDA90XwdD1lnckU7qiN0XwdD1lnckU7oCIiAiIgIiIPSybxuTJypiqoj5Ubr24ntOhzDzEXCrTJXKCPKeljqorhsgOh2trmmzmnoIOlRwq0zWUX6PwmiZtiDzfiMpMh9rigypERBrzPDl18VafwMV/hNQ1wYbaImanSX1X2Dbp4tMyk3/vWt57pKiuyin2Okj7QDv/AFWjEBERAREQEREHBVi5F8H0PVaf7pqjoqxci+D6HqtP901Bge6L4Oh6yzuSKd1RG6L4Oh6yzuSKd0BERAREQEREH6ijMzmtGtxAHSTZWlhlP8EhijtbeMa22ywAUiZFUf6QxCiitffVEN/mh4LvYCrEQEREGt8/tJ4fCnPt+ylidfYHHefa4KalW+cuh/SOF10dr/qXuA2ui/WN9rQpHQcoiICIiAiIg4KsXIvg+h6rT/dNUdFWLkXwfQ9Vp/umoMG3REZfhsRHo1DCejePH4hToqlzz0JrsIqba495J6mOBPsupZQcoiICIiAiIgz7MbRfC8Xhd+5ZLJ0+T4Me1/sVPrQm5vo9/UVcxHmxsYDzuJJ+wLfaAiIg6quLw7HsPpNcPrFlFlXTmke+M62Oc09LSR+CthSHnEo/0fidbGBYCZxHQ+zh9qDHkREBERAREQcFWVkvD8HoqRmnyaeEadeiNo086j/DKM4jNFCNcsjGdG+cBdWlG3wYA2AD6kHTiFG3EIpIX+bIxzHdDgQVGmLYc/CJpaeQWfE9zHc5abXHMdY5irTWid0FkkYnsxKJvkusye3ouGiOT16j0DboDTCIiAiIgIiIPuw3GqjCg4QVE0IcQXCJ7mBxGomxX2fG+v5fVfxn/wBV4qIPa+N9fy+q/jP/AKp8b6/l9V/Gf/VeKiD2vjfX8vqv4z/6ry6yrkr3ukle6R7rb57yXOdYAC5OnUB9S6UQEREBERAREAvq/wDqDYWYzAzi2JtlI8ilaZHHi358mNvTck/RKptYRmjyT+KtC0SC089pJdrSR5Mf0R7SVm6Avnr6JmIxvhlaHxyNLXNOpzTrC+hEEn5xshpcip96bvgkJ8FLbX/tu2PHt1jYMSVo4vhcWMxPgnjEkbxZzXewjYRtU/5dZnKjBy6WjvUQ6TvAP10Y2W9PpGnmQauRcvaWEggggkEHQQRrBC4QEREBERAREQEREBERARF9eE4ZNjMghp4nSyHU1gubcZPEBq0nQg+NbnzK5uTO6PEaptmDyqeNw0vPozOHyR6O3QeIX9bN5mabh7m1GIFsjxYsgGlkZ2vPpHm1Dn4twAWQcoiICIiAiIg8bHclKPH/APMU0ch+UW2ePpDSsKrcx2HVBux1RENjJAR/M1xREHzeIah5RV9qP8pPENQ8oq+1H+UuUQceIah5RV9qP8pPENQ8oq+1H+UuUQceIah5RV9qP8pPENQ8oq+1H+UuUQceIah5RV9qP8pPENQ8oq+1H+UuUQceIah5RV9qP8pPENQ8oq+1H+UuUQelheZnDKEguZJMR++fcHpa0AexZzhmFw4SwRwRMiYPRjaGj12XCIPsREQEREH/2Q=="/>
          <p:cNvSpPr>
            <a:spLocks noChangeAspect="1" noChangeArrowheads="1"/>
          </p:cNvSpPr>
          <p:nvPr/>
        </p:nvSpPr>
        <p:spPr bwMode="auto">
          <a:xfrm>
            <a:off x="467544" y="1412776"/>
            <a:ext cx="2066925" cy="2952751"/>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1040" name="AutoShape 16" descr="data:image/jpeg;base64,/9j/4AAQSkZJRgABAQAAAQABAAD/2wCEAAkGBxQTEhQUExQWFRUXFxgaFxcXFxoXHRUXHhcYGhoYHBgaHCggGh4lHBwYIjEhJSkrLi4uGh8zODMsNygtLisBCgoKDg0OGxAQGy4kICQ3NC4sLywuLDQsLCw0LCwsLCwsLCwsLCwsLCwsLCwsLCwsLCwsLCwsLCwsLCwsLCwsLP/AABEIAMwAzAMBIgACEQEDEQH/xAAbAAACAwEBAQAAAAAAAAAAAAAABgQFBwMCAf/EAEwQAAEDAQQDCggLBgYDAQAAAAEAAgMRBAUGIRIxURMiQVJhcZGSsdEHU1RygaHB8BQVFiMyM0Jzk6LSJDRjg7LhQ2JkgrPxNcLiJf/EABsBAAIDAQEBAAAAAAAAAAAAAAMEAAIFAQYH/8QAMREAAgEDAgMGBgICAwAAAAAAAAECAwQREjEFIVETFDJBYXEVIoGRocEj8EKxM2Jy/9oADAMBAAIRAxEAPwDcUIQoQEIQoQ+E0zKzHFuJX2xxs9lJEGp8jSQZjwhpGpnL9rm1tF+2aS2F8IduVnadF5+1MeFvIwcO3m1/bsu2z2XJu+dyCp6ArYwTKFCxYFjYzSlb0ud3rjNc1kH+HX/c7vUvHeKHMBDWEZcKz1t/SuNSFqW9s3HMmZ9e7xnSOYumy+K/M7vXv4ms3ivzu70sQ3k/ild/jKTilNd2gZUuI18jALlsvivzu70fE1l8V+d3eqD4yk2FfReT+Kegqd2gD+JXAwC5LL4r87u9ffiKzeK/M7vVIy8pOIegrsy+HA75pHq7VO7QK/FbjzGGC6bG0ZwA8um71Zq0w5iXcZBZp3VjcaQSk1I2RvO3Y460qsvAP1ZrhawHgh2YPAqytIyjhlqXGKqqLVsbUhIOG72tTIQwOhlDcmmR7mvA4GmgNaaqqwdftur+7wH+a/8AQsepQlB4Z6WnVhUWYsbkJQN/W/yaD8V/6FHlxXbG64LOOeZ4/wDRUVNvYu2luO6EgfLa0+Ks34zv0Kdd+JbVKaBllH85/wChW7GfQr2kdsjihUtz37usroJGbnM1ofoh2k17CaaTXUFc9YIyV0hyi08MunkEIQuEBCF5kkDRVxAG0mihD0hUdsxZZmZB+6HZGNL16vWqK2Yynd9RAGja8knoFB60N1YLzDwtqktkfbzw7b5JnaE7I4C8uAFdI1NaHJWdjuWeMUa5p2knX6kl2i1XjKamd7eRlGjsXxsVu8ol6xV3evGMf6LfC8vU3z+o3WzDUkn0tA8+fsUdmDnDxfQl0Q23ymXrFexZrb5TL1iu99mW+GpLGUMjcKv/AIfv6F9+S79kfv6EuiyW3yiXrFehYrb5TL1iu9+mDfC4egwfJd+yP39C+/Jh+yP39CX/AIFbfKJesV8+BW3yiXrFc79Mnwun6DF8mn7I/f0Lha8Hue0jeNJ4QTycFKcCpxY7YNdol5y4qhvHEFoYdFlokdTIu0sq8m1cfEJxO/BadTlyZBt8DrNO6NwIc05jsIPCCM/+l0fNXNaRinDAt1mjcDoztYCx+3Kpa7kPqPQsgc98T3RStLXsNHNPAf77Vv2l0qsee546+4c6E8x2HHDjgXio4Fo9hAoszwq6r/QO1abYfopbiG45wjZkhwySjiMNANU3FIuM7RRpS9oszwP3ktMMiRa52F1KcJU/D9rDJKgJZjlq4+/qVrdb981bU1iDMJ86qfqNuF5HvvgPJy3B4/M1aes6wfEfh4NMtxd2haKsC58a9j01DwIEIQlwohzX3b52h0TYomHVQ1dTnIoOhVFou60yGsgEh2vkJ9VKK8uL93i5vaV3ltDW0DnAGlV8/q8Wup1HHOeZu08U3iMUL7LDaBqjj6x7l2ZBah/hx9Y9yszecI1yMHO4I+NoPGs6wVfiF2tl+AjqzfkQQ21eLi6zu5fa2rxUXWcp3xtB41nWHevhvWDxrOsF1cSvOn4K6n0Ie6WrxUXWPcg2i1eKi657lL+NYfGs6w715N6weNj6w71ZcSvOn4Jn/qRfhFr8XH13Ly6e1eLjH+8qWb0h8azrBeTesPjWdYK3xK8/qLL/AMkIyWvis65Xn9r2N657lYQXhE40bIxx2BwJPQpgVZcSuVyZ3XjyQsu3WQOEriGtdolgOTiK6zs5Ev3rHnzU1e+xNrG/W/ev9lUu3tHn0r0Nm3NKT3DxlyNju/6qPzG9gSr4QcHC2M3WKgtDBlskbxTy7Cmq7/qo/Mb2BSFv05uDUkeVqQU8xexhtwVjJ03GNwyIcKUI4DsNU+XJiyD6L5W9KYrww7ZpyXSwtcTrOonnprWW+ErCkEMtnFnbuQcHF2iTnQjbzrRVSFzJReUzPp27tk2msGkS4jswB+eZ0rOcbX7E8EMeCpeG8JQFgdKS7LhcoeMMK2UtIgNXD7LDp19DQc0ejClSqYTeQVVuvT1Pb03M2+MRUiqf8DXTpOE0pOjwDaqHCd0fBrQZLbY5JIdEhoIAIdVpDtEkHIA9K2zD7LFaYWywMboaqZgtI1tI4CF25udHJL6h+50200zxcgDrQXMGTWEE85CZFzggawUa0NHIuiyJy1PI7GOlYBCEKhYSrhH7PH5vtKjWm9RZ7Ywu+i6JwPJvm5qVcf7vF5vtKoMXD5+P7p/9TV864c8X+fVm1pUm0xltN6xv+rZun+3vUA2+n+B+Udy7YO+pPOraUDYvRV7jfJRaYPTgonXifEflXN14nxH5R3K2klGkGgFzjqaBU028npKjWiZ7dcEp5mg9hWTW7Sosxg2gsZQ6fkrTeP8AB/KNq8fGJ8UOhdbRfLGfSjlHOxcbHiGCRwYDRx1BwpXmSioyazoDpcs4Pnxh/BHQF9Mjpd42ICuVdHUrQEKXYTvlanDMkkispqKykLs7oopbPAwDSL6uNNjXHWr5pSPMf/1I/PP9Dk7NK5exw4+37ZJxxgrIG/W/ePVJerNfvsTDY25S/eP7VT3qzXzFensV/GvYspGn3f8AVR+Y3sCkKPd/1UfmN7ApC21sede5UYlt8kUbRFTdJHaDXOFQzIuLiOGgBoNtEji6DNJpWgz2hwqGl7tFo20a0AAak84mu6SaGkLgyZh0oy4VbpUIoRsIJ9Sxq/rzvizvbHPvNKuiW6JBApmC06s+Gi0LOKls1kWravoahYLrjAHzTB52faul6WuKJm+lYwDYQFm9zXRb7UAX2lzGnn9/crlinAhZGXOme9w2n2I/YJzxKXMD2yUM+Rcw22z2mV2jI6QN2avSU34Au8xMlNAGPcNEcoBB9g9CzXwJtHwyaB7Q5u5FwqOEOaOwrdWNAFAKDkS91LT/ABoPSpx8aPqEISIcEIQoQS7j/d4vN9pVBi/6+P7p/wDU1X9x/u8Xm+0qtvy7HT2lgbQUidUng34Xzayem8b9zbTSk8kzBx+ZPOreVyr7qszbMzRfI2pO2i7SW6LxrelNXFWU5PSDazNtFC+0WmKeSQRlzDShaW/RHIfSvlqxgSCPg8tdVatHtVu+3Q+Mb08qjuns/HYmad3V0KEly2D6U3lxEi97e+XVE8c5CXzd82kHBpFCCtUM1n47PUuZlg4zPUjUa7prEYjEaklsvwQbivB72gSfSHDtTDYXb70HsVU2eEansUmK84WVcZBqPCNiEo/PqBzi2thRl/8AKM893/GU7sPv6Ug2e1CS8Y3t1Fzv6XJ8aff0Je+XOK9P2WqLY5XeN7J96/tVbekeTuY9itbqG8k+8f2qFebcjzHsXpbJfxR9gGebQ+3f9VH5jewKQo93/VR+Y3sCkLXWxhvcjXjb44I3SSu0WN1nsAAzJJyACzbFNpfb5ojDC9rGBwLpdFlSSOAmuoJvxvK2OKOWSu5xyBzyBWg0XAGnOR0pBdjG72kkOfISeVP2lN+Nbitw8rRjcarms8rGho3IZDOpdwbBTtXa9rtMopLK4g/ZjYG+s6RSrD4SIRlFZ3u9FexQL+8INu0CY7MY28ZwOXSj9lVc9WwJKnGGnH9+pIteHIWEiCF4eQQX7o/S6QRTNNfguvSeSKaK0EudC8BjzmXMcDQE8JBBFeZI3g0tk1umlbJLvw3SochStDlw61sNz3Y2BmiMyc3GlKoV1JJOMubD04STznl0J6EIWeHBCEKEEu4v3eLzfaV5t4mDi6EMqWaNXGlM67CvVxfu8fm+0oJ07S2IyFgMRcNECpIdTWQdq+aW9OpO7caeM5e+xsvCbbE+14dtkji57mE+ceXkUR2FLVtj6x7loNsuojP4S9o5WsP/AKqvksf+qd1Y+5bboXcOT0hqdxlcv9CUcLWnjR9J7l5OF7Ttj6x7k5Gx/wCqd1GfpXk2b/Uu6rO5ClVrQ3a+wdVn/UJxwtaONH1ndy8nCto4zOse5N5gPlDuqzuXgwHyh3VZ3IavZ9V9mXVRin8lLRtZ1j3L0MKWjjR9Y+0cqahAfKHdVncvFpa5rSW2gk8A0WejgVu+TbxlfZk7RlLc2G5op45Hlmi0kmhJ1gjZypxYff39Cq4Y5Y2xmWUlz3U0dFoFNE11DkVk336P+kC5lKck5Y+gKUtR1uj6En3j+0KLebd67mPYut0WloEjSaHdX+srzeJ3ruY9i9RZv+KOOgtJNSY6WD6qPzG9gUhR7v8Aqo/Mb2BSFqrYxXueJYw4FrgCCKEEVBGwhZB4R8LWWGeDcYmx6QcXBuQNCBq4NfAtIxTaZGxsZE4sdK/R0wKlrdFznFoOWlQUGytUmWe46yFz4t0PA+Z5efzGies8xlrzyFria0uKeGzrhaz2eKMVLGmnCQu2KIxPGWxRvkrxWEDrOAHrVzYmtZrMTOYAUUW+sR2SJp3S0DmBqfUjOpJ1dSQvGlHstEmIGFLutV22l9pdEwh0ZZoGUB2bg6uQIrvVrOFcRxW6HdY6gg6L2HWx/CDt5xrWc2C+LPa3v0Guc1u2oHD0pywBcfwdszxUCVzTo6hkDmOevqQ7pKScpbjFFy5LHIbUIQkBgEIQoQSrjP7PHze0qgxQ4i0REGhEb6Uy+0FfXIf2ePm9pS/is/Px/dP/AKgvnthyvW/f9m7HxMubhg3ePSlcXEGmtTZLki2esqNg8/MnnVxKff39C1ri50tgXKSm0iodcsez1/3XJ1zx7PWV6beEb5nMe4hrcqN1uNM6kZgcgUm22GMgkGRvmyP5eUpWdtVqQU3NLz+gVVJJ4eSAboj2FeDdDOVUd92nc66L5a/eE0S9Y8VTRyCri5tcw7PL2IdK0q1I6oyG4wm1lMfBc8fKpdguqMOBpWi42S2NkaHNNQfVlwqysLs/QexUpxk5pSAVJS0vmJd5Wxz7xiaTvWudQcH0HJmBSfaf/Js853/GU3xq9yktPt+2GksJFcxtWyn+I7tS5eF5yxOIa4lpGbTmNXLq9CabO3eS/eO7QlC/2b4cneVt2awk/QvDDTTNvu/6qPzG9gUhR7v+qj8xvYFIW8tjy8tyrxFdRtMJY15ieDpMkGtrsx6QQSDzrE8TXTedmkYye0aYfUtLHHUCBUigprW53tebLPGZH1IqAGtFXOcdTQOErOcQzS26aNxYyBsYIo9+k41OxooNW1aFlOSlj/EWuMKLaXPyKbD+CnTgOmnkoeAHX0rtinAcEURLdIuHC5xKcLnsj2tDRMKDLesr2lSbfdDZB84ZJeRztEdDKBMO4aqb8hZU5unzeJGa+BicRW6WN7mhm5OI0iBvg9oFK8hK3Zp2allN4XLEasjs8LdpoK89TmVeeCl8zYpoZSXNjeNyJzo1wO9B4QCPWlrqKnmohmlU2g9x7QhCRGAQhChBHuQ/s8fN7SqDFAJnjpn807+pqvrk/d4+b2/2XKe2wwzbpKQPmiG1Fa7/ADp6l87tnpum/c3s4bZ1wmwiE1BGfDzf9K1kBSJbsdOLvmgGt5RU9ihPxrOftDoTNS2q1Hlo4qE5PUN1rw/E9xcWUcTUuBIPPkaKokwqeO/ru71RuxnNxh0LycYz8YdCNToV4rGQypT6lu/BwOsk+k964nBbfeveqv5Xz8YdHevJxdPxvUEeMKy8wipz6jTdd1uhyBqPf+yvbCCDnsKzc4rn4w6F5fiucimku9hLVqJKjJrBPnNbzZ57v+NycGFZ1cMpda4STU1dXquWgtKWu44aXp+y015Hyxj5uT7x6X7RdjrRaGRN1uIqdg1k9FUx3d9XJ94/tV3hK7A0OncN87JvI3byVot6yhqUfYTq1+yhJ+fkMFnj0WtbsAHQKLohfHOAFTkBrJ4FsGEUOMQREyXRL2xP03BuZ0dFzagcNNIetZtJjSzMJLLO5zicy5NVr8IelKY7LE2RoNNOR5aHcFQA0mnPrUC+MKT2x0cpissVAahjnb4mlC7eDNP2s1FYnt1F60Iy57teRVWPHlpeaWeyV5hl0qFiS/L33MlzRC3kIr7Sny5rkmgaBoRGn+cj0/QUXE8EkjC07gyvC6U/oTCqUu0wksdRdqap5xh9MiN4KXvtVolilkcX6BfU55Age1bZd1gbC3RbzknhKyTBV0OsVqfaBNZX6UZZo7o4Uq5prXR5E/Q4gncd62zO5pnfoS91GUp/LsNU5xUVnCYzoVPdN+iWV8D27nM1odo10g9laaTXcIrwawrhIuLTwwwIQhcIIVyn5iPm9q7TMB1gHnFdqsI8JFo0W2h4aNQ0WGnpovvyVd5S/qM7l42XA7nW5LH3NfvdLOclQY28VvQO73ovhjbxR0BW5wm7yl/UZ3I+SR8pf1GdyuuC3Xp9y6vKPUpdzbxR0DbkvO5N4o6Arv5JO8pf1GdyPkkfKX9VncrLg916fc732j1KQwt4o6AvO5N4regK8OED5S/qs7kfI8+Uv6re5WXB7n0+53vtHqUBjbxR0e/KvhibxR0BX/yOPlD+q3uR8jz5Q/qt7lb4Tc+n3J36j1KBsQGoAehdWa1dfI7/AFD+q3uX0YQPlL+qzuUfCLh9PuTv1Hr+CuuCz7oCwajI7SOxoPuE8MYAABkBkFXXHc7bO1wDi8uNS4gA82Ss16C1o9lTSe5l3NbtJ5WwLKfCNi8yl1mgcdyBpI9v+K7hYDxRwnhOWrXY4/xcaustncRTKaVvB/DadtNZGrVr1I1nsf2nCmwbFr2lt2jy9jHvr1UVpXiZY4NuwboHP9A2LWrv1LN8Ov360i7zkj30VHCQnwupKbk5EmTUVmuO9RWlP1HmWaY8OR50Ow8YzxH/AIxBsUoqU1XBag11c0m2M5lMN2OzHvwrXkvlZkTb7SPuNWFpHvvgPOrcJPW5q1BZzg2I/DwaZbi7tC0ZYF1417HpKHgQIQhLBgQhChAQhChBIt+GG2mSV5mkD90cKCR4AA1DRa6gyovFnwU0DfPkP86T9SucR3I9x3ezO0J26xWgmA+y7/Nsd7FWXRf8kg3wJc00c0iha4cBG1GXNZRVvBS3pdcMOsyfjSfqVcBAfG/jSfqXnHlsfSugQElRXm7YtSlbQlFNmTO8qptYHoRwbZPxpP1L7uUG2T8aT9STmXm5d23k7YUXulMWlxCuhsFnh2yfjSfqXx1nh/ifjSfqS028ncUr0L1OxTulMDLiVx5F+6KL+L+NJ+pRZLM06jMP50n6lXtvbkXRt6k/ZPau92pdAEuJXfX8IkssLG8FAODp6VAvK2gZBS2NmlNGNOe3n2K5uzDjQQCBLKdXCArynClEHQo1bmpqlzFy5r7bG8F9QFpdz4nszmj51oqOH351DxPgZklikaxoNoA0mkb3fA10RziozWN3bYhFJo2oSsOx1W9uv0JXMLo2qdvK15p5z6G/z4hs2ifnW9KzfGt8RProvBz4PfkXy7W3W4Z1J5XHvXC+Y7qa07fONV2hSjSlsy1VusvmfL0ECC8ACa7U+4Lux0jhLJlGMxUa/QVW4PuGzWiVz2NLtHU3M58y2S5bgYIxurN8eCp3o4BkVa6ulBYCK1p1fmXI43IwG0aTBk1hBPPSiZVys9mbGKMaGjkXVY1Sep5NCEdKwCEIVCwIQhQgIQhQgKlva49N+7QnQlpR2yQf5qcI4CrpC7GTi8ojWRUtlwTSfT0Dzn+yhDBruLF7+hPCEXvE0C7GHQSm4RfxIvf0L0MKP4kXT/ZOaF3vNTqc7Cn0Ex+E3nW2Pp/slO/fB1bHOLoXQhus6TyKflWvqgv8iSaKA/RLXSOHA6hAaDtFTWnIESndVc4yUla0XzcTIWYLtVQDabHr8o/+c0+3TgiSNoroOPCdI07FNxRcrDA8aDPon7Iy9Si+CC8nyWaSF5Ltwk0Wkmp0CA4CvJmEedWp2euL5AY0KDqaHHmWbbglGQ0B6f7K6um6xCKmhefpO9g5FYLxPJotc7YCegVSMqspbjcKUIeFHG3XhFCNKWRkY2vcG16VlXhNvGzWqezNilZIAH6Wi4GmYoCosFifb7QZpN8XGu+zDG8DWg6gBs9q026rlihYGhjSaZktCLSfYzUmcm9cWovAr4WsVnZG2u5VoK1Lfao2PLus0kRpuVRqILap1t8DA36DOqO5It93hoH6DOqNicozlUqa0JVIxpw0N/UVfA9aW2a3yiSRrIzC6hcaAu02UHPrW5WO8Ipfq5GP81wNOhZHHfp4ses/ZHdyq50g6AzsAjnZvmPYKEkcDqfSacwQV26tnJ6y1C+hLEPM0xeZHhoJcQAMyTkAOdRrptm7QRS0pujGvpsqAaJM8KDnyugszSdB4e94H2tEtDQeTMn0BZajzwP5GxmILKTQWiInz296sgs1hw62z2Vxe1taHWAo+AsYvbZnRvBfucjmtJOYZRrmj0aVEfu+Yaogo1s1NGPU1JCEJYMCEIUICEIUICEIUICEIUICXL5mDLZCTwxPH52JjWZeF689wlszq0q2TtYj20NdRRBVpOMG0sltjG/GsgIrmRQJFwheVrjEpshbRzquqzSq4ADaleS8ZrY/c4quPCTqA2lOWGfB3PuekJnZnMNOiK8NFquNKlDTIz406826mzJkt/319kx/g/8A0oF5YlvpsbtMxBhBB+apkRTXpZK8dgC08E8o/m1VJiHAd4sic5kxka0VLS7OnTmhJ20n5FlC8X+Q6YWsYjjaOGja9CbUk4cvIAND+KM/Qmpt5R7fUkrnxDNsvlZ9vI7z32LJsXWmjqcq0i+L1jDDn6ljeJ7ya6Q01VTvD1ybYlftuSij5A5Olif+xvrsKz2z2wZJ7uW7ZJ7MdIljCOlO3EkomfQpyVUj2C87z3CMQyEMDGho3NpyoKZ0XTDVttb7bpW54doRkM3oFKuBOocgVjB4NJQxobaXDLI6R2ZZUSFia7rVdtoaJpA8PBLHV1gEVrsSsXQqNpYyami5gm28+hoPhDv9ohDGnN2vmVHguyNMDjQZyH+lqR4pJbZJox1O0nOnOtXwndIis4YTUhxrTbQKTUaUNKYS2hUlLtKhpCEIWKPghCFCAhCFCAhCFCAhCFCAlLwi4O+MYGta4MljdpMcRUZ5OaaZ0I9YTahWhNwepbkM/wAP+Dw2aMMD2VP03Z1PqTzYrKImBjdQ9a7oVp1ZT8RAXx7QQQdRyPMvqEMgmWHDk8EhDQySKp0CcnBvA082qvIr1rZQKbi3pCtkIsqrluDjSUdihtllkeKbk3pCVrfgTdXVMQr5wWjoVo3E4+Eq6EG8y5mcWbAugQRA3L/MmW77nfkJKNYPsjOvImJCkriclzIqFNPKQAJQ8IuDPjGOLRcGSROJaTqLSN8005gfQm9CFCbhLUtwwh3RgV0DAxpYNVTt9ScrBYGxM0W12nlKlIVp1ZT3If/Z"/>
          <p:cNvSpPr>
            <a:spLocks noChangeAspect="1" noChangeArrowheads="1"/>
          </p:cNvSpPr>
          <p:nvPr/>
        </p:nvSpPr>
        <p:spPr bwMode="auto">
          <a:xfrm>
            <a:off x="155575" y="-1165225"/>
            <a:ext cx="2438400" cy="2438400"/>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1042" name="AutoShape 18" descr="data:image/jpeg;base64,/9j/4AAQSkZJRgABAQAAAQABAAD/2wCEAAkGBxQTEhQUExQWFRUXFxgaFxcXFxoXHRUXHhcYGhoYHBgaHCggGh4lHBwYIjEhJSkrLi4uGh8zODMsNygtLisBCgoKDg0OGxAQGy4kICQ3NC4sLywuLDQsLCw0LCwsLCwsLCwsLCwsLCwsLCwsLCwsLCwsLCwsLCwsLCwsLCwsLP/AABEIAMwAzAMBIgACEQEDEQH/xAAbAAACAwEBAQAAAAAAAAAAAAAABgQFBwMCAf/EAEwQAAEDAQQDCggLBgYDAQAAAAEAAgMRBAUGIRIxURMiQVJhcZGSsdEHU1RygaHB8BQVFiMyM0Jzk6LSJDRjg7LhQ2JkgrPxNcLiJf/EABsBAAIDAQEBAAAAAAAAAAAAAAMEAAIFAQYH/8QAMREAAgEDAgMGBgICAwAAAAAAAAECAwQREjEFIVETFDJBYXEVIoGRocEj8EKxM2Jy/9oADAMBAAIRAxEAPwDcUIQoQEIQoQ+E0zKzHFuJX2xxs9lJEGp8jSQZjwhpGpnL9rm1tF+2aS2F8IduVnadF5+1MeFvIwcO3m1/bsu2z2XJu+dyCp6ArYwTKFCxYFjYzSlb0ud3rjNc1kH+HX/c7vUvHeKHMBDWEZcKz1t/SuNSFqW9s3HMmZ9e7xnSOYumy+K/M7vXv4ms3ivzu70sQ3k/ild/jKTilNd2gZUuI18jALlsvivzu70fE1l8V+d3eqD4yk2FfReT+Kegqd2gD+JXAwC5LL4r87u9ffiKzeK/M7vVIy8pOIegrsy+HA75pHq7VO7QK/FbjzGGC6bG0ZwA8um71Zq0w5iXcZBZp3VjcaQSk1I2RvO3Y460qsvAP1ZrhawHgh2YPAqytIyjhlqXGKqqLVsbUhIOG72tTIQwOhlDcmmR7mvA4GmgNaaqqwdftur+7wH+a/8AQsepQlB4Z6WnVhUWYsbkJQN/W/yaD8V/6FHlxXbG64LOOeZ4/wDRUVNvYu2luO6EgfLa0+Ks34zv0Kdd+JbVKaBllH85/wChW7GfQr2kdsjihUtz37usroJGbnM1ofoh2k17CaaTXUFc9YIyV0hyi08MunkEIQuEBCF5kkDRVxAG0mihD0hUdsxZZmZB+6HZGNL16vWqK2Yynd9RAGja8knoFB60N1YLzDwtqktkfbzw7b5JnaE7I4C8uAFdI1NaHJWdjuWeMUa5p2knX6kl2i1XjKamd7eRlGjsXxsVu8ol6xV3evGMf6LfC8vU3z+o3WzDUkn0tA8+fsUdmDnDxfQl0Q23ymXrFexZrb5TL1iu99mW+GpLGUMjcKv/AIfv6F9+S79kfv6EuiyW3yiXrFehYrb5TL1iu9+mDfC4egwfJd+yP39C+/Jh+yP39CX/AIFbfKJesV8+BW3yiXrFc79Mnwun6DF8mn7I/f0Lha8Hue0jeNJ4QTycFKcCpxY7YNdol5y4qhvHEFoYdFlokdTIu0sq8m1cfEJxO/BadTlyZBt8DrNO6NwIc05jsIPCCM/+l0fNXNaRinDAt1mjcDoztYCx+3Kpa7kPqPQsgc98T3RStLXsNHNPAf77Vv2l0qsee546+4c6E8x2HHDjgXio4Fo9hAoszwq6r/QO1abYfopbiG45wjZkhwySjiMNANU3FIuM7RRpS9oszwP3ktMMiRa52F1KcJU/D9rDJKgJZjlq4+/qVrdb981bU1iDMJ86qfqNuF5HvvgPJy3B4/M1aes6wfEfh4NMtxd2haKsC58a9j01DwIEIQlwohzX3b52h0TYomHVQ1dTnIoOhVFou60yGsgEh2vkJ9VKK8uL93i5vaV3ltDW0DnAGlV8/q8Wup1HHOeZu08U3iMUL7LDaBqjj6x7l2ZBah/hx9Y9yszecI1yMHO4I+NoPGs6wVfiF2tl+AjqzfkQQ21eLi6zu5fa2rxUXWcp3xtB41nWHevhvWDxrOsF1cSvOn4K6n0Ie6WrxUXWPcg2i1eKi657lL+NYfGs6w715N6weNj6w71ZcSvOn4Jn/qRfhFr8XH13Ly6e1eLjH+8qWb0h8azrBeTesPjWdYK3xK8/qLL/AMkIyWvis65Xn9r2N657lYQXhE40bIxx2BwJPQpgVZcSuVyZ3XjyQsu3WQOEriGtdolgOTiK6zs5Ev3rHnzU1e+xNrG/W/ev9lUu3tHn0r0Nm3NKT3DxlyNju/6qPzG9gSr4QcHC2M3WKgtDBlskbxTy7Cmq7/qo/Mb2BSFv05uDUkeVqQU8xexhtwVjJ03GNwyIcKUI4DsNU+XJiyD6L5W9KYrww7ZpyXSwtcTrOonnprWW+ErCkEMtnFnbuQcHF2iTnQjbzrRVSFzJReUzPp27tk2msGkS4jswB+eZ0rOcbX7E8EMeCpeG8JQFgdKS7LhcoeMMK2UtIgNXD7LDp19DQc0ejClSqYTeQVVuvT1Pb03M2+MRUiqf8DXTpOE0pOjwDaqHCd0fBrQZLbY5JIdEhoIAIdVpDtEkHIA9K2zD7LFaYWywMboaqZgtI1tI4CF25udHJL6h+50200zxcgDrQXMGTWEE85CZFzggawUa0NHIuiyJy1PI7GOlYBCEKhYSrhH7PH5vtKjWm9RZ7Ywu+i6JwPJvm5qVcf7vF5vtKoMXD5+P7p/9TV864c8X+fVm1pUm0xltN6xv+rZun+3vUA2+n+B+Udy7YO+pPOraUDYvRV7jfJRaYPTgonXifEflXN14nxH5R3K2klGkGgFzjqaBU028npKjWiZ7dcEp5mg9hWTW7Sosxg2gsZQ6fkrTeP8AB/KNq8fGJ8UOhdbRfLGfSjlHOxcbHiGCRwYDRx1BwpXmSioyazoDpcs4Pnxh/BHQF9Mjpd42ICuVdHUrQEKXYTvlanDMkkispqKykLs7oopbPAwDSL6uNNjXHWr5pSPMf/1I/PP9Dk7NK5exw4+37ZJxxgrIG/W/ePVJerNfvsTDY25S/eP7VT3qzXzFensV/GvYspGn3f8AVR+Y3sCkKPd/1UfmN7ApC21sede5UYlt8kUbRFTdJHaDXOFQzIuLiOGgBoNtEji6DNJpWgz2hwqGl7tFo20a0AAak84mu6SaGkLgyZh0oy4VbpUIoRsIJ9Sxq/rzvizvbHPvNKuiW6JBApmC06s+Gi0LOKls1kWravoahYLrjAHzTB52faul6WuKJm+lYwDYQFm9zXRb7UAX2lzGnn9/crlinAhZGXOme9w2n2I/YJzxKXMD2yUM+Rcw22z2mV2jI6QN2avSU34Au8xMlNAGPcNEcoBB9g9CzXwJtHwyaB7Q5u5FwqOEOaOwrdWNAFAKDkS91LT/ABoPSpx8aPqEISIcEIQoQS7j/d4vN9pVBi/6+P7p/wDU1X9x/u8Xm+0qtvy7HT2lgbQUidUng34Xzayem8b9zbTSk8kzBx+ZPOreVyr7qszbMzRfI2pO2i7SW6LxrelNXFWU5PSDazNtFC+0WmKeSQRlzDShaW/RHIfSvlqxgSCPg8tdVatHtVu+3Q+Mb08qjuns/HYmad3V0KEly2D6U3lxEi97e+XVE8c5CXzd82kHBpFCCtUM1n47PUuZlg4zPUjUa7prEYjEaklsvwQbivB72gSfSHDtTDYXb70HsVU2eEansUmK84WVcZBqPCNiEo/PqBzi2thRl/8AKM893/GU7sPv6Ug2e1CS8Y3t1Fzv6XJ8aff0Je+XOK9P2WqLY5XeN7J96/tVbekeTuY9itbqG8k+8f2qFebcjzHsXpbJfxR9gGebQ+3f9VH5jewKQo93/VR+Y3sCkLXWxhvcjXjb44I3SSu0WN1nsAAzJJyACzbFNpfb5ojDC9rGBwLpdFlSSOAmuoJvxvK2OKOWSu5xyBzyBWg0XAGnOR0pBdjG72kkOfISeVP2lN+Nbitw8rRjcarms8rGho3IZDOpdwbBTtXa9rtMopLK4g/ZjYG+s6RSrD4SIRlFZ3u9FexQL+8INu0CY7MY28ZwOXSj9lVc9WwJKnGGnH9+pIteHIWEiCF4eQQX7o/S6QRTNNfguvSeSKaK0EudC8BjzmXMcDQE8JBBFeZI3g0tk1umlbJLvw3SochStDlw61sNz3Y2BmiMyc3GlKoV1JJOMubD04STznl0J6EIWeHBCEKEEu4v3eLzfaV5t4mDi6EMqWaNXGlM67CvVxfu8fm+0oJ07S2IyFgMRcNECpIdTWQdq+aW9OpO7caeM5e+xsvCbbE+14dtkji57mE+ceXkUR2FLVtj6x7loNsuojP4S9o5WsP/AKqvksf+qd1Y+5bboXcOT0hqdxlcv9CUcLWnjR9J7l5OF7Ttj6x7k5Gx/wCqd1GfpXk2b/Uu6rO5ClVrQ3a+wdVn/UJxwtaONH1ndy8nCto4zOse5N5gPlDuqzuXgwHyh3VZ3IavZ9V9mXVRin8lLRtZ1j3L0MKWjjR9Y+0cqahAfKHdVncvFpa5rSW2gk8A0WejgVu+TbxlfZk7RlLc2G5op45Hlmi0kmhJ1gjZypxYff39Cq4Y5Y2xmWUlz3U0dFoFNE11DkVk336P+kC5lKck5Y+gKUtR1uj6En3j+0KLebd67mPYut0WloEjSaHdX+srzeJ3ruY9i9RZv+KOOgtJNSY6WD6qPzG9gUhR7v8Aqo/Mb2BSFqrYxXueJYw4FrgCCKEEVBGwhZB4R8LWWGeDcYmx6QcXBuQNCBq4NfAtIxTaZGxsZE4sdK/R0wKlrdFznFoOWlQUGytUmWe46yFz4t0PA+Z5efzGies8xlrzyFria0uKeGzrhaz2eKMVLGmnCQu2KIxPGWxRvkrxWEDrOAHrVzYmtZrMTOYAUUW+sR2SJp3S0DmBqfUjOpJ1dSQvGlHstEmIGFLutV22l9pdEwh0ZZoGUB2bg6uQIrvVrOFcRxW6HdY6gg6L2HWx/CDt5xrWc2C+LPa3v0Guc1u2oHD0pywBcfwdszxUCVzTo6hkDmOevqQ7pKScpbjFFy5LHIbUIQkBgEIQoQSrjP7PHze0qgxQ4i0REGhEb6Uy+0FfXIf2ePm9pS/is/Px/dP/AKgvnthyvW/f9m7HxMubhg3ePSlcXEGmtTZLki2esqNg8/MnnVxKff39C1ri50tgXKSm0iodcsez1/3XJ1zx7PWV6beEb5nMe4hrcqN1uNM6kZgcgUm22GMgkGRvmyP5eUpWdtVqQU3NLz+gVVJJ4eSAboj2FeDdDOVUd92nc66L5a/eE0S9Y8VTRyCri5tcw7PL2IdK0q1I6oyG4wm1lMfBc8fKpdguqMOBpWi42S2NkaHNNQfVlwqysLs/QexUpxk5pSAVJS0vmJd5Wxz7xiaTvWudQcH0HJmBSfaf/Js853/GU3xq9yktPt+2GksJFcxtWyn+I7tS5eF5yxOIa4lpGbTmNXLq9CabO3eS/eO7QlC/2b4cneVt2awk/QvDDTTNvu/6qPzG9gUhR7v+qj8xvYFIW8tjy8tyrxFdRtMJY15ieDpMkGtrsx6QQSDzrE8TXTedmkYye0aYfUtLHHUCBUigprW53tebLPGZH1IqAGtFXOcdTQOErOcQzS26aNxYyBsYIo9+k41OxooNW1aFlOSlj/EWuMKLaXPyKbD+CnTgOmnkoeAHX0rtinAcEURLdIuHC5xKcLnsj2tDRMKDLesr2lSbfdDZB84ZJeRztEdDKBMO4aqb8hZU5unzeJGa+BicRW6WN7mhm5OI0iBvg9oFK8hK3Zp2allN4XLEasjs8LdpoK89TmVeeCl8zYpoZSXNjeNyJzo1wO9B4QCPWlrqKnmohmlU2g9x7QhCRGAQhChBHuQ/s8fN7SqDFAJnjpn807+pqvrk/d4+b2/2XKe2wwzbpKQPmiG1Fa7/ADp6l87tnpum/c3s4bZ1wmwiE1BGfDzf9K1kBSJbsdOLvmgGt5RU9ihPxrOftDoTNS2q1Hlo4qE5PUN1rw/E9xcWUcTUuBIPPkaKokwqeO/ru71RuxnNxh0LycYz8YdCNToV4rGQypT6lu/BwOsk+k964nBbfeveqv5Xz8YdHevJxdPxvUEeMKy8wipz6jTdd1uhyBqPf+yvbCCDnsKzc4rn4w6F5fiucimku9hLVqJKjJrBPnNbzZ57v+NycGFZ1cMpda4STU1dXquWgtKWu44aXp+y015Hyxj5uT7x6X7RdjrRaGRN1uIqdg1k9FUx3d9XJ94/tV3hK7A0OncN87JvI3byVot6yhqUfYTq1+yhJ+fkMFnj0WtbsAHQKLohfHOAFTkBrJ4FsGEUOMQREyXRL2xP03BuZ0dFzagcNNIetZtJjSzMJLLO5zicy5NVr8IelKY7LE2RoNNOR5aHcFQA0mnPrUC+MKT2x0cpissVAahjnb4mlC7eDNP2s1FYnt1F60Iy57teRVWPHlpeaWeyV5hl0qFiS/L33MlzRC3kIr7Sny5rkmgaBoRGn+cj0/QUXE8EkjC07gyvC6U/oTCqUu0wksdRdqap5xh9MiN4KXvtVolilkcX6BfU55Age1bZd1gbC3RbzknhKyTBV0OsVqfaBNZX6UZZo7o4Uq5prXR5E/Q4gncd62zO5pnfoS91GUp/LsNU5xUVnCYzoVPdN+iWV8D27nM1odo10g9laaTXcIrwawrhIuLTwwwIQhcIIVyn5iPm9q7TMB1gHnFdqsI8JFo0W2h4aNQ0WGnpovvyVd5S/qM7l42XA7nW5LH3NfvdLOclQY28VvQO73ovhjbxR0BW5wm7yl/UZ3I+SR8pf1GdyuuC3Xp9y6vKPUpdzbxR0DbkvO5N4o6Arv5JO8pf1GdyPkkfKX9VncrLg916fc732j1KQwt4o6AvO5N4regK8OED5S/qs7kfI8+Uv6re5WXB7n0+53vtHqUBjbxR0e/KvhibxR0BX/yOPlD+q3uR8jz5Q/qt7lb4Tc+n3J36j1KBsQGoAehdWa1dfI7/AFD+q3uX0YQPlL+qzuUfCLh9PuTv1Hr+CuuCz7oCwajI7SOxoPuE8MYAABkBkFXXHc7bO1wDi8uNS4gA82Ss16C1o9lTSe5l3NbtJ5WwLKfCNi8yl1mgcdyBpI9v+K7hYDxRwnhOWrXY4/xcaustncRTKaVvB/DadtNZGrVr1I1nsf2nCmwbFr2lt2jy9jHvr1UVpXiZY4NuwboHP9A2LWrv1LN8Ov360i7zkj30VHCQnwupKbk5EmTUVmuO9RWlP1HmWaY8OR50Ow8YzxH/AIxBsUoqU1XBag11c0m2M5lMN2OzHvwrXkvlZkTb7SPuNWFpHvvgPOrcJPW5q1BZzg2I/DwaZbi7tC0ZYF1417HpKHgQIQhLBgQhChAQhChBIt+GG2mSV5mkD90cKCR4AA1DRa6gyovFnwU0DfPkP86T9SucR3I9x3ezO0J26xWgmA+y7/Nsd7FWXRf8kg3wJc00c0iha4cBG1GXNZRVvBS3pdcMOsyfjSfqVcBAfG/jSfqXnHlsfSugQElRXm7YtSlbQlFNmTO8qptYHoRwbZPxpP1L7uUG2T8aT9STmXm5d23k7YUXulMWlxCuhsFnh2yfjSfqXx1nh/ifjSfqS028ncUr0L1OxTulMDLiVx5F+6KL+L+NJ+pRZLM06jMP50n6lXtvbkXRt6k/ZPau92pdAEuJXfX8IkssLG8FAODp6VAvK2gZBS2NmlNGNOe3n2K5uzDjQQCBLKdXCArynClEHQo1bmpqlzFy5r7bG8F9QFpdz4nszmj51oqOH351DxPgZklikaxoNoA0mkb3fA10RziozWN3bYhFJo2oSsOx1W9uv0JXMLo2qdvK15p5z6G/z4hs2ifnW9KzfGt8RProvBz4PfkXy7W3W4Z1J5XHvXC+Y7qa07fONV2hSjSlsy1VusvmfL0ECC8ACa7U+4Lux0jhLJlGMxUa/QVW4PuGzWiVz2NLtHU3M58y2S5bgYIxurN8eCp3o4BkVa6ulBYCK1p1fmXI43IwG0aTBk1hBPPSiZVys9mbGKMaGjkXVY1Sep5NCEdKwCEIVCwIQhQgIQhQgKlva49N+7QnQlpR2yQf5qcI4CrpC7GTi8ojWRUtlwTSfT0Dzn+yhDBruLF7+hPCEXvE0C7GHQSm4RfxIvf0L0MKP4kXT/ZOaF3vNTqc7Cn0Ex+E3nW2Pp/slO/fB1bHOLoXQhus6TyKflWvqgv8iSaKA/RLXSOHA6hAaDtFTWnIESndVc4yUla0XzcTIWYLtVQDabHr8o/+c0+3TgiSNoroOPCdI07FNxRcrDA8aDPon7Iy9Si+CC8nyWaSF5Ltwk0Wkmp0CA4CvJmEedWp2euL5AY0KDqaHHmWbbglGQ0B6f7K6um6xCKmhefpO9g5FYLxPJotc7YCegVSMqspbjcKUIeFHG3XhFCNKWRkY2vcG16VlXhNvGzWqezNilZIAH6Wi4GmYoCosFifb7QZpN8XGu+zDG8DWg6gBs9q026rlihYGhjSaZktCLSfYzUmcm9cWovAr4WsVnZG2u5VoK1Lfao2PLus0kRpuVRqILap1t8DA36DOqO5It93hoH6DOqNicozlUqa0JVIxpw0N/UVfA9aW2a3yiSRrIzC6hcaAu02UHPrW5WO8Ipfq5GP81wNOhZHHfp4ses/ZHdyq50g6AzsAjnZvmPYKEkcDqfSacwQV26tnJ6y1C+hLEPM0xeZHhoJcQAMyTkAOdRrptm7QRS0pujGvpsqAaJM8KDnyugszSdB4e94H2tEtDQeTMn0BZajzwP5GxmILKTQWiInz296sgs1hw62z2Vxe1taHWAo+AsYvbZnRvBfucjmtJOYZRrmj0aVEfu+Yaogo1s1NGPU1JCEJYMCEIUICEIUICEIUICEIUICXL5mDLZCTwxPH52JjWZeF689wlszq0q2TtYj20NdRRBVpOMG0sltjG/GsgIrmRQJFwheVrjEpshbRzquqzSq4ADaleS8ZrY/c4quPCTqA2lOWGfB3PuekJnZnMNOiK8NFquNKlDTIz406826mzJkt/319kx/g/8A0oF5YlvpsbtMxBhBB+apkRTXpZK8dgC08E8o/m1VJiHAd4sic5kxka0VLS7OnTmhJ20n5FlC8X+Q6YWsYjjaOGja9CbUk4cvIAND+KM/Qmpt5R7fUkrnxDNsvlZ9vI7z32LJsXWmjqcq0i+L1jDDn6ljeJ7ya6Q01VTvD1ybYlftuSij5A5Olif+xvrsKz2z2wZJ7uW7ZJ7MdIljCOlO3EkomfQpyVUj2C87z3CMQyEMDGho3NpyoKZ0XTDVttb7bpW54doRkM3oFKuBOocgVjB4NJQxobaXDLI6R2ZZUSFia7rVdtoaJpA8PBLHV1gEVrsSsXQqNpYyami5gm28+hoPhDv9ohDGnN2vmVHguyNMDjQZyH+lqR4pJbZJox1O0nOnOtXwndIis4YTUhxrTbQKTUaUNKYS2hUlLtKhpCEIWKPghCFCAhCFCAhCFCAhCFCAlLwi4O+MYGta4MljdpMcRUZ5OaaZ0I9YTahWhNwepbkM/wAP+Dw2aMMD2VP03Z1PqTzYrKImBjdQ9a7oVp1ZT8RAXx7QQQdRyPMvqEMgmWHDk8EhDQySKp0CcnBvA082qvIr1rZQKbi3pCtkIsqrluDjSUdihtllkeKbk3pCVrfgTdXVMQr5wWjoVo3E4+Eq6EG8y5mcWbAugQRA3L/MmW77nfkJKNYPsjOvImJCkriclzIqFNPKQAJQ8IuDPjGOLRcGSROJaTqLSN8005gfQm9CFCbhLUtwwh3RgV0DAxpYNVTt9ScrBYGxM0W12nlKlIVp1ZT3If/Z"/>
          <p:cNvSpPr>
            <a:spLocks noChangeAspect="1" noChangeArrowheads="1"/>
          </p:cNvSpPr>
          <p:nvPr/>
        </p:nvSpPr>
        <p:spPr bwMode="auto">
          <a:xfrm>
            <a:off x="155575" y="-1165225"/>
            <a:ext cx="2438400" cy="2438400"/>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grpSp>
        <p:nvGrpSpPr>
          <p:cNvPr id="2" name="Group 47"/>
          <p:cNvGrpSpPr/>
          <p:nvPr/>
        </p:nvGrpSpPr>
        <p:grpSpPr>
          <a:xfrm>
            <a:off x="1907704" y="1556792"/>
            <a:ext cx="5112568" cy="369332"/>
            <a:chOff x="755576" y="1556792"/>
            <a:chExt cx="5112568" cy="369332"/>
          </a:xfrm>
        </p:grpSpPr>
        <p:sp>
          <p:nvSpPr>
            <p:cNvPr id="5" name="TextBox 4"/>
            <p:cNvSpPr txBox="1"/>
            <p:nvPr/>
          </p:nvSpPr>
          <p:spPr>
            <a:xfrm>
              <a:off x="755576" y="1556792"/>
              <a:ext cx="1296144" cy="369332"/>
            </a:xfrm>
            <a:prstGeom prst="rect">
              <a:avLst/>
            </a:prstGeom>
            <a:solidFill>
              <a:srgbClr val="00B050"/>
            </a:solidFill>
            <a:ln>
              <a:solidFill>
                <a:schemeClr val="tx1"/>
              </a:solidFill>
            </a:ln>
          </p:spPr>
          <p:txBody>
            <a:bodyPr wrap="square" rtlCol="0">
              <a:spAutoFit/>
            </a:bodyPr>
            <a:lstStyle/>
            <a:p>
              <a:pPr algn="ctr"/>
              <a:r>
                <a:rPr lang="en-IN" dirty="0" smtClean="0">
                  <a:solidFill>
                    <a:schemeClr val="bg1"/>
                  </a:solidFill>
                </a:rPr>
                <a:t>Message</a:t>
              </a:r>
              <a:endParaRPr lang="en-IN" dirty="0">
                <a:solidFill>
                  <a:schemeClr val="bg1"/>
                </a:solidFill>
              </a:endParaRPr>
            </a:p>
          </p:txBody>
        </p:sp>
        <p:sp>
          <p:nvSpPr>
            <p:cNvPr id="42" name="TextBox 41"/>
            <p:cNvSpPr txBox="1"/>
            <p:nvPr/>
          </p:nvSpPr>
          <p:spPr>
            <a:xfrm>
              <a:off x="3419872" y="1556792"/>
              <a:ext cx="2448272" cy="338554"/>
            </a:xfrm>
            <a:prstGeom prst="rect">
              <a:avLst/>
            </a:prstGeom>
            <a:noFill/>
          </p:spPr>
          <p:txBody>
            <a:bodyPr wrap="square" rtlCol="0">
              <a:spAutoFit/>
            </a:bodyPr>
            <a:lstStyle/>
            <a:p>
              <a:r>
                <a:rPr lang="en-IN" sz="1600" dirty="0" smtClean="0"/>
                <a:t>Original email message</a:t>
              </a:r>
              <a:endParaRPr lang="en-IN" sz="1600" dirty="0"/>
            </a:p>
          </p:txBody>
        </p:sp>
      </p:grpSp>
      <p:grpSp>
        <p:nvGrpSpPr>
          <p:cNvPr id="7" name="Group 48"/>
          <p:cNvGrpSpPr/>
          <p:nvPr/>
        </p:nvGrpSpPr>
        <p:grpSpPr>
          <a:xfrm>
            <a:off x="1907704" y="2276872"/>
            <a:ext cx="4968552" cy="584775"/>
            <a:chOff x="755576" y="2276872"/>
            <a:chExt cx="4968552" cy="584775"/>
          </a:xfrm>
        </p:grpSpPr>
        <p:sp>
          <p:nvSpPr>
            <p:cNvPr id="6" name="TextBox 5"/>
            <p:cNvSpPr txBox="1"/>
            <p:nvPr/>
          </p:nvSpPr>
          <p:spPr>
            <a:xfrm>
              <a:off x="755576" y="2348880"/>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sp>
          <p:nvSpPr>
            <p:cNvPr id="43" name="TextBox 42"/>
            <p:cNvSpPr txBox="1"/>
            <p:nvPr/>
          </p:nvSpPr>
          <p:spPr>
            <a:xfrm>
              <a:off x="3275856" y="2276872"/>
              <a:ext cx="2448272" cy="584775"/>
            </a:xfrm>
            <a:prstGeom prst="rect">
              <a:avLst/>
            </a:prstGeom>
            <a:noFill/>
          </p:spPr>
          <p:txBody>
            <a:bodyPr wrap="square" rtlCol="0">
              <a:spAutoFit/>
            </a:bodyPr>
            <a:lstStyle/>
            <a:p>
              <a:pPr algn="ctr"/>
              <a:r>
                <a:rPr lang="en-IN" sz="1600" dirty="0" smtClean="0"/>
                <a:t>Fixed length Hash Code is generated for the message</a:t>
              </a:r>
            </a:p>
          </p:txBody>
        </p:sp>
      </p:grpSp>
      <p:grpSp>
        <p:nvGrpSpPr>
          <p:cNvPr id="9" name="Group 49"/>
          <p:cNvGrpSpPr/>
          <p:nvPr/>
        </p:nvGrpSpPr>
        <p:grpSpPr>
          <a:xfrm>
            <a:off x="1907704" y="2924944"/>
            <a:ext cx="4968552" cy="975013"/>
            <a:chOff x="755576" y="2924944"/>
            <a:chExt cx="4968552" cy="975013"/>
          </a:xfrm>
        </p:grpSpPr>
        <p:grpSp>
          <p:nvGrpSpPr>
            <p:cNvPr id="10" name="Group 25"/>
            <p:cNvGrpSpPr/>
            <p:nvPr/>
          </p:nvGrpSpPr>
          <p:grpSpPr>
            <a:xfrm>
              <a:off x="755576" y="2924944"/>
              <a:ext cx="1424186" cy="657364"/>
              <a:chOff x="755576" y="2780928"/>
              <a:chExt cx="1424186" cy="657364"/>
            </a:xfrm>
          </p:grpSpPr>
          <p:sp>
            <p:nvSpPr>
              <p:cNvPr id="8" name="TextBox 7"/>
              <p:cNvSpPr txBox="1"/>
              <p:nvPr/>
            </p:nvSpPr>
            <p:spPr>
              <a:xfrm>
                <a:off x="755576" y="3068960"/>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pic>
            <p:nvPicPr>
              <p:cNvPr id="1038" name="Picture 14" descr="Padlock  Clip Art"/>
              <p:cNvPicPr>
                <a:picLocks noChangeAspect="1" noChangeArrowheads="1"/>
              </p:cNvPicPr>
              <p:nvPr/>
            </p:nvPicPr>
            <p:blipFill>
              <a:blip r:embed="rId2" cstate="print"/>
              <a:srcRect/>
              <a:stretch>
                <a:fillRect/>
              </a:stretch>
            </p:blipFill>
            <p:spPr bwMode="auto">
              <a:xfrm>
                <a:off x="1907704" y="2780928"/>
                <a:ext cx="272058" cy="388654"/>
              </a:xfrm>
              <a:prstGeom prst="rect">
                <a:avLst/>
              </a:prstGeom>
              <a:noFill/>
            </p:spPr>
          </p:pic>
        </p:grpSp>
        <p:sp>
          <p:nvSpPr>
            <p:cNvPr id="44" name="TextBox 43"/>
            <p:cNvSpPr txBox="1"/>
            <p:nvPr/>
          </p:nvSpPr>
          <p:spPr>
            <a:xfrm>
              <a:off x="3275856" y="3068960"/>
              <a:ext cx="2448272" cy="830997"/>
            </a:xfrm>
            <a:prstGeom prst="rect">
              <a:avLst/>
            </a:prstGeom>
            <a:noFill/>
          </p:spPr>
          <p:txBody>
            <a:bodyPr wrap="square" rtlCol="0">
              <a:spAutoFit/>
            </a:bodyPr>
            <a:lstStyle/>
            <a:p>
              <a:pPr algn="ctr"/>
              <a:r>
                <a:rPr lang="en-IN" sz="1600" dirty="0" smtClean="0"/>
                <a:t>Hash code is encrypted using sender’s private key (the digital signature)</a:t>
              </a:r>
              <a:endParaRPr lang="en-IN" sz="1600" dirty="0"/>
            </a:p>
          </p:txBody>
        </p:sp>
      </p:grpSp>
      <p:pic>
        <p:nvPicPr>
          <p:cNvPr id="1046" name="Picture 22" descr="https://lh5.ggpht.com/NEJyVTa3UwnxS51iSbV_GaZZ4ZlRFfoC_1u3uUduIex_L_QDNJ_hjWRmfYuJSSiq7FM=w300"/>
          <p:cNvPicPr>
            <a:picLocks noChangeAspect="1" noChangeArrowheads="1"/>
          </p:cNvPicPr>
          <p:nvPr/>
        </p:nvPicPr>
        <p:blipFill>
          <a:blip r:embed="rId3" cstate="print"/>
          <a:srcRect/>
          <a:stretch>
            <a:fillRect/>
          </a:stretch>
        </p:blipFill>
        <p:spPr bwMode="auto">
          <a:xfrm>
            <a:off x="3347864" y="2996952"/>
            <a:ext cx="337220" cy="337220"/>
          </a:xfrm>
          <a:prstGeom prst="rect">
            <a:avLst/>
          </a:prstGeom>
          <a:noFill/>
        </p:spPr>
      </p:pic>
      <p:grpSp>
        <p:nvGrpSpPr>
          <p:cNvPr id="11" name="Group 50"/>
          <p:cNvGrpSpPr/>
          <p:nvPr/>
        </p:nvGrpSpPr>
        <p:grpSpPr>
          <a:xfrm>
            <a:off x="1907704" y="3789040"/>
            <a:ext cx="5040560" cy="1047021"/>
            <a:chOff x="755576" y="3789040"/>
            <a:chExt cx="5040560" cy="1047021"/>
          </a:xfrm>
        </p:grpSpPr>
        <p:grpSp>
          <p:nvGrpSpPr>
            <p:cNvPr id="12" name="Group 26"/>
            <p:cNvGrpSpPr/>
            <p:nvPr/>
          </p:nvGrpSpPr>
          <p:grpSpPr>
            <a:xfrm>
              <a:off x="755576" y="3789040"/>
              <a:ext cx="1424186" cy="945396"/>
              <a:chOff x="755576" y="3573016"/>
              <a:chExt cx="1424186" cy="945396"/>
            </a:xfrm>
          </p:grpSpPr>
          <p:sp>
            <p:nvSpPr>
              <p:cNvPr id="16" name="TextBox 15"/>
              <p:cNvSpPr txBox="1"/>
              <p:nvPr/>
            </p:nvSpPr>
            <p:spPr>
              <a:xfrm>
                <a:off x="755576" y="4149080"/>
                <a:ext cx="1296144" cy="369332"/>
              </a:xfrm>
              <a:prstGeom prst="rect">
                <a:avLst/>
              </a:prstGeom>
              <a:solidFill>
                <a:srgbClr val="00B050"/>
              </a:solidFill>
              <a:ln>
                <a:solidFill>
                  <a:schemeClr val="tx1"/>
                </a:solidFill>
              </a:ln>
            </p:spPr>
            <p:txBody>
              <a:bodyPr wrap="square" rtlCol="0">
                <a:spAutoFit/>
              </a:bodyPr>
              <a:lstStyle/>
              <a:p>
                <a:pPr algn="ctr"/>
                <a:r>
                  <a:rPr lang="en-IN" dirty="0" smtClean="0">
                    <a:solidFill>
                      <a:schemeClr val="bg1"/>
                    </a:solidFill>
                  </a:rPr>
                  <a:t>Message</a:t>
                </a:r>
                <a:endParaRPr lang="en-IN" dirty="0">
                  <a:solidFill>
                    <a:schemeClr val="bg1"/>
                  </a:solidFill>
                </a:endParaRPr>
              </a:p>
            </p:txBody>
          </p:sp>
          <p:sp>
            <p:nvSpPr>
              <p:cNvPr id="17" name="TextBox 16"/>
              <p:cNvSpPr txBox="1"/>
              <p:nvPr/>
            </p:nvSpPr>
            <p:spPr>
              <a:xfrm>
                <a:off x="755576" y="3789040"/>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pic>
            <p:nvPicPr>
              <p:cNvPr id="18" name="Picture 14" descr="Padlock  Clip Art"/>
              <p:cNvPicPr>
                <a:picLocks noChangeAspect="1" noChangeArrowheads="1"/>
              </p:cNvPicPr>
              <p:nvPr/>
            </p:nvPicPr>
            <p:blipFill>
              <a:blip r:embed="rId2" cstate="print"/>
              <a:srcRect/>
              <a:stretch>
                <a:fillRect/>
              </a:stretch>
            </p:blipFill>
            <p:spPr bwMode="auto">
              <a:xfrm>
                <a:off x="1907704" y="3573016"/>
                <a:ext cx="272058" cy="388654"/>
              </a:xfrm>
              <a:prstGeom prst="rect">
                <a:avLst/>
              </a:prstGeom>
              <a:noFill/>
            </p:spPr>
          </p:pic>
        </p:grpSp>
        <p:sp>
          <p:nvSpPr>
            <p:cNvPr id="46" name="TextBox 45"/>
            <p:cNvSpPr txBox="1"/>
            <p:nvPr/>
          </p:nvSpPr>
          <p:spPr>
            <a:xfrm>
              <a:off x="3347864" y="4005064"/>
              <a:ext cx="2448272" cy="830997"/>
            </a:xfrm>
            <a:prstGeom prst="rect">
              <a:avLst/>
            </a:prstGeom>
            <a:noFill/>
          </p:spPr>
          <p:txBody>
            <a:bodyPr wrap="square" rtlCol="0">
              <a:spAutoFit/>
            </a:bodyPr>
            <a:lstStyle/>
            <a:p>
              <a:pPr algn="ctr"/>
              <a:r>
                <a:rPr lang="en-IN" sz="1600" dirty="0" smtClean="0"/>
                <a:t>Encrypted hash code is prepended with the message</a:t>
              </a:r>
              <a:endParaRPr lang="en-IN" sz="1600" dirty="0"/>
            </a:p>
          </p:txBody>
        </p:sp>
      </p:grpSp>
      <p:grpSp>
        <p:nvGrpSpPr>
          <p:cNvPr id="13" name="Group 54"/>
          <p:cNvGrpSpPr/>
          <p:nvPr/>
        </p:nvGrpSpPr>
        <p:grpSpPr>
          <a:xfrm>
            <a:off x="1547664" y="4869160"/>
            <a:ext cx="5472608" cy="1440160"/>
            <a:chOff x="1547664" y="4869160"/>
            <a:chExt cx="5472608" cy="1440160"/>
          </a:xfrm>
        </p:grpSpPr>
        <p:grpSp>
          <p:nvGrpSpPr>
            <p:cNvPr id="14" name="Group 51"/>
            <p:cNvGrpSpPr/>
            <p:nvPr/>
          </p:nvGrpSpPr>
          <p:grpSpPr>
            <a:xfrm>
              <a:off x="1547664" y="4869160"/>
              <a:ext cx="5472608" cy="1440160"/>
              <a:chOff x="395536" y="4869160"/>
              <a:chExt cx="5472608" cy="1440160"/>
            </a:xfrm>
          </p:grpSpPr>
          <p:grpSp>
            <p:nvGrpSpPr>
              <p:cNvPr id="15" name="Group 27"/>
              <p:cNvGrpSpPr/>
              <p:nvPr/>
            </p:nvGrpSpPr>
            <p:grpSpPr>
              <a:xfrm>
                <a:off x="395536" y="4869160"/>
                <a:ext cx="1800200" cy="1440160"/>
                <a:chOff x="395536" y="4581128"/>
                <a:chExt cx="1800200" cy="1440160"/>
              </a:xfrm>
            </p:grpSpPr>
            <p:sp>
              <p:nvSpPr>
                <p:cNvPr id="19" name="TextBox 18"/>
                <p:cNvSpPr txBox="1"/>
                <p:nvPr/>
              </p:nvSpPr>
              <p:spPr>
                <a:xfrm>
                  <a:off x="755576" y="5445224"/>
                  <a:ext cx="1296144" cy="369332"/>
                </a:xfrm>
                <a:prstGeom prst="rect">
                  <a:avLst/>
                </a:prstGeom>
                <a:solidFill>
                  <a:srgbClr val="00B050"/>
                </a:solidFill>
                <a:ln>
                  <a:solidFill>
                    <a:schemeClr val="tx1"/>
                  </a:solidFill>
                </a:ln>
              </p:spPr>
              <p:txBody>
                <a:bodyPr wrap="square" rtlCol="0">
                  <a:spAutoFit/>
                </a:bodyPr>
                <a:lstStyle/>
                <a:p>
                  <a:pPr algn="ctr"/>
                  <a:r>
                    <a:rPr lang="en-IN" dirty="0" smtClean="0">
                      <a:solidFill>
                        <a:schemeClr val="bg1"/>
                      </a:solidFill>
                    </a:rPr>
                    <a:t>Message</a:t>
                  </a:r>
                  <a:endParaRPr lang="en-IN" dirty="0">
                    <a:solidFill>
                      <a:schemeClr val="bg1"/>
                    </a:solidFill>
                  </a:endParaRPr>
                </a:p>
              </p:txBody>
            </p:sp>
            <p:sp>
              <p:nvSpPr>
                <p:cNvPr id="20" name="TextBox 19"/>
                <p:cNvSpPr txBox="1"/>
                <p:nvPr/>
              </p:nvSpPr>
              <p:spPr>
                <a:xfrm>
                  <a:off x="755576" y="5085184"/>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pic>
              <p:nvPicPr>
                <p:cNvPr id="21" name="Picture 14" descr="Padlock  Clip Art"/>
                <p:cNvPicPr>
                  <a:picLocks noChangeAspect="1" noChangeArrowheads="1"/>
                </p:cNvPicPr>
                <p:nvPr/>
              </p:nvPicPr>
              <p:blipFill>
                <a:blip r:embed="rId2" cstate="print"/>
                <a:srcRect/>
                <a:stretch>
                  <a:fillRect/>
                </a:stretch>
              </p:blipFill>
              <p:spPr bwMode="auto">
                <a:xfrm>
                  <a:off x="1835696" y="4869160"/>
                  <a:ext cx="272058" cy="388654"/>
                </a:xfrm>
                <a:prstGeom prst="rect">
                  <a:avLst/>
                </a:prstGeom>
                <a:noFill/>
              </p:spPr>
            </p:pic>
            <p:sp>
              <p:nvSpPr>
                <p:cNvPr id="22" name="Rectangle 21"/>
                <p:cNvSpPr/>
                <p:nvPr/>
              </p:nvSpPr>
              <p:spPr>
                <a:xfrm>
                  <a:off x="611560" y="4797152"/>
                  <a:ext cx="1584176" cy="12241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44" name="Picture 20" descr="http://www.teleconformity.com/images/zip-symbol.gif"/>
                <p:cNvPicPr>
                  <a:picLocks noChangeAspect="1" noChangeArrowheads="1"/>
                </p:cNvPicPr>
                <p:nvPr/>
              </p:nvPicPr>
              <p:blipFill>
                <a:blip r:embed="rId4" cstate="print"/>
                <a:srcRect/>
                <a:stretch>
                  <a:fillRect/>
                </a:stretch>
              </p:blipFill>
              <p:spPr bwMode="auto">
                <a:xfrm>
                  <a:off x="395536" y="4581128"/>
                  <a:ext cx="432048" cy="432048"/>
                </a:xfrm>
                <a:prstGeom prst="rect">
                  <a:avLst/>
                </a:prstGeom>
                <a:noFill/>
              </p:spPr>
            </p:pic>
          </p:grpSp>
          <p:sp>
            <p:nvSpPr>
              <p:cNvPr id="47" name="TextBox 46"/>
              <p:cNvSpPr txBox="1"/>
              <p:nvPr/>
            </p:nvSpPr>
            <p:spPr>
              <a:xfrm>
                <a:off x="3419872" y="5229200"/>
                <a:ext cx="2448272" cy="1077218"/>
              </a:xfrm>
              <a:prstGeom prst="rect">
                <a:avLst/>
              </a:prstGeom>
              <a:noFill/>
            </p:spPr>
            <p:txBody>
              <a:bodyPr wrap="square" rtlCol="0">
                <a:spAutoFit/>
              </a:bodyPr>
              <a:lstStyle/>
              <a:p>
                <a:pPr algn="ctr"/>
                <a:r>
                  <a:rPr lang="en-IN" sz="1600" dirty="0" smtClean="0"/>
                  <a:t>The resultant packet is zipped and transmitted over the communication channel</a:t>
                </a:r>
                <a:endParaRPr lang="en-IN" sz="1600" dirty="0"/>
              </a:p>
            </p:txBody>
          </p:sp>
        </p:grpSp>
        <p:cxnSp>
          <p:nvCxnSpPr>
            <p:cNvPr id="54" name="Straight Connector 53"/>
            <p:cNvCxnSpPr/>
            <p:nvPr/>
          </p:nvCxnSpPr>
          <p:spPr>
            <a:xfrm>
              <a:off x="3491880" y="6237312"/>
              <a:ext cx="1224136" cy="0"/>
            </a:xfrm>
            <a:prstGeom prst="line">
              <a:avLst/>
            </a:prstGeom>
            <a:ln w="317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E-Mail Integrity using PGP</a:t>
            </a:r>
          </a:p>
          <a:p>
            <a:r>
              <a:rPr lang="en-IN" sz="2000" dirty="0" smtClean="0"/>
              <a:t>Receiver Side Procedure</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26</a:t>
            </a:fld>
            <a:endParaRPr lang="en-US" dirty="0"/>
          </a:p>
        </p:txBody>
      </p:sp>
      <p:sp>
        <p:nvSpPr>
          <p:cNvPr id="1026" name="AutoShape 2" descr="data:image/jpeg;base64,/9j/4AAQSkZJRgABAQAAAQABAAD/2wCEAAkGBxQHEhMSExIVFRUUFxYaFxYTGB0ZFhAUFhoZGBYVFxgkHSgiJB0nIB4VLTEiJSorLi8uFx8zODMsNygtLisBCgoKBQUFDgUFDisZExkrKysrKysrKysrKysrKysrKysrKysrKysrKysrKysrKysrKysrKysrKysrKysrKysrK//AABEIAPgArQMBIgACEQEDEQH/xAAcAAEBAAIDAQEAAAAAAAAAAAAACAYHAQMFBAL/xABNEAABAwIBBQoICggFBQAAAAABAAIDBBEFBgchMVEIEjVBVGFxdJKyExciMkKBodIUFlJygpGxs8HTFSMzU5Oi0fAkNGJj4URzg8Lx/8QAFAEBAAAAAAAAAAAAAAAAAAAAAP/EABQRAQAAAAAAAAAAAAAAAAAAAAD/2gAMAwEAAhEDEQA/AN4oiICIiAiIgIseyuyypckmb6ok8oi7YmaZZPmt2X4zYc60dlVnnrcWLm04FLGdA3vlSkbS8iw9Q0beNBQuJYtBhTd9PNHENsjg2/RfWsRxDO5hdESPhBkP+0xzgfXaymCpndVuL5HOe92lznkuc47STpK/CCiZM+9Aw6Iap3OGM/GQLups+OHSmzm1DOd0YPdcVOCIKuwvOZhmJ6G1jGk6hLeMntALK4J21LQ5jmuadTmkEHoIUSr0cGxyowJ2/pp5ITx7x1mu+c3UfWCgs1FozJDPm5pbHiEQI/fw627N9Hx9LTxait0YXicWLxtmgkbJG7U5huOjp5kH1oiICIiAiIgIiICIiAtX50c6bcm70tLvZKm3lO1spr7dr/8ATxcexdmeLOF8WI/gtOR8KlbpdyaM6N/b5R4h69l5uc4uJJNydJJ1knWSg766skxGR8sr3SSPN3Peblx/viXQi76CikxKRkMLHSSPNmsaLlx/u+niAQdC4ut15JZiy/eyV81uPwEOvofJ+DR61tPB8iaDBgBFSRC3pOaHu6d865ugkIadWnoXF1bjGhgsAANg1LqqqOOsFpI2PGx7Q4fUQgihcqp8ezWYbjIP+HELz6cHkEHbbzT6wtQ5ZZnavAQ6WA/Cohp8ltpWjnZpvba36gg1svcyRysqckphLTvsD58btMco2OG3YRpC8PUiCtsg8tYMs4PCR+RI2wlhJu6J3TxtPE77DoWTqNMnccmycqGVMDt69h9T2nzmOHG0/wDPEqtyKyoiytpWVMWgnRIy9zFIPOafwPGCEHvIiICIiAiIgLx8rcfZkzSTVUmkRt8lt7eEedDGX5zZewp/3Q2URq6iKhYfIhb4SS3pSv0NB+a3vnYg1bi2JSYxNJUTO30kri5x5zxDmGodC+RF+6eF1S5rGNLnPcGtaNbnONgB0myD1MlcnJsqahtPANJ0ucfNiZxvdzDZxqoMhsiafI2LeRDfSOt4SZw8uQ/g3Y0LozbZGMyNpQywM8lnTP2u+QD8lvF6zxrLUBERAREQEREGtM52a2PKRrqimDYqoaSLWZU8ztjtjvr13E41VO6ke6ORpa9ji1zXaC1wNiCrZWoM+2Q4rYnYjC20sQHhwB+1iFhvzztH8vQg0CszzVZYHJKsaXO/w81mTA6mj0ZOlp9hKwxcILdad8LjUVytf5ksojjuHMY83kpj4JxOssA/Vns2H0VsBAREQEREH5keIwXE2ABJJ4gNZUaZRYqccqp6l17zSOcL6w0nyW+oWHqVWZw6s0OGVsg1iCQD6Q3v4qQgg5W19z9k0MRqpKx4BbTWDL8czxr+i3vBanVT5msJGE4VT6BvprzOI4zJqvzhoYPooM3REQEREBERAREQF+JYxM0tcLhwII2g6CF+0QR9lvgfxcrqmm9GN/kc8bwHM9hH1Lw1tbdFUojroJANL4LHn3jjb7VqlBs3c/4v8BxF0BPk1MTh/wCSPy2n6vCD6SpBR/kHWfo/EaOTZOwdo738VYCAiIgIiIMJzyyeDwiq5w0fW4KWFUmengip+h3gpbQcOVnZPxCGlp2gWAijGj5oUYlWVkvUiso6aQanQxn+UIPUREQEREBERAREQEREGht0m209Eba45Rfocz/labW690nGN9Qu47Sj1eSVpRB9mDP8FUQOva0sZvss8FWgw3AUVUH7WP57O8FacPmjoCD9oiICIiDBs9PBFT9DvBS2qkz08EVP0O8FLaDgqu83PBdD1eLuhSIVXebnguh6vH3QgyNERAREQEREBERAREQaX3SX7Oi+fJ3QtFLfe6S/y9H/AN1/cWhEHfQftY/ns7wVpw+aOgKLKD9rH89neCtOHzR0BB+0REGvc9mUFRk5RRS00pie6drS4AG7Sx5I0g8YC0r40sW5a7sR+6tr7ovg6HrLO5Ip3QZJi+XuIY1E6CeqL4323zS1gvY3GkNusbREHCyrD84uJYbEyGKrc2ONoaxu8Yd60ahctusWRBmPjSxblruxH7qeNLFuWu7EfurDkQZj40sW5a7sR+6njSxblruxH7qw5EGY+NLFuWu7Efup40sW5a7sR+6sORBmPjSxblruxH7qeNLFuWu7EfurDkQZj40sW5a7sR+6njSxblruxH7qw5EHuZQZX1mUjWMqpzK1h3zQWtFnEWvoA4l4aIg5Y8xkEaCCCOYjSFl4zo4qP+td2Ge6sPRBmBzpYty13Yj91U1kvUuraKkled8+SCFzj8pzo2lx+slRoVYuRfB9D1Wn+6agwPdF8HQ9ZZ3JFO6ojdF8HQ9ZZ3JFO6AiIgIiICIiAiIgIiICIiAiIgIiICIiDgqxci+D6HqtP901R0VYuRfB9D1Wn+6agwPdF8HQ9ZZ3JFO6ojdF8HQ9ZZ3JFO6AiIgIiICIiAvWybyaqcp5PB00ReRbfO1MjB43u1D7dC7cjMnH5V1cVKw23xu9/wC7ib57/wCnOQqxwDBYcn4GU9OwMjYNQ1uPG5x43HjJQaSocwlRK0GWsijOxjHPtzX3zV8WNZjq2iaXQyxVFvRF2PPQDcX9aotEEUVlI+gkdFKxzJGGzmPFnNPOF0qps6GQkeV9O5zQG1UbSYn2862nwTv9J9hN+Yy1IwxEtcCCCQQdYI0EFBwiIgIiICIiDgqxci+D6HqtP901R0VYuRfB9D1Wn+6agwPdF8HQ9ZZ3JFO6ojdF8HQ9ZZ3JFO6AiIgIiICIiDd+5toWkVk/pAxxjmFi4/gt3LRm5vxNrHVdMbb5wZK3aQ27XWHrb9a3mgIiIClDO1RDD8XrGNFgXteOIfrI2PNvWSqvUl50cRbiuK1krTdvhAwEaiImNjv/AClBiyIiAiIgIiIOCrFyL4Poeq0/3TVHRVi5F8H0PVaf7pqDA90XwdD1lnckU7qiN0XwdD1lnckU7oCIiAiIgIiIPSybxuTJypiqoj5Ubr24ntOhzDzEXCrTJXKCPKeljqorhsgOh2trmmzmnoIOlRwq0zWUX6PwmiZtiDzfiMpMh9rigypERBrzPDl18VafwMV/hNQ1wYbaImanSX1X2Dbp4tMyk3/vWt57pKiuyin2Okj7QDv/AFWjEBERAREQEREHBVi5F8H0PVaf7pqjoqxci+D6HqtP901Bge6L4Oh6yzuSKd1RG6L4Oh6yzuSKd0BERAREQEREH6ijMzmtGtxAHSTZWlhlP8EhijtbeMa22ywAUiZFUf6QxCiitffVEN/mh4LvYCrEQEREGt8/tJ4fCnPt+ylidfYHHefa4KalW+cuh/SOF10dr/qXuA2ui/WN9rQpHQcoiICIiAiIg4KsXIvg+h6rT/dNUdFWLkXwfQ9Vp/umoMG3REZfhsRHo1DCejePH4hToqlzz0JrsIqba495J6mOBPsupZQcoiICIiAiIgz7MbRfC8Xhd+5ZLJ0+T4Me1/sVPrQm5vo9/UVcxHmxsYDzuJJ+wLfaAiIg6quLw7HsPpNcPrFlFlXTmke+M62Oc09LSR+CthSHnEo/0fidbGBYCZxHQ+zh9qDHkREBERAREQcFWVkvD8HoqRmnyaeEadeiNo086j/DKM4jNFCNcsjGdG+cBdWlG3wYA2AD6kHTiFG3EIpIX+bIxzHdDgQVGmLYc/CJpaeQWfE9zHc5abXHMdY5irTWid0FkkYnsxKJvkusye3ouGiOT16j0DboDTCIiAiIgIiIPuw3GqjCg4QVE0IcQXCJ7mBxGomxX2fG+v5fVfxn/wBV4qIPa+N9fy+q/jP/AKp8b6/l9V/Gf/VeKiD2vjfX8vqv4z/6ry6yrkr3ukle6R7rb57yXOdYAC5OnUB9S6UQEREBERAREAvq/wDqDYWYzAzi2JtlI8ilaZHHi358mNvTck/RKptYRmjyT+KtC0SC089pJdrSR5Mf0R7SVm6Avnr6JmIxvhlaHxyNLXNOpzTrC+hEEn5xshpcip96bvgkJ8FLbX/tu2PHt1jYMSVo4vhcWMxPgnjEkbxZzXewjYRtU/5dZnKjBy6WjvUQ6TvAP10Y2W9PpGnmQauRcvaWEggggkEHQQRrBC4QEREBERAREQEREBERARF9eE4ZNjMghp4nSyHU1gubcZPEBq0nQg+NbnzK5uTO6PEaptmDyqeNw0vPozOHyR6O3QeIX9bN5mabh7m1GIFsjxYsgGlkZ2vPpHm1Dn4twAWQcoiICIiAiIg8bHclKPH/APMU0ch+UW2ePpDSsKrcx2HVBux1RENjJAR/M1xREHzeIah5RV9qP8pPENQ8oq+1H+UuUQceIah5RV9qP8pPENQ8oq+1H+UuUQceIah5RV9qP8pPENQ8oq+1H+UuUQceIah5RV9qP8pPENQ8oq+1H+UuUQceIah5RV9qP8pPENQ8oq+1H+UuUQelheZnDKEguZJMR++fcHpa0AexZzhmFw4SwRwRMiYPRjaGj12XCIPsREQEREH/2Q=="/>
          <p:cNvSpPr>
            <a:spLocks noChangeAspect="1" noChangeArrowheads="1"/>
          </p:cNvSpPr>
          <p:nvPr/>
        </p:nvSpPr>
        <p:spPr bwMode="auto">
          <a:xfrm>
            <a:off x="155575" y="-1417638"/>
            <a:ext cx="2066925" cy="2952751"/>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1028" name="AutoShape 4" descr="data:image/jpeg;base64,/9j/4AAQSkZJRgABAQAAAQABAAD/2wCEAAkGBxQHEhMSExIVFRUUFxYaFxYTGB0ZFhAUFhoZGBYVFxgkHSgiJB0nIB4VLTEiJSorLi8uFx8zODMsNygtLisBCgoKBQUFDgUFDisZExkrKysrKysrKysrKysrKysrKysrKysrKysrKysrKysrKysrKysrKysrKysrKysrKysrK//AABEIAPgArQMBIgACEQEDEQH/xAAcAAEBAAIDAQEAAAAAAAAAAAAACAYHAQMFBAL/xABNEAABAwIBBQoICggFBQAAAAABAAIDBBEFBgchMVEIEjVBVGFxdJKyExciMkKBodIUFlJygpGxs8HTFSMzU5Oi0fAkNGJj4URzg8Lx/8QAFAEBAAAAAAAAAAAAAAAAAAAAAP/EABQRAQAAAAAAAAAAAAAAAAAAAAD/2gAMAwEAAhEDEQA/AN4oiICIiAiIgIseyuyypckmb6ok8oi7YmaZZPmt2X4zYc60dlVnnrcWLm04FLGdA3vlSkbS8iw9Q0beNBQuJYtBhTd9PNHENsjg2/RfWsRxDO5hdESPhBkP+0xzgfXaymCpndVuL5HOe92lznkuc47STpK/CCiZM+9Aw6Iap3OGM/GQLups+OHSmzm1DOd0YPdcVOCIKuwvOZhmJ6G1jGk6hLeMntALK4J21LQ5jmuadTmkEHoIUSr0cGxyowJ2/pp5ITx7x1mu+c3UfWCgs1FozJDPm5pbHiEQI/fw627N9Hx9LTxait0YXicWLxtmgkbJG7U5huOjp5kH1oiICIiAiIgIiICIiAtX50c6bcm70tLvZKm3lO1spr7dr/8ATxcexdmeLOF8WI/gtOR8KlbpdyaM6N/b5R4h69l5uc4uJJNydJJ1knWSg766skxGR8sr3SSPN3Peblx/viXQi76CikxKRkMLHSSPNmsaLlx/u+niAQdC4ut15JZiy/eyV81uPwEOvofJ+DR61tPB8iaDBgBFSRC3pOaHu6d865ugkIadWnoXF1bjGhgsAANg1LqqqOOsFpI2PGx7Q4fUQgihcqp8ezWYbjIP+HELz6cHkEHbbzT6wtQ5ZZnavAQ6WA/Cohp8ltpWjnZpvba36gg1svcyRysqckphLTvsD58btMco2OG3YRpC8PUiCtsg8tYMs4PCR+RI2wlhJu6J3TxtPE77DoWTqNMnccmycqGVMDt69h9T2nzmOHG0/wDPEqtyKyoiytpWVMWgnRIy9zFIPOafwPGCEHvIiICIiAiIgLx8rcfZkzSTVUmkRt8lt7eEedDGX5zZewp/3Q2URq6iKhYfIhb4SS3pSv0NB+a3vnYg1bi2JSYxNJUTO30kri5x5zxDmGodC+RF+6eF1S5rGNLnPcGtaNbnONgB0myD1MlcnJsqahtPANJ0ucfNiZxvdzDZxqoMhsiafI2LeRDfSOt4SZw8uQ/g3Y0LozbZGMyNpQywM8lnTP2u+QD8lvF6zxrLUBERAREQEREGtM52a2PKRrqimDYqoaSLWZU8ztjtjvr13E41VO6ke6ORpa9ji1zXaC1wNiCrZWoM+2Q4rYnYjC20sQHhwB+1iFhvzztH8vQg0CszzVZYHJKsaXO/w81mTA6mj0ZOlp9hKwxcILdad8LjUVytf5ksojjuHMY83kpj4JxOssA/Vns2H0VsBAREQEREH5keIwXE2ABJJ4gNZUaZRYqccqp6l17zSOcL6w0nyW+oWHqVWZw6s0OGVsg1iCQD6Q3v4qQgg5W19z9k0MRqpKx4BbTWDL8czxr+i3vBanVT5msJGE4VT6BvprzOI4zJqvzhoYPooM3REQEREBERAREQF+JYxM0tcLhwII2g6CF+0QR9lvgfxcrqmm9GN/kc8bwHM9hH1Lw1tbdFUojroJANL4LHn3jjb7VqlBs3c/4v8BxF0BPk1MTh/wCSPy2n6vCD6SpBR/kHWfo/EaOTZOwdo738VYCAiIgIiIMJzyyeDwiq5w0fW4KWFUmengip+h3gpbQcOVnZPxCGlp2gWAijGj5oUYlWVkvUiso6aQanQxn+UIPUREQEREBERAREQEREGht0m209Eba45Rfocz/labW690nGN9Qu47Sj1eSVpRB9mDP8FUQOva0sZvss8FWgw3AUVUH7WP57O8FacPmjoCD9oiICIiDBs9PBFT9DvBS2qkz08EVP0O8FLaDgqu83PBdD1eLuhSIVXebnguh6vH3QgyNERAREQEREBERAREQaX3SX7Oi+fJ3QtFLfe6S/y9H/AN1/cWhEHfQftY/ns7wVpw+aOgKLKD9rH89neCtOHzR0BB+0REGvc9mUFRk5RRS00pie6drS4AG7Sx5I0g8YC0r40sW5a7sR+6tr7ovg6HrLO5Ip3QZJi+XuIY1E6CeqL4323zS1gvY3GkNusbREHCyrD84uJYbEyGKrc2ONoaxu8Yd60ahctusWRBmPjSxblruxH7qeNLFuWu7EfurDkQZj40sW5a7sR+6njSxblruxH7qw5EGY+NLFuWu7Efup40sW5a7sR+6sORBmPjSxblruxH7qeNLFuWu7EfurDkQZj40sW5a7sR+6njSxblruxH7qw5EHuZQZX1mUjWMqpzK1h3zQWtFnEWvoA4l4aIg5Y8xkEaCCCOYjSFl4zo4qP+td2Ge6sPRBmBzpYty13Yj91U1kvUuraKkled8+SCFzj8pzo2lx+slRoVYuRfB9D1Wn+6agwPdF8HQ9ZZ3JFO6ojdF8HQ9ZZ3JFO6AiIgIiICIiAiIgIiICIiAiIgIiICIiDgqxci+D6HqtP901R0VYuRfB9D1Wn+6agwPdF8HQ9ZZ3JFO6ojdF8HQ9ZZ3JFO6AiIgIiICIiAvWybyaqcp5PB00ReRbfO1MjB43u1D7dC7cjMnH5V1cVKw23xu9/wC7ib57/wCnOQqxwDBYcn4GU9OwMjYNQ1uPG5x43HjJQaSocwlRK0GWsijOxjHPtzX3zV8WNZjq2iaXQyxVFvRF2PPQDcX9aotEEUVlI+gkdFKxzJGGzmPFnNPOF0qps6GQkeV9O5zQG1UbSYn2862nwTv9J9hN+Yy1IwxEtcCCCQQdYI0EFBwiIgIiICIiDgqxci+D6HqtP901R0VYuRfB9D1Wn+6agwPdF8HQ9ZZ3JFO6ojdF8HQ9ZZ3JFO6AiIgIiICIiDd+5toWkVk/pAxxjmFi4/gt3LRm5vxNrHVdMbb5wZK3aQ27XWHrb9a3mgIiIClDO1RDD8XrGNFgXteOIfrI2PNvWSqvUl50cRbiuK1krTdvhAwEaiImNjv/AClBiyIiAiIgIiIOCrFyL4Poeq0/3TVHRVi5F8H0PVaf7pqDA90XwdD1lnckU7qiN0XwdD1lnckU7oCIiAiIgIiIPSybxuTJypiqoj5Ubr24ntOhzDzEXCrTJXKCPKeljqorhsgOh2trmmzmnoIOlRwq0zWUX6PwmiZtiDzfiMpMh9rigypERBrzPDl18VafwMV/hNQ1wYbaImanSX1X2Dbp4tMyk3/vWt57pKiuyin2Okj7QDv/AFWjEBERAREQEREHBVi5F8H0PVaf7pqjoqxci+D6HqtP901Bge6L4Oh6yzuSKd1RG6L4Oh6yzuSKd0BERAREQEREH6ijMzmtGtxAHSTZWlhlP8EhijtbeMa22ywAUiZFUf6QxCiitffVEN/mh4LvYCrEQEREGt8/tJ4fCnPt+ylidfYHHefa4KalW+cuh/SOF10dr/qXuA2ui/WN9rQpHQcoiICIiAiIg4KsXIvg+h6rT/dNUdFWLkXwfQ9Vp/umoMG3REZfhsRHo1DCejePH4hToqlzz0JrsIqba495J6mOBPsupZQcoiICIiAiIgz7MbRfC8Xhd+5ZLJ0+T4Me1/sVPrQm5vo9/UVcxHmxsYDzuJJ+wLfaAiIg6quLw7HsPpNcPrFlFlXTmke+M62Oc09LSR+CthSHnEo/0fidbGBYCZxHQ+zh9qDHkREBERAREQcFWVkvD8HoqRmnyaeEadeiNo086j/DKM4jNFCNcsjGdG+cBdWlG3wYA2AD6kHTiFG3EIpIX+bIxzHdDgQVGmLYc/CJpaeQWfE9zHc5abXHMdY5irTWid0FkkYnsxKJvkusye3ouGiOT16j0DboDTCIiAiIgIiIPuw3GqjCg4QVE0IcQXCJ7mBxGomxX2fG+v5fVfxn/wBV4qIPa+N9fy+q/jP/AKp8b6/l9V/Gf/VeKiD2vjfX8vqv4z/6ry6yrkr3ukle6R7rb57yXOdYAC5OnUB9S6UQEREBERAREAvq/wDqDYWYzAzi2JtlI8ilaZHHi358mNvTck/RKptYRmjyT+KtC0SC089pJdrSR5Mf0R7SVm6Avnr6JmIxvhlaHxyNLXNOpzTrC+hEEn5xshpcip96bvgkJ8FLbX/tu2PHt1jYMSVo4vhcWMxPgnjEkbxZzXewjYRtU/5dZnKjBy6WjvUQ6TvAP10Y2W9PpGnmQauRcvaWEggggkEHQQRrBC4QEREBERAREQEREBERARF9eE4ZNjMghp4nSyHU1gubcZPEBq0nQg+NbnzK5uTO6PEaptmDyqeNw0vPozOHyR6O3QeIX9bN5mabh7m1GIFsjxYsgGlkZ2vPpHm1Dn4twAWQcoiICIiAiIg8bHclKPH/APMU0ch+UW2ePpDSsKrcx2HVBux1RENjJAR/M1xREHzeIah5RV9qP8pPENQ8oq+1H+UuUQceIah5RV9qP8pPENQ8oq+1H+UuUQceIah5RV9qP8pPENQ8oq+1H+UuUQceIah5RV9qP8pPENQ8oq+1H+UuUQceIah5RV9qP8pPENQ8oq+1H+UuUQelheZnDKEguZJMR++fcHpa0AexZzhmFw4SwRwRMiYPRjaGj12XCIPsREQEREH/2Q=="/>
          <p:cNvSpPr>
            <a:spLocks noChangeAspect="1" noChangeArrowheads="1"/>
          </p:cNvSpPr>
          <p:nvPr/>
        </p:nvSpPr>
        <p:spPr bwMode="auto">
          <a:xfrm>
            <a:off x="155575" y="-1417638"/>
            <a:ext cx="2066925" cy="2952751"/>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1036" name="AutoShape 12" descr="data:image/jpeg;base64,/9j/4AAQSkZJRgABAQAAAQABAAD/2wCEAAkGBxQHEhMSExIVFRUUFxYaFxYTGB0ZFhAUFhoZGBYVFxgkHSgiJB0nIB4VLTEiJSorLi8uFx8zODMsNygtLisBCgoKBQUFDgUFDisZExkrKysrKysrKysrKysrKysrKysrKysrKysrKysrKysrKysrKysrKysrKysrKysrKysrK//AABEIAPgArQMBIgACEQEDEQH/xAAcAAEBAAIDAQEAAAAAAAAAAAAACAYHAQMFBAL/xABNEAABAwIBBQoICggFBQAAAAABAAIDBBEFBgchMVEIEjVBVGFxdJKyExciMkKBodIUFlJygpGxs8HTFSMzU5Oi0fAkNGJj4URzg8Lx/8QAFAEBAAAAAAAAAAAAAAAAAAAAAP/EABQRAQAAAAAAAAAAAAAAAAAAAAD/2gAMAwEAAhEDEQA/AN4oiICIiAiIgIseyuyypckmb6ok8oi7YmaZZPmt2X4zYc60dlVnnrcWLm04FLGdA3vlSkbS8iw9Q0beNBQuJYtBhTd9PNHENsjg2/RfWsRxDO5hdESPhBkP+0xzgfXaymCpndVuL5HOe92lznkuc47STpK/CCiZM+9Aw6Iap3OGM/GQLups+OHSmzm1DOd0YPdcVOCIKuwvOZhmJ6G1jGk6hLeMntALK4J21LQ5jmuadTmkEHoIUSr0cGxyowJ2/pp5ITx7x1mu+c3UfWCgs1FozJDPm5pbHiEQI/fw627N9Hx9LTxait0YXicWLxtmgkbJG7U5huOjp5kH1oiICIiAiIgIiICIiAtX50c6bcm70tLvZKm3lO1spr7dr/8ATxcexdmeLOF8WI/gtOR8KlbpdyaM6N/b5R4h69l5uc4uJJNydJJ1knWSg766skxGR8sr3SSPN3Peblx/viXQi76CikxKRkMLHSSPNmsaLlx/u+niAQdC4ut15JZiy/eyV81uPwEOvofJ+DR61tPB8iaDBgBFSRC3pOaHu6d865ugkIadWnoXF1bjGhgsAANg1LqqqOOsFpI2PGx7Q4fUQgihcqp8ezWYbjIP+HELz6cHkEHbbzT6wtQ5ZZnavAQ6WA/Cohp8ltpWjnZpvba36gg1svcyRysqckphLTvsD58btMco2OG3YRpC8PUiCtsg8tYMs4PCR+RI2wlhJu6J3TxtPE77DoWTqNMnccmycqGVMDt69h9T2nzmOHG0/wDPEqtyKyoiytpWVMWgnRIy9zFIPOafwPGCEHvIiICIiAiIgLx8rcfZkzSTVUmkRt8lt7eEedDGX5zZewp/3Q2URq6iKhYfIhb4SS3pSv0NB+a3vnYg1bi2JSYxNJUTO30kri5x5zxDmGodC+RF+6eF1S5rGNLnPcGtaNbnONgB0myD1MlcnJsqahtPANJ0ucfNiZxvdzDZxqoMhsiafI2LeRDfSOt4SZw8uQ/g3Y0LozbZGMyNpQywM8lnTP2u+QD8lvF6zxrLUBERAREQEREGtM52a2PKRrqimDYqoaSLWZU8ztjtjvr13E41VO6ke6ORpa9ji1zXaC1wNiCrZWoM+2Q4rYnYjC20sQHhwB+1iFhvzztH8vQg0CszzVZYHJKsaXO/w81mTA6mj0ZOlp9hKwxcILdad8LjUVytf5ksojjuHMY83kpj4JxOssA/Vns2H0VsBAREQEREH5keIwXE2ABJJ4gNZUaZRYqccqp6l17zSOcL6w0nyW+oWHqVWZw6s0OGVsg1iCQD6Q3v4qQgg5W19z9k0MRqpKx4BbTWDL8czxr+i3vBanVT5msJGE4VT6BvprzOI4zJqvzhoYPooM3REQEREBERAREQF+JYxM0tcLhwII2g6CF+0QR9lvgfxcrqmm9GN/kc8bwHM9hH1Lw1tbdFUojroJANL4LHn3jjb7VqlBs3c/4v8BxF0BPk1MTh/wCSPy2n6vCD6SpBR/kHWfo/EaOTZOwdo738VYCAiIgIiIMJzyyeDwiq5w0fW4KWFUmengip+h3gpbQcOVnZPxCGlp2gWAijGj5oUYlWVkvUiso6aQanQxn+UIPUREQEREBERAREQEREGht0m209Eba45Rfocz/labW690nGN9Qu47Sj1eSVpRB9mDP8FUQOva0sZvss8FWgw3AUVUH7WP57O8FacPmjoCD9oiICIiDBs9PBFT9DvBS2qkz08EVP0O8FLaDgqu83PBdD1eLuhSIVXebnguh6vH3QgyNERAREQEREBERAREQaX3SX7Oi+fJ3QtFLfe6S/y9H/AN1/cWhEHfQftY/ns7wVpw+aOgKLKD9rH89neCtOHzR0BB+0REGvc9mUFRk5RRS00pie6drS4AG7Sx5I0g8YC0r40sW5a7sR+6tr7ovg6HrLO5Ip3QZJi+XuIY1E6CeqL4323zS1gvY3GkNusbREHCyrD84uJYbEyGKrc2ONoaxu8Yd60ahctusWRBmPjSxblruxH7qeNLFuWu7EfurDkQZj40sW5a7sR+6njSxblruxH7qw5EGY+NLFuWu7Efup40sW5a7sR+6sORBmPjSxblruxH7qeNLFuWu7EfurDkQZj40sW5a7sR+6njSxblruxH7qw5EHuZQZX1mUjWMqpzK1h3zQWtFnEWvoA4l4aIg5Y8xkEaCCCOYjSFl4zo4qP+td2Ge6sPRBmBzpYty13Yj91U1kvUuraKkled8+SCFzj8pzo2lx+slRoVYuRfB9D1Wn+6agwPdF8HQ9ZZ3JFO6ojdF8HQ9ZZ3JFO6AiIgIiICIiAiIgIiICIiAiIgIiICIiDgqxci+D6HqtP901R0VYuRfB9D1Wn+6agwPdF8HQ9ZZ3JFO6ojdF8HQ9ZZ3JFO6AiIgIiICIiAvWybyaqcp5PB00ReRbfO1MjB43u1D7dC7cjMnH5V1cVKw23xu9/wC7ib57/wCnOQqxwDBYcn4GU9OwMjYNQ1uPG5x43HjJQaSocwlRK0GWsijOxjHPtzX3zV8WNZjq2iaXQyxVFvRF2PPQDcX9aotEEUVlI+gkdFKxzJGGzmPFnNPOF0qps6GQkeV9O5zQG1UbSYn2862nwTv9J9hN+Yy1IwxEtcCCCQQdYI0EFBwiIgIiICIiDgqxci+D6HqtP901R0VYuRfB9D1Wn+6agwPdF8HQ9ZZ3JFO6ojdF8HQ9ZZ3JFO6AiIgIiICIiDd+5toWkVk/pAxxjmFi4/gt3LRm5vxNrHVdMbb5wZK3aQ27XWHrb9a3mgIiIClDO1RDD8XrGNFgXteOIfrI2PNvWSqvUl50cRbiuK1krTdvhAwEaiImNjv/AClBiyIiAiIgIiIOCrFyL4Poeq0/3TVHRVi5F8H0PVaf7pqDA90XwdD1lnckU7qiN0XwdD1lnckU7oCIiAiIgIiIPSybxuTJypiqoj5Ubr24ntOhzDzEXCrTJXKCPKeljqorhsgOh2trmmzmnoIOlRwq0zWUX6PwmiZtiDzfiMpMh9rigypERBrzPDl18VafwMV/hNQ1wYbaImanSX1X2Dbp4tMyk3/vWt57pKiuyin2Okj7QDv/AFWjEBERAREQEREHBVi5F8H0PVaf7pqjoqxci+D6HqtP901Bge6L4Oh6yzuSKd1RG6L4Oh6yzuSKd0BERAREQEREH6ijMzmtGtxAHSTZWlhlP8EhijtbeMa22ywAUiZFUf6QxCiitffVEN/mh4LvYCrEQEREGt8/tJ4fCnPt+ylidfYHHefa4KalW+cuh/SOF10dr/qXuA2ui/WN9rQpHQcoiICIiAiIg4KsXIvg+h6rT/dNUdFWLkXwfQ9Vp/umoMG3REZfhsRHo1DCejePH4hToqlzz0JrsIqba495J6mOBPsupZQcoiICIiAiIgz7MbRfC8Xhd+5ZLJ0+T4Me1/sVPrQm5vo9/UVcxHmxsYDzuJJ+wLfaAiIg6quLw7HsPpNcPrFlFlXTmke+M62Oc09LSR+CthSHnEo/0fidbGBYCZxHQ+zh9qDHkREBERAREQcFWVkvD8HoqRmnyaeEadeiNo086j/DKM4jNFCNcsjGdG+cBdWlG3wYA2AD6kHTiFG3EIpIX+bIxzHdDgQVGmLYc/CJpaeQWfE9zHc5abXHMdY5irTWid0FkkYnsxKJvkusye3ouGiOT16j0DboDTCIiAiIgIiIPuw3GqjCg4QVE0IcQXCJ7mBxGomxX2fG+v5fVfxn/wBV4qIPa+N9fy+q/jP/AKp8b6/l9V/Gf/VeKiD2vjfX8vqv4z/6ry6yrkr3ukle6R7rb57yXOdYAC5OnUB9S6UQEREBERAREAvq/wDqDYWYzAzi2JtlI8ilaZHHi358mNvTck/RKptYRmjyT+KtC0SC089pJdrSR5Mf0R7SVm6Avnr6JmIxvhlaHxyNLXNOpzTrC+hEEn5xshpcip96bvgkJ8FLbX/tu2PHt1jYMSVo4vhcWMxPgnjEkbxZzXewjYRtU/5dZnKjBy6WjvUQ6TvAP10Y2W9PpGnmQauRcvaWEggggkEHQQRrBC4QEREBERAREQEREBERARF9eE4ZNjMghp4nSyHU1gubcZPEBq0nQg+NbnzK5uTO6PEaptmDyqeNw0vPozOHyR6O3QeIX9bN5mabh7m1GIFsjxYsgGlkZ2vPpHm1Dn4twAWQcoiICIiAiIg8bHclKPH/APMU0ch+UW2ePpDSsKrcx2HVBux1RENjJAR/M1xREHzeIah5RV9qP8pPENQ8oq+1H+UuUQceIah5RV9qP8pPENQ8oq+1H+UuUQceIah5RV9qP8pPENQ8oq+1H+UuUQceIah5RV9qP8pPENQ8oq+1H+UuUQceIah5RV9qP8pPENQ8oq+1H+UuUQelheZnDKEguZJMR++fcHpa0AexZzhmFw4SwRwRMiYPRjaGj12XCIPsREQEREH/2Q=="/>
          <p:cNvSpPr>
            <a:spLocks noChangeAspect="1" noChangeArrowheads="1"/>
          </p:cNvSpPr>
          <p:nvPr/>
        </p:nvSpPr>
        <p:spPr bwMode="auto">
          <a:xfrm>
            <a:off x="467544" y="1412776"/>
            <a:ext cx="2066925" cy="2952751"/>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1040" name="AutoShape 16" descr="data:image/jpeg;base64,/9j/4AAQSkZJRgABAQAAAQABAAD/2wCEAAkGBxQTEhQUExQWFRUXFxgaFxcXFxoXHRUXHhcYGhoYHBgaHCggGh4lHBwYIjEhJSkrLi4uGh8zODMsNygtLisBCgoKDg0OGxAQGy4kICQ3NC4sLywuLDQsLCw0LCwsLCwsLCwsLCwsLCwsLCwsLCwsLCwsLCwsLCwsLCwsLCwsLP/AABEIAMwAzAMBIgACEQEDEQH/xAAbAAACAwEBAQAAAAAAAAAAAAAABgQFBwMCAf/EAEwQAAEDAQQDCggLBgYDAQAAAAEAAgMRBAUGIRIxURMiQVJhcZGSsdEHU1RygaHB8BQVFiMyM0Jzk6LSJDRjg7LhQ2JkgrPxNcLiJf/EABsBAAIDAQEBAAAAAAAAAAAAAAMEAAIFAQYH/8QAMREAAgEDAgMGBgICAwAAAAAAAAECAwQREjEFIVETFDJBYXEVIoGRocEj8EKxM2Jy/9oADAMBAAIRAxEAPwDcUIQoQEIQoQ+E0zKzHFuJX2xxs9lJEGp8jSQZjwhpGpnL9rm1tF+2aS2F8IduVnadF5+1MeFvIwcO3m1/bsu2z2XJu+dyCp6ArYwTKFCxYFjYzSlb0ud3rjNc1kH+HX/c7vUvHeKHMBDWEZcKz1t/SuNSFqW9s3HMmZ9e7xnSOYumy+K/M7vXv4ms3ivzu70sQ3k/ild/jKTilNd2gZUuI18jALlsvivzu70fE1l8V+d3eqD4yk2FfReT+Kegqd2gD+JXAwC5LL4r87u9ffiKzeK/M7vVIy8pOIegrsy+HA75pHq7VO7QK/FbjzGGC6bG0ZwA8um71Zq0w5iXcZBZp3VjcaQSk1I2RvO3Y460qsvAP1ZrhawHgh2YPAqytIyjhlqXGKqqLVsbUhIOG72tTIQwOhlDcmmR7mvA4GmgNaaqqwdftur+7wH+a/8AQsepQlB4Z6WnVhUWYsbkJQN/W/yaD8V/6FHlxXbG64LOOeZ4/wDRUVNvYu2luO6EgfLa0+Ks34zv0Kdd+JbVKaBllH85/wChW7GfQr2kdsjihUtz37usroJGbnM1ofoh2k17CaaTXUFc9YIyV0hyi08MunkEIQuEBCF5kkDRVxAG0mihD0hUdsxZZmZB+6HZGNL16vWqK2Yynd9RAGja8knoFB60N1YLzDwtqktkfbzw7b5JnaE7I4C8uAFdI1NaHJWdjuWeMUa5p2knX6kl2i1XjKamd7eRlGjsXxsVu8ol6xV3evGMf6LfC8vU3z+o3WzDUkn0tA8+fsUdmDnDxfQl0Q23ymXrFexZrb5TL1iu99mW+GpLGUMjcKv/AIfv6F9+S79kfv6EuiyW3yiXrFehYrb5TL1iu9+mDfC4egwfJd+yP39C+/Jh+yP39CX/AIFbfKJesV8+BW3yiXrFc79Mnwun6DF8mn7I/f0Lha8Hue0jeNJ4QTycFKcCpxY7YNdol5y4qhvHEFoYdFlokdTIu0sq8m1cfEJxO/BadTlyZBt8DrNO6NwIc05jsIPCCM/+l0fNXNaRinDAt1mjcDoztYCx+3Kpa7kPqPQsgc98T3RStLXsNHNPAf77Vv2l0qsee546+4c6E8x2HHDjgXio4Fo9hAoszwq6r/QO1abYfopbiG45wjZkhwySjiMNANU3FIuM7RRpS9oszwP3ktMMiRa52F1KcJU/D9rDJKgJZjlq4+/qVrdb981bU1iDMJ86qfqNuF5HvvgPJy3B4/M1aes6wfEfh4NMtxd2haKsC58a9j01DwIEIQlwohzX3b52h0TYomHVQ1dTnIoOhVFou60yGsgEh2vkJ9VKK8uL93i5vaV3ltDW0DnAGlV8/q8Wup1HHOeZu08U3iMUL7LDaBqjj6x7l2ZBah/hx9Y9yszecI1yMHO4I+NoPGs6wVfiF2tl+AjqzfkQQ21eLi6zu5fa2rxUXWcp3xtB41nWHevhvWDxrOsF1cSvOn4K6n0Ie6WrxUXWPcg2i1eKi657lL+NYfGs6w715N6weNj6w71ZcSvOn4Jn/qRfhFr8XH13Ly6e1eLjH+8qWb0h8azrBeTesPjWdYK3xK8/qLL/AMkIyWvis65Xn9r2N657lYQXhE40bIxx2BwJPQpgVZcSuVyZ3XjyQsu3WQOEriGtdolgOTiK6zs5Ev3rHnzU1e+xNrG/W/ev9lUu3tHn0r0Nm3NKT3DxlyNju/6qPzG9gSr4QcHC2M3WKgtDBlskbxTy7Cmq7/qo/Mb2BSFv05uDUkeVqQU8xexhtwVjJ03GNwyIcKUI4DsNU+XJiyD6L5W9KYrww7ZpyXSwtcTrOonnprWW+ErCkEMtnFnbuQcHF2iTnQjbzrRVSFzJReUzPp27tk2msGkS4jswB+eZ0rOcbX7E8EMeCpeG8JQFgdKS7LhcoeMMK2UtIgNXD7LDp19DQc0ejClSqYTeQVVuvT1Pb03M2+MRUiqf8DXTpOE0pOjwDaqHCd0fBrQZLbY5JIdEhoIAIdVpDtEkHIA9K2zD7LFaYWywMboaqZgtI1tI4CF25udHJL6h+50200zxcgDrQXMGTWEE85CZFzggawUa0NHIuiyJy1PI7GOlYBCEKhYSrhH7PH5vtKjWm9RZ7Ywu+i6JwPJvm5qVcf7vF5vtKoMXD5+P7p/9TV864c8X+fVm1pUm0xltN6xv+rZun+3vUA2+n+B+Udy7YO+pPOraUDYvRV7jfJRaYPTgonXifEflXN14nxH5R3K2klGkGgFzjqaBU028npKjWiZ7dcEp5mg9hWTW7Sosxg2gsZQ6fkrTeP8AB/KNq8fGJ8UOhdbRfLGfSjlHOxcbHiGCRwYDRx1BwpXmSioyazoDpcs4Pnxh/BHQF9Mjpd42ICuVdHUrQEKXYTvlanDMkkispqKykLs7oopbPAwDSL6uNNjXHWr5pSPMf/1I/PP9Dk7NK5exw4+37ZJxxgrIG/W/ePVJerNfvsTDY25S/eP7VT3qzXzFensV/GvYspGn3f8AVR+Y3sCkKPd/1UfmN7ApC21sede5UYlt8kUbRFTdJHaDXOFQzIuLiOGgBoNtEji6DNJpWgz2hwqGl7tFo20a0AAak84mu6SaGkLgyZh0oy4VbpUIoRsIJ9Sxq/rzvizvbHPvNKuiW6JBApmC06s+Gi0LOKls1kWravoahYLrjAHzTB52faul6WuKJm+lYwDYQFm9zXRb7UAX2lzGnn9/crlinAhZGXOme9w2n2I/YJzxKXMD2yUM+Rcw22z2mV2jI6QN2avSU34Au8xMlNAGPcNEcoBB9g9CzXwJtHwyaB7Q5u5FwqOEOaOwrdWNAFAKDkS91LT/ABoPSpx8aPqEISIcEIQoQS7j/d4vN9pVBi/6+P7p/wDU1X9x/u8Xm+0qtvy7HT2lgbQUidUng34Xzayem8b9zbTSk8kzBx+ZPOreVyr7qszbMzRfI2pO2i7SW6LxrelNXFWU5PSDazNtFC+0WmKeSQRlzDShaW/RHIfSvlqxgSCPg8tdVatHtVu+3Q+Mb08qjuns/HYmad3V0KEly2D6U3lxEi97e+XVE8c5CXzd82kHBpFCCtUM1n47PUuZlg4zPUjUa7prEYjEaklsvwQbivB72gSfSHDtTDYXb70HsVU2eEansUmK84WVcZBqPCNiEo/PqBzi2thRl/8AKM893/GU7sPv6Ug2e1CS8Y3t1Fzv6XJ8aff0Je+XOK9P2WqLY5XeN7J96/tVbekeTuY9itbqG8k+8f2qFebcjzHsXpbJfxR9gGebQ+3f9VH5jewKQo93/VR+Y3sCkLXWxhvcjXjb44I3SSu0WN1nsAAzJJyACzbFNpfb5ojDC9rGBwLpdFlSSOAmuoJvxvK2OKOWSu5xyBzyBWg0XAGnOR0pBdjG72kkOfISeVP2lN+Nbitw8rRjcarms8rGho3IZDOpdwbBTtXa9rtMopLK4g/ZjYG+s6RSrD4SIRlFZ3u9FexQL+8INu0CY7MY28ZwOXSj9lVc9WwJKnGGnH9+pIteHIWEiCF4eQQX7o/S6QRTNNfguvSeSKaK0EudC8BjzmXMcDQE8JBBFeZI3g0tk1umlbJLvw3SochStDlw61sNz3Y2BmiMyc3GlKoV1JJOMubD04STznl0J6EIWeHBCEKEEu4v3eLzfaV5t4mDi6EMqWaNXGlM67CvVxfu8fm+0oJ07S2IyFgMRcNECpIdTWQdq+aW9OpO7caeM5e+xsvCbbE+14dtkji57mE+ceXkUR2FLVtj6x7loNsuojP4S9o5WsP/AKqvksf+qd1Y+5bboXcOT0hqdxlcv9CUcLWnjR9J7l5OF7Ttj6x7k5Gx/wCqd1GfpXk2b/Uu6rO5ClVrQ3a+wdVn/UJxwtaONH1ndy8nCto4zOse5N5gPlDuqzuXgwHyh3VZ3IavZ9V9mXVRin8lLRtZ1j3L0MKWjjR9Y+0cqahAfKHdVncvFpa5rSW2gk8A0WejgVu+TbxlfZk7RlLc2G5op45Hlmi0kmhJ1gjZypxYff39Cq4Y5Y2xmWUlz3U0dFoFNE11DkVk336P+kC5lKck5Y+gKUtR1uj6En3j+0KLebd67mPYut0WloEjSaHdX+srzeJ3ruY9i9RZv+KOOgtJNSY6WD6qPzG9gUhR7v8Aqo/Mb2BSFqrYxXueJYw4FrgCCKEEVBGwhZB4R8LWWGeDcYmx6QcXBuQNCBq4NfAtIxTaZGxsZE4sdK/R0wKlrdFznFoOWlQUGytUmWe46yFz4t0PA+Z5efzGies8xlrzyFria0uKeGzrhaz2eKMVLGmnCQu2KIxPGWxRvkrxWEDrOAHrVzYmtZrMTOYAUUW+sR2SJp3S0DmBqfUjOpJ1dSQvGlHstEmIGFLutV22l9pdEwh0ZZoGUB2bg6uQIrvVrOFcRxW6HdY6gg6L2HWx/CDt5xrWc2C+LPa3v0Guc1u2oHD0pywBcfwdszxUCVzTo6hkDmOevqQ7pKScpbjFFy5LHIbUIQkBgEIQoQSrjP7PHze0qgxQ4i0REGhEb6Uy+0FfXIf2ePm9pS/is/Px/dP/AKgvnthyvW/f9m7HxMubhg3ePSlcXEGmtTZLki2esqNg8/MnnVxKff39C1ri50tgXKSm0iodcsez1/3XJ1zx7PWV6beEb5nMe4hrcqN1uNM6kZgcgUm22GMgkGRvmyP5eUpWdtVqQU3NLz+gVVJJ4eSAboj2FeDdDOVUd92nc66L5a/eE0S9Y8VTRyCri5tcw7PL2IdK0q1I6oyG4wm1lMfBc8fKpdguqMOBpWi42S2NkaHNNQfVlwqysLs/QexUpxk5pSAVJS0vmJd5Wxz7xiaTvWudQcH0HJmBSfaf/Js853/GU3xq9yktPt+2GksJFcxtWyn+I7tS5eF5yxOIa4lpGbTmNXLq9CabO3eS/eO7QlC/2b4cneVt2awk/QvDDTTNvu/6qPzG9gUhR7v+qj8xvYFIW8tjy8tyrxFdRtMJY15ieDpMkGtrsx6QQSDzrE8TXTedmkYye0aYfUtLHHUCBUigprW53tebLPGZH1IqAGtFXOcdTQOErOcQzS26aNxYyBsYIo9+k41OxooNW1aFlOSlj/EWuMKLaXPyKbD+CnTgOmnkoeAHX0rtinAcEURLdIuHC5xKcLnsj2tDRMKDLesr2lSbfdDZB84ZJeRztEdDKBMO4aqb8hZU5unzeJGa+BicRW6WN7mhm5OI0iBvg9oFK8hK3Zp2allN4XLEasjs8LdpoK89TmVeeCl8zYpoZSXNjeNyJzo1wO9B4QCPWlrqKnmohmlU2g9x7QhCRGAQhChBHuQ/s8fN7SqDFAJnjpn807+pqvrk/d4+b2/2XKe2wwzbpKQPmiG1Fa7/ADp6l87tnpum/c3s4bZ1wmwiE1BGfDzf9K1kBSJbsdOLvmgGt5RU9ihPxrOftDoTNS2q1Hlo4qE5PUN1rw/E9xcWUcTUuBIPPkaKokwqeO/ru71RuxnNxh0LycYz8YdCNToV4rGQypT6lu/BwOsk+k964nBbfeveqv5Xz8YdHevJxdPxvUEeMKy8wipz6jTdd1uhyBqPf+yvbCCDnsKzc4rn4w6F5fiucimku9hLVqJKjJrBPnNbzZ57v+NycGFZ1cMpda4STU1dXquWgtKWu44aXp+y015Hyxj5uT7x6X7RdjrRaGRN1uIqdg1k9FUx3d9XJ94/tV3hK7A0OncN87JvI3byVot6yhqUfYTq1+yhJ+fkMFnj0WtbsAHQKLohfHOAFTkBrJ4FsGEUOMQREyXRL2xP03BuZ0dFzagcNNIetZtJjSzMJLLO5zicy5NVr8IelKY7LE2RoNNOR5aHcFQA0mnPrUC+MKT2x0cpissVAahjnb4mlC7eDNP2s1FYnt1F60Iy57teRVWPHlpeaWeyV5hl0qFiS/L33MlzRC3kIr7Sny5rkmgaBoRGn+cj0/QUXE8EkjC07gyvC6U/oTCqUu0wksdRdqap5xh9MiN4KXvtVolilkcX6BfU55Age1bZd1gbC3RbzknhKyTBV0OsVqfaBNZX6UZZo7o4Uq5prXR5E/Q4gncd62zO5pnfoS91GUp/LsNU5xUVnCYzoVPdN+iWV8D27nM1odo10g9laaTXcIrwawrhIuLTwwwIQhcIIVyn5iPm9q7TMB1gHnFdqsI8JFo0W2h4aNQ0WGnpovvyVd5S/qM7l42XA7nW5LH3NfvdLOclQY28VvQO73ovhjbxR0BW5wm7yl/UZ3I+SR8pf1GdyuuC3Xp9y6vKPUpdzbxR0DbkvO5N4o6Arv5JO8pf1GdyPkkfKX9VncrLg916fc732j1KQwt4o6AvO5N4regK8OED5S/qs7kfI8+Uv6re5WXB7n0+53vtHqUBjbxR0e/KvhibxR0BX/yOPlD+q3uR8jz5Q/qt7lb4Tc+n3J36j1KBsQGoAehdWa1dfI7/AFD+q3uX0YQPlL+qzuUfCLh9PuTv1Hr+CuuCz7oCwajI7SOxoPuE8MYAABkBkFXXHc7bO1wDi8uNS4gA82Ss16C1o9lTSe5l3NbtJ5WwLKfCNi8yl1mgcdyBpI9v+K7hYDxRwnhOWrXY4/xcaustncRTKaVvB/DadtNZGrVr1I1nsf2nCmwbFr2lt2jy9jHvr1UVpXiZY4NuwboHP9A2LWrv1LN8Ov360i7zkj30VHCQnwupKbk5EmTUVmuO9RWlP1HmWaY8OR50Ow8YzxH/AIxBsUoqU1XBag11c0m2M5lMN2OzHvwrXkvlZkTb7SPuNWFpHvvgPOrcJPW5q1BZzg2I/DwaZbi7tC0ZYF1417HpKHgQIQhLBgQhChAQhChBIt+GG2mSV5mkD90cKCR4AA1DRa6gyovFnwU0DfPkP86T9SucR3I9x3ezO0J26xWgmA+y7/Nsd7FWXRf8kg3wJc00c0iha4cBG1GXNZRVvBS3pdcMOsyfjSfqVcBAfG/jSfqXnHlsfSugQElRXm7YtSlbQlFNmTO8qptYHoRwbZPxpP1L7uUG2T8aT9STmXm5d23k7YUXulMWlxCuhsFnh2yfjSfqXx1nh/ifjSfqS028ncUr0L1OxTulMDLiVx5F+6KL+L+NJ+pRZLM06jMP50n6lXtvbkXRt6k/ZPau92pdAEuJXfX8IkssLG8FAODp6VAvK2gZBS2NmlNGNOe3n2K5uzDjQQCBLKdXCArynClEHQo1bmpqlzFy5r7bG8F9QFpdz4nszmj51oqOH351DxPgZklikaxoNoA0mkb3fA10RziozWN3bYhFJo2oSsOx1W9uv0JXMLo2qdvK15p5z6G/z4hs2ifnW9KzfGt8RProvBz4PfkXy7W3W4Z1J5XHvXC+Y7qa07fONV2hSjSlsy1VusvmfL0ECC8ACa7U+4Lux0jhLJlGMxUa/QVW4PuGzWiVz2NLtHU3M58y2S5bgYIxurN8eCp3o4BkVa6ulBYCK1p1fmXI43IwG0aTBk1hBPPSiZVys9mbGKMaGjkXVY1Sep5NCEdKwCEIVCwIQhQgIQhQgKlva49N+7QnQlpR2yQf5qcI4CrpC7GTi8ojWRUtlwTSfT0Dzn+yhDBruLF7+hPCEXvE0C7GHQSm4RfxIvf0L0MKP4kXT/ZOaF3vNTqc7Cn0Ex+E3nW2Pp/slO/fB1bHOLoXQhus6TyKflWvqgv8iSaKA/RLXSOHA6hAaDtFTWnIESndVc4yUla0XzcTIWYLtVQDabHr8o/+c0+3TgiSNoroOPCdI07FNxRcrDA8aDPon7Iy9Si+CC8nyWaSF5Ltwk0Wkmp0CA4CvJmEedWp2euL5AY0KDqaHHmWbbglGQ0B6f7K6um6xCKmhefpO9g5FYLxPJotc7YCegVSMqspbjcKUIeFHG3XhFCNKWRkY2vcG16VlXhNvGzWqezNilZIAH6Wi4GmYoCosFifb7QZpN8XGu+zDG8DWg6gBs9q026rlihYGhjSaZktCLSfYzUmcm9cWovAr4WsVnZG2u5VoK1Lfao2PLus0kRpuVRqILap1t8DA36DOqO5It93hoH6DOqNicozlUqa0JVIxpw0N/UVfA9aW2a3yiSRrIzC6hcaAu02UHPrW5WO8Ipfq5GP81wNOhZHHfp4ses/ZHdyq50g6AzsAjnZvmPYKEkcDqfSacwQV26tnJ6y1C+hLEPM0xeZHhoJcQAMyTkAOdRrptm7QRS0pujGvpsqAaJM8KDnyugszSdB4e94H2tEtDQeTMn0BZajzwP5GxmILKTQWiInz296sgs1hw62z2Vxe1taHWAo+AsYvbZnRvBfucjmtJOYZRrmj0aVEfu+Yaogo1s1NGPU1JCEJYMCEIUICEIUICEIUICEIUICXL5mDLZCTwxPH52JjWZeF689wlszq0q2TtYj20NdRRBVpOMG0sltjG/GsgIrmRQJFwheVrjEpshbRzquqzSq4ADaleS8ZrY/c4quPCTqA2lOWGfB3PuekJnZnMNOiK8NFquNKlDTIz406826mzJkt/319kx/g/8A0oF5YlvpsbtMxBhBB+apkRTXpZK8dgC08E8o/m1VJiHAd4sic5kxka0VLS7OnTmhJ20n5FlC8X+Q6YWsYjjaOGja9CbUk4cvIAND+KM/Qmpt5R7fUkrnxDNsvlZ9vI7z32LJsXWmjqcq0i+L1jDDn6ljeJ7ya6Q01VTvD1ybYlftuSij5A5Olif+xvrsKz2z2wZJ7uW7ZJ7MdIljCOlO3EkomfQpyVUj2C87z3CMQyEMDGho3NpyoKZ0XTDVttb7bpW54doRkM3oFKuBOocgVjB4NJQxobaXDLI6R2ZZUSFia7rVdtoaJpA8PBLHV1gEVrsSsXQqNpYyami5gm28+hoPhDv9ohDGnN2vmVHguyNMDjQZyH+lqR4pJbZJox1O0nOnOtXwndIis4YTUhxrTbQKTUaUNKYS2hUlLtKhpCEIWKPghCFCAhCFCAhCFCAhCFCAlLwi4O+MYGta4MljdpMcRUZ5OaaZ0I9YTahWhNwepbkM/wAP+Dw2aMMD2VP03Z1PqTzYrKImBjdQ9a7oVp1ZT8RAXx7QQQdRyPMvqEMgmWHDk8EhDQySKp0CcnBvA082qvIr1rZQKbi3pCtkIsqrluDjSUdihtllkeKbk3pCVrfgTdXVMQr5wWjoVo3E4+Eq6EG8y5mcWbAugQRA3L/MmW77nfkJKNYPsjOvImJCkriclzIqFNPKQAJQ8IuDPjGOLRcGSROJaTqLSN8005gfQm9CFCbhLUtwwh3RgV0DAxpYNVTt9ScrBYGxM0W12nlKlIVp1ZT3If/Z"/>
          <p:cNvSpPr>
            <a:spLocks noChangeAspect="1" noChangeArrowheads="1"/>
          </p:cNvSpPr>
          <p:nvPr/>
        </p:nvSpPr>
        <p:spPr bwMode="auto">
          <a:xfrm>
            <a:off x="155575" y="-1165225"/>
            <a:ext cx="2438400" cy="2438400"/>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1042" name="AutoShape 18" descr="data:image/jpeg;base64,/9j/4AAQSkZJRgABAQAAAQABAAD/2wCEAAkGBxQTEhQUExQWFRUXFxgaFxcXFxoXHRUXHhcYGhoYHBgaHCggGh4lHBwYIjEhJSkrLi4uGh8zODMsNygtLisBCgoKDg0OGxAQGy4kICQ3NC4sLywuLDQsLCw0LCwsLCwsLCwsLCwsLCwsLCwsLCwsLCwsLCwsLCwsLCwsLCwsLP/AABEIAMwAzAMBIgACEQEDEQH/xAAbAAACAwEBAQAAAAAAAAAAAAAABgQFBwMCAf/EAEwQAAEDAQQDCggLBgYDAQAAAAEAAgMRBAUGIRIxURMiQVJhcZGSsdEHU1RygaHB8BQVFiMyM0Jzk6LSJDRjg7LhQ2JkgrPxNcLiJf/EABsBAAIDAQEBAAAAAAAAAAAAAAMEAAIFAQYH/8QAMREAAgEDAgMGBgICAwAAAAAAAAECAwQREjEFIVETFDJBYXEVIoGRocEj8EKxM2Jy/9oADAMBAAIRAxEAPwDcUIQoQEIQoQ+E0zKzHFuJX2xxs9lJEGp8jSQZjwhpGpnL9rm1tF+2aS2F8IduVnadF5+1MeFvIwcO3m1/bsu2z2XJu+dyCp6ArYwTKFCxYFjYzSlb0ud3rjNc1kH+HX/c7vUvHeKHMBDWEZcKz1t/SuNSFqW9s3HMmZ9e7xnSOYumy+K/M7vXv4ms3ivzu70sQ3k/ild/jKTilNd2gZUuI18jALlsvivzu70fE1l8V+d3eqD4yk2FfReT+Kegqd2gD+JXAwC5LL4r87u9ffiKzeK/M7vVIy8pOIegrsy+HA75pHq7VO7QK/FbjzGGC6bG0ZwA8um71Zq0w5iXcZBZp3VjcaQSk1I2RvO3Y460qsvAP1ZrhawHgh2YPAqytIyjhlqXGKqqLVsbUhIOG72tTIQwOhlDcmmR7mvA4GmgNaaqqwdftur+7wH+a/8AQsepQlB4Z6WnVhUWYsbkJQN/W/yaD8V/6FHlxXbG64LOOeZ4/wDRUVNvYu2luO6EgfLa0+Ks34zv0Kdd+JbVKaBllH85/wChW7GfQr2kdsjihUtz37usroJGbnM1ofoh2k17CaaTXUFc9YIyV0hyi08MunkEIQuEBCF5kkDRVxAG0mihD0hUdsxZZmZB+6HZGNL16vWqK2Yynd9RAGja8knoFB60N1YLzDwtqktkfbzw7b5JnaE7I4C8uAFdI1NaHJWdjuWeMUa5p2knX6kl2i1XjKamd7eRlGjsXxsVu8ol6xV3evGMf6LfC8vU3z+o3WzDUkn0tA8+fsUdmDnDxfQl0Q23ymXrFexZrb5TL1iu99mW+GpLGUMjcKv/AIfv6F9+S79kfv6EuiyW3yiXrFehYrb5TL1iu9+mDfC4egwfJd+yP39C+/Jh+yP39CX/AIFbfKJesV8+BW3yiXrFc79Mnwun6DF8mn7I/f0Lha8Hue0jeNJ4QTycFKcCpxY7YNdol5y4qhvHEFoYdFlokdTIu0sq8m1cfEJxO/BadTlyZBt8DrNO6NwIc05jsIPCCM/+l0fNXNaRinDAt1mjcDoztYCx+3Kpa7kPqPQsgc98T3RStLXsNHNPAf77Vv2l0qsee546+4c6E8x2HHDjgXio4Fo9hAoszwq6r/QO1abYfopbiG45wjZkhwySjiMNANU3FIuM7RRpS9oszwP3ktMMiRa52F1KcJU/D9rDJKgJZjlq4+/qVrdb981bU1iDMJ86qfqNuF5HvvgPJy3B4/M1aes6wfEfh4NMtxd2haKsC58a9j01DwIEIQlwohzX3b52h0TYomHVQ1dTnIoOhVFou60yGsgEh2vkJ9VKK8uL93i5vaV3ltDW0DnAGlV8/q8Wup1HHOeZu08U3iMUL7LDaBqjj6x7l2ZBah/hx9Y9yszecI1yMHO4I+NoPGs6wVfiF2tl+AjqzfkQQ21eLi6zu5fa2rxUXWcp3xtB41nWHevhvWDxrOsF1cSvOn4K6n0Ie6WrxUXWPcg2i1eKi657lL+NYfGs6w715N6weNj6w71ZcSvOn4Jn/qRfhFr8XH13Ly6e1eLjH+8qWb0h8azrBeTesPjWdYK3xK8/qLL/AMkIyWvis65Xn9r2N657lYQXhE40bIxx2BwJPQpgVZcSuVyZ3XjyQsu3WQOEriGtdolgOTiK6zs5Ev3rHnzU1e+xNrG/W/ev9lUu3tHn0r0Nm3NKT3DxlyNju/6qPzG9gSr4QcHC2M3WKgtDBlskbxTy7Cmq7/qo/Mb2BSFv05uDUkeVqQU8xexhtwVjJ03GNwyIcKUI4DsNU+XJiyD6L5W9KYrww7ZpyXSwtcTrOonnprWW+ErCkEMtnFnbuQcHF2iTnQjbzrRVSFzJReUzPp27tk2msGkS4jswB+eZ0rOcbX7E8EMeCpeG8JQFgdKS7LhcoeMMK2UtIgNXD7LDp19DQc0ejClSqYTeQVVuvT1Pb03M2+MRUiqf8DXTpOE0pOjwDaqHCd0fBrQZLbY5JIdEhoIAIdVpDtEkHIA9K2zD7LFaYWywMboaqZgtI1tI4CF25udHJL6h+50200zxcgDrQXMGTWEE85CZFzggawUa0NHIuiyJy1PI7GOlYBCEKhYSrhH7PH5vtKjWm9RZ7Ywu+i6JwPJvm5qVcf7vF5vtKoMXD5+P7p/9TV864c8X+fVm1pUm0xltN6xv+rZun+3vUA2+n+B+Udy7YO+pPOraUDYvRV7jfJRaYPTgonXifEflXN14nxH5R3K2klGkGgFzjqaBU028npKjWiZ7dcEp5mg9hWTW7Sosxg2gsZQ6fkrTeP8AB/KNq8fGJ8UOhdbRfLGfSjlHOxcbHiGCRwYDRx1BwpXmSioyazoDpcs4Pnxh/BHQF9Mjpd42ICuVdHUrQEKXYTvlanDMkkispqKykLs7oopbPAwDSL6uNNjXHWr5pSPMf/1I/PP9Dk7NK5exw4+37ZJxxgrIG/W/ePVJerNfvsTDY25S/eP7VT3qzXzFensV/GvYspGn3f8AVR+Y3sCkKPd/1UfmN7ApC21sede5UYlt8kUbRFTdJHaDXOFQzIuLiOGgBoNtEji6DNJpWgz2hwqGl7tFo20a0AAak84mu6SaGkLgyZh0oy4VbpUIoRsIJ9Sxq/rzvizvbHPvNKuiW6JBApmC06s+Gi0LOKls1kWravoahYLrjAHzTB52faul6WuKJm+lYwDYQFm9zXRb7UAX2lzGnn9/crlinAhZGXOme9w2n2I/YJzxKXMD2yUM+Rcw22z2mV2jI6QN2avSU34Au8xMlNAGPcNEcoBB9g9CzXwJtHwyaB7Q5u5FwqOEOaOwrdWNAFAKDkS91LT/ABoPSpx8aPqEISIcEIQoQS7j/d4vN9pVBi/6+P7p/wDU1X9x/u8Xm+0qtvy7HT2lgbQUidUng34Xzayem8b9zbTSk8kzBx+ZPOreVyr7qszbMzRfI2pO2i7SW6LxrelNXFWU5PSDazNtFC+0WmKeSQRlzDShaW/RHIfSvlqxgSCPg8tdVatHtVu+3Q+Mb08qjuns/HYmad3V0KEly2D6U3lxEi97e+XVE8c5CXzd82kHBpFCCtUM1n47PUuZlg4zPUjUa7prEYjEaklsvwQbivB72gSfSHDtTDYXb70HsVU2eEansUmK84WVcZBqPCNiEo/PqBzi2thRl/8AKM893/GU7sPv6Ug2e1CS8Y3t1Fzv6XJ8aff0Je+XOK9P2WqLY5XeN7J96/tVbekeTuY9itbqG8k+8f2qFebcjzHsXpbJfxR9gGebQ+3f9VH5jewKQo93/VR+Y3sCkLXWxhvcjXjb44I3SSu0WN1nsAAzJJyACzbFNpfb5ojDC9rGBwLpdFlSSOAmuoJvxvK2OKOWSu5xyBzyBWg0XAGnOR0pBdjG72kkOfISeVP2lN+Nbitw8rRjcarms8rGho3IZDOpdwbBTtXa9rtMopLK4g/ZjYG+s6RSrD4SIRlFZ3u9FexQL+8INu0CY7MY28ZwOXSj9lVc9WwJKnGGnH9+pIteHIWEiCF4eQQX7o/S6QRTNNfguvSeSKaK0EudC8BjzmXMcDQE8JBBFeZI3g0tk1umlbJLvw3SochStDlw61sNz3Y2BmiMyc3GlKoV1JJOMubD04STznl0J6EIWeHBCEKEEu4v3eLzfaV5t4mDi6EMqWaNXGlM67CvVxfu8fm+0oJ07S2IyFgMRcNECpIdTWQdq+aW9OpO7caeM5e+xsvCbbE+14dtkji57mE+ceXkUR2FLVtj6x7loNsuojP4S9o5WsP/AKqvksf+qd1Y+5bboXcOT0hqdxlcv9CUcLWnjR9J7l5OF7Ttj6x7k5Gx/wCqd1GfpXk2b/Uu6rO5ClVrQ3a+wdVn/UJxwtaONH1ndy8nCto4zOse5N5gPlDuqzuXgwHyh3VZ3IavZ9V9mXVRin8lLRtZ1j3L0MKWjjR9Y+0cqahAfKHdVncvFpa5rSW2gk8A0WejgVu+TbxlfZk7RlLc2G5op45Hlmi0kmhJ1gjZypxYff39Cq4Y5Y2xmWUlz3U0dFoFNE11DkVk336P+kC5lKck5Y+gKUtR1uj6En3j+0KLebd67mPYut0WloEjSaHdX+srzeJ3ruY9i9RZv+KOOgtJNSY6WD6qPzG9gUhR7v8Aqo/Mb2BSFqrYxXueJYw4FrgCCKEEVBGwhZB4R8LWWGeDcYmx6QcXBuQNCBq4NfAtIxTaZGxsZE4sdK/R0wKlrdFznFoOWlQUGytUmWe46yFz4t0PA+Z5efzGies8xlrzyFria0uKeGzrhaz2eKMVLGmnCQu2KIxPGWxRvkrxWEDrOAHrVzYmtZrMTOYAUUW+sR2SJp3S0DmBqfUjOpJ1dSQvGlHstEmIGFLutV22l9pdEwh0ZZoGUB2bg6uQIrvVrOFcRxW6HdY6gg6L2HWx/CDt5xrWc2C+LPa3v0Guc1u2oHD0pywBcfwdszxUCVzTo6hkDmOevqQ7pKScpbjFFy5LHIbUIQkBgEIQoQSrjP7PHze0qgxQ4i0REGhEb6Uy+0FfXIf2ePm9pS/is/Px/dP/AKgvnthyvW/f9m7HxMubhg3ePSlcXEGmtTZLki2esqNg8/MnnVxKff39C1ri50tgXKSm0iodcsez1/3XJ1zx7PWV6beEb5nMe4hrcqN1uNM6kZgcgUm22GMgkGRvmyP5eUpWdtVqQU3NLz+gVVJJ4eSAboj2FeDdDOVUd92nc66L5a/eE0S9Y8VTRyCri5tcw7PL2IdK0q1I6oyG4wm1lMfBc8fKpdguqMOBpWi42S2NkaHNNQfVlwqysLs/QexUpxk5pSAVJS0vmJd5Wxz7xiaTvWudQcH0HJmBSfaf/Js853/GU3xq9yktPt+2GksJFcxtWyn+I7tS5eF5yxOIa4lpGbTmNXLq9CabO3eS/eO7QlC/2b4cneVt2awk/QvDDTTNvu/6qPzG9gUhR7v+qj8xvYFIW8tjy8tyrxFdRtMJY15ieDpMkGtrsx6QQSDzrE8TXTedmkYye0aYfUtLHHUCBUigprW53tebLPGZH1IqAGtFXOcdTQOErOcQzS26aNxYyBsYIo9+k41OxooNW1aFlOSlj/EWuMKLaXPyKbD+CnTgOmnkoeAHX0rtinAcEURLdIuHC5xKcLnsj2tDRMKDLesr2lSbfdDZB84ZJeRztEdDKBMO4aqb8hZU5unzeJGa+BicRW6WN7mhm5OI0iBvg9oFK8hK3Zp2allN4XLEasjs8LdpoK89TmVeeCl8zYpoZSXNjeNyJzo1wO9B4QCPWlrqKnmohmlU2g9x7QhCRGAQhChBHuQ/s8fN7SqDFAJnjpn807+pqvrk/d4+b2/2XKe2wwzbpKQPmiG1Fa7/ADp6l87tnpum/c3s4bZ1wmwiE1BGfDzf9K1kBSJbsdOLvmgGt5RU9ihPxrOftDoTNS2q1Hlo4qE5PUN1rw/E9xcWUcTUuBIPPkaKokwqeO/ru71RuxnNxh0LycYz8YdCNToV4rGQypT6lu/BwOsk+k964nBbfeveqv5Xz8YdHevJxdPxvUEeMKy8wipz6jTdd1uhyBqPf+yvbCCDnsKzc4rn4w6F5fiucimku9hLVqJKjJrBPnNbzZ57v+NycGFZ1cMpda4STU1dXquWgtKWu44aXp+y015Hyxj5uT7x6X7RdjrRaGRN1uIqdg1k9FUx3d9XJ94/tV3hK7A0OncN87JvI3byVot6yhqUfYTq1+yhJ+fkMFnj0WtbsAHQKLohfHOAFTkBrJ4FsGEUOMQREyXRL2xP03BuZ0dFzagcNNIetZtJjSzMJLLO5zicy5NVr8IelKY7LE2RoNNOR5aHcFQA0mnPrUC+MKT2x0cpissVAahjnb4mlC7eDNP2s1FYnt1F60Iy57teRVWPHlpeaWeyV5hl0qFiS/L33MlzRC3kIr7Sny5rkmgaBoRGn+cj0/QUXE8EkjC07gyvC6U/oTCqUu0wksdRdqap5xh9MiN4KXvtVolilkcX6BfU55Age1bZd1gbC3RbzknhKyTBV0OsVqfaBNZX6UZZo7o4Uq5prXR5E/Q4gncd62zO5pnfoS91GUp/LsNU5xUVnCYzoVPdN+iWV8D27nM1odo10g9laaTXcIrwawrhIuLTwwwIQhcIIVyn5iPm9q7TMB1gHnFdqsI8JFo0W2h4aNQ0WGnpovvyVd5S/qM7l42XA7nW5LH3NfvdLOclQY28VvQO73ovhjbxR0BW5wm7yl/UZ3I+SR8pf1GdyuuC3Xp9y6vKPUpdzbxR0DbkvO5N4o6Arv5JO8pf1GdyPkkfKX9VncrLg916fc732j1KQwt4o6AvO5N4regK8OED5S/qs7kfI8+Uv6re5WXB7n0+53vtHqUBjbxR0e/KvhibxR0BX/yOPlD+q3uR8jz5Q/qt7lb4Tc+n3J36j1KBsQGoAehdWa1dfI7/AFD+q3uX0YQPlL+qzuUfCLh9PuTv1Hr+CuuCz7oCwajI7SOxoPuE8MYAABkBkFXXHc7bO1wDi8uNS4gA82Ss16C1o9lTSe5l3NbtJ5WwLKfCNi8yl1mgcdyBpI9v+K7hYDxRwnhOWrXY4/xcaustncRTKaVvB/DadtNZGrVr1I1nsf2nCmwbFr2lt2jy9jHvr1UVpXiZY4NuwboHP9A2LWrv1LN8Ov360i7zkj30VHCQnwupKbk5EmTUVmuO9RWlP1HmWaY8OR50Ow8YzxH/AIxBsUoqU1XBag11c0m2M5lMN2OzHvwrXkvlZkTb7SPuNWFpHvvgPOrcJPW5q1BZzg2I/DwaZbi7tC0ZYF1417HpKHgQIQhLBgQhChAQhChBIt+GG2mSV5mkD90cKCR4AA1DRa6gyovFnwU0DfPkP86T9SucR3I9x3ezO0J26xWgmA+y7/Nsd7FWXRf8kg3wJc00c0iha4cBG1GXNZRVvBS3pdcMOsyfjSfqVcBAfG/jSfqXnHlsfSugQElRXm7YtSlbQlFNmTO8qptYHoRwbZPxpP1L7uUG2T8aT9STmXm5d23k7YUXulMWlxCuhsFnh2yfjSfqXx1nh/ifjSfqS028ncUr0L1OxTulMDLiVx5F+6KL+L+NJ+pRZLM06jMP50n6lXtvbkXRt6k/ZPau92pdAEuJXfX8IkssLG8FAODp6VAvK2gZBS2NmlNGNOe3n2K5uzDjQQCBLKdXCArynClEHQo1bmpqlzFy5r7bG8F9QFpdz4nszmj51oqOH351DxPgZklikaxoNoA0mkb3fA10RziozWN3bYhFJo2oSsOx1W9uv0JXMLo2qdvK15p5z6G/z4hs2ifnW9KzfGt8RProvBz4PfkXy7W3W4Z1J5XHvXC+Y7qa07fONV2hSjSlsy1VusvmfL0ECC8ACa7U+4Lux0jhLJlGMxUa/QVW4PuGzWiVz2NLtHU3M58y2S5bgYIxurN8eCp3o4BkVa6ulBYCK1p1fmXI43IwG0aTBk1hBPPSiZVys9mbGKMaGjkXVY1Sep5NCEdKwCEIVCwIQhQgIQhQgKlva49N+7QnQlpR2yQf5qcI4CrpC7GTi8ojWRUtlwTSfT0Dzn+yhDBruLF7+hPCEXvE0C7GHQSm4RfxIvf0L0MKP4kXT/ZOaF3vNTqc7Cn0Ex+E3nW2Pp/slO/fB1bHOLoXQhus6TyKflWvqgv8iSaKA/RLXSOHA6hAaDtFTWnIESndVc4yUla0XzcTIWYLtVQDabHr8o/+c0+3TgiSNoroOPCdI07FNxRcrDA8aDPon7Iy9Si+CC8nyWaSF5Ltwk0Wkmp0CA4CvJmEedWp2euL5AY0KDqaHHmWbbglGQ0B6f7K6um6xCKmhefpO9g5FYLxPJotc7YCegVSMqspbjcKUIeFHG3XhFCNKWRkY2vcG16VlXhNvGzWqezNilZIAH6Wi4GmYoCosFifb7QZpN8XGu+zDG8DWg6gBs9q026rlihYGhjSaZktCLSfYzUmcm9cWovAr4WsVnZG2u5VoK1Lfao2PLus0kRpuVRqILap1t8DA36DOqO5It93hoH6DOqNicozlUqa0JVIxpw0N/UVfA9aW2a3yiSRrIzC6hcaAu02UHPrW5WO8Ipfq5GP81wNOhZHHfp4ses/ZHdyq50g6AzsAjnZvmPYKEkcDqfSacwQV26tnJ6y1C+hLEPM0xeZHhoJcQAMyTkAOdRrptm7QRS0pujGvpsqAaJM8KDnyugszSdB4e94H2tEtDQeTMn0BZajzwP5GxmILKTQWiInz296sgs1hw62z2Vxe1taHWAo+AsYvbZnRvBfucjmtJOYZRrmj0aVEfu+Yaogo1s1NGPU1JCEJYMCEIUICEIUICEIUICEIUICXL5mDLZCTwxPH52JjWZeF689wlszq0q2TtYj20NdRRBVpOMG0sltjG/GsgIrmRQJFwheVrjEpshbRzquqzSq4ADaleS8ZrY/c4quPCTqA2lOWGfB3PuekJnZnMNOiK8NFquNKlDTIz406826mzJkt/319kx/g/8A0oF5YlvpsbtMxBhBB+apkRTXpZK8dgC08E8o/m1VJiHAd4sic5kxka0VLS7OnTmhJ20n5FlC8X+Q6YWsYjjaOGja9CbUk4cvIAND+KM/Qmpt5R7fUkrnxDNsvlZ9vI7z32LJsXWmjqcq0i+L1jDDn6ljeJ7ya6Q01VTvD1ybYlftuSij5A5Olif+xvrsKz2z2wZJ7uW7ZJ7MdIljCOlO3EkomfQpyVUj2C87z3CMQyEMDGho3NpyoKZ0XTDVttb7bpW54doRkM3oFKuBOocgVjB4NJQxobaXDLI6R2ZZUSFia7rVdtoaJpA8PBLHV1gEVrsSsXQqNpYyami5gm28+hoPhDv9ohDGnN2vmVHguyNMDjQZyH+lqR4pJbZJox1O0nOnOtXwndIis4YTUhxrTbQKTUaUNKYS2hUlLtKhpCEIWKPghCFCAhCFCAhCFCAhCFCAlLwi4O+MYGta4MljdpMcRUZ5OaaZ0I9YTahWhNwepbkM/wAP+Dw2aMMD2VP03Z1PqTzYrKImBjdQ9a7oVp1ZT8RAXx7QQQdRyPMvqEMgmWHDk8EhDQySKp0CcnBvA082qvIr1rZQKbi3pCtkIsqrluDjSUdihtllkeKbk3pCVrfgTdXVMQr5wWjoVo3E4+Eq6EG8y5mcWbAugQRA3L/MmW77nfkJKNYPsjOvImJCkriclzIqFNPKQAJQ8IuDPjGOLRcGSROJaTqLSN8005gfQm9CFCbhLUtwwh3RgV0DAxpYNVTt9ScrBYGxM0W12nlKlIVp1ZT3If/Z"/>
          <p:cNvSpPr>
            <a:spLocks noChangeAspect="1" noChangeArrowheads="1"/>
          </p:cNvSpPr>
          <p:nvPr/>
        </p:nvSpPr>
        <p:spPr bwMode="auto">
          <a:xfrm>
            <a:off x="155575" y="-1165225"/>
            <a:ext cx="2438400" cy="2438400"/>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grpSp>
        <p:nvGrpSpPr>
          <p:cNvPr id="2" name="Group 47"/>
          <p:cNvGrpSpPr/>
          <p:nvPr/>
        </p:nvGrpSpPr>
        <p:grpSpPr>
          <a:xfrm>
            <a:off x="611560" y="4038163"/>
            <a:ext cx="3457647" cy="830997"/>
            <a:chOff x="755576" y="1373867"/>
            <a:chExt cx="3790113" cy="830997"/>
          </a:xfrm>
        </p:grpSpPr>
        <p:sp>
          <p:nvSpPr>
            <p:cNvPr id="5" name="TextBox 4"/>
            <p:cNvSpPr txBox="1"/>
            <p:nvPr/>
          </p:nvSpPr>
          <p:spPr>
            <a:xfrm>
              <a:off x="755576" y="1556792"/>
              <a:ext cx="1296144" cy="369332"/>
            </a:xfrm>
            <a:prstGeom prst="rect">
              <a:avLst/>
            </a:prstGeom>
            <a:solidFill>
              <a:srgbClr val="00B050"/>
            </a:solidFill>
            <a:ln>
              <a:solidFill>
                <a:schemeClr val="tx1"/>
              </a:solidFill>
            </a:ln>
          </p:spPr>
          <p:txBody>
            <a:bodyPr wrap="square" rtlCol="0">
              <a:spAutoFit/>
            </a:bodyPr>
            <a:lstStyle/>
            <a:p>
              <a:pPr algn="ctr"/>
              <a:r>
                <a:rPr lang="en-IN" dirty="0" smtClean="0">
                  <a:solidFill>
                    <a:schemeClr val="bg1"/>
                  </a:solidFill>
                </a:rPr>
                <a:t>Message</a:t>
              </a:r>
              <a:endParaRPr lang="en-IN" dirty="0">
                <a:solidFill>
                  <a:schemeClr val="bg1"/>
                </a:solidFill>
              </a:endParaRPr>
            </a:p>
          </p:txBody>
        </p:sp>
        <p:sp>
          <p:nvSpPr>
            <p:cNvPr id="42" name="TextBox 41"/>
            <p:cNvSpPr txBox="1"/>
            <p:nvPr/>
          </p:nvSpPr>
          <p:spPr>
            <a:xfrm>
              <a:off x="2097417" y="1373867"/>
              <a:ext cx="2448272" cy="830997"/>
            </a:xfrm>
            <a:prstGeom prst="rect">
              <a:avLst/>
            </a:prstGeom>
            <a:noFill/>
          </p:spPr>
          <p:txBody>
            <a:bodyPr wrap="square" rtlCol="0">
              <a:spAutoFit/>
            </a:bodyPr>
            <a:lstStyle/>
            <a:p>
              <a:pPr algn="ctr"/>
              <a:r>
                <a:rPr lang="en-IN" sz="1600" dirty="0" smtClean="0"/>
                <a:t>Hash Code for the message is calculated again by the receiver</a:t>
              </a:r>
              <a:endParaRPr lang="en-IN" sz="1600" dirty="0"/>
            </a:p>
          </p:txBody>
        </p:sp>
      </p:grpSp>
      <p:grpSp>
        <p:nvGrpSpPr>
          <p:cNvPr id="7" name="Group 48"/>
          <p:cNvGrpSpPr/>
          <p:nvPr/>
        </p:nvGrpSpPr>
        <p:grpSpPr>
          <a:xfrm>
            <a:off x="4644008" y="4941168"/>
            <a:ext cx="4320480" cy="410562"/>
            <a:chOff x="755576" y="2132856"/>
            <a:chExt cx="4320480" cy="410562"/>
          </a:xfrm>
        </p:grpSpPr>
        <p:sp>
          <p:nvSpPr>
            <p:cNvPr id="6" name="TextBox 5"/>
            <p:cNvSpPr txBox="1"/>
            <p:nvPr/>
          </p:nvSpPr>
          <p:spPr>
            <a:xfrm>
              <a:off x="755576" y="2132856"/>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sp>
          <p:nvSpPr>
            <p:cNvPr id="43" name="TextBox 42"/>
            <p:cNvSpPr txBox="1"/>
            <p:nvPr/>
          </p:nvSpPr>
          <p:spPr>
            <a:xfrm>
              <a:off x="2627784" y="2204864"/>
              <a:ext cx="2448272" cy="338554"/>
            </a:xfrm>
            <a:prstGeom prst="rect">
              <a:avLst/>
            </a:prstGeom>
            <a:noFill/>
          </p:spPr>
          <p:txBody>
            <a:bodyPr wrap="square" rtlCol="0">
              <a:spAutoFit/>
            </a:bodyPr>
            <a:lstStyle/>
            <a:p>
              <a:pPr algn="ctr"/>
              <a:r>
                <a:rPr lang="en-IN" sz="1600" dirty="0" smtClean="0"/>
                <a:t>Decrypted Hash code</a:t>
              </a:r>
              <a:endParaRPr lang="en-IN" sz="1600" dirty="0"/>
            </a:p>
          </p:txBody>
        </p:sp>
      </p:grpSp>
      <p:grpSp>
        <p:nvGrpSpPr>
          <p:cNvPr id="9" name="Group 50"/>
          <p:cNvGrpSpPr/>
          <p:nvPr/>
        </p:nvGrpSpPr>
        <p:grpSpPr>
          <a:xfrm>
            <a:off x="2771800" y="2843644"/>
            <a:ext cx="5040560" cy="945396"/>
            <a:chOff x="755576" y="3789040"/>
            <a:chExt cx="5040560" cy="945396"/>
          </a:xfrm>
        </p:grpSpPr>
        <p:grpSp>
          <p:nvGrpSpPr>
            <p:cNvPr id="10" name="Group 26"/>
            <p:cNvGrpSpPr/>
            <p:nvPr/>
          </p:nvGrpSpPr>
          <p:grpSpPr>
            <a:xfrm>
              <a:off x="755576" y="3789040"/>
              <a:ext cx="1424186" cy="945396"/>
              <a:chOff x="755576" y="3573016"/>
              <a:chExt cx="1424186" cy="945396"/>
            </a:xfrm>
          </p:grpSpPr>
          <p:sp>
            <p:nvSpPr>
              <p:cNvPr id="16" name="TextBox 15"/>
              <p:cNvSpPr txBox="1"/>
              <p:nvPr/>
            </p:nvSpPr>
            <p:spPr>
              <a:xfrm>
                <a:off x="755576" y="4149080"/>
                <a:ext cx="1296144" cy="369332"/>
              </a:xfrm>
              <a:prstGeom prst="rect">
                <a:avLst/>
              </a:prstGeom>
              <a:solidFill>
                <a:srgbClr val="00B050"/>
              </a:solidFill>
              <a:ln>
                <a:solidFill>
                  <a:schemeClr val="tx1"/>
                </a:solidFill>
              </a:ln>
            </p:spPr>
            <p:txBody>
              <a:bodyPr wrap="square" rtlCol="0">
                <a:spAutoFit/>
              </a:bodyPr>
              <a:lstStyle/>
              <a:p>
                <a:pPr algn="ctr"/>
                <a:r>
                  <a:rPr lang="en-IN" dirty="0" smtClean="0">
                    <a:solidFill>
                      <a:schemeClr val="bg1"/>
                    </a:solidFill>
                  </a:rPr>
                  <a:t>Message</a:t>
                </a:r>
                <a:endParaRPr lang="en-IN" dirty="0">
                  <a:solidFill>
                    <a:schemeClr val="bg1"/>
                  </a:solidFill>
                </a:endParaRPr>
              </a:p>
            </p:txBody>
          </p:sp>
          <p:sp>
            <p:nvSpPr>
              <p:cNvPr id="17" name="TextBox 16"/>
              <p:cNvSpPr txBox="1"/>
              <p:nvPr/>
            </p:nvSpPr>
            <p:spPr>
              <a:xfrm>
                <a:off x="755576" y="3789040"/>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pic>
            <p:nvPicPr>
              <p:cNvPr id="18" name="Picture 14" descr="Padlock  Clip Art"/>
              <p:cNvPicPr>
                <a:picLocks noChangeAspect="1" noChangeArrowheads="1"/>
              </p:cNvPicPr>
              <p:nvPr/>
            </p:nvPicPr>
            <p:blipFill>
              <a:blip r:embed="rId2" cstate="print"/>
              <a:srcRect/>
              <a:stretch>
                <a:fillRect/>
              </a:stretch>
            </p:blipFill>
            <p:spPr bwMode="auto">
              <a:xfrm>
                <a:off x="1907704" y="3573016"/>
                <a:ext cx="272058" cy="388654"/>
              </a:xfrm>
              <a:prstGeom prst="rect">
                <a:avLst/>
              </a:prstGeom>
              <a:noFill/>
            </p:spPr>
          </p:pic>
        </p:grpSp>
        <p:sp>
          <p:nvSpPr>
            <p:cNvPr id="46" name="TextBox 45"/>
            <p:cNvSpPr txBox="1"/>
            <p:nvPr/>
          </p:nvSpPr>
          <p:spPr>
            <a:xfrm>
              <a:off x="3347864" y="4005064"/>
              <a:ext cx="2448272" cy="338554"/>
            </a:xfrm>
            <a:prstGeom prst="rect">
              <a:avLst/>
            </a:prstGeom>
            <a:noFill/>
          </p:spPr>
          <p:txBody>
            <a:bodyPr wrap="square" rtlCol="0">
              <a:spAutoFit/>
            </a:bodyPr>
            <a:lstStyle/>
            <a:p>
              <a:pPr algn="ctr"/>
              <a:r>
                <a:rPr lang="en-IN" sz="1600" dirty="0" smtClean="0"/>
                <a:t>Packet is unzipped</a:t>
              </a:r>
              <a:endParaRPr lang="en-IN" sz="1600" dirty="0"/>
            </a:p>
          </p:txBody>
        </p:sp>
      </p:grpSp>
      <p:grpSp>
        <p:nvGrpSpPr>
          <p:cNvPr id="11" name="Group 58"/>
          <p:cNvGrpSpPr/>
          <p:nvPr/>
        </p:nvGrpSpPr>
        <p:grpSpPr>
          <a:xfrm>
            <a:off x="1115616" y="1340768"/>
            <a:ext cx="6768752" cy="1440160"/>
            <a:chOff x="1115616" y="1340768"/>
            <a:chExt cx="6768752" cy="1440160"/>
          </a:xfrm>
        </p:grpSpPr>
        <p:grpSp>
          <p:nvGrpSpPr>
            <p:cNvPr id="12" name="Group 51"/>
            <p:cNvGrpSpPr/>
            <p:nvPr/>
          </p:nvGrpSpPr>
          <p:grpSpPr>
            <a:xfrm>
              <a:off x="2411760" y="1340768"/>
              <a:ext cx="5472608" cy="1440160"/>
              <a:chOff x="395536" y="4869160"/>
              <a:chExt cx="5472608" cy="1440160"/>
            </a:xfrm>
          </p:grpSpPr>
          <p:grpSp>
            <p:nvGrpSpPr>
              <p:cNvPr id="13" name="Group 27"/>
              <p:cNvGrpSpPr/>
              <p:nvPr/>
            </p:nvGrpSpPr>
            <p:grpSpPr>
              <a:xfrm>
                <a:off x="395536" y="4869160"/>
                <a:ext cx="1800200" cy="1440160"/>
                <a:chOff x="395536" y="4581128"/>
                <a:chExt cx="1800200" cy="1440160"/>
              </a:xfrm>
            </p:grpSpPr>
            <p:sp>
              <p:nvSpPr>
                <p:cNvPr id="19" name="TextBox 18"/>
                <p:cNvSpPr txBox="1"/>
                <p:nvPr/>
              </p:nvSpPr>
              <p:spPr>
                <a:xfrm>
                  <a:off x="755576" y="5445224"/>
                  <a:ext cx="1296144" cy="369332"/>
                </a:xfrm>
                <a:prstGeom prst="rect">
                  <a:avLst/>
                </a:prstGeom>
                <a:solidFill>
                  <a:srgbClr val="00B050"/>
                </a:solidFill>
                <a:ln>
                  <a:solidFill>
                    <a:schemeClr val="tx1"/>
                  </a:solidFill>
                </a:ln>
              </p:spPr>
              <p:txBody>
                <a:bodyPr wrap="square" rtlCol="0">
                  <a:spAutoFit/>
                </a:bodyPr>
                <a:lstStyle/>
                <a:p>
                  <a:pPr algn="ctr"/>
                  <a:r>
                    <a:rPr lang="en-IN" dirty="0" smtClean="0">
                      <a:solidFill>
                        <a:schemeClr val="bg1"/>
                      </a:solidFill>
                    </a:rPr>
                    <a:t>Message</a:t>
                  </a:r>
                  <a:endParaRPr lang="en-IN" dirty="0">
                    <a:solidFill>
                      <a:schemeClr val="bg1"/>
                    </a:solidFill>
                  </a:endParaRPr>
                </a:p>
              </p:txBody>
            </p:sp>
            <p:sp>
              <p:nvSpPr>
                <p:cNvPr id="20" name="TextBox 19"/>
                <p:cNvSpPr txBox="1"/>
                <p:nvPr/>
              </p:nvSpPr>
              <p:spPr>
                <a:xfrm>
                  <a:off x="755576" y="5085184"/>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pic>
              <p:nvPicPr>
                <p:cNvPr id="21" name="Picture 14" descr="Padlock  Clip Art"/>
                <p:cNvPicPr>
                  <a:picLocks noChangeAspect="1" noChangeArrowheads="1"/>
                </p:cNvPicPr>
                <p:nvPr/>
              </p:nvPicPr>
              <p:blipFill>
                <a:blip r:embed="rId2" cstate="print"/>
                <a:srcRect/>
                <a:stretch>
                  <a:fillRect/>
                </a:stretch>
              </p:blipFill>
              <p:spPr bwMode="auto">
                <a:xfrm>
                  <a:off x="1835696" y="4869160"/>
                  <a:ext cx="272058" cy="388654"/>
                </a:xfrm>
                <a:prstGeom prst="rect">
                  <a:avLst/>
                </a:prstGeom>
                <a:noFill/>
              </p:spPr>
            </p:pic>
            <p:sp>
              <p:nvSpPr>
                <p:cNvPr id="22" name="Rectangle 21"/>
                <p:cNvSpPr/>
                <p:nvPr/>
              </p:nvSpPr>
              <p:spPr>
                <a:xfrm>
                  <a:off x="611560" y="4797152"/>
                  <a:ext cx="1584176" cy="12241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44" name="Picture 20" descr="http://www.teleconformity.com/images/zip-symbol.gif"/>
                <p:cNvPicPr>
                  <a:picLocks noChangeAspect="1" noChangeArrowheads="1"/>
                </p:cNvPicPr>
                <p:nvPr/>
              </p:nvPicPr>
              <p:blipFill>
                <a:blip r:embed="rId3" cstate="print"/>
                <a:srcRect/>
                <a:stretch>
                  <a:fillRect/>
                </a:stretch>
              </p:blipFill>
              <p:spPr bwMode="auto">
                <a:xfrm>
                  <a:off x="395536" y="4581128"/>
                  <a:ext cx="432048" cy="432048"/>
                </a:xfrm>
                <a:prstGeom prst="rect">
                  <a:avLst/>
                </a:prstGeom>
                <a:noFill/>
              </p:spPr>
            </p:pic>
          </p:grpSp>
          <p:sp>
            <p:nvSpPr>
              <p:cNvPr id="47" name="TextBox 46"/>
              <p:cNvSpPr txBox="1"/>
              <p:nvPr/>
            </p:nvSpPr>
            <p:spPr>
              <a:xfrm>
                <a:off x="3419872" y="5229200"/>
                <a:ext cx="2448272" cy="830997"/>
              </a:xfrm>
              <a:prstGeom prst="rect">
                <a:avLst/>
              </a:prstGeom>
              <a:noFill/>
            </p:spPr>
            <p:txBody>
              <a:bodyPr wrap="square" rtlCol="0">
                <a:spAutoFit/>
              </a:bodyPr>
              <a:lstStyle/>
              <a:p>
                <a:pPr algn="ctr"/>
                <a:r>
                  <a:rPr lang="en-IN" sz="1600" dirty="0" smtClean="0"/>
                  <a:t>The resultant packet is received from the communication channel</a:t>
                </a:r>
                <a:endParaRPr lang="en-IN" sz="1600" dirty="0"/>
              </a:p>
            </p:txBody>
          </p:sp>
        </p:grpSp>
        <p:cxnSp>
          <p:nvCxnSpPr>
            <p:cNvPr id="54" name="Straight Connector 53"/>
            <p:cNvCxnSpPr/>
            <p:nvPr/>
          </p:nvCxnSpPr>
          <p:spPr>
            <a:xfrm>
              <a:off x="1115616" y="2708920"/>
              <a:ext cx="1224136" cy="0"/>
            </a:xfrm>
            <a:prstGeom prst="line">
              <a:avLst/>
            </a:prstGeom>
            <a:ln w="317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4" name="Group 48"/>
          <p:cNvGrpSpPr/>
          <p:nvPr/>
        </p:nvGrpSpPr>
        <p:grpSpPr>
          <a:xfrm>
            <a:off x="539552" y="4941168"/>
            <a:ext cx="3600400" cy="410562"/>
            <a:chOff x="755576" y="2132856"/>
            <a:chExt cx="3600400" cy="410562"/>
          </a:xfrm>
        </p:grpSpPr>
        <p:sp>
          <p:nvSpPr>
            <p:cNvPr id="38" name="TextBox 37"/>
            <p:cNvSpPr txBox="1"/>
            <p:nvPr/>
          </p:nvSpPr>
          <p:spPr>
            <a:xfrm>
              <a:off x="755576" y="2132856"/>
              <a:ext cx="1296144" cy="369332"/>
            </a:xfrm>
            <a:prstGeom prst="rect">
              <a:avLst/>
            </a:prstGeom>
            <a:solidFill>
              <a:srgbClr val="FFC000"/>
            </a:solidFill>
            <a:ln>
              <a:solidFill>
                <a:schemeClr val="tx1"/>
              </a:solidFill>
            </a:ln>
          </p:spPr>
          <p:txBody>
            <a:bodyPr wrap="square" rtlCol="0">
              <a:spAutoFit/>
            </a:bodyPr>
            <a:lstStyle/>
            <a:p>
              <a:pPr algn="ctr"/>
              <a:r>
                <a:rPr lang="en-IN" dirty="0" smtClean="0"/>
                <a:t>Hash Code</a:t>
              </a:r>
              <a:endParaRPr lang="en-IN" dirty="0"/>
            </a:p>
          </p:txBody>
        </p:sp>
        <p:sp>
          <p:nvSpPr>
            <p:cNvPr id="39" name="TextBox 38"/>
            <p:cNvSpPr txBox="1"/>
            <p:nvPr/>
          </p:nvSpPr>
          <p:spPr>
            <a:xfrm>
              <a:off x="1907704" y="2204864"/>
              <a:ext cx="2448272" cy="338554"/>
            </a:xfrm>
            <a:prstGeom prst="rect">
              <a:avLst/>
            </a:prstGeom>
            <a:noFill/>
          </p:spPr>
          <p:txBody>
            <a:bodyPr wrap="square" rtlCol="0">
              <a:spAutoFit/>
            </a:bodyPr>
            <a:lstStyle/>
            <a:p>
              <a:pPr algn="ctr"/>
              <a:r>
                <a:rPr lang="en-IN" sz="1600" dirty="0" smtClean="0"/>
                <a:t>Resulting Hash code</a:t>
              </a:r>
              <a:endParaRPr lang="en-IN" sz="1600" dirty="0"/>
            </a:p>
          </p:txBody>
        </p:sp>
      </p:grpSp>
      <p:sp>
        <p:nvSpPr>
          <p:cNvPr id="41" name="Flowchart: Decision 40"/>
          <p:cNvSpPr/>
          <p:nvPr/>
        </p:nvSpPr>
        <p:spPr>
          <a:xfrm>
            <a:off x="2699792" y="5733256"/>
            <a:ext cx="1368152" cy="792088"/>
          </a:xfrm>
          <a:prstGeom prst="flowChartDecision">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chemeClr val="bg1"/>
                </a:solidFill>
              </a:rPr>
              <a:t>Same?</a:t>
            </a:r>
            <a:endParaRPr lang="en-IN" sz="1600" b="1" dirty="0">
              <a:solidFill>
                <a:schemeClr val="bg1"/>
              </a:solidFill>
            </a:endParaRPr>
          </a:p>
        </p:txBody>
      </p:sp>
      <p:sp>
        <p:nvSpPr>
          <p:cNvPr id="53" name="TextBox 52"/>
          <p:cNvSpPr txBox="1"/>
          <p:nvPr/>
        </p:nvSpPr>
        <p:spPr>
          <a:xfrm>
            <a:off x="251520" y="5805264"/>
            <a:ext cx="2016224" cy="584775"/>
          </a:xfrm>
          <a:prstGeom prst="rect">
            <a:avLst/>
          </a:prstGeom>
          <a:solidFill>
            <a:srgbClr val="FF0000"/>
          </a:solidFill>
          <a:ln>
            <a:solidFill>
              <a:schemeClr val="tx1"/>
            </a:solidFill>
          </a:ln>
        </p:spPr>
        <p:txBody>
          <a:bodyPr wrap="square" rtlCol="0">
            <a:spAutoFit/>
          </a:bodyPr>
          <a:lstStyle/>
          <a:p>
            <a:pPr algn="ctr"/>
            <a:r>
              <a:rPr lang="en-IN" sz="1600" b="1" dirty="0" smtClean="0">
                <a:solidFill>
                  <a:schemeClr val="bg1"/>
                </a:solidFill>
              </a:rPr>
              <a:t>No: Message Integrity Failed</a:t>
            </a:r>
            <a:endParaRPr lang="en-IN" sz="1600" b="1" dirty="0">
              <a:solidFill>
                <a:schemeClr val="bg1"/>
              </a:solidFill>
            </a:endParaRPr>
          </a:p>
        </p:txBody>
      </p:sp>
      <p:sp>
        <p:nvSpPr>
          <p:cNvPr id="52" name="TextBox 51"/>
          <p:cNvSpPr txBox="1"/>
          <p:nvPr/>
        </p:nvSpPr>
        <p:spPr>
          <a:xfrm>
            <a:off x="4644008" y="5805264"/>
            <a:ext cx="2088232" cy="584775"/>
          </a:xfrm>
          <a:prstGeom prst="rect">
            <a:avLst/>
          </a:prstGeom>
          <a:solidFill>
            <a:srgbClr val="92D050"/>
          </a:solidFill>
          <a:ln>
            <a:solidFill>
              <a:schemeClr val="tx1"/>
            </a:solidFill>
          </a:ln>
        </p:spPr>
        <p:txBody>
          <a:bodyPr wrap="square" rtlCol="0">
            <a:spAutoFit/>
          </a:bodyPr>
          <a:lstStyle/>
          <a:p>
            <a:pPr algn="ctr"/>
            <a:r>
              <a:rPr lang="en-IN" sz="1600" b="1" dirty="0" smtClean="0"/>
              <a:t>Yes: Message Integrity Verified</a:t>
            </a:r>
            <a:endParaRPr lang="en-IN" sz="1600" b="1" dirty="0"/>
          </a:p>
        </p:txBody>
      </p:sp>
      <p:grpSp>
        <p:nvGrpSpPr>
          <p:cNvPr id="15" name="Group 67"/>
          <p:cNvGrpSpPr/>
          <p:nvPr/>
        </p:nvGrpSpPr>
        <p:grpSpPr>
          <a:xfrm>
            <a:off x="4644008" y="3933056"/>
            <a:ext cx="4320480" cy="903005"/>
            <a:chOff x="4644008" y="3933056"/>
            <a:chExt cx="4320480" cy="903005"/>
          </a:xfrm>
        </p:grpSpPr>
        <p:grpSp>
          <p:nvGrpSpPr>
            <p:cNvPr id="23" name="Group 59"/>
            <p:cNvGrpSpPr/>
            <p:nvPr/>
          </p:nvGrpSpPr>
          <p:grpSpPr>
            <a:xfrm>
              <a:off x="4644008" y="3933056"/>
              <a:ext cx="4320480" cy="903005"/>
              <a:chOff x="4644008" y="3933056"/>
              <a:chExt cx="4320480" cy="903005"/>
            </a:xfrm>
          </p:grpSpPr>
          <p:grpSp>
            <p:nvGrpSpPr>
              <p:cNvPr id="24" name="Group 49"/>
              <p:cNvGrpSpPr/>
              <p:nvPr/>
            </p:nvGrpSpPr>
            <p:grpSpPr>
              <a:xfrm>
                <a:off x="4644008" y="4005064"/>
                <a:ext cx="4320480" cy="830997"/>
                <a:chOff x="755576" y="2996952"/>
                <a:chExt cx="4320480" cy="830997"/>
              </a:xfrm>
            </p:grpSpPr>
            <p:sp>
              <p:nvSpPr>
                <p:cNvPr id="8" name="TextBox 7"/>
                <p:cNvSpPr txBox="1"/>
                <p:nvPr/>
              </p:nvSpPr>
              <p:spPr>
                <a:xfrm>
                  <a:off x="755576" y="3212976"/>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sp>
              <p:nvSpPr>
                <p:cNvPr id="44" name="TextBox 43"/>
                <p:cNvSpPr txBox="1"/>
                <p:nvPr/>
              </p:nvSpPr>
              <p:spPr>
                <a:xfrm>
                  <a:off x="2627784" y="2996952"/>
                  <a:ext cx="2448272" cy="830997"/>
                </a:xfrm>
                <a:prstGeom prst="rect">
                  <a:avLst/>
                </a:prstGeom>
                <a:noFill/>
              </p:spPr>
              <p:txBody>
                <a:bodyPr wrap="square" rtlCol="0">
                  <a:spAutoFit/>
                </a:bodyPr>
                <a:lstStyle/>
                <a:p>
                  <a:pPr algn="ctr"/>
                  <a:r>
                    <a:rPr lang="en-IN" sz="1600" dirty="0" smtClean="0"/>
                    <a:t>Received Hash code is decrypted using the sender’s public key</a:t>
                  </a:r>
                  <a:endParaRPr lang="en-IN" sz="1600" dirty="0"/>
                </a:p>
              </p:txBody>
            </p:sp>
          </p:grpSp>
          <p:pic>
            <p:nvPicPr>
              <p:cNvPr id="20482" name="Picture 2" descr="http://cdn.vectorstock.com/i/composite/97,02/black-key-vector-819702.jpg"/>
              <p:cNvPicPr>
                <a:picLocks noChangeAspect="1" noChangeArrowheads="1"/>
              </p:cNvPicPr>
              <p:nvPr/>
            </p:nvPicPr>
            <p:blipFill>
              <a:blip r:embed="rId4" cstate="print"/>
              <a:srcRect/>
              <a:stretch>
                <a:fillRect/>
              </a:stretch>
            </p:blipFill>
            <p:spPr bwMode="auto">
              <a:xfrm>
                <a:off x="6300192" y="3933056"/>
                <a:ext cx="432048" cy="338032"/>
              </a:xfrm>
              <a:prstGeom prst="rect">
                <a:avLst/>
              </a:prstGeom>
              <a:noFill/>
            </p:spPr>
          </p:pic>
        </p:grpSp>
        <p:pic>
          <p:nvPicPr>
            <p:cNvPr id="20483" name="Picture 3"/>
            <p:cNvPicPr>
              <a:picLocks noChangeAspect="1" noChangeArrowheads="1"/>
            </p:cNvPicPr>
            <p:nvPr/>
          </p:nvPicPr>
          <p:blipFill>
            <a:blip r:embed="rId5" cstate="print"/>
            <a:srcRect r="94470" b="80927"/>
            <a:stretch>
              <a:fillRect/>
            </a:stretch>
          </p:blipFill>
          <p:spPr bwMode="auto">
            <a:xfrm>
              <a:off x="6084168" y="3933056"/>
              <a:ext cx="268635" cy="399678"/>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53" grpId="0" animBg="1"/>
      <p:bldP spid="5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E-Mail Confidentiality using PGP</a:t>
            </a:r>
          </a:p>
          <a:p>
            <a:r>
              <a:rPr lang="en-IN" sz="2000" dirty="0" smtClean="0"/>
              <a:t>Sender Side</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27</a:t>
            </a:fld>
            <a:endParaRPr lang="en-US" dirty="0"/>
          </a:p>
        </p:txBody>
      </p:sp>
      <p:grpSp>
        <p:nvGrpSpPr>
          <p:cNvPr id="2" name="Group 51"/>
          <p:cNvGrpSpPr/>
          <p:nvPr/>
        </p:nvGrpSpPr>
        <p:grpSpPr>
          <a:xfrm>
            <a:off x="107504" y="1556792"/>
            <a:ext cx="4176464" cy="1440160"/>
            <a:chOff x="395536" y="4869160"/>
            <a:chExt cx="4176464" cy="1440160"/>
          </a:xfrm>
        </p:grpSpPr>
        <p:grpSp>
          <p:nvGrpSpPr>
            <p:cNvPr id="5" name="Group 27"/>
            <p:cNvGrpSpPr/>
            <p:nvPr/>
          </p:nvGrpSpPr>
          <p:grpSpPr>
            <a:xfrm>
              <a:off x="395536" y="4869160"/>
              <a:ext cx="1800200" cy="1440160"/>
              <a:chOff x="395536" y="4581128"/>
              <a:chExt cx="1800200" cy="1440160"/>
            </a:xfrm>
          </p:grpSpPr>
          <p:sp>
            <p:nvSpPr>
              <p:cNvPr id="10" name="TextBox 9"/>
              <p:cNvSpPr txBox="1"/>
              <p:nvPr/>
            </p:nvSpPr>
            <p:spPr>
              <a:xfrm>
                <a:off x="755576" y="5445224"/>
                <a:ext cx="1296144" cy="369332"/>
              </a:xfrm>
              <a:prstGeom prst="rect">
                <a:avLst/>
              </a:prstGeom>
              <a:solidFill>
                <a:srgbClr val="00B050"/>
              </a:solidFill>
              <a:ln>
                <a:solidFill>
                  <a:schemeClr val="tx1"/>
                </a:solidFill>
              </a:ln>
            </p:spPr>
            <p:txBody>
              <a:bodyPr wrap="square" rtlCol="0">
                <a:spAutoFit/>
              </a:bodyPr>
              <a:lstStyle/>
              <a:p>
                <a:pPr algn="ctr"/>
                <a:r>
                  <a:rPr lang="en-IN" dirty="0" smtClean="0">
                    <a:solidFill>
                      <a:schemeClr val="bg1"/>
                    </a:solidFill>
                  </a:rPr>
                  <a:t>Message</a:t>
                </a:r>
                <a:endParaRPr lang="en-IN" dirty="0">
                  <a:solidFill>
                    <a:schemeClr val="bg1"/>
                  </a:solidFill>
                </a:endParaRPr>
              </a:p>
            </p:txBody>
          </p:sp>
          <p:sp>
            <p:nvSpPr>
              <p:cNvPr id="11" name="TextBox 10"/>
              <p:cNvSpPr txBox="1"/>
              <p:nvPr/>
            </p:nvSpPr>
            <p:spPr>
              <a:xfrm>
                <a:off x="755576" y="5085184"/>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pic>
            <p:nvPicPr>
              <p:cNvPr id="12" name="Picture 14" descr="Padlock  Clip Art"/>
              <p:cNvPicPr>
                <a:picLocks noChangeAspect="1" noChangeArrowheads="1"/>
              </p:cNvPicPr>
              <p:nvPr/>
            </p:nvPicPr>
            <p:blipFill>
              <a:blip r:embed="rId3" cstate="print"/>
              <a:srcRect/>
              <a:stretch>
                <a:fillRect/>
              </a:stretch>
            </p:blipFill>
            <p:spPr bwMode="auto">
              <a:xfrm>
                <a:off x="1835696" y="4869160"/>
                <a:ext cx="272058" cy="388654"/>
              </a:xfrm>
              <a:prstGeom prst="rect">
                <a:avLst/>
              </a:prstGeom>
              <a:noFill/>
            </p:spPr>
          </p:pic>
          <p:sp>
            <p:nvSpPr>
              <p:cNvPr id="13" name="Rectangle 12"/>
              <p:cNvSpPr/>
              <p:nvPr/>
            </p:nvSpPr>
            <p:spPr>
              <a:xfrm>
                <a:off x="611560" y="4797152"/>
                <a:ext cx="1584176" cy="12241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4" name="Picture 20" descr="http://www.teleconformity.com/images/zip-symbol.gif"/>
              <p:cNvPicPr>
                <a:picLocks noChangeAspect="1" noChangeArrowheads="1"/>
              </p:cNvPicPr>
              <p:nvPr/>
            </p:nvPicPr>
            <p:blipFill>
              <a:blip r:embed="rId4" cstate="print"/>
              <a:srcRect/>
              <a:stretch>
                <a:fillRect/>
              </a:stretch>
            </p:blipFill>
            <p:spPr bwMode="auto">
              <a:xfrm>
                <a:off x="395536" y="4581128"/>
                <a:ext cx="432048" cy="432048"/>
              </a:xfrm>
              <a:prstGeom prst="rect">
                <a:avLst/>
              </a:prstGeom>
              <a:noFill/>
            </p:spPr>
          </p:pic>
        </p:grpSp>
        <p:sp>
          <p:nvSpPr>
            <p:cNvPr id="9" name="TextBox 8"/>
            <p:cNvSpPr txBox="1"/>
            <p:nvPr/>
          </p:nvSpPr>
          <p:spPr>
            <a:xfrm>
              <a:off x="2123728" y="5085184"/>
              <a:ext cx="2448272" cy="1077218"/>
            </a:xfrm>
            <a:prstGeom prst="rect">
              <a:avLst/>
            </a:prstGeom>
            <a:noFill/>
          </p:spPr>
          <p:txBody>
            <a:bodyPr wrap="square" rtlCol="0">
              <a:spAutoFit/>
            </a:bodyPr>
            <a:lstStyle/>
            <a:p>
              <a:pPr algn="ctr"/>
              <a:r>
                <a:rPr lang="en-IN" sz="1600" dirty="0" smtClean="0"/>
                <a:t>The resultant zipped packet having encrypted hash code prepended to the message</a:t>
              </a:r>
            </a:p>
          </p:txBody>
        </p:sp>
      </p:grpSp>
      <p:grpSp>
        <p:nvGrpSpPr>
          <p:cNvPr id="6" name="Group 27"/>
          <p:cNvGrpSpPr/>
          <p:nvPr/>
        </p:nvGrpSpPr>
        <p:grpSpPr>
          <a:xfrm>
            <a:off x="4355976" y="1340768"/>
            <a:ext cx="4680520" cy="2016224"/>
            <a:chOff x="1187624" y="2996952"/>
            <a:chExt cx="4680520" cy="2016224"/>
          </a:xfrm>
        </p:grpSpPr>
        <p:grpSp>
          <p:nvGrpSpPr>
            <p:cNvPr id="7" name="Group 51"/>
            <p:cNvGrpSpPr/>
            <p:nvPr/>
          </p:nvGrpSpPr>
          <p:grpSpPr>
            <a:xfrm>
              <a:off x="1259632" y="3284984"/>
              <a:ext cx="4608512" cy="1440160"/>
              <a:chOff x="395536" y="4869160"/>
              <a:chExt cx="4608512" cy="1440160"/>
            </a:xfrm>
          </p:grpSpPr>
          <p:grpSp>
            <p:nvGrpSpPr>
              <p:cNvPr id="8" name="Group 27"/>
              <p:cNvGrpSpPr/>
              <p:nvPr/>
            </p:nvGrpSpPr>
            <p:grpSpPr>
              <a:xfrm>
                <a:off x="395536" y="4869160"/>
                <a:ext cx="1800200" cy="1440160"/>
                <a:chOff x="395536" y="4581128"/>
                <a:chExt cx="1800200" cy="1440160"/>
              </a:xfrm>
            </p:grpSpPr>
            <p:sp>
              <p:nvSpPr>
                <p:cNvPr id="18" name="TextBox 17"/>
                <p:cNvSpPr txBox="1"/>
                <p:nvPr/>
              </p:nvSpPr>
              <p:spPr>
                <a:xfrm>
                  <a:off x="755576" y="5445224"/>
                  <a:ext cx="1296144" cy="369332"/>
                </a:xfrm>
                <a:prstGeom prst="rect">
                  <a:avLst/>
                </a:prstGeom>
                <a:solidFill>
                  <a:srgbClr val="00B050"/>
                </a:solidFill>
                <a:ln>
                  <a:solidFill>
                    <a:schemeClr val="tx1"/>
                  </a:solidFill>
                </a:ln>
              </p:spPr>
              <p:txBody>
                <a:bodyPr wrap="square" rtlCol="0">
                  <a:spAutoFit/>
                </a:bodyPr>
                <a:lstStyle/>
                <a:p>
                  <a:pPr algn="ctr"/>
                  <a:r>
                    <a:rPr lang="en-IN" dirty="0" smtClean="0">
                      <a:solidFill>
                        <a:schemeClr val="bg1"/>
                      </a:solidFill>
                    </a:rPr>
                    <a:t>Message</a:t>
                  </a:r>
                  <a:endParaRPr lang="en-IN" dirty="0">
                    <a:solidFill>
                      <a:schemeClr val="bg1"/>
                    </a:solidFill>
                  </a:endParaRPr>
                </a:p>
              </p:txBody>
            </p:sp>
            <p:sp>
              <p:nvSpPr>
                <p:cNvPr id="19" name="TextBox 18"/>
                <p:cNvSpPr txBox="1"/>
                <p:nvPr/>
              </p:nvSpPr>
              <p:spPr>
                <a:xfrm>
                  <a:off x="755576" y="5085184"/>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pic>
              <p:nvPicPr>
                <p:cNvPr id="20" name="Picture 14" descr="Padlock  Clip Art"/>
                <p:cNvPicPr>
                  <a:picLocks noChangeAspect="1" noChangeArrowheads="1"/>
                </p:cNvPicPr>
                <p:nvPr/>
              </p:nvPicPr>
              <p:blipFill>
                <a:blip r:embed="rId3" cstate="print"/>
                <a:srcRect/>
                <a:stretch>
                  <a:fillRect/>
                </a:stretch>
              </p:blipFill>
              <p:spPr bwMode="auto">
                <a:xfrm>
                  <a:off x="1835696" y="4869160"/>
                  <a:ext cx="272058" cy="388654"/>
                </a:xfrm>
                <a:prstGeom prst="rect">
                  <a:avLst/>
                </a:prstGeom>
                <a:noFill/>
              </p:spPr>
            </p:pic>
            <p:sp>
              <p:nvSpPr>
                <p:cNvPr id="21" name="Rectangle 20"/>
                <p:cNvSpPr/>
                <p:nvPr/>
              </p:nvSpPr>
              <p:spPr>
                <a:xfrm>
                  <a:off x="611560" y="4797152"/>
                  <a:ext cx="1584176" cy="12241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2" name="Picture 20" descr="http://www.teleconformity.com/images/zip-symbol.gif"/>
                <p:cNvPicPr>
                  <a:picLocks noChangeAspect="1" noChangeArrowheads="1"/>
                </p:cNvPicPr>
                <p:nvPr/>
              </p:nvPicPr>
              <p:blipFill>
                <a:blip r:embed="rId4" cstate="print"/>
                <a:srcRect/>
                <a:stretch>
                  <a:fillRect/>
                </a:stretch>
              </p:blipFill>
              <p:spPr bwMode="auto">
                <a:xfrm>
                  <a:off x="395536" y="4581128"/>
                  <a:ext cx="432048" cy="432048"/>
                </a:xfrm>
                <a:prstGeom prst="rect">
                  <a:avLst/>
                </a:prstGeom>
                <a:noFill/>
              </p:spPr>
            </p:pic>
          </p:grpSp>
          <p:sp>
            <p:nvSpPr>
              <p:cNvPr id="17" name="TextBox 16"/>
              <p:cNvSpPr txBox="1"/>
              <p:nvPr/>
            </p:nvSpPr>
            <p:spPr>
              <a:xfrm>
                <a:off x="2555776" y="5229200"/>
                <a:ext cx="2448272" cy="830997"/>
              </a:xfrm>
              <a:prstGeom prst="rect">
                <a:avLst/>
              </a:prstGeom>
              <a:noFill/>
            </p:spPr>
            <p:txBody>
              <a:bodyPr wrap="square" rtlCol="0">
                <a:spAutoFit/>
              </a:bodyPr>
              <a:lstStyle/>
              <a:p>
                <a:pPr algn="ctr"/>
                <a:r>
                  <a:rPr lang="en-IN" sz="1600" dirty="0" smtClean="0"/>
                  <a:t>The packet is symmetrically encrypted generating a session key</a:t>
                </a:r>
                <a:endParaRPr lang="en-IN" sz="1600" dirty="0"/>
              </a:p>
            </p:txBody>
          </p:sp>
        </p:grpSp>
        <p:sp>
          <p:nvSpPr>
            <p:cNvPr id="23" name="Rectangle 22"/>
            <p:cNvSpPr/>
            <p:nvPr/>
          </p:nvSpPr>
          <p:spPr>
            <a:xfrm>
              <a:off x="1187624" y="3212976"/>
              <a:ext cx="2088232" cy="1800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1506" name="Picture 2" descr="https://encrypted-tbn1.gstatic.com/images?q=tbn:ANd9GcR6FUejJpNaDz0bLaOCPHGaTRZzp2Et4zjEknflqfaL-vkcvu5g"/>
            <p:cNvPicPr>
              <a:picLocks noChangeAspect="1" noChangeArrowheads="1"/>
            </p:cNvPicPr>
            <p:nvPr/>
          </p:nvPicPr>
          <p:blipFill>
            <a:blip r:embed="rId5" cstate="print"/>
            <a:srcRect/>
            <a:stretch>
              <a:fillRect/>
            </a:stretch>
          </p:blipFill>
          <p:spPr bwMode="auto">
            <a:xfrm>
              <a:off x="3059832" y="2996952"/>
              <a:ext cx="360040" cy="400497"/>
            </a:xfrm>
            <a:prstGeom prst="rect">
              <a:avLst/>
            </a:prstGeom>
            <a:noFill/>
          </p:spPr>
        </p:pic>
        <p:pic>
          <p:nvPicPr>
            <p:cNvPr id="21510" name="Picture 6" descr="http://image.spreadshirtmedia.com/image-server/v1/designs/11961695,width=178,height=178/Key-Symbol-VECTOR.png"/>
            <p:cNvPicPr>
              <a:picLocks noChangeAspect="1" noChangeArrowheads="1"/>
            </p:cNvPicPr>
            <p:nvPr/>
          </p:nvPicPr>
          <p:blipFill>
            <a:blip r:embed="rId6" cstate="print"/>
            <a:srcRect/>
            <a:stretch>
              <a:fillRect/>
            </a:stretch>
          </p:blipFill>
          <p:spPr bwMode="auto">
            <a:xfrm>
              <a:off x="3452613" y="3101701"/>
              <a:ext cx="399307" cy="399307"/>
            </a:xfrm>
            <a:prstGeom prst="rect">
              <a:avLst/>
            </a:prstGeom>
            <a:noFill/>
          </p:spPr>
        </p:pic>
      </p:grpSp>
      <p:sp>
        <p:nvSpPr>
          <p:cNvPr id="21512" name="AutoShape 8" descr="data:image/png;base64,iVBORw0KGgoAAAANSUhEUgAAAMIAAAEDCAMAAABQ/CumAAAAgVBMVEX///8AAACxsbHj4+NJSUlWVlZ6enrf39/w8PD8/Pzc3Nz4+Pi4uLjExMTz8/NaWlqCgoLW1tZiYmKoqKh0dHSMjIyfn5+GhobLy8vp6elEREQhISEzMzOUlJTDw8MnJycVFRU8PDwPDw9sbGyZmZmjo6MuLi5OTk4UFBQjIyM/Pz+16twwAAALC0lEQVR4nO1d61ryvBLlIIqcy0FQ4AUUZev9X+C2QEqZNUnbZJrW78n6KTXNajLHTJJGowy8rgafk/n0bbdev7+v17u36XzyOVi9lvIyafSj2fyrqcXXfBY9V91HE6Ljm773Nzwco6p7ymP4kaf7CvNh1f2liOZF+n9lUaOxeJ7tihOIsZvVQy66S7v+X7DoVt3/xujRhUCMyahSAs9OI6CwrHA6zSQIxGhVRKBnMGFFselVwUBkDt2w9E6gt5Zl0Gx+P/ll8CJNIMaLRwLPpzIYNJsdb6qpXQ6BGG0/DP7l6szDx/Y3QoiiXi+KfqOH7UcuJ7b5zweDbDHoHFes29BdbTuZ//xZPoOJuQdfiwz/M1pk6LJJ2QzMQcEil2J8WhgbmZfLYGp49VuBKGZokoyP8vrfaBim8rSgi9Ab69vqlNP7GPoxGFv4OAYSpY2DVg52K7sGV9poryR50Pp1R/s2j7o2F3L9vkEXHPw4JbjaB02zM6l+3zAs63PpNKzl5NTjtbwXrTRNS6cvv9m3bETyD10+/NtJtH0Dr06nUs3z6lWs+Rgt9hWPci/gUzmCWQFeELZyL9AJtVyebMM1nxkmduMwYbFcLraf/3jvO40t946DTP81EYLRnj2vthCbdrYrY1zJchCKHthpZJpFA63zMx0Y/o2dSzJTiYv19ZL8mpFknejVPZfgF3FaObOsbdjkQiuMtTE+97EkjDQTJ+qMzijnQs9cl8wu8K4C+GS6oJkLBbLEGieOEztnf++ZaZRPlIwe8jNoNk/8QHAJHlcKjELlRZlx1vanx1+b8GsbHk97/JWf5IxIuw4DtshPThq7nF6iu+88il6osPK2kfEn3RgwzhGbJ7r/eD+tPvfQqPVz9xg7nBG+0c1VQhXBZqruHNkPQyqgd/ck64qiXVm7MGBsAvdYOjdzysjsPqWlnrMvjAJxsQ0YJnCDmn7K5EFcMUiPGPM7Tl6HwGEEjW2Yp1JZVo2qJOimBoKbl+gYs6KVC2jWmJxj6qHc62Up1ozKRONg77DC52D895QGKaDAU4ac0XDw3h9bBmju0S73bz/mEIMbUgKBUcQAXmybzYB59I7P3DzTQgzS3WSEFSjYziRIoGNDA/uX3D4Qji24NQ92DPq0nSbom5sOt8hm3GwYTCVUhXY6CRQDjniSKbaSt4P6b0xqgkGyKyKDVTUY8G7yk5W43dQFDC98Prv6BlBtMN4JSUtpS8QBDBxMYqt0DLQC8yh54sum/RjJEgl8HYjBbYQBvF6wXEmMYO2GJXESxA4QxNrUIkIjMN9VKPZm1f0zDtcmwJ+GIgmb2I1K854+kAyTQ8lpIrbwkd/J621W1H9IGyAKiUa16vwVqg3Qq1St2gw1HUnQOkoWnTLcKpMKGoEaaMa5yUKXNAEym2h1p2qunmqFShoEjMVrQUGeaIJWuUcWnycN1Tz1EsFNLl6qBF+Bqm4l7o5rPSr3Qc0vhNDFNTf12SHkVNGj42qSipRP9Ae6hljQmW+gOEGyQf3gWNiohAHmI82cFXdi6IIFnS+Jd+FYcp341dSDoKnJ4mv0NCNFW9B+vaJQNoyOJv2GxW0b/Qh0bU25N1xaphCUQ0zFla69FS+OoRSoI6Y01ti671eoVCB1U6gwFqdADTxVPEpjOa+fqxfRgMqdAq1hoxSUMnSm8JjxAoXiC4eBQn4ECgYECvkRKBgQKORHoGBAoJAfgYIBgUJ+BAoGBAr5ESgYECjkR6BgQKCQH4GCAYFCfgQKBgQK+REoGPAfoEALguiaqVoicT4wYZLxAoUiy0nd4ctkOqabJjYP91BLZN+nByecvjNeoLAfTycvwxybxJ4WgqcelYGvjIMqhoeqe5gHB30BVO9Qdefy4qAZCfMZITUDVwvQz3dyTm3wBiWT3f9V3aei2BPlpDudoNa4KyQb0XrEP4F9ei6x28rrj1QJi/M5kFUh8W50Z2n8AagKIP6Yjj+B64ZTscMsq8CllPvPWYQ0zvXq+Y7Bqy1il4877uWwaNUQbBwwZTe2/lRyuGkecL40t0Va8LQaeeDG+gi3EDqXPJYLOPfuEy1z9adGGwGbEibAquTjD91BjwvpgGkuXqDuGTQ589WgyZbaaiMFqn/WsGXH07my9oDtLYFCBQgU6oBAoQ4IFOqAQKEOCBTqgEChDggU6oBAoQ4IFOqAQKEOCBQKo99tt7uy1zZ5pRAtDpc2DwvBHKFHCsO79XhDDVFBeKMwgsO+xvbHcd7BF4UebTaGzGzyREFTTyByvYgfCuwYSI2DFwp4+GQCAXnwQsFwdL7A9SI+KBgLa9zFwQeFg4mC9RG7Pik8mRgItO+BAnunyA3O98h4oJBR72p5xK5XCmYG7tcplE8BjwUmcDUN5VPIvGrV9QKwGlAQf4E4BahUoXC92jyIcx4wN6ek8f0HKGTcj+Ts6AXrnAcZda/OFzh7oJCxm8O59M+Hs21ksHdu3gcF424I9wuofVDAazhScL/L3AcFo6PnHv97Cf8NEYNztOCJAndL3RUC9wV7oWBQqwJX7frJ5mn3mElcLeqHAnt3aQyJm0WRAt1X6Hjy9xnamSRxZTMWPNNL5WwuzABodJKAPuIoUPdehIJmn5nIZcdIgYqeyBqAxrqJrPNQT/iQed6FHdhbubkr8oqDno8xzjzV3A5s0CCzYohHiFO/0t2VPIOjINMydpjGiUIbqpjwU+hicRqbH2FqCV1Vzwi0awLpCmoFBtl3jlgChkFoEJg7SsBeixiGBlxvtBdqFnZDtpGVgD98Blm5larCAKv5jNudxfbm3QWgYtvl6M68fQOtkNMluHdIiZmIzT+DOkSxvaQ3MwuW8/SvN3EthSpIGoyrHZtiWCaWEoYznoZDCfc9AQS18fiCBhdxicsCXKh+tjY7+tcabxeGBZjLJWlL+mfRmSQLUKmXc5LAPjvfFlQeILFwUXVYe1PbDcNY6HR1h2BdprY7z6ldS/xqvFxcyKmUBq6mKqOPjnHxi8W8ABTP7VvjCp+cORUEfurb2iNGukLhpyzgquP0agX8JpJ3EwaTI0z9ipOshmeS4HRPiyxTOCFWYy0FJq9z5wmBwhWLoaXAnCB0n1pj6ntrZt/wSB7qRMCBNxKLk4JgllHpSb1cmXWNnG6uygk8OWYYauSxMktfWFLDrczURhwYbcNZLrR9UmluZ0CGook3EcdgtFZNTktiKyJYnc8+KZcAsgZbia/5toxEy6VYrcEy0Pk/fH1mxRz43RBafc+X4VQ6l3gGBhHllFelMs1/VOO6I3/GcGW6ldOmWbdiayquK7Jx/KTICsc0VWmbCvylruYA/8x5jQHcBd79Vl2JX47sCrtwH08mrzHQMxMfnJGrhOBH888+Y1HI8yq85fr3PmTrFcae8hqv2tL1Xc6p0NfX70885MhGnM98wXfu15uOoF+UnG8dGa6BeC/w7pFpH8W8xNx9TyfFMdaFvp5eHmJsZqWYie7MeHz/ruAk7mv10gUPM+EDM9ozWAm8x09xpa6zDwnWH7NIRLr70ewjYweQZUmZzk7fYdeZHFvDKOo9FUYvioat46RjnLMKXKicA8Yqfr+w9vczdwr6govcZQqEDzjuI8OlRO9wLjvtsnkNf+hImKBKpVoobu/r/a6SIehVtk9VEDjJOgCRdxIn+Rxc5FXBTstJIr56k4llieHhwIOK7ZSdPey2SmXRaXnJWPX/TUq5E2q3HPosX+kOt1PBS97ep8dVJQus/adha/s4P232aws67+v95jR/3LaGbaeP/39GdpriWRh3TQAAAABJRU5ErkJggg=="/>
          <p:cNvSpPr>
            <a:spLocks noChangeAspect="1" noChangeArrowheads="1"/>
          </p:cNvSpPr>
          <p:nvPr/>
        </p:nvSpPr>
        <p:spPr bwMode="auto">
          <a:xfrm>
            <a:off x="155575" y="-1790700"/>
            <a:ext cx="2809875" cy="3743325"/>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21514" name="AutoShape 10" descr="http://uxrepo.com/static/icon-sets/linecons/svg/lock.svg"/>
          <p:cNvSpPr>
            <a:spLocks noChangeAspect="1" noChangeArrowheads="1"/>
          </p:cNvSpPr>
          <p:nvPr/>
        </p:nvSpPr>
        <p:spPr bwMode="auto">
          <a:xfrm>
            <a:off x="155575" y="-1790700"/>
            <a:ext cx="2809875" cy="3743325"/>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21516" name="AutoShape 12" descr="http://uxrepo.com/static/icon-sets/linecons/svg/lock.svg"/>
          <p:cNvSpPr>
            <a:spLocks noChangeAspect="1" noChangeArrowheads="1"/>
          </p:cNvSpPr>
          <p:nvPr/>
        </p:nvSpPr>
        <p:spPr bwMode="auto">
          <a:xfrm>
            <a:off x="155575" y="-1790700"/>
            <a:ext cx="2809875" cy="3743325"/>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21518" name="AutoShape 14" descr="http://uxrepo.com/static/icon-sets/linecons/svg/lock.svg"/>
          <p:cNvSpPr>
            <a:spLocks noChangeAspect="1" noChangeArrowheads="1"/>
          </p:cNvSpPr>
          <p:nvPr/>
        </p:nvSpPr>
        <p:spPr bwMode="auto">
          <a:xfrm>
            <a:off x="155575" y="-1790700"/>
            <a:ext cx="2809875" cy="3743325"/>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21520" name="AutoShape 16" descr="http://uxrepo.com/static/icon-sets/linecons/svg/lock.svg"/>
          <p:cNvSpPr>
            <a:spLocks noChangeAspect="1" noChangeArrowheads="1"/>
          </p:cNvSpPr>
          <p:nvPr/>
        </p:nvSpPr>
        <p:spPr bwMode="auto">
          <a:xfrm>
            <a:off x="155575" y="-1790700"/>
            <a:ext cx="2809875" cy="3743325"/>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21522" name="AutoShape 18" descr="http://uxrepo.com/static/icon-sets/linecons/svg/lock.svg"/>
          <p:cNvSpPr>
            <a:spLocks noChangeAspect="1" noChangeArrowheads="1"/>
          </p:cNvSpPr>
          <p:nvPr/>
        </p:nvSpPr>
        <p:spPr bwMode="auto">
          <a:xfrm>
            <a:off x="155575" y="-1790700"/>
            <a:ext cx="2809875" cy="3743325"/>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21524" name="AutoShape 20" descr="http://uxrepo.com/static/icon-sets/linecons/svg/lock.svg"/>
          <p:cNvSpPr>
            <a:spLocks noChangeAspect="1" noChangeArrowheads="1"/>
          </p:cNvSpPr>
          <p:nvPr/>
        </p:nvSpPr>
        <p:spPr bwMode="auto">
          <a:xfrm>
            <a:off x="155575" y="-1790700"/>
            <a:ext cx="2809875" cy="3743325"/>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21526" name="AutoShape 22" descr="http://uxrepo.com/static/icon-sets/linecons/svg/lock.svg"/>
          <p:cNvSpPr>
            <a:spLocks noChangeAspect="1" noChangeArrowheads="1"/>
          </p:cNvSpPr>
          <p:nvPr/>
        </p:nvSpPr>
        <p:spPr bwMode="auto">
          <a:xfrm>
            <a:off x="155575" y="-1790700"/>
            <a:ext cx="2809875" cy="3743325"/>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21534" name="AutoShape 30" descr="http://uxrepo.com/static/icon-sets/linecons/svg/lock.svg"/>
          <p:cNvSpPr>
            <a:spLocks noChangeAspect="1" noChangeArrowheads="1"/>
          </p:cNvSpPr>
          <p:nvPr/>
        </p:nvSpPr>
        <p:spPr bwMode="auto">
          <a:xfrm>
            <a:off x="155575" y="-1790700"/>
            <a:ext cx="2809875" cy="3743325"/>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21536" name="AutoShape 32" descr="http://uxrepo.com/static/icon-sets/linecons/svg/lock.svg"/>
          <p:cNvSpPr>
            <a:spLocks noChangeAspect="1" noChangeArrowheads="1"/>
          </p:cNvSpPr>
          <p:nvPr/>
        </p:nvSpPr>
        <p:spPr bwMode="auto">
          <a:xfrm>
            <a:off x="155575" y="-1790700"/>
            <a:ext cx="2809875" cy="3743325"/>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sp>
        <p:nvSpPr>
          <p:cNvPr id="21538" name="AutoShape 34" descr="Image result for lock symbol"/>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grpSp>
        <p:nvGrpSpPr>
          <p:cNvPr id="15" name="Group 84"/>
          <p:cNvGrpSpPr/>
          <p:nvPr/>
        </p:nvGrpSpPr>
        <p:grpSpPr>
          <a:xfrm>
            <a:off x="611560" y="4869160"/>
            <a:ext cx="2664296" cy="1584176"/>
            <a:chOff x="611560" y="4869160"/>
            <a:chExt cx="2664296" cy="1584176"/>
          </a:xfrm>
        </p:grpSpPr>
        <p:pic>
          <p:nvPicPr>
            <p:cNvPr id="72" name="Picture 22" descr="https://lh5.ggpht.com/NEJyVTa3UwnxS51iSbV_GaZZ4ZlRFfoC_1u3uUduIex_L_QDNJ_hjWRmfYuJSSiq7FM=w300"/>
            <p:cNvPicPr>
              <a:picLocks noChangeAspect="1" noChangeArrowheads="1"/>
            </p:cNvPicPr>
            <p:nvPr/>
          </p:nvPicPr>
          <p:blipFill>
            <a:blip r:embed="rId7" cstate="print"/>
            <a:srcRect/>
            <a:stretch>
              <a:fillRect/>
            </a:stretch>
          </p:blipFill>
          <p:spPr bwMode="auto">
            <a:xfrm>
              <a:off x="899592" y="4941168"/>
              <a:ext cx="337220" cy="337220"/>
            </a:xfrm>
            <a:prstGeom prst="rect">
              <a:avLst/>
            </a:prstGeom>
            <a:noFill/>
          </p:spPr>
        </p:pic>
        <p:pic>
          <p:nvPicPr>
            <p:cNvPr id="73" name="Picture 2" descr="http://cdn.vectorstock.com/i/composite/97,02/black-key-vector-819702.jpg"/>
            <p:cNvPicPr>
              <a:picLocks noChangeAspect="1" noChangeArrowheads="1"/>
            </p:cNvPicPr>
            <p:nvPr/>
          </p:nvPicPr>
          <p:blipFill>
            <a:blip r:embed="rId8" cstate="print"/>
            <a:srcRect/>
            <a:stretch>
              <a:fillRect/>
            </a:stretch>
          </p:blipFill>
          <p:spPr bwMode="auto">
            <a:xfrm>
              <a:off x="827584" y="5301208"/>
              <a:ext cx="432048" cy="338032"/>
            </a:xfrm>
            <a:prstGeom prst="rect">
              <a:avLst/>
            </a:prstGeom>
            <a:noFill/>
          </p:spPr>
        </p:pic>
        <p:pic>
          <p:nvPicPr>
            <p:cNvPr id="74" name="Picture 6" descr="http://image.spreadshirtmedia.com/image-server/v1/designs/11961695,width=178,height=178/Key-Symbol-VECTOR.png"/>
            <p:cNvPicPr>
              <a:picLocks noChangeAspect="1" noChangeArrowheads="1"/>
            </p:cNvPicPr>
            <p:nvPr/>
          </p:nvPicPr>
          <p:blipFill>
            <a:blip r:embed="rId6" cstate="print"/>
            <a:srcRect/>
            <a:stretch>
              <a:fillRect/>
            </a:stretch>
          </p:blipFill>
          <p:spPr bwMode="auto">
            <a:xfrm>
              <a:off x="899592" y="5661248"/>
              <a:ext cx="399307" cy="399307"/>
            </a:xfrm>
            <a:prstGeom prst="rect">
              <a:avLst/>
            </a:prstGeom>
            <a:noFill/>
          </p:spPr>
        </p:pic>
        <p:sp>
          <p:nvSpPr>
            <p:cNvPr id="75" name="TextBox 74"/>
            <p:cNvSpPr txBox="1"/>
            <p:nvPr/>
          </p:nvSpPr>
          <p:spPr>
            <a:xfrm>
              <a:off x="1403648" y="4941168"/>
              <a:ext cx="1800200" cy="307777"/>
            </a:xfrm>
            <a:prstGeom prst="rect">
              <a:avLst/>
            </a:prstGeom>
            <a:noFill/>
          </p:spPr>
          <p:txBody>
            <a:bodyPr wrap="square" rtlCol="0">
              <a:spAutoFit/>
            </a:bodyPr>
            <a:lstStyle/>
            <a:p>
              <a:r>
                <a:rPr lang="en-IN" sz="1400" b="1" dirty="0" smtClean="0"/>
                <a:t>Sender’s Private Key</a:t>
              </a:r>
              <a:endParaRPr lang="en-IN" sz="1400" b="1" dirty="0"/>
            </a:p>
          </p:txBody>
        </p:sp>
        <p:sp>
          <p:nvSpPr>
            <p:cNvPr id="76" name="TextBox 75"/>
            <p:cNvSpPr txBox="1"/>
            <p:nvPr/>
          </p:nvSpPr>
          <p:spPr>
            <a:xfrm>
              <a:off x="1403648" y="5301208"/>
              <a:ext cx="1728192" cy="307777"/>
            </a:xfrm>
            <a:prstGeom prst="rect">
              <a:avLst/>
            </a:prstGeom>
            <a:noFill/>
          </p:spPr>
          <p:txBody>
            <a:bodyPr wrap="square" rtlCol="0">
              <a:spAutoFit/>
            </a:bodyPr>
            <a:lstStyle/>
            <a:p>
              <a:r>
                <a:rPr lang="en-IN" sz="1400" b="1" dirty="0" smtClean="0"/>
                <a:t>Receiver's Public Key</a:t>
              </a:r>
              <a:endParaRPr lang="en-IN" sz="1400" b="1" dirty="0"/>
            </a:p>
          </p:txBody>
        </p:sp>
        <p:sp>
          <p:nvSpPr>
            <p:cNvPr id="77" name="TextBox 76"/>
            <p:cNvSpPr txBox="1"/>
            <p:nvPr/>
          </p:nvSpPr>
          <p:spPr>
            <a:xfrm>
              <a:off x="1403648" y="5661248"/>
              <a:ext cx="1872208" cy="307777"/>
            </a:xfrm>
            <a:prstGeom prst="rect">
              <a:avLst/>
            </a:prstGeom>
            <a:noFill/>
          </p:spPr>
          <p:txBody>
            <a:bodyPr wrap="square" rtlCol="0">
              <a:spAutoFit/>
            </a:bodyPr>
            <a:lstStyle/>
            <a:p>
              <a:r>
                <a:rPr lang="en-IN" sz="1400" b="1" dirty="0" smtClean="0"/>
                <a:t>Generated Session Key</a:t>
              </a:r>
              <a:endParaRPr lang="en-IN" sz="1400" b="1" dirty="0"/>
            </a:p>
          </p:txBody>
        </p:sp>
        <p:sp>
          <p:nvSpPr>
            <p:cNvPr id="79" name="TextBox 78"/>
            <p:cNvSpPr txBox="1"/>
            <p:nvPr/>
          </p:nvSpPr>
          <p:spPr>
            <a:xfrm>
              <a:off x="755576" y="6093296"/>
              <a:ext cx="2160240" cy="338554"/>
            </a:xfrm>
            <a:prstGeom prst="rect">
              <a:avLst/>
            </a:prstGeom>
            <a:noFill/>
          </p:spPr>
          <p:txBody>
            <a:bodyPr wrap="square" rtlCol="0">
              <a:spAutoFit/>
            </a:bodyPr>
            <a:lstStyle/>
            <a:p>
              <a:pPr algn="ctr"/>
              <a:r>
                <a:rPr lang="en-IN" sz="1600" b="1" u="sng" dirty="0" smtClean="0"/>
                <a:t>Keys with the Sender</a:t>
              </a:r>
              <a:endParaRPr lang="en-IN" sz="1600" b="1" u="sng" dirty="0"/>
            </a:p>
          </p:txBody>
        </p:sp>
        <p:sp>
          <p:nvSpPr>
            <p:cNvPr id="80" name="Rectangle 79"/>
            <p:cNvSpPr/>
            <p:nvPr/>
          </p:nvSpPr>
          <p:spPr>
            <a:xfrm>
              <a:off x="611560" y="4869160"/>
              <a:ext cx="2664296" cy="1584176"/>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16" name="Group 92"/>
          <p:cNvGrpSpPr/>
          <p:nvPr/>
        </p:nvGrpSpPr>
        <p:grpSpPr>
          <a:xfrm>
            <a:off x="4283968" y="3501008"/>
            <a:ext cx="4680520" cy="2880320"/>
            <a:chOff x="4283968" y="3501008"/>
            <a:chExt cx="4680520" cy="2880320"/>
          </a:xfrm>
        </p:grpSpPr>
        <p:grpSp>
          <p:nvGrpSpPr>
            <p:cNvPr id="24" name="Group 83"/>
            <p:cNvGrpSpPr/>
            <p:nvPr/>
          </p:nvGrpSpPr>
          <p:grpSpPr>
            <a:xfrm>
              <a:off x="4283968" y="3501008"/>
              <a:ext cx="4680520" cy="2880320"/>
              <a:chOff x="4283968" y="3501008"/>
              <a:chExt cx="4680520" cy="2880320"/>
            </a:xfrm>
          </p:grpSpPr>
          <p:cxnSp>
            <p:nvCxnSpPr>
              <p:cNvPr id="71" name="Straight Connector 70"/>
              <p:cNvCxnSpPr/>
              <p:nvPr/>
            </p:nvCxnSpPr>
            <p:spPr>
              <a:xfrm>
                <a:off x="6948264" y="6093296"/>
                <a:ext cx="1224136" cy="0"/>
              </a:xfrm>
              <a:prstGeom prst="line">
                <a:avLst/>
              </a:prstGeom>
              <a:ln w="317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25" name="Group 82"/>
              <p:cNvGrpSpPr/>
              <p:nvPr/>
            </p:nvGrpSpPr>
            <p:grpSpPr>
              <a:xfrm>
                <a:off x="4283968" y="3501008"/>
                <a:ext cx="4680520" cy="2880320"/>
                <a:chOff x="4283968" y="3501008"/>
                <a:chExt cx="4680520" cy="2880320"/>
              </a:xfrm>
            </p:grpSpPr>
            <p:grpSp>
              <p:nvGrpSpPr>
                <p:cNvPr id="26" name="Group 69"/>
                <p:cNvGrpSpPr/>
                <p:nvPr/>
              </p:nvGrpSpPr>
              <p:grpSpPr>
                <a:xfrm>
                  <a:off x="4463480" y="4293096"/>
                  <a:ext cx="4501008" cy="2016224"/>
                  <a:chOff x="4463480" y="3645024"/>
                  <a:chExt cx="4501008" cy="2016224"/>
                </a:xfrm>
              </p:grpSpPr>
              <p:grpSp>
                <p:nvGrpSpPr>
                  <p:cNvPr id="27" name="Group 51"/>
                  <p:cNvGrpSpPr/>
                  <p:nvPr/>
                </p:nvGrpSpPr>
                <p:grpSpPr>
                  <a:xfrm>
                    <a:off x="4535488" y="3645024"/>
                    <a:ext cx="4429000" cy="1728192"/>
                    <a:chOff x="395536" y="4581128"/>
                    <a:chExt cx="4429000" cy="1728192"/>
                  </a:xfrm>
                </p:grpSpPr>
                <p:grpSp>
                  <p:nvGrpSpPr>
                    <p:cNvPr id="28" name="Group 27"/>
                    <p:cNvGrpSpPr/>
                    <p:nvPr/>
                  </p:nvGrpSpPr>
                  <p:grpSpPr>
                    <a:xfrm>
                      <a:off x="395536" y="4869160"/>
                      <a:ext cx="1800200" cy="1440160"/>
                      <a:chOff x="395536" y="4581128"/>
                      <a:chExt cx="1800200" cy="1440160"/>
                    </a:xfrm>
                  </p:grpSpPr>
                  <p:sp>
                    <p:nvSpPr>
                      <p:cNvPr id="56" name="TextBox 55"/>
                      <p:cNvSpPr txBox="1"/>
                      <p:nvPr/>
                    </p:nvSpPr>
                    <p:spPr>
                      <a:xfrm>
                        <a:off x="755576" y="5445224"/>
                        <a:ext cx="1296144" cy="369332"/>
                      </a:xfrm>
                      <a:prstGeom prst="rect">
                        <a:avLst/>
                      </a:prstGeom>
                      <a:solidFill>
                        <a:srgbClr val="00B050"/>
                      </a:solidFill>
                      <a:ln>
                        <a:solidFill>
                          <a:schemeClr val="tx1"/>
                        </a:solidFill>
                      </a:ln>
                    </p:spPr>
                    <p:txBody>
                      <a:bodyPr wrap="square" rtlCol="0">
                        <a:spAutoFit/>
                      </a:bodyPr>
                      <a:lstStyle/>
                      <a:p>
                        <a:pPr algn="ctr"/>
                        <a:r>
                          <a:rPr lang="en-IN" dirty="0" smtClean="0">
                            <a:solidFill>
                              <a:schemeClr val="bg1"/>
                            </a:solidFill>
                          </a:rPr>
                          <a:t>Message</a:t>
                        </a:r>
                        <a:endParaRPr lang="en-IN" dirty="0">
                          <a:solidFill>
                            <a:schemeClr val="bg1"/>
                          </a:solidFill>
                        </a:endParaRPr>
                      </a:p>
                    </p:txBody>
                  </p:sp>
                  <p:sp>
                    <p:nvSpPr>
                      <p:cNvPr id="57" name="TextBox 56"/>
                      <p:cNvSpPr txBox="1"/>
                      <p:nvPr/>
                    </p:nvSpPr>
                    <p:spPr>
                      <a:xfrm>
                        <a:off x="755576" y="5085184"/>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pic>
                    <p:nvPicPr>
                      <p:cNvPr id="58" name="Picture 14" descr="Padlock  Clip Art"/>
                      <p:cNvPicPr>
                        <a:picLocks noChangeAspect="1" noChangeArrowheads="1"/>
                      </p:cNvPicPr>
                      <p:nvPr/>
                    </p:nvPicPr>
                    <p:blipFill>
                      <a:blip r:embed="rId3" cstate="print"/>
                      <a:srcRect/>
                      <a:stretch>
                        <a:fillRect/>
                      </a:stretch>
                    </p:blipFill>
                    <p:spPr bwMode="auto">
                      <a:xfrm>
                        <a:off x="1835696" y="4869160"/>
                        <a:ext cx="272058" cy="388654"/>
                      </a:xfrm>
                      <a:prstGeom prst="rect">
                        <a:avLst/>
                      </a:prstGeom>
                      <a:noFill/>
                    </p:spPr>
                  </p:pic>
                  <p:sp>
                    <p:nvSpPr>
                      <p:cNvPr id="59" name="Rectangle 58"/>
                      <p:cNvSpPr/>
                      <p:nvPr/>
                    </p:nvSpPr>
                    <p:spPr>
                      <a:xfrm>
                        <a:off x="611560" y="4797152"/>
                        <a:ext cx="1584176" cy="12241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60" name="Picture 20" descr="http://www.teleconformity.com/images/zip-symbol.gif"/>
                      <p:cNvPicPr>
                        <a:picLocks noChangeAspect="1" noChangeArrowheads="1"/>
                      </p:cNvPicPr>
                      <p:nvPr/>
                    </p:nvPicPr>
                    <p:blipFill>
                      <a:blip r:embed="rId4" cstate="print"/>
                      <a:srcRect/>
                      <a:stretch>
                        <a:fillRect/>
                      </a:stretch>
                    </p:blipFill>
                    <p:spPr bwMode="auto">
                      <a:xfrm>
                        <a:off x="395536" y="4581128"/>
                        <a:ext cx="432048" cy="432048"/>
                      </a:xfrm>
                      <a:prstGeom prst="rect">
                        <a:avLst/>
                      </a:prstGeom>
                      <a:noFill/>
                    </p:spPr>
                  </p:pic>
                </p:grpSp>
                <p:sp>
                  <p:nvSpPr>
                    <p:cNvPr id="55" name="TextBox 54"/>
                    <p:cNvSpPr txBox="1"/>
                    <p:nvPr/>
                  </p:nvSpPr>
                  <p:spPr>
                    <a:xfrm>
                      <a:off x="2592288" y="4581128"/>
                      <a:ext cx="2232248" cy="1323439"/>
                    </a:xfrm>
                    <a:prstGeom prst="rect">
                      <a:avLst/>
                    </a:prstGeom>
                    <a:noFill/>
                  </p:spPr>
                  <p:txBody>
                    <a:bodyPr wrap="square" rtlCol="0">
                      <a:spAutoFit/>
                    </a:bodyPr>
                    <a:lstStyle/>
                    <a:p>
                      <a:pPr algn="ctr"/>
                      <a:r>
                        <a:rPr lang="en-IN" sz="1600" dirty="0" smtClean="0"/>
                        <a:t>The encrypted session key prepended to the encrypted packet and sent over the communication channel</a:t>
                      </a:r>
                      <a:endParaRPr lang="en-IN" sz="1600" dirty="0"/>
                    </a:p>
                  </p:txBody>
                </p:sp>
              </p:grpSp>
              <p:sp>
                <p:nvSpPr>
                  <p:cNvPr id="51" name="Rectangle 50"/>
                  <p:cNvSpPr/>
                  <p:nvPr/>
                </p:nvSpPr>
                <p:spPr>
                  <a:xfrm>
                    <a:off x="4463480" y="3861048"/>
                    <a:ext cx="2088232" cy="1800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2" name="Picture 2" descr="https://encrypted-tbn1.gstatic.com/images?q=tbn:ANd9GcR6FUejJpNaDz0bLaOCPHGaTRZzp2Et4zjEknflqfaL-vkcvu5g"/>
                  <p:cNvPicPr>
                    <a:picLocks noChangeAspect="1" noChangeArrowheads="1"/>
                  </p:cNvPicPr>
                  <p:nvPr/>
                </p:nvPicPr>
                <p:blipFill>
                  <a:blip r:embed="rId5" cstate="print"/>
                  <a:srcRect/>
                  <a:stretch>
                    <a:fillRect/>
                  </a:stretch>
                </p:blipFill>
                <p:spPr bwMode="auto">
                  <a:xfrm>
                    <a:off x="6335688" y="3645024"/>
                    <a:ext cx="360040" cy="400497"/>
                  </a:xfrm>
                  <a:prstGeom prst="rect">
                    <a:avLst/>
                  </a:prstGeom>
                  <a:noFill/>
                </p:spPr>
              </p:pic>
            </p:grpSp>
            <p:grpSp>
              <p:nvGrpSpPr>
                <p:cNvPr id="31" name="Group 65"/>
                <p:cNvGrpSpPr/>
                <p:nvPr/>
              </p:nvGrpSpPr>
              <p:grpSpPr>
                <a:xfrm>
                  <a:off x="5148064" y="3861048"/>
                  <a:ext cx="576064" cy="576064"/>
                  <a:chOff x="755576" y="3789040"/>
                  <a:chExt cx="576064" cy="576064"/>
                </a:xfrm>
              </p:grpSpPr>
              <p:pic>
                <p:nvPicPr>
                  <p:cNvPr id="67" name="Picture 6" descr="http://image.spreadshirtmedia.com/image-server/v1/designs/11961695,width=178,height=178/Key-Symbol-VECTOR.png"/>
                  <p:cNvPicPr>
                    <a:picLocks noChangeAspect="1" noChangeArrowheads="1"/>
                  </p:cNvPicPr>
                  <p:nvPr/>
                </p:nvPicPr>
                <p:blipFill>
                  <a:blip r:embed="rId6" cstate="print"/>
                  <a:srcRect/>
                  <a:stretch>
                    <a:fillRect/>
                  </a:stretch>
                </p:blipFill>
                <p:spPr bwMode="auto">
                  <a:xfrm>
                    <a:off x="827584" y="3861048"/>
                    <a:ext cx="399307" cy="399307"/>
                  </a:xfrm>
                  <a:prstGeom prst="rect">
                    <a:avLst/>
                  </a:prstGeom>
                  <a:noFill/>
                </p:spPr>
              </p:pic>
              <p:sp>
                <p:nvSpPr>
                  <p:cNvPr id="68" name="Rectangle 67"/>
                  <p:cNvSpPr/>
                  <p:nvPr/>
                </p:nvSpPr>
                <p:spPr>
                  <a:xfrm>
                    <a:off x="755576" y="3789040"/>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81" name="Rectangle 80"/>
                <p:cNvSpPr/>
                <p:nvPr/>
              </p:nvSpPr>
              <p:spPr>
                <a:xfrm>
                  <a:off x="4283968" y="3501008"/>
                  <a:ext cx="2448272" cy="28803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pic>
          <p:nvPicPr>
            <p:cNvPr id="90" name="Picture 6" descr="https://encrypted-tbn3.gstatic.com/images?q=tbn:ANd9GcSY84uJdJ15XTiHlvEdmwckfE9CEQ652oCdNdtI8xCWjewlpL4s"/>
            <p:cNvPicPr>
              <a:picLocks noChangeAspect="1" noChangeArrowheads="1"/>
            </p:cNvPicPr>
            <p:nvPr/>
          </p:nvPicPr>
          <p:blipFill>
            <a:blip r:embed="rId9" cstate="print"/>
            <a:srcRect/>
            <a:stretch>
              <a:fillRect/>
            </a:stretch>
          </p:blipFill>
          <p:spPr bwMode="auto">
            <a:xfrm>
              <a:off x="5580112" y="3645024"/>
              <a:ext cx="288032" cy="358949"/>
            </a:xfrm>
            <a:prstGeom prst="rect">
              <a:avLst/>
            </a:prstGeom>
            <a:noFill/>
          </p:spPr>
        </p:pic>
      </p:grpSp>
      <p:grpSp>
        <p:nvGrpSpPr>
          <p:cNvPr id="21504" name="Group 91"/>
          <p:cNvGrpSpPr/>
          <p:nvPr/>
        </p:nvGrpSpPr>
        <p:grpSpPr>
          <a:xfrm>
            <a:off x="755576" y="3573016"/>
            <a:ext cx="3528392" cy="1077218"/>
            <a:chOff x="755576" y="3573016"/>
            <a:chExt cx="3528392" cy="1077218"/>
          </a:xfrm>
        </p:grpSpPr>
        <p:grpSp>
          <p:nvGrpSpPr>
            <p:cNvPr id="21505" name="Group 81"/>
            <p:cNvGrpSpPr/>
            <p:nvPr/>
          </p:nvGrpSpPr>
          <p:grpSpPr>
            <a:xfrm>
              <a:off x="755576" y="3573016"/>
              <a:ext cx="3528392" cy="1077218"/>
              <a:chOff x="755576" y="3573016"/>
              <a:chExt cx="3528392" cy="1077218"/>
            </a:xfrm>
          </p:grpSpPr>
          <p:grpSp>
            <p:nvGrpSpPr>
              <p:cNvPr id="21507" name="Group 64"/>
              <p:cNvGrpSpPr/>
              <p:nvPr/>
            </p:nvGrpSpPr>
            <p:grpSpPr>
              <a:xfrm>
                <a:off x="755576" y="3789040"/>
                <a:ext cx="576064" cy="576064"/>
                <a:chOff x="755576" y="3789040"/>
                <a:chExt cx="576064" cy="576064"/>
              </a:xfrm>
            </p:grpSpPr>
            <p:pic>
              <p:nvPicPr>
                <p:cNvPr id="29" name="Picture 6" descr="http://image.spreadshirtmedia.com/image-server/v1/designs/11961695,width=178,height=178/Key-Symbol-VECTOR.png"/>
                <p:cNvPicPr>
                  <a:picLocks noChangeAspect="1" noChangeArrowheads="1"/>
                </p:cNvPicPr>
                <p:nvPr/>
              </p:nvPicPr>
              <p:blipFill>
                <a:blip r:embed="rId6" cstate="print"/>
                <a:srcRect/>
                <a:stretch>
                  <a:fillRect/>
                </a:stretch>
              </p:blipFill>
              <p:spPr bwMode="auto">
                <a:xfrm>
                  <a:off x="827584" y="3861048"/>
                  <a:ext cx="399307" cy="399307"/>
                </a:xfrm>
                <a:prstGeom prst="rect">
                  <a:avLst/>
                </a:prstGeom>
                <a:noFill/>
              </p:spPr>
            </p:pic>
            <p:sp>
              <p:nvSpPr>
                <p:cNvPr id="30" name="Rectangle 29"/>
                <p:cNvSpPr/>
                <p:nvPr/>
              </p:nvSpPr>
              <p:spPr>
                <a:xfrm>
                  <a:off x="755576" y="3789040"/>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7" name="TextBox 46"/>
              <p:cNvSpPr txBox="1"/>
              <p:nvPr/>
            </p:nvSpPr>
            <p:spPr>
              <a:xfrm>
                <a:off x="1835696" y="3573016"/>
                <a:ext cx="2448272" cy="1077218"/>
              </a:xfrm>
              <a:prstGeom prst="rect">
                <a:avLst/>
              </a:prstGeom>
              <a:noFill/>
            </p:spPr>
            <p:txBody>
              <a:bodyPr wrap="square" rtlCol="0">
                <a:spAutoFit/>
              </a:bodyPr>
              <a:lstStyle/>
              <a:p>
                <a:pPr algn="ctr"/>
                <a:r>
                  <a:rPr lang="en-IN" sz="1600" dirty="0" smtClean="0"/>
                  <a:t>The session key used for symmetric encryption itself is encrypted using the public key of the receiver</a:t>
                </a:r>
                <a:endParaRPr lang="en-IN" sz="1600" dirty="0"/>
              </a:p>
            </p:txBody>
          </p:sp>
          <p:pic>
            <p:nvPicPr>
              <p:cNvPr id="48" name="Picture 2" descr="http://cdn.vectorstock.com/i/composite/97,02/black-key-vector-819702.jpg"/>
              <p:cNvPicPr>
                <a:picLocks noChangeAspect="1" noChangeArrowheads="1"/>
              </p:cNvPicPr>
              <p:nvPr/>
            </p:nvPicPr>
            <p:blipFill>
              <a:blip r:embed="rId8" cstate="print"/>
              <a:srcRect/>
              <a:stretch>
                <a:fillRect/>
              </a:stretch>
            </p:blipFill>
            <p:spPr bwMode="auto">
              <a:xfrm>
                <a:off x="1547664" y="3573016"/>
                <a:ext cx="432048" cy="338032"/>
              </a:xfrm>
              <a:prstGeom prst="rect">
                <a:avLst/>
              </a:prstGeom>
              <a:noFill/>
            </p:spPr>
          </p:pic>
        </p:grpSp>
        <p:pic>
          <p:nvPicPr>
            <p:cNvPr id="91" name="Picture 6" descr="https://encrypted-tbn3.gstatic.com/images?q=tbn:ANd9GcSY84uJdJ15XTiHlvEdmwckfE9CEQ652oCdNdtI8xCWjewlpL4s"/>
            <p:cNvPicPr>
              <a:picLocks noChangeAspect="1" noChangeArrowheads="1"/>
            </p:cNvPicPr>
            <p:nvPr/>
          </p:nvPicPr>
          <p:blipFill>
            <a:blip r:embed="rId9" cstate="print"/>
            <a:srcRect/>
            <a:stretch>
              <a:fillRect/>
            </a:stretch>
          </p:blipFill>
          <p:spPr bwMode="auto">
            <a:xfrm>
              <a:off x="1187624" y="3573016"/>
              <a:ext cx="288032" cy="358949"/>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E-Mail Confidentiality using PGP</a:t>
            </a:r>
          </a:p>
          <a:p>
            <a:r>
              <a:rPr lang="en-IN" sz="2000" dirty="0" smtClean="0"/>
              <a:t>Receiver Side</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28</a:t>
            </a:fld>
            <a:endParaRPr lang="en-US" dirty="0"/>
          </a:p>
        </p:txBody>
      </p:sp>
      <p:grpSp>
        <p:nvGrpSpPr>
          <p:cNvPr id="2" name="Group 74"/>
          <p:cNvGrpSpPr/>
          <p:nvPr/>
        </p:nvGrpSpPr>
        <p:grpSpPr>
          <a:xfrm>
            <a:off x="4932040" y="1628800"/>
            <a:ext cx="3744416" cy="2664296"/>
            <a:chOff x="4932040" y="1628800"/>
            <a:chExt cx="3744416" cy="2664296"/>
          </a:xfrm>
        </p:grpSpPr>
        <p:grpSp>
          <p:nvGrpSpPr>
            <p:cNvPr id="5" name="Group 82"/>
            <p:cNvGrpSpPr/>
            <p:nvPr/>
          </p:nvGrpSpPr>
          <p:grpSpPr>
            <a:xfrm>
              <a:off x="4932040" y="1916832"/>
              <a:ext cx="3744416" cy="2376264"/>
              <a:chOff x="4463480" y="3933056"/>
              <a:chExt cx="3744416" cy="2376264"/>
            </a:xfrm>
          </p:grpSpPr>
          <p:grpSp>
            <p:nvGrpSpPr>
              <p:cNvPr id="6" name="Group 69"/>
              <p:cNvGrpSpPr/>
              <p:nvPr/>
            </p:nvGrpSpPr>
            <p:grpSpPr>
              <a:xfrm>
                <a:off x="4463480" y="4293096"/>
                <a:ext cx="3744416" cy="2016224"/>
                <a:chOff x="4463480" y="3645024"/>
                <a:chExt cx="3744416" cy="2016224"/>
              </a:xfrm>
            </p:grpSpPr>
            <p:grpSp>
              <p:nvGrpSpPr>
                <p:cNvPr id="7" name="Group 51"/>
                <p:cNvGrpSpPr/>
                <p:nvPr/>
              </p:nvGrpSpPr>
              <p:grpSpPr>
                <a:xfrm>
                  <a:off x="4535488" y="3933056"/>
                  <a:ext cx="3672408" cy="1440160"/>
                  <a:chOff x="395536" y="4869160"/>
                  <a:chExt cx="3672408" cy="1440160"/>
                </a:xfrm>
              </p:grpSpPr>
              <p:grpSp>
                <p:nvGrpSpPr>
                  <p:cNvPr id="8" name="Group 27"/>
                  <p:cNvGrpSpPr/>
                  <p:nvPr/>
                </p:nvGrpSpPr>
                <p:grpSpPr>
                  <a:xfrm>
                    <a:off x="395536" y="4869160"/>
                    <a:ext cx="1800200" cy="1440160"/>
                    <a:chOff x="395536" y="4581128"/>
                    <a:chExt cx="1800200" cy="1440160"/>
                  </a:xfrm>
                </p:grpSpPr>
                <p:sp>
                  <p:nvSpPr>
                    <p:cNvPr id="42" name="TextBox 41"/>
                    <p:cNvSpPr txBox="1"/>
                    <p:nvPr/>
                  </p:nvSpPr>
                  <p:spPr>
                    <a:xfrm>
                      <a:off x="755576" y="5445224"/>
                      <a:ext cx="1296144" cy="369332"/>
                    </a:xfrm>
                    <a:prstGeom prst="rect">
                      <a:avLst/>
                    </a:prstGeom>
                    <a:solidFill>
                      <a:srgbClr val="00B050"/>
                    </a:solidFill>
                    <a:ln>
                      <a:solidFill>
                        <a:schemeClr val="tx1"/>
                      </a:solidFill>
                    </a:ln>
                  </p:spPr>
                  <p:txBody>
                    <a:bodyPr wrap="square" rtlCol="0">
                      <a:spAutoFit/>
                    </a:bodyPr>
                    <a:lstStyle/>
                    <a:p>
                      <a:pPr algn="ctr"/>
                      <a:r>
                        <a:rPr lang="en-IN" dirty="0" smtClean="0">
                          <a:solidFill>
                            <a:schemeClr val="bg1"/>
                          </a:solidFill>
                        </a:rPr>
                        <a:t>Message</a:t>
                      </a:r>
                      <a:endParaRPr lang="en-IN" dirty="0">
                        <a:solidFill>
                          <a:schemeClr val="bg1"/>
                        </a:solidFill>
                      </a:endParaRPr>
                    </a:p>
                  </p:txBody>
                </p:sp>
                <p:sp>
                  <p:nvSpPr>
                    <p:cNvPr id="43" name="TextBox 42"/>
                    <p:cNvSpPr txBox="1"/>
                    <p:nvPr/>
                  </p:nvSpPr>
                  <p:spPr>
                    <a:xfrm>
                      <a:off x="755576" y="5085184"/>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pic>
                  <p:nvPicPr>
                    <p:cNvPr id="44" name="Picture 14" descr="Padlock  Clip Art"/>
                    <p:cNvPicPr>
                      <a:picLocks noChangeAspect="1" noChangeArrowheads="1"/>
                    </p:cNvPicPr>
                    <p:nvPr/>
                  </p:nvPicPr>
                  <p:blipFill>
                    <a:blip r:embed="rId3" cstate="print"/>
                    <a:srcRect/>
                    <a:stretch>
                      <a:fillRect/>
                    </a:stretch>
                  </p:blipFill>
                  <p:spPr bwMode="auto">
                    <a:xfrm>
                      <a:off x="1835696" y="4869160"/>
                      <a:ext cx="272058" cy="388654"/>
                    </a:xfrm>
                    <a:prstGeom prst="rect">
                      <a:avLst/>
                    </a:prstGeom>
                    <a:noFill/>
                  </p:spPr>
                </p:pic>
                <p:sp>
                  <p:nvSpPr>
                    <p:cNvPr id="45" name="Rectangle 44"/>
                    <p:cNvSpPr/>
                    <p:nvPr/>
                  </p:nvSpPr>
                  <p:spPr>
                    <a:xfrm>
                      <a:off x="611560" y="4797152"/>
                      <a:ext cx="1584176" cy="12241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6" name="Picture 20" descr="http://www.teleconformity.com/images/zip-symbol.gif"/>
                    <p:cNvPicPr>
                      <a:picLocks noChangeAspect="1" noChangeArrowheads="1"/>
                    </p:cNvPicPr>
                    <p:nvPr/>
                  </p:nvPicPr>
                  <p:blipFill>
                    <a:blip r:embed="rId4" cstate="print"/>
                    <a:srcRect/>
                    <a:stretch>
                      <a:fillRect/>
                    </a:stretch>
                  </p:blipFill>
                  <p:spPr bwMode="auto">
                    <a:xfrm>
                      <a:off x="395536" y="4581128"/>
                      <a:ext cx="432048" cy="432048"/>
                    </a:xfrm>
                    <a:prstGeom prst="rect">
                      <a:avLst/>
                    </a:prstGeom>
                    <a:noFill/>
                  </p:spPr>
                </p:pic>
              </p:grpSp>
              <p:sp>
                <p:nvSpPr>
                  <p:cNvPr id="41" name="TextBox 40"/>
                  <p:cNvSpPr txBox="1"/>
                  <p:nvPr/>
                </p:nvSpPr>
                <p:spPr>
                  <a:xfrm>
                    <a:off x="2555776" y="5085184"/>
                    <a:ext cx="1512168" cy="1077218"/>
                  </a:xfrm>
                  <a:prstGeom prst="rect">
                    <a:avLst/>
                  </a:prstGeom>
                  <a:noFill/>
                </p:spPr>
                <p:txBody>
                  <a:bodyPr wrap="square" rtlCol="0">
                    <a:spAutoFit/>
                  </a:bodyPr>
                  <a:lstStyle/>
                  <a:p>
                    <a:pPr algn="ctr"/>
                    <a:r>
                      <a:rPr lang="en-IN" sz="1600" dirty="0" smtClean="0"/>
                      <a:t>The session key is decrypted using receiver’s private key</a:t>
                    </a:r>
                  </a:p>
                </p:txBody>
              </p:sp>
            </p:grpSp>
            <p:sp>
              <p:nvSpPr>
                <p:cNvPr id="38" name="Rectangle 37"/>
                <p:cNvSpPr/>
                <p:nvPr/>
              </p:nvSpPr>
              <p:spPr>
                <a:xfrm>
                  <a:off x="4463480" y="3861048"/>
                  <a:ext cx="2088232" cy="1800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9" name="Picture 2" descr="https://encrypted-tbn1.gstatic.com/images?q=tbn:ANd9GcR6FUejJpNaDz0bLaOCPHGaTRZzp2Et4zjEknflqfaL-vkcvu5g"/>
                <p:cNvPicPr>
                  <a:picLocks noChangeAspect="1" noChangeArrowheads="1"/>
                </p:cNvPicPr>
                <p:nvPr/>
              </p:nvPicPr>
              <p:blipFill>
                <a:blip r:embed="rId5" cstate="print"/>
                <a:srcRect/>
                <a:stretch>
                  <a:fillRect/>
                </a:stretch>
              </p:blipFill>
              <p:spPr bwMode="auto">
                <a:xfrm>
                  <a:off x="6335688" y="3645024"/>
                  <a:ext cx="360040" cy="400497"/>
                </a:xfrm>
                <a:prstGeom prst="rect">
                  <a:avLst/>
                </a:prstGeom>
                <a:noFill/>
              </p:spPr>
            </p:pic>
          </p:grpSp>
          <p:pic>
            <p:nvPicPr>
              <p:cNvPr id="35" name="Picture 6" descr="http://image.spreadshirtmedia.com/image-server/v1/designs/11961695,width=178,height=178/Key-Symbol-VECTOR.png"/>
              <p:cNvPicPr>
                <a:picLocks noChangeAspect="1" noChangeArrowheads="1"/>
              </p:cNvPicPr>
              <p:nvPr/>
            </p:nvPicPr>
            <p:blipFill>
              <a:blip r:embed="rId6" cstate="print"/>
              <a:srcRect/>
              <a:stretch>
                <a:fillRect/>
              </a:stretch>
            </p:blipFill>
            <p:spPr bwMode="auto">
              <a:xfrm>
                <a:off x="5220072" y="3933056"/>
                <a:ext cx="399307" cy="399307"/>
              </a:xfrm>
              <a:prstGeom prst="rect">
                <a:avLst/>
              </a:prstGeom>
              <a:noFill/>
            </p:spPr>
          </p:pic>
        </p:grpSp>
        <p:pic>
          <p:nvPicPr>
            <p:cNvPr id="47" name="Picture 22" descr="https://lh5.ggpht.com/NEJyVTa3UwnxS51iSbV_GaZZ4ZlRFfoC_1u3uUduIex_L_QDNJ_hjWRmfYuJSSiq7FM=w300"/>
            <p:cNvPicPr>
              <a:picLocks noChangeAspect="1" noChangeArrowheads="1"/>
            </p:cNvPicPr>
            <p:nvPr/>
          </p:nvPicPr>
          <p:blipFill>
            <a:blip r:embed="rId7" cstate="print"/>
            <a:srcRect/>
            <a:stretch>
              <a:fillRect/>
            </a:stretch>
          </p:blipFill>
          <p:spPr bwMode="auto">
            <a:xfrm>
              <a:off x="7884368" y="1772816"/>
              <a:ext cx="337220" cy="337220"/>
            </a:xfrm>
            <a:prstGeom prst="rect">
              <a:avLst/>
            </a:prstGeom>
            <a:noFill/>
          </p:spPr>
        </p:pic>
        <p:pic>
          <p:nvPicPr>
            <p:cNvPr id="23556" name="Picture 4" descr="http://www.clker.com/cliparts/e/4/1/a/1194984904794088292padlock_unlocked_silhou_01.svg.hi.png"/>
            <p:cNvPicPr>
              <a:picLocks noChangeAspect="1" noChangeArrowheads="1"/>
            </p:cNvPicPr>
            <p:nvPr/>
          </p:nvPicPr>
          <p:blipFill>
            <a:blip r:embed="rId8" cstate="print"/>
            <a:srcRect/>
            <a:stretch>
              <a:fillRect/>
            </a:stretch>
          </p:blipFill>
          <p:spPr bwMode="auto">
            <a:xfrm>
              <a:off x="7380312" y="1628800"/>
              <a:ext cx="420291" cy="405834"/>
            </a:xfrm>
            <a:prstGeom prst="rect">
              <a:avLst/>
            </a:prstGeom>
            <a:noFill/>
          </p:spPr>
        </p:pic>
      </p:grpSp>
      <p:grpSp>
        <p:nvGrpSpPr>
          <p:cNvPr id="9" name="Group 76"/>
          <p:cNvGrpSpPr/>
          <p:nvPr/>
        </p:nvGrpSpPr>
        <p:grpSpPr>
          <a:xfrm>
            <a:off x="539552" y="1556792"/>
            <a:ext cx="4464496" cy="2880320"/>
            <a:chOff x="539552" y="1556792"/>
            <a:chExt cx="4464496" cy="2880320"/>
          </a:xfrm>
        </p:grpSpPr>
        <p:grpSp>
          <p:nvGrpSpPr>
            <p:cNvPr id="10" name="Group 82"/>
            <p:cNvGrpSpPr/>
            <p:nvPr/>
          </p:nvGrpSpPr>
          <p:grpSpPr>
            <a:xfrm>
              <a:off x="539552" y="1556792"/>
              <a:ext cx="4464496" cy="2880320"/>
              <a:chOff x="4283968" y="3501008"/>
              <a:chExt cx="4464496" cy="2880320"/>
            </a:xfrm>
          </p:grpSpPr>
          <p:grpSp>
            <p:nvGrpSpPr>
              <p:cNvPr id="11" name="Group 69"/>
              <p:cNvGrpSpPr/>
              <p:nvPr/>
            </p:nvGrpSpPr>
            <p:grpSpPr>
              <a:xfrm>
                <a:off x="4463480" y="4293096"/>
                <a:ext cx="4284984" cy="2016224"/>
                <a:chOff x="4463480" y="3645024"/>
                <a:chExt cx="4284984" cy="2016224"/>
              </a:xfrm>
            </p:grpSpPr>
            <p:grpSp>
              <p:nvGrpSpPr>
                <p:cNvPr id="15" name="Group 51"/>
                <p:cNvGrpSpPr/>
                <p:nvPr/>
              </p:nvGrpSpPr>
              <p:grpSpPr>
                <a:xfrm>
                  <a:off x="4535488" y="3645024"/>
                  <a:ext cx="4212976" cy="1728192"/>
                  <a:chOff x="395536" y="4581128"/>
                  <a:chExt cx="4212976" cy="1728192"/>
                </a:xfrm>
              </p:grpSpPr>
              <p:grpSp>
                <p:nvGrpSpPr>
                  <p:cNvPr id="18" name="Group 27"/>
                  <p:cNvGrpSpPr/>
                  <p:nvPr/>
                </p:nvGrpSpPr>
                <p:grpSpPr>
                  <a:xfrm>
                    <a:off x="395536" y="4869160"/>
                    <a:ext cx="1800200" cy="1440160"/>
                    <a:chOff x="395536" y="4581128"/>
                    <a:chExt cx="1800200" cy="1440160"/>
                  </a:xfrm>
                </p:grpSpPr>
                <p:sp>
                  <p:nvSpPr>
                    <p:cNvPr id="20" name="TextBox 19"/>
                    <p:cNvSpPr txBox="1"/>
                    <p:nvPr/>
                  </p:nvSpPr>
                  <p:spPr>
                    <a:xfrm>
                      <a:off x="755576" y="5445224"/>
                      <a:ext cx="1296144" cy="369332"/>
                    </a:xfrm>
                    <a:prstGeom prst="rect">
                      <a:avLst/>
                    </a:prstGeom>
                    <a:solidFill>
                      <a:srgbClr val="00B050"/>
                    </a:solidFill>
                    <a:ln>
                      <a:solidFill>
                        <a:schemeClr val="tx1"/>
                      </a:solidFill>
                    </a:ln>
                  </p:spPr>
                  <p:txBody>
                    <a:bodyPr wrap="square" rtlCol="0">
                      <a:spAutoFit/>
                    </a:bodyPr>
                    <a:lstStyle/>
                    <a:p>
                      <a:pPr algn="ctr"/>
                      <a:r>
                        <a:rPr lang="en-IN" dirty="0" smtClean="0">
                          <a:solidFill>
                            <a:schemeClr val="bg1"/>
                          </a:solidFill>
                        </a:rPr>
                        <a:t>Message</a:t>
                      </a:r>
                      <a:endParaRPr lang="en-IN" dirty="0">
                        <a:solidFill>
                          <a:schemeClr val="bg1"/>
                        </a:solidFill>
                      </a:endParaRPr>
                    </a:p>
                  </p:txBody>
                </p:sp>
                <p:sp>
                  <p:nvSpPr>
                    <p:cNvPr id="21" name="TextBox 20"/>
                    <p:cNvSpPr txBox="1"/>
                    <p:nvPr/>
                  </p:nvSpPr>
                  <p:spPr>
                    <a:xfrm>
                      <a:off x="755576" y="5085184"/>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pic>
                  <p:nvPicPr>
                    <p:cNvPr id="22" name="Picture 14" descr="Padlock  Clip Art"/>
                    <p:cNvPicPr>
                      <a:picLocks noChangeAspect="1" noChangeArrowheads="1"/>
                    </p:cNvPicPr>
                    <p:nvPr/>
                  </p:nvPicPr>
                  <p:blipFill>
                    <a:blip r:embed="rId3" cstate="print"/>
                    <a:srcRect/>
                    <a:stretch>
                      <a:fillRect/>
                    </a:stretch>
                  </p:blipFill>
                  <p:spPr bwMode="auto">
                    <a:xfrm>
                      <a:off x="1835696" y="4869160"/>
                      <a:ext cx="272058" cy="388654"/>
                    </a:xfrm>
                    <a:prstGeom prst="rect">
                      <a:avLst/>
                    </a:prstGeom>
                    <a:noFill/>
                  </p:spPr>
                </p:pic>
                <p:sp>
                  <p:nvSpPr>
                    <p:cNvPr id="23" name="Rectangle 22"/>
                    <p:cNvSpPr/>
                    <p:nvPr/>
                  </p:nvSpPr>
                  <p:spPr>
                    <a:xfrm>
                      <a:off x="611560" y="4797152"/>
                      <a:ext cx="1584176" cy="12241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4" name="Picture 20" descr="http://www.teleconformity.com/images/zip-symbol.gif"/>
                    <p:cNvPicPr>
                      <a:picLocks noChangeAspect="1" noChangeArrowheads="1"/>
                    </p:cNvPicPr>
                    <p:nvPr/>
                  </p:nvPicPr>
                  <p:blipFill>
                    <a:blip r:embed="rId4" cstate="print"/>
                    <a:srcRect/>
                    <a:stretch>
                      <a:fillRect/>
                    </a:stretch>
                  </p:blipFill>
                  <p:spPr bwMode="auto">
                    <a:xfrm>
                      <a:off x="395536" y="4581128"/>
                      <a:ext cx="432048" cy="432048"/>
                    </a:xfrm>
                    <a:prstGeom prst="rect">
                      <a:avLst/>
                    </a:prstGeom>
                    <a:noFill/>
                  </p:spPr>
                </p:pic>
              </p:grpSp>
              <p:sp>
                <p:nvSpPr>
                  <p:cNvPr id="19" name="TextBox 18"/>
                  <p:cNvSpPr txBox="1"/>
                  <p:nvPr/>
                </p:nvSpPr>
                <p:spPr>
                  <a:xfrm>
                    <a:off x="2592288" y="4581128"/>
                    <a:ext cx="2016224" cy="1569660"/>
                  </a:xfrm>
                  <a:prstGeom prst="rect">
                    <a:avLst/>
                  </a:prstGeom>
                  <a:noFill/>
                </p:spPr>
                <p:txBody>
                  <a:bodyPr wrap="square" rtlCol="0">
                    <a:spAutoFit/>
                  </a:bodyPr>
                  <a:lstStyle/>
                  <a:p>
                    <a:pPr algn="ctr"/>
                    <a:r>
                      <a:rPr lang="en-IN" sz="1600" dirty="0" smtClean="0"/>
                      <a:t>The encrypted session key and the encrypted packet received from the communication channel</a:t>
                    </a:r>
                    <a:endParaRPr lang="en-IN" sz="1600" dirty="0"/>
                  </a:p>
                </p:txBody>
              </p:sp>
            </p:grpSp>
            <p:sp>
              <p:nvSpPr>
                <p:cNvPr id="16" name="Rectangle 15"/>
                <p:cNvSpPr/>
                <p:nvPr/>
              </p:nvSpPr>
              <p:spPr>
                <a:xfrm>
                  <a:off x="4463480" y="3861048"/>
                  <a:ext cx="2088232" cy="1800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7" name="Picture 2" descr="https://encrypted-tbn1.gstatic.com/images?q=tbn:ANd9GcR6FUejJpNaDz0bLaOCPHGaTRZzp2Et4zjEknflqfaL-vkcvu5g"/>
                <p:cNvPicPr>
                  <a:picLocks noChangeAspect="1" noChangeArrowheads="1"/>
                </p:cNvPicPr>
                <p:nvPr/>
              </p:nvPicPr>
              <p:blipFill>
                <a:blip r:embed="rId5" cstate="print"/>
                <a:srcRect/>
                <a:stretch>
                  <a:fillRect/>
                </a:stretch>
              </p:blipFill>
              <p:spPr bwMode="auto">
                <a:xfrm>
                  <a:off x="6335688" y="3645024"/>
                  <a:ext cx="360040" cy="400497"/>
                </a:xfrm>
                <a:prstGeom prst="rect">
                  <a:avLst/>
                </a:prstGeom>
                <a:noFill/>
              </p:spPr>
            </p:pic>
          </p:grpSp>
          <p:grpSp>
            <p:nvGrpSpPr>
              <p:cNvPr id="25" name="Group 65"/>
              <p:cNvGrpSpPr/>
              <p:nvPr/>
            </p:nvGrpSpPr>
            <p:grpSpPr>
              <a:xfrm>
                <a:off x="5148064" y="3861048"/>
                <a:ext cx="576064" cy="576064"/>
                <a:chOff x="755576" y="3789040"/>
                <a:chExt cx="576064" cy="576064"/>
              </a:xfrm>
            </p:grpSpPr>
            <p:pic>
              <p:nvPicPr>
                <p:cNvPr id="13" name="Picture 6" descr="http://image.spreadshirtmedia.com/image-server/v1/designs/11961695,width=178,height=178/Key-Symbol-VECTOR.png"/>
                <p:cNvPicPr>
                  <a:picLocks noChangeAspect="1" noChangeArrowheads="1"/>
                </p:cNvPicPr>
                <p:nvPr/>
              </p:nvPicPr>
              <p:blipFill>
                <a:blip r:embed="rId6" cstate="print"/>
                <a:srcRect/>
                <a:stretch>
                  <a:fillRect/>
                </a:stretch>
              </p:blipFill>
              <p:spPr bwMode="auto">
                <a:xfrm>
                  <a:off x="827584" y="3861048"/>
                  <a:ext cx="399307" cy="399307"/>
                </a:xfrm>
                <a:prstGeom prst="rect">
                  <a:avLst/>
                </a:prstGeom>
                <a:noFill/>
              </p:spPr>
            </p:pic>
            <p:sp>
              <p:nvSpPr>
                <p:cNvPr id="14" name="Rectangle 13"/>
                <p:cNvSpPr/>
                <p:nvPr/>
              </p:nvSpPr>
              <p:spPr>
                <a:xfrm>
                  <a:off x="755576" y="3789040"/>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12" name="Rectangle 11"/>
              <p:cNvSpPr/>
              <p:nvPr/>
            </p:nvSpPr>
            <p:spPr>
              <a:xfrm>
                <a:off x="4283968" y="3501008"/>
                <a:ext cx="2448272" cy="28803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pic>
          <p:nvPicPr>
            <p:cNvPr id="23558" name="Picture 6" descr="https://encrypted-tbn3.gstatic.com/images?q=tbn:ANd9GcSY84uJdJ15XTiHlvEdmwckfE9CEQ652oCdNdtI8xCWjewlpL4s"/>
            <p:cNvPicPr>
              <a:picLocks noChangeAspect="1" noChangeArrowheads="1"/>
            </p:cNvPicPr>
            <p:nvPr/>
          </p:nvPicPr>
          <p:blipFill>
            <a:blip r:embed="rId9" cstate="print"/>
            <a:srcRect/>
            <a:stretch>
              <a:fillRect/>
            </a:stretch>
          </p:blipFill>
          <p:spPr bwMode="auto">
            <a:xfrm>
              <a:off x="1835696" y="1700808"/>
              <a:ext cx="288032" cy="358949"/>
            </a:xfrm>
            <a:prstGeom prst="rect">
              <a:avLst/>
            </a:prstGeom>
            <a:noFill/>
          </p:spPr>
        </p:pic>
      </p:grpSp>
      <p:grpSp>
        <p:nvGrpSpPr>
          <p:cNvPr id="26" name="Group 75"/>
          <p:cNvGrpSpPr/>
          <p:nvPr/>
        </p:nvGrpSpPr>
        <p:grpSpPr>
          <a:xfrm>
            <a:off x="827584" y="4725144"/>
            <a:ext cx="3672408" cy="1728192"/>
            <a:chOff x="827584" y="4725144"/>
            <a:chExt cx="3672408" cy="1728192"/>
          </a:xfrm>
        </p:grpSpPr>
        <p:grpSp>
          <p:nvGrpSpPr>
            <p:cNvPr id="27" name="Group 51"/>
            <p:cNvGrpSpPr/>
            <p:nvPr/>
          </p:nvGrpSpPr>
          <p:grpSpPr>
            <a:xfrm>
              <a:off x="827584" y="5013176"/>
              <a:ext cx="3672408" cy="1440160"/>
              <a:chOff x="395536" y="4869160"/>
              <a:chExt cx="3672408" cy="1440160"/>
            </a:xfrm>
          </p:grpSpPr>
          <p:grpSp>
            <p:nvGrpSpPr>
              <p:cNvPr id="28" name="Group 27"/>
              <p:cNvGrpSpPr/>
              <p:nvPr/>
            </p:nvGrpSpPr>
            <p:grpSpPr>
              <a:xfrm>
                <a:off x="395536" y="4869160"/>
                <a:ext cx="1800200" cy="1440160"/>
                <a:chOff x="395536" y="4581128"/>
                <a:chExt cx="1800200" cy="1440160"/>
              </a:xfrm>
            </p:grpSpPr>
            <p:sp>
              <p:nvSpPr>
                <p:cNvPr id="59" name="TextBox 58"/>
                <p:cNvSpPr txBox="1"/>
                <p:nvPr/>
              </p:nvSpPr>
              <p:spPr>
                <a:xfrm>
                  <a:off x="755576" y="5445224"/>
                  <a:ext cx="1296144" cy="369332"/>
                </a:xfrm>
                <a:prstGeom prst="rect">
                  <a:avLst/>
                </a:prstGeom>
                <a:solidFill>
                  <a:srgbClr val="00B050"/>
                </a:solidFill>
                <a:ln>
                  <a:solidFill>
                    <a:schemeClr val="tx1"/>
                  </a:solidFill>
                </a:ln>
              </p:spPr>
              <p:txBody>
                <a:bodyPr wrap="square" rtlCol="0">
                  <a:spAutoFit/>
                </a:bodyPr>
                <a:lstStyle/>
                <a:p>
                  <a:pPr algn="ctr"/>
                  <a:r>
                    <a:rPr lang="en-IN" dirty="0" smtClean="0">
                      <a:solidFill>
                        <a:schemeClr val="bg1"/>
                      </a:solidFill>
                    </a:rPr>
                    <a:t>Message</a:t>
                  </a:r>
                  <a:endParaRPr lang="en-IN" dirty="0">
                    <a:solidFill>
                      <a:schemeClr val="bg1"/>
                    </a:solidFill>
                  </a:endParaRPr>
                </a:p>
              </p:txBody>
            </p:sp>
            <p:sp>
              <p:nvSpPr>
                <p:cNvPr id="60" name="TextBox 59"/>
                <p:cNvSpPr txBox="1"/>
                <p:nvPr/>
              </p:nvSpPr>
              <p:spPr>
                <a:xfrm>
                  <a:off x="755576" y="5085184"/>
                  <a:ext cx="1296144" cy="369332"/>
                </a:xfrm>
                <a:prstGeom prst="rect">
                  <a:avLst/>
                </a:prstGeom>
                <a:solidFill>
                  <a:srgbClr val="FFFF00"/>
                </a:solidFill>
                <a:ln>
                  <a:solidFill>
                    <a:schemeClr val="tx1"/>
                  </a:solidFill>
                </a:ln>
              </p:spPr>
              <p:txBody>
                <a:bodyPr wrap="square" rtlCol="0">
                  <a:spAutoFit/>
                </a:bodyPr>
                <a:lstStyle/>
                <a:p>
                  <a:pPr algn="ctr"/>
                  <a:r>
                    <a:rPr lang="en-IN" dirty="0" smtClean="0"/>
                    <a:t>Hash Code</a:t>
                  </a:r>
                  <a:endParaRPr lang="en-IN" dirty="0"/>
                </a:p>
              </p:txBody>
            </p:sp>
            <p:pic>
              <p:nvPicPr>
                <p:cNvPr id="61" name="Picture 14" descr="Padlock  Clip Art"/>
                <p:cNvPicPr>
                  <a:picLocks noChangeAspect="1" noChangeArrowheads="1"/>
                </p:cNvPicPr>
                <p:nvPr/>
              </p:nvPicPr>
              <p:blipFill>
                <a:blip r:embed="rId3" cstate="print"/>
                <a:srcRect/>
                <a:stretch>
                  <a:fillRect/>
                </a:stretch>
              </p:blipFill>
              <p:spPr bwMode="auto">
                <a:xfrm>
                  <a:off x="1835696" y="4869160"/>
                  <a:ext cx="272058" cy="388654"/>
                </a:xfrm>
                <a:prstGeom prst="rect">
                  <a:avLst/>
                </a:prstGeom>
                <a:noFill/>
              </p:spPr>
            </p:pic>
            <p:sp>
              <p:nvSpPr>
                <p:cNvPr id="62" name="Rectangle 61"/>
                <p:cNvSpPr/>
                <p:nvPr/>
              </p:nvSpPr>
              <p:spPr>
                <a:xfrm>
                  <a:off x="611560" y="4797152"/>
                  <a:ext cx="1584176" cy="12241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63" name="Picture 20" descr="http://www.teleconformity.com/images/zip-symbol.gif"/>
                <p:cNvPicPr>
                  <a:picLocks noChangeAspect="1" noChangeArrowheads="1"/>
                </p:cNvPicPr>
                <p:nvPr/>
              </p:nvPicPr>
              <p:blipFill>
                <a:blip r:embed="rId4" cstate="print"/>
                <a:srcRect/>
                <a:stretch>
                  <a:fillRect/>
                </a:stretch>
              </p:blipFill>
              <p:spPr bwMode="auto">
                <a:xfrm>
                  <a:off x="395536" y="4581128"/>
                  <a:ext cx="432048" cy="432048"/>
                </a:xfrm>
                <a:prstGeom prst="rect">
                  <a:avLst/>
                </a:prstGeom>
                <a:noFill/>
              </p:spPr>
            </p:pic>
          </p:grpSp>
          <p:sp>
            <p:nvSpPr>
              <p:cNvPr id="58" name="TextBox 57"/>
              <p:cNvSpPr txBox="1"/>
              <p:nvPr/>
            </p:nvSpPr>
            <p:spPr>
              <a:xfrm>
                <a:off x="2555776" y="5085184"/>
                <a:ext cx="1512168" cy="1077218"/>
              </a:xfrm>
              <a:prstGeom prst="rect">
                <a:avLst/>
              </a:prstGeom>
              <a:noFill/>
            </p:spPr>
            <p:txBody>
              <a:bodyPr wrap="square" rtlCol="0">
                <a:spAutoFit/>
              </a:bodyPr>
              <a:lstStyle/>
              <a:p>
                <a:pPr algn="ctr"/>
                <a:r>
                  <a:rPr lang="en-IN" sz="1600" dirty="0" smtClean="0"/>
                  <a:t>The packet is decrypted using the decrypted session key</a:t>
                </a:r>
              </a:p>
            </p:txBody>
          </p:sp>
        </p:grpSp>
        <p:pic>
          <p:nvPicPr>
            <p:cNvPr id="53" name="Picture 6" descr="http://image.spreadshirtmedia.com/image-server/v1/designs/11961695,width=178,height=178/Key-Symbol-VECTOR.png"/>
            <p:cNvPicPr>
              <a:picLocks noChangeAspect="1" noChangeArrowheads="1"/>
            </p:cNvPicPr>
            <p:nvPr/>
          </p:nvPicPr>
          <p:blipFill>
            <a:blip r:embed="rId6" cstate="print"/>
            <a:srcRect/>
            <a:stretch>
              <a:fillRect/>
            </a:stretch>
          </p:blipFill>
          <p:spPr bwMode="auto">
            <a:xfrm>
              <a:off x="3131840" y="4725144"/>
              <a:ext cx="399307" cy="399307"/>
            </a:xfrm>
            <a:prstGeom prst="rect">
              <a:avLst/>
            </a:prstGeom>
            <a:noFill/>
          </p:spPr>
        </p:pic>
        <p:pic>
          <p:nvPicPr>
            <p:cNvPr id="23559" name="Picture 7"/>
            <p:cNvPicPr>
              <a:picLocks noChangeAspect="1" noChangeArrowheads="1"/>
            </p:cNvPicPr>
            <p:nvPr/>
          </p:nvPicPr>
          <p:blipFill>
            <a:blip r:embed="rId10" cstate="print"/>
            <a:srcRect r="91505" b="80927"/>
            <a:stretch>
              <a:fillRect/>
            </a:stretch>
          </p:blipFill>
          <p:spPr bwMode="auto">
            <a:xfrm>
              <a:off x="2771800" y="4725144"/>
              <a:ext cx="412651" cy="399678"/>
            </a:xfrm>
            <a:prstGeom prst="rect">
              <a:avLst/>
            </a:prstGeom>
            <a:noFill/>
            <a:ln w="9525">
              <a:noFill/>
              <a:miter lim="800000"/>
              <a:headEnd/>
              <a:tailEnd/>
            </a:ln>
          </p:spPr>
        </p:pic>
      </p:grpSp>
      <p:sp>
        <p:nvSpPr>
          <p:cNvPr id="65" name="TextBox 64"/>
          <p:cNvSpPr txBox="1"/>
          <p:nvPr/>
        </p:nvSpPr>
        <p:spPr>
          <a:xfrm>
            <a:off x="4427984" y="5085184"/>
            <a:ext cx="1800200" cy="1323439"/>
          </a:xfrm>
          <a:prstGeom prst="rect">
            <a:avLst/>
          </a:prstGeom>
          <a:noFill/>
        </p:spPr>
        <p:txBody>
          <a:bodyPr wrap="square" rtlCol="0">
            <a:spAutoFit/>
          </a:bodyPr>
          <a:lstStyle/>
          <a:p>
            <a:pPr algn="ctr"/>
            <a:r>
              <a:rPr lang="en-IN" sz="1600" dirty="0" smtClean="0"/>
              <a:t>Remaining procedure  will remain same as in the previous PGP Integrity slides</a:t>
            </a:r>
          </a:p>
        </p:txBody>
      </p:sp>
      <p:grpSp>
        <p:nvGrpSpPr>
          <p:cNvPr id="29" name="Group 79"/>
          <p:cNvGrpSpPr/>
          <p:nvPr/>
        </p:nvGrpSpPr>
        <p:grpSpPr>
          <a:xfrm>
            <a:off x="6300192" y="4869160"/>
            <a:ext cx="2664296" cy="1584176"/>
            <a:chOff x="6300192" y="4869160"/>
            <a:chExt cx="2664296" cy="1584176"/>
          </a:xfrm>
        </p:grpSpPr>
        <p:grpSp>
          <p:nvGrpSpPr>
            <p:cNvPr id="30" name="Group 65"/>
            <p:cNvGrpSpPr/>
            <p:nvPr/>
          </p:nvGrpSpPr>
          <p:grpSpPr>
            <a:xfrm>
              <a:off x="6300192" y="4869160"/>
              <a:ext cx="2664296" cy="1584176"/>
              <a:chOff x="611560" y="4869160"/>
              <a:chExt cx="2664296" cy="1584176"/>
            </a:xfrm>
          </p:grpSpPr>
          <p:pic>
            <p:nvPicPr>
              <p:cNvPr id="67" name="Picture 22" descr="https://lh5.ggpht.com/NEJyVTa3UwnxS51iSbV_GaZZ4ZlRFfoC_1u3uUduIex_L_QDNJ_hjWRmfYuJSSiq7FM=w300"/>
              <p:cNvPicPr>
                <a:picLocks noChangeAspect="1" noChangeArrowheads="1"/>
              </p:cNvPicPr>
              <p:nvPr/>
            </p:nvPicPr>
            <p:blipFill>
              <a:blip r:embed="rId7" cstate="print"/>
              <a:srcRect/>
              <a:stretch>
                <a:fillRect/>
              </a:stretch>
            </p:blipFill>
            <p:spPr bwMode="auto">
              <a:xfrm>
                <a:off x="899592" y="4869160"/>
                <a:ext cx="337220" cy="337220"/>
              </a:xfrm>
              <a:prstGeom prst="rect">
                <a:avLst/>
              </a:prstGeom>
              <a:noFill/>
            </p:spPr>
          </p:pic>
          <p:pic>
            <p:nvPicPr>
              <p:cNvPr id="68" name="Picture 2" descr="http://cdn.vectorstock.com/i/composite/97,02/black-key-vector-819702.jpg"/>
              <p:cNvPicPr>
                <a:picLocks noChangeAspect="1" noChangeArrowheads="1"/>
              </p:cNvPicPr>
              <p:nvPr/>
            </p:nvPicPr>
            <p:blipFill>
              <a:blip r:embed="rId11" cstate="print"/>
              <a:srcRect/>
              <a:stretch>
                <a:fillRect/>
              </a:stretch>
            </p:blipFill>
            <p:spPr bwMode="auto">
              <a:xfrm>
                <a:off x="899592" y="5733256"/>
                <a:ext cx="432048" cy="338032"/>
              </a:xfrm>
              <a:prstGeom prst="rect">
                <a:avLst/>
              </a:prstGeom>
              <a:noFill/>
            </p:spPr>
          </p:pic>
          <p:sp>
            <p:nvSpPr>
              <p:cNvPr id="70" name="TextBox 69"/>
              <p:cNvSpPr txBox="1"/>
              <p:nvPr/>
            </p:nvSpPr>
            <p:spPr>
              <a:xfrm>
                <a:off x="1403648" y="4869160"/>
                <a:ext cx="1800200" cy="307777"/>
              </a:xfrm>
              <a:prstGeom prst="rect">
                <a:avLst/>
              </a:prstGeom>
              <a:noFill/>
            </p:spPr>
            <p:txBody>
              <a:bodyPr wrap="square" rtlCol="0">
                <a:spAutoFit/>
              </a:bodyPr>
              <a:lstStyle/>
              <a:p>
                <a:r>
                  <a:rPr lang="en-IN" sz="1400" b="1" dirty="0" smtClean="0"/>
                  <a:t>Receiver’s Private Key</a:t>
                </a:r>
                <a:endParaRPr lang="en-IN" sz="1400" b="1" dirty="0"/>
              </a:p>
            </p:txBody>
          </p:sp>
          <p:sp>
            <p:nvSpPr>
              <p:cNvPr id="71" name="TextBox 70"/>
              <p:cNvSpPr txBox="1"/>
              <p:nvPr/>
            </p:nvSpPr>
            <p:spPr>
              <a:xfrm>
                <a:off x="1403648" y="5785519"/>
                <a:ext cx="1728192" cy="307777"/>
              </a:xfrm>
              <a:prstGeom prst="rect">
                <a:avLst/>
              </a:prstGeom>
              <a:noFill/>
            </p:spPr>
            <p:txBody>
              <a:bodyPr wrap="square" rtlCol="0">
                <a:spAutoFit/>
              </a:bodyPr>
              <a:lstStyle/>
              <a:p>
                <a:r>
                  <a:rPr lang="en-IN" sz="1400" b="1" dirty="0" smtClean="0"/>
                  <a:t>Sender's Public Key</a:t>
                </a:r>
                <a:endParaRPr lang="en-IN" sz="1400" b="1" dirty="0"/>
              </a:p>
            </p:txBody>
          </p:sp>
          <p:sp>
            <p:nvSpPr>
              <p:cNvPr id="73" name="TextBox 72"/>
              <p:cNvSpPr txBox="1"/>
              <p:nvPr/>
            </p:nvSpPr>
            <p:spPr>
              <a:xfrm>
                <a:off x="755576" y="6093296"/>
                <a:ext cx="2160240" cy="338554"/>
              </a:xfrm>
              <a:prstGeom prst="rect">
                <a:avLst/>
              </a:prstGeom>
              <a:noFill/>
            </p:spPr>
            <p:txBody>
              <a:bodyPr wrap="square" rtlCol="0">
                <a:spAutoFit/>
              </a:bodyPr>
              <a:lstStyle/>
              <a:p>
                <a:pPr algn="ctr"/>
                <a:r>
                  <a:rPr lang="en-IN" sz="1600" b="1" u="sng" dirty="0" smtClean="0"/>
                  <a:t>Keys with the Receiver</a:t>
                </a:r>
                <a:endParaRPr lang="en-IN" sz="1600" b="1" u="sng" dirty="0"/>
              </a:p>
            </p:txBody>
          </p:sp>
          <p:sp>
            <p:nvSpPr>
              <p:cNvPr id="74" name="Rectangle 73"/>
              <p:cNvSpPr/>
              <p:nvPr/>
            </p:nvSpPr>
            <p:spPr>
              <a:xfrm>
                <a:off x="611560" y="4869160"/>
                <a:ext cx="2664296" cy="1584176"/>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pic>
          <p:nvPicPr>
            <p:cNvPr id="78" name="Picture 6" descr="http://image.spreadshirtmedia.com/image-server/v1/designs/11961695,width=178,height=178/Key-Symbol-VECTOR.png"/>
            <p:cNvPicPr>
              <a:picLocks noChangeAspect="1" noChangeArrowheads="1"/>
            </p:cNvPicPr>
            <p:nvPr/>
          </p:nvPicPr>
          <p:blipFill>
            <a:blip r:embed="rId6" cstate="print"/>
            <a:srcRect/>
            <a:stretch>
              <a:fillRect/>
            </a:stretch>
          </p:blipFill>
          <p:spPr bwMode="auto">
            <a:xfrm>
              <a:off x="6588224" y="5229200"/>
              <a:ext cx="399307" cy="399307"/>
            </a:xfrm>
            <a:prstGeom prst="rect">
              <a:avLst/>
            </a:prstGeom>
            <a:noFill/>
          </p:spPr>
        </p:pic>
        <p:sp>
          <p:nvSpPr>
            <p:cNvPr id="79" name="TextBox 78"/>
            <p:cNvSpPr txBox="1"/>
            <p:nvPr/>
          </p:nvSpPr>
          <p:spPr>
            <a:xfrm>
              <a:off x="7092280" y="5301208"/>
              <a:ext cx="1800200" cy="523220"/>
            </a:xfrm>
            <a:prstGeom prst="rect">
              <a:avLst/>
            </a:prstGeom>
            <a:noFill/>
          </p:spPr>
          <p:txBody>
            <a:bodyPr wrap="square" rtlCol="0">
              <a:spAutoFit/>
            </a:bodyPr>
            <a:lstStyle/>
            <a:p>
              <a:r>
                <a:rPr lang="en-IN" sz="1400" b="1" dirty="0" smtClean="0"/>
                <a:t>Received Encrypted Session Key</a:t>
              </a:r>
              <a:endParaRPr lang="en-IN" sz="14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PGP: Different Cryptographic Algorithms </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29</a:t>
            </a:fld>
            <a:endParaRPr lang="en-US" dirty="0"/>
          </a:p>
        </p:txBody>
      </p:sp>
      <p:graphicFrame>
        <p:nvGraphicFramePr>
          <p:cNvPr id="5" name="Table 4"/>
          <p:cNvGraphicFramePr>
            <a:graphicFrameLocks noGrp="1"/>
          </p:cNvGraphicFramePr>
          <p:nvPr/>
        </p:nvGraphicFramePr>
        <p:xfrm>
          <a:off x="755576" y="1556792"/>
          <a:ext cx="7416824" cy="4110316"/>
        </p:xfrm>
        <a:graphic>
          <a:graphicData uri="http://schemas.openxmlformats.org/drawingml/2006/table">
            <a:tbl>
              <a:tblPr firstRow="1" bandRow="1">
                <a:tableStyleId>{5C22544A-7EE6-4342-B048-85BDC9FD1C3A}</a:tableStyleId>
              </a:tblPr>
              <a:tblGrid>
                <a:gridCol w="1423431"/>
                <a:gridCol w="2322440"/>
                <a:gridCol w="3670953"/>
              </a:tblGrid>
              <a:tr h="318351">
                <a:tc>
                  <a:txBody>
                    <a:bodyPr/>
                    <a:lstStyle/>
                    <a:p>
                      <a:pPr algn="ctr"/>
                      <a:r>
                        <a:rPr lang="en-IN" dirty="0" smtClean="0"/>
                        <a:t>Functions</a:t>
                      </a:r>
                      <a:endParaRPr lang="en-IN" dirty="0"/>
                    </a:p>
                  </a:txBody>
                  <a:tcPr>
                    <a:solidFill>
                      <a:srgbClr val="FFC000"/>
                    </a:solidFill>
                  </a:tcPr>
                </a:tc>
                <a:tc>
                  <a:txBody>
                    <a:bodyPr/>
                    <a:lstStyle/>
                    <a:p>
                      <a:pPr algn="ctr"/>
                      <a:r>
                        <a:rPr lang="en-IN" dirty="0" smtClean="0"/>
                        <a:t>Algorithms Used</a:t>
                      </a:r>
                      <a:endParaRPr lang="en-IN" dirty="0"/>
                    </a:p>
                  </a:txBody>
                  <a:tcPr>
                    <a:solidFill>
                      <a:srgbClr val="FFC000"/>
                    </a:solidFill>
                  </a:tcPr>
                </a:tc>
                <a:tc>
                  <a:txBody>
                    <a:bodyPr/>
                    <a:lstStyle/>
                    <a:p>
                      <a:pPr algn="ctr"/>
                      <a:r>
                        <a:rPr lang="en-IN" dirty="0" smtClean="0"/>
                        <a:t>Description</a:t>
                      </a:r>
                      <a:endParaRPr lang="en-IN" dirty="0"/>
                    </a:p>
                  </a:txBody>
                  <a:tcPr>
                    <a:solidFill>
                      <a:srgbClr val="FFC000"/>
                    </a:solidFill>
                  </a:tcPr>
                </a:tc>
              </a:tr>
              <a:tr h="928524">
                <a:tc>
                  <a:txBody>
                    <a:bodyPr/>
                    <a:lstStyle/>
                    <a:p>
                      <a:pPr algn="just"/>
                      <a:r>
                        <a:rPr lang="en-IN" sz="1400" dirty="0" smtClean="0"/>
                        <a:t>Digest/Digital Signature</a:t>
                      </a:r>
                      <a:endParaRPr lang="en-IN" sz="1400" dirty="0"/>
                    </a:p>
                  </a:txBody>
                  <a:tcPr/>
                </a:tc>
                <a:tc>
                  <a:txBody>
                    <a:bodyPr/>
                    <a:lstStyle/>
                    <a:p>
                      <a:pPr algn="just"/>
                      <a:r>
                        <a:rPr lang="en-IN" sz="1400" kern="1200" baseline="0" dirty="0" smtClean="0">
                          <a:solidFill>
                            <a:schemeClr val="dk1"/>
                          </a:solidFill>
                          <a:latin typeface="+mn-lt"/>
                          <a:ea typeface="+mn-ea"/>
                          <a:cs typeface="+mn-cs"/>
                        </a:rPr>
                        <a:t>DSS/SHA or RSA/SHA</a:t>
                      </a:r>
                      <a:endParaRPr lang="en-IN" sz="1400" dirty="0"/>
                    </a:p>
                  </a:txBody>
                  <a:tcPr/>
                </a:tc>
                <a:tc>
                  <a:txBody>
                    <a:bodyPr/>
                    <a:lstStyle/>
                    <a:p>
                      <a:pPr algn="just"/>
                      <a:r>
                        <a:rPr lang="en-IN" sz="1400" kern="1200" baseline="0" dirty="0" smtClean="0">
                          <a:solidFill>
                            <a:schemeClr val="dk1"/>
                          </a:solidFill>
                          <a:latin typeface="+mn-lt"/>
                          <a:ea typeface="+mn-ea"/>
                          <a:cs typeface="+mn-cs"/>
                        </a:rPr>
                        <a:t>A hash code of a message is created using SHA-1. This message digest is encrypted using DSS or RSA with the sender’s private key and included with the message.</a:t>
                      </a:r>
                      <a:endParaRPr lang="en-IN" sz="1400" dirty="0"/>
                    </a:p>
                  </a:txBody>
                  <a:tcPr/>
                </a:tc>
              </a:tr>
              <a:tr h="1352992">
                <a:tc>
                  <a:txBody>
                    <a:bodyPr/>
                    <a:lstStyle/>
                    <a:p>
                      <a:r>
                        <a:rPr lang="en-IN" sz="1400" kern="1200" baseline="0" dirty="0" smtClean="0">
                          <a:solidFill>
                            <a:schemeClr val="dk1"/>
                          </a:solidFill>
                          <a:latin typeface="+mn-lt"/>
                          <a:ea typeface="+mn-ea"/>
                          <a:cs typeface="+mn-cs"/>
                        </a:rPr>
                        <a:t>Message encryption</a:t>
                      </a:r>
                      <a:endParaRPr lang="en-IN" sz="1400" dirty="0"/>
                    </a:p>
                  </a:txBody>
                  <a:tcPr/>
                </a:tc>
                <a:tc>
                  <a:txBody>
                    <a:bodyPr/>
                    <a:lstStyle/>
                    <a:p>
                      <a:pPr algn="just"/>
                      <a:r>
                        <a:rPr lang="en-IN" sz="1400" kern="1200" baseline="0" dirty="0" smtClean="0">
                          <a:solidFill>
                            <a:schemeClr val="dk1"/>
                          </a:solidFill>
                          <a:latin typeface="+mn-lt"/>
                          <a:ea typeface="+mn-ea"/>
                          <a:cs typeface="+mn-cs"/>
                        </a:rPr>
                        <a:t>CAST or IDEA or Three-key Triple DES with Diffie-Hellman or RSA</a:t>
                      </a:r>
                      <a:endParaRPr lang="en-IN" sz="1400" dirty="0"/>
                    </a:p>
                  </a:txBody>
                  <a:tcPr/>
                </a:tc>
                <a:tc>
                  <a:txBody>
                    <a:bodyPr/>
                    <a:lstStyle/>
                    <a:p>
                      <a:pPr marL="0" algn="just" defTabSz="914400" rtl="0" eaLnBrk="1" latinLnBrk="0" hangingPunct="1"/>
                      <a:r>
                        <a:rPr lang="en-IN" sz="1400" kern="1200" baseline="0" dirty="0" smtClean="0">
                          <a:solidFill>
                            <a:schemeClr val="dk1"/>
                          </a:solidFill>
                          <a:latin typeface="+mn-lt"/>
                          <a:ea typeface="+mn-ea"/>
                          <a:cs typeface="+mn-cs"/>
                        </a:rPr>
                        <a:t>A message is encrypted using CAST-128 or IDEA or 3DES with a one-time session key generated by the sender. The session key is encrypted using Diffie-Hellman or RSA with the recipient’s public key and included with the message.</a:t>
                      </a:r>
                    </a:p>
                  </a:txBody>
                  <a:tcPr/>
                </a:tc>
              </a:tr>
              <a:tr h="504056">
                <a:tc>
                  <a:txBody>
                    <a:bodyPr/>
                    <a:lstStyle/>
                    <a:p>
                      <a:pPr algn="just"/>
                      <a:r>
                        <a:rPr lang="en-IN" sz="1400" dirty="0" smtClean="0"/>
                        <a:t>Compression</a:t>
                      </a:r>
                      <a:endParaRPr lang="en-IN" sz="1400" dirty="0"/>
                    </a:p>
                  </a:txBody>
                  <a:tcPr/>
                </a:tc>
                <a:tc>
                  <a:txBody>
                    <a:bodyPr/>
                    <a:lstStyle/>
                    <a:p>
                      <a:pPr algn="just"/>
                      <a:r>
                        <a:rPr lang="en-IN" sz="1400" dirty="0" smtClean="0"/>
                        <a:t>ZIP</a:t>
                      </a:r>
                      <a:endParaRPr lang="en-IN" sz="1400" dirty="0"/>
                    </a:p>
                  </a:txBody>
                  <a:tcPr/>
                </a:tc>
                <a:tc>
                  <a:txBody>
                    <a:bodyPr/>
                    <a:lstStyle/>
                    <a:p>
                      <a:pPr algn="just"/>
                      <a:r>
                        <a:rPr lang="en-IN" sz="1400" kern="1200" baseline="0" dirty="0" smtClean="0">
                          <a:solidFill>
                            <a:schemeClr val="dk1"/>
                          </a:solidFill>
                          <a:latin typeface="+mn-lt"/>
                          <a:ea typeface="+mn-ea"/>
                          <a:cs typeface="+mn-cs"/>
                        </a:rPr>
                        <a:t>A message may be compressed for storage or transmission using ZIP.</a:t>
                      </a:r>
                      <a:endParaRPr lang="en-IN" sz="1400" dirty="0"/>
                    </a:p>
                  </a:txBody>
                  <a:tcPr/>
                </a:tc>
              </a:tr>
              <a:tr h="928524">
                <a:tc>
                  <a:txBody>
                    <a:bodyPr/>
                    <a:lstStyle/>
                    <a:p>
                      <a:r>
                        <a:rPr lang="en-IN" sz="1400" dirty="0" smtClean="0"/>
                        <a:t>E-mail</a:t>
                      </a:r>
                      <a:r>
                        <a:rPr lang="en-IN" sz="1400" baseline="0" dirty="0" smtClean="0"/>
                        <a:t> compatibility</a:t>
                      </a:r>
                      <a:endParaRPr lang="en-IN" sz="1400" dirty="0"/>
                    </a:p>
                  </a:txBody>
                  <a:tcPr/>
                </a:tc>
                <a:tc>
                  <a:txBody>
                    <a:bodyPr/>
                    <a:lstStyle/>
                    <a:p>
                      <a:r>
                        <a:rPr lang="en-IN" sz="1400" dirty="0" smtClean="0"/>
                        <a:t>Radix-64 Conversion</a:t>
                      </a:r>
                      <a:endParaRPr lang="en-IN" sz="1400" dirty="0"/>
                    </a:p>
                  </a:txBody>
                  <a:tcPr/>
                </a:tc>
                <a:tc>
                  <a:txBody>
                    <a:bodyPr/>
                    <a:lstStyle/>
                    <a:p>
                      <a:pPr marL="0" algn="just" defTabSz="914400" rtl="0" eaLnBrk="1" latinLnBrk="0" hangingPunct="1"/>
                      <a:r>
                        <a:rPr lang="en-IN" sz="1400" kern="1200" baseline="0" dirty="0" smtClean="0">
                          <a:solidFill>
                            <a:schemeClr val="dk1"/>
                          </a:solidFill>
                          <a:latin typeface="+mn-lt"/>
                          <a:ea typeface="+mn-ea"/>
                          <a:cs typeface="+mn-cs"/>
                        </a:rPr>
                        <a:t>To provide transparency for e-mail applications, an encrypted message may be converted to an ASCII string using radix-64 conversion.</a:t>
                      </a:r>
                    </a:p>
                  </a:txBody>
                  <a:tcPr/>
                </a:tc>
              </a:tr>
            </a:tbl>
          </a:graphicData>
        </a:graphic>
      </p:graphicFrame>
      <p:sp>
        <p:nvSpPr>
          <p:cNvPr id="6" name="TextBox 5"/>
          <p:cNvSpPr txBox="1"/>
          <p:nvPr/>
        </p:nvSpPr>
        <p:spPr>
          <a:xfrm>
            <a:off x="467544" y="5733256"/>
            <a:ext cx="8424936" cy="738664"/>
          </a:xfrm>
          <a:prstGeom prst="rect">
            <a:avLst/>
          </a:prstGeom>
          <a:noFill/>
        </p:spPr>
        <p:txBody>
          <a:bodyPr wrap="square" rtlCol="0">
            <a:spAutoFit/>
          </a:bodyPr>
          <a:lstStyle/>
          <a:p>
            <a:r>
              <a:rPr lang="en-IN" sz="1400" b="1" i="1" dirty="0" smtClean="0"/>
              <a:t>DSS</a:t>
            </a:r>
            <a:r>
              <a:rPr lang="en-IN" sz="1400" i="1" dirty="0" smtClean="0"/>
              <a:t>: Digital Signature Standard     </a:t>
            </a:r>
            <a:r>
              <a:rPr lang="en-IN" sz="1400" b="1" i="1" dirty="0" smtClean="0"/>
              <a:t>RSA</a:t>
            </a:r>
            <a:r>
              <a:rPr lang="en-IN" sz="1400" i="1" dirty="0" smtClean="0"/>
              <a:t>: Rivest Shamir Adleman     </a:t>
            </a:r>
            <a:r>
              <a:rPr lang="en-IN" sz="1400" b="1" i="1" dirty="0" smtClean="0"/>
              <a:t>IDEA</a:t>
            </a:r>
            <a:r>
              <a:rPr lang="en-IN" sz="1400" i="1" dirty="0" smtClean="0"/>
              <a:t>: International Data Encryption Algorithm</a:t>
            </a:r>
          </a:p>
          <a:p>
            <a:r>
              <a:rPr lang="en-IN" sz="1400" b="1" i="1" dirty="0" smtClean="0"/>
              <a:t>SHA</a:t>
            </a:r>
            <a:r>
              <a:rPr lang="en-IN" sz="1400" i="1" dirty="0" smtClean="0"/>
              <a:t>: Secure Hash Algorithm          </a:t>
            </a:r>
            <a:r>
              <a:rPr lang="en-IN" sz="1400" b="1" i="1" dirty="0" smtClean="0"/>
              <a:t>CAST</a:t>
            </a:r>
            <a:r>
              <a:rPr lang="en-IN" sz="1400" i="1" dirty="0" smtClean="0"/>
              <a:t>:  Carlisle Adams and Stafford Tavares (a Symmetric Key Algorithm)</a:t>
            </a:r>
          </a:p>
          <a:p>
            <a:r>
              <a:rPr lang="en-IN" sz="1400" b="1" i="1" dirty="0" smtClean="0"/>
              <a:t>DES</a:t>
            </a:r>
            <a:r>
              <a:rPr lang="en-IN" sz="1400" i="1" dirty="0" smtClean="0"/>
              <a:t>: Data Encryption Standard</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3222029"/>
            <a:ext cx="8229600" cy="3231307"/>
          </a:xfrm>
        </p:spPr>
        <p:txBody>
          <a:bodyPr>
            <a:normAutofit/>
          </a:bodyPr>
          <a:lstStyle/>
          <a:p>
            <a:pPr marL="514350" lvl="1" indent="-514350" algn="just">
              <a:buClr>
                <a:srgbClr val="101141"/>
              </a:buClr>
              <a:buFont typeface="Wingdings" pitchFamily="2" charset="2"/>
              <a:buChar char="§"/>
            </a:pPr>
            <a:endParaRPr lang="en-IN" sz="1800" dirty="0" smtClean="0"/>
          </a:p>
          <a:p>
            <a:pPr lvl="1">
              <a:buNone/>
            </a:pPr>
            <a:r>
              <a:rPr lang="en-IN" sz="1600" b="1" dirty="0" smtClean="0">
                <a:latin typeface="Courier New" pitchFamily="49" charset="0"/>
                <a:cs typeface="Courier New" pitchFamily="49" charset="0"/>
              </a:rPr>
              <a:t>Date: July 18, 2015 9:00:00 AM IST</a:t>
            </a:r>
          </a:p>
          <a:p>
            <a:pPr lvl="1">
              <a:buNone/>
            </a:pPr>
            <a:r>
              <a:rPr lang="en-IN" sz="1600" b="1" dirty="0" smtClean="0">
                <a:latin typeface="Courier New" pitchFamily="49" charset="0"/>
                <a:cs typeface="Courier New" pitchFamily="49" charset="0"/>
              </a:rPr>
              <a:t>From: “Professor” &lt;professor@bits-pilani.ac.in&gt;</a:t>
            </a:r>
          </a:p>
          <a:p>
            <a:pPr lvl="1">
              <a:buNone/>
            </a:pPr>
            <a:r>
              <a:rPr lang="en-IN" sz="1600" b="1" dirty="0" smtClean="0">
                <a:latin typeface="Courier New" pitchFamily="49" charset="0"/>
                <a:cs typeface="Courier New" pitchFamily="49" charset="0"/>
              </a:rPr>
              <a:t>Subject: The E-Mail Format in RFC 5322</a:t>
            </a:r>
          </a:p>
          <a:p>
            <a:pPr lvl="1">
              <a:buNone/>
            </a:pPr>
            <a:r>
              <a:rPr lang="en-IN" sz="1600" b="1" dirty="0" smtClean="0">
                <a:latin typeface="Courier New" pitchFamily="49" charset="0"/>
                <a:cs typeface="Courier New" pitchFamily="49" charset="0"/>
              </a:rPr>
              <a:t>To: class@some_host.com</a:t>
            </a:r>
          </a:p>
          <a:p>
            <a:pPr lvl="1">
              <a:buNone/>
            </a:pPr>
            <a:r>
              <a:rPr lang="en-IN" sz="1600" b="1" dirty="0" smtClean="0">
                <a:latin typeface="Courier New" pitchFamily="49" charset="0"/>
                <a:cs typeface="Courier New" pitchFamily="49" charset="0"/>
              </a:rPr>
              <a:t>Cc: dean@bits-pilani.ac.in</a:t>
            </a:r>
          </a:p>
          <a:p>
            <a:pPr lvl="1">
              <a:buNone/>
            </a:pPr>
            <a:endParaRPr lang="en-IN" sz="2000" dirty="0" smtClean="0">
              <a:latin typeface="Courier New" pitchFamily="49" charset="0"/>
              <a:cs typeface="Courier New" pitchFamily="49" charset="0"/>
            </a:endParaRPr>
          </a:p>
          <a:p>
            <a:pPr lvl="1">
              <a:buNone/>
            </a:pPr>
            <a:r>
              <a:rPr lang="en-IN" sz="1600" b="1" dirty="0" smtClean="0">
                <a:latin typeface="Courier New" pitchFamily="49" charset="0"/>
                <a:cs typeface="Courier New" pitchFamily="49" charset="0"/>
              </a:rPr>
              <a:t>Good Morning! We are committed to provide you world </a:t>
            </a:r>
          </a:p>
          <a:p>
            <a:pPr lvl="1">
              <a:buNone/>
            </a:pPr>
            <a:r>
              <a:rPr lang="en-IN" sz="1600" b="1" dirty="0" smtClean="0">
                <a:latin typeface="Courier New" pitchFamily="49" charset="0"/>
                <a:cs typeface="Courier New" pitchFamily="49" charset="0"/>
              </a:rPr>
              <a:t>class education!</a:t>
            </a:r>
          </a:p>
        </p:txBody>
      </p:sp>
      <p:sp>
        <p:nvSpPr>
          <p:cNvPr id="3" name="Content Placeholder 2"/>
          <p:cNvSpPr>
            <a:spLocks noGrp="1"/>
          </p:cNvSpPr>
          <p:nvPr>
            <p:ph sz="quarter" idx="10"/>
          </p:nvPr>
        </p:nvSpPr>
        <p:spPr/>
        <p:txBody>
          <a:bodyPr/>
          <a:lstStyle/>
          <a:p>
            <a:r>
              <a:rPr lang="en-IN" dirty="0" smtClean="0"/>
              <a:t>E-Mail Message Structure</a:t>
            </a:r>
          </a:p>
        </p:txBody>
      </p:sp>
      <p:sp>
        <p:nvSpPr>
          <p:cNvPr id="6" name="Rectangle 5"/>
          <p:cNvSpPr/>
          <p:nvPr/>
        </p:nvSpPr>
        <p:spPr>
          <a:xfrm>
            <a:off x="251520" y="3501008"/>
            <a:ext cx="7488832" cy="1584176"/>
          </a:xfrm>
          <a:prstGeom prst="rect">
            <a:avLst/>
          </a:prstGeom>
          <a:noFill/>
          <a:ln w="3175">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p:cNvSpPr/>
          <p:nvPr/>
        </p:nvSpPr>
        <p:spPr>
          <a:xfrm>
            <a:off x="251520" y="5229200"/>
            <a:ext cx="7488832" cy="864096"/>
          </a:xfrm>
          <a:prstGeom prst="rect">
            <a:avLst/>
          </a:prstGeom>
          <a:noFill/>
          <a:ln w="3175">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ounded Rectangular Callout 7"/>
          <p:cNvSpPr/>
          <p:nvPr/>
        </p:nvSpPr>
        <p:spPr>
          <a:xfrm>
            <a:off x="8244408" y="3645024"/>
            <a:ext cx="720080" cy="792088"/>
          </a:xfrm>
          <a:prstGeom prst="wedgeRoundRectCallout">
            <a:avLst>
              <a:gd name="adj1" fmla="val -119389"/>
              <a:gd name="adj2" fmla="val 46993"/>
              <a:gd name="adj3" fmla="val 16667"/>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i="1" dirty="0" smtClean="0">
                <a:solidFill>
                  <a:schemeClr val="tx1"/>
                </a:solidFill>
              </a:rPr>
              <a:t>Header</a:t>
            </a:r>
            <a:endParaRPr lang="en-IN" sz="1200" b="1" i="1" dirty="0">
              <a:solidFill>
                <a:schemeClr val="tx1"/>
              </a:solidFill>
            </a:endParaRPr>
          </a:p>
        </p:txBody>
      </p:sp>
      <p:sp>
        <p:nvSpPr>
          <p:cNvPr id="9" name="Rounded Rectangular Callout 8"/>
          <p:cNvSpPr/>
          <p:nvPr/>
        </p:nvSpPr>
        <p:spPr>
          <a:xfrm>
            <a:off x="8244408" y="4509120"/>
            <a:ext cx="720080" cy="792088"/>
          </a:xfrm>
          <a:prstGeom prst="wedgeRoundRectCallout">
            <a:avLst>
              <a:gd name="adj1" fmla="val -132657"/>
              <a:gd name="adj2" fmla="val 34932"/>
              <a:gd name="adj3" fmla="val 16667"/>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i="1" dirty="0" smtClean="0">
                <a:solidFill>
                  <a:schemeClr val="tx1"/>
                </a:solidFill>
              </a:rPr>
              <a:t>Blank Line</a:t>
            </a:r>
            <a:endParaRPr lang="en-IN" sz="1200" b="1" i="1" dirty="0">
              <a:solidFill>
                <a:schemeClr val="tx1"/>
              </a:solidFill>
            </a:endParaRPr>
          </a:p>
        </p:txBody>
      </p:sp>
      <p:sp>
        <p:nvSpPr>
          <p:cNvPr id="10" name="Rounded Rectangular Callout 9"/>
          <p:cNvSpPr/>
          <p:nvPr/>
        </p:nvSpPr>
        <p:spPr>
          <a:xfrm>
            <a:off x="8172400" y="5805264"/>
            <a:ext cx="720080" cy="576064"/>
          </a:xfrm>
          <a:prstGeom prst="wedgeRoundRectCallout">
            <a:avLst>
              <a:gd name="adj1" fmla="val -108018"/>
              <a:gd name="adj2" fmla="val 7795"/>
              <a:gd name="adj3" fmla="val 16667"/>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i="1" dirty="0" smtClean="0">
                <a:solidFill>
                  <a:schemeClr val="tx1"/>
                </a:solidFill>
              </a:rPr>
              <a:t>Body</a:t>
            </a:r>
            <a:endParaRPr lang="en-IN" sz="1200" b="1" i="1" dirty="0">
              <a:solidFill>
                <a:schemeClr val="tx1"/>
              </a:solidFill>
            </a:endParaRPr>
          </a:p>
        </p:txBody>
      </p:sp>
      <p:grpSp>
        <p:nvGrpSpPr>
          <p:cNvPr id="4" name="Group 18"/>
          <p:cNvGrpSpPr/>
          <p:nvPr/>
        </p:nvGrpSpPr>
        <p:grpSpPr>
          <a:xfrm>
            <a:off x="1835696" y="1628800"/>
            <a:ext cx="3421678" cy="1510427"/>
            <a:chOff x="1835696" y="1628800"/>
            <a:chExt cx="3421678" cy="1510427"/>
          </a:xfrm>
        </p:grpSpPr>
        <p:sp>
          <p:nvSpPr>
            <p:cNvPr id="12" name="Rectangle 11"/>
            <p:cNvSpPr/>
            <p:nvPr/>
          </p:nvSpPr>
          <p:spPr>
            <a:xfrm>
              <a:off x="1835696" y="1988840"/>
              <a:ext cx="1659109" cy="369332"/>
            </a:xfrm>
            <a:prstGeom prst="rect">
              <a:avLst/>
            </a:prstGeom>
            <a:ln>
              <a:solidFill>
                <a:schemeClr val="tx1"/>
              </a:solidFill>
            </a:ln>
          </p:spPr>
          <p:txBody>
            <a:bodyPr wrap="none">
              <a:spAutoFit/>
            </a:bodyPr>
            <a:lstStyle/>
            <a:p>
              <a:r>
                <a:rPr lang="en-IN" dirty="0" smtClean="0"/>
                <a:t>E-Mail Message</a:t>
              </a:r>
              <a:endParaRPr lang="en-IN" dirty="0"/>
            </a:p>
          </p:txBody>
        </p:sp>
        <p:sp>
          <p:nvSpPr>
            <p:cNvPr id="13" name="Rectangle 12"/>
            <p:cNvSpPr/>
            <p:nvPr/>
          </p:nvSpPr>
          <p:spPr>
            <a:xfrm>
              <a:off x="4139952" y="1628800"/>
              <a:ext cx="1044197" cy="369332"/>
            </a:xfrm>
            <a:prstGeom prst="rect">
              <a:avLst/>
            </a:prstGeom>
            <a:ln>
              <a:solidFill>
                <a:schemeClr val="tx1"/>
              </a:solidFill>
            </a:ln>
          </p:spPr>
          <p:txBody>
            <a:bodyPr wrap="none">
              <a:spAutoFit/>
            </a:bodyPr>
            <a:lstStyle/>
            <a:p>
              <a:r>
                <a:rPr lang="en-IN" dirty="0" smtClean="0"/>
                <a:t>Envelope</a:t>
              </a:r>
              <a:endParaRPr lang="en-IN" dirty="0"/>
            </a:p>
          </p:txBody>
        </p:sp>
        <p:sp>
          <p:nvSpPr>
            <p:cNvPr id="14" name="Rectangle 13"/>
            <p:cNvSpPr/>
            <p:nvPr/>
          </p:nvSpPr>
          <p:spPr>
            <a:xfrm>
              <a:off x="4139952" y="2492896"/>
              <a:ext cx="1117422" cy="646331"/>
            </a:xfrm>
            <a:prstGeom prst="rect">
              <a:avLst/>
            </a:prstGeom>
            <a:ln>
              <a:solidFill>
                <a:schemeClr val="tx1"/>
              </a:solidFill>
            </a:ln>
          </p:spPr>
          <p:txBody>
            <a:bodyPr wrap="none">
              <a:spAutoFit/>
            </a:bodyPr>
            <a:lstStyle/>
            <a:p>
              <a:r>
                <a:rPr lang="en-IN" dirty="0" smtClean="0"/>
                <a:t>Contents</a:t>
              </a:r>
            </a:p>
            <a:p>
              <a:r>
                <a:rPr lang="en-IN" dirty="0" smtClean="0"/>
                <a:t>(</a:t>
              </a:r>
              <a:r>
                <a:rPr lang="en-IN" sz="1600" i="1" dirty="0" smtClean="0"/>
                <a:t>RFC-5322</a:t>
              </a:r>
              <a:r>
                <a:rPr lang="en-IN" dirty="0" smtClean="0"/>
                <a:t>)</a:t>
              </a:r>
              <a:endParaRPr lang="en-IN" dirty="0"/>
            </a:p>
          </p:txBody>
        </p:sp>
        <p:cxnSp>
          <p:nvCxnSpPr>
            <p:cNvPr id="16" name="Elbow Connector 15"/>
            <p:cNvCxnSpPr>
              <a:stCxn id="12" idx="3"/>
              <a:endCxn id="13" idx="1"/>
            </p:cNvCxnSpPr>
            <p:nvPr/>
          </p:nvCxnSpPr>
          <p:spPr>
            <a:xfrm flipV="1">
              <a:off x="3494805" y="1813466"/>
              <a:ext cx="645147" cy="360040"/>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12" idx="3"/>
              <a:endCxn id="14" idx="1"/>
            </p:cNvCxnSpPr>
            <p:nvPr/>
          </p:nvCxnSpPr>
          <p:spPr>
            <a:xfrm>
              <a:off x="3494805" y="2173506"/>
              <a:ext cx="645147" cy="642556"/>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514350" lvl="1" indent="-514350" algn="just">
              <a:buClr>
                <a:srgbClr val="101141"/>
              </a:buClr>
              <a:buFont typeface="Wingdings" pitchFamily="2" charset="2"/>
              <a:buChar char="§"/>
            </a:pPr>
            <a:r>
              <a:rPr lang="en-IN" sz="1800" dirty="0" smtClean="0"/>
              <a:t>Five new message headers are defined which may be included in the RFC-5322 header.</a:t>
            </a:r>
          </a:p>
          <a:p>
            <a:pPr marL="914400" lvl="2" indent="-514350" algn="just">
              <a:buClr>
                <a:srgbClr val="101141"/>
              </a:buClr>
              <a:buFont typeface="+mj-lt"/>
              <a:buAutoNum type="romanUcPeriod"/>
            </a:pPr>
            <a:r>
              <a:rPr lang="en-IN" sz="1400" b="1" dirty="0" smtClean="0"/>
              <a:t>MIME-Version:</a:t>
            </a:r>
            <a:r>
              <a:rPr lang="en-IN" sz="1400" dirty="0" smtClean="0"/>
              <a:t> The present value is 1.0.</a:t>
            </a:r>
          </a:p>
          <a:p>
            <a:pPr marL="914400" lvl="2" indent="-514350" algn="just">
              <a:buClr>
                <a:srgbClr val="101141"/>
              </a:buClr>
              <a:buFont typeface="+mj-lt"/>
              <a:buAutoNum type="romanUcPeriod"/>
            </a:pPr>
            <a:r>
              <a:rPr lang="en-IN" sz="1400" b="1" dirty="0" smtClean="0">
                <a:hlinkClick r:id="" action="ppaction://noaction"/>
              </a:rPr>
              <a:t>Content-Type:</a:t>
            </a:r>
            <a:r>
              <a:rPr lang="en-IN" sz="1400" dirty="0" smtClean="0"/>
              <a:t> Description for the data contained in the body for user agent to pick up the appropriate mechanism to represent the data to the user.</a:t>
            </a:r>
          </a:p>
          <a:p>
            <a:pPr marL="914400" lvl="2" indent="-514350" algn="just">
              <a:buClr>
                <a:srgbClr val="101141"/>
              </a:buClr>
              <a:buFont typeface="+mj-lt"/>
              <a:buAutoNum type="romanUcPeriod"/>
            </a:pPr>
            <a:r>
              <a:rPr lang="en-IN" sz="1400" b="1" dirty="0" smtClean="0">
                <a:hlinkClick r:id="" action="ppaction://noaction"/>
              </a:rPr>
              <a:t>Content-Transfer-Encoding:</a:t>
            </a:r>
            <a:r>
              <a:rPr lang="en-IN" sz="1400" dirty="0" smtClean="0"/>
              <a:t> Transformation used in to make the E-Mail acceptable for transport.</a:t>
            </a:r>
          </a:p>
          <a:p>
            <a:pPr marL="914400" lvl="2" indent="-514350" algn="just">
              <a:buClr>
                <a:srgbClr val="101141"/>
              </a:buClr>
              <a:buFont typeface="+mj-lt"/>
              <a:buAutoNum type="romanUcPeriod"/>
            </a:pPr>
            <a:r>
              <a:rPr lang="en-IN" sz="1400" b="1" dirty="0" smtClean="0">
                <a:hlinkClick r:id="" action="ppaction://noaction"/>
              </a:rPr>
              <a:t>Content-ID:</a:t>
            </a:r>
            <a:r>
              <a:rPr lang="en-IN" sz="1400" dirty="0" smtClean="0"/>
              <a:t> Identifications for MIME entities in multiple contexts.</a:t>
            </a:r>
          </a:p>
          <a:p>
            <a:pPr marL="914400" lvl="2" indent="-514350" algn="just">
              <a:buClr>
                <a:srgbClr val="101141"/>
              </a:buClr>
              <a:buFont typeface="+mj-lt"/>
              <a:buAutoNum type="romanUcPeriod"/>
            </a:pPr>
            <a:r>
              <a:rPr lang="en-IN" sz="1400" b="1" dirty="0" smtClean="0">
                <a:hlinkClick r:id="" action="ppaction://noaction"/>
              </a:rPr>
              <a:t>Content-Description:</a:t>
            </a:r>
            <a:r>
              <a:rPr lang="en-IN" sz="1400" dirty="0" smtClean="0"/>
              <a:t> A text description about the content which is useful to describe when the data is not readable (e.g. audio or video data)</a:t>
            </a:r>
          </a:p>
          <a:p>
            <a:pPr marL="514350" lvl="1" indent="-514350" algn="just">
              <a:buClr>
                <a:srgbClr val="101141"/>
              </a:buClr>
              <a:buFont typeface="Wingdings" pitchFamily="2" charset="2"/>
              <a:buChar char="§"/>
            </a:pPr>
            <a:endParaRPr lang="en-IN" sz="1800" dirty="0" smtClean="0"/>
          </a:p>
          <a:p>
            <a:pPr marL="514350" lvl="1" indent="-514350" algn="just">
              <a:buClr>
                <a:srgbClr val="101141"/>
              </a:buClr>
              <a:buFont typeface="Wingdings" pitchFamily="2" charset="2"/>
              <a:buChar char="§"/>
            </a:pPr>
            <a:r>
              <a:rPr lang="en-IN" sz="1800" dirty="0" smtClean="0"/>
              <a:t>Any MIME compliant system </a:t>
            </a:r>
            <a:r>
              <a:rPr lang="en-IN" sz="1800" u="sng" dirty="0" smtClean="0"/>
              <a:t>must support the first 3 headers </a:t>
            </a:r>
            <a:r>
              <a:rPr lang="en-IN" sz="1800" dirty="0" smtClean="0"/>
              <a:t>and other headers are optional.</a:t>
            </a:r>
          </a:p>
          <a:p>
            <a:pPr marL="514350" lvl="1" indent="-514350" algn="just">
              <a:buClr>
                <a:srgbClr val="101141"/>
              </a:buClr>
              <a:buFont typeface="Wingdings" pitchFamily="2" charset="2"/>
              <a:buChar char="§"/>
            </a:pPr>
            <a:endParaRPr lang="en-IN" sz="1800" dirty="0" smtClean="0"/>
          </a:p>
          <a:p>
            <a:pPr marL="514350" lvl="1" indent="-514350" algn="just">
              <a:buClr>
                <a:srgbClr val="101141"/>
              </a:buClr>
              <a:buFont typeface="Wingdings" pitchFamily="2" charset="2"/>
              <a:buChar char="§"/>
            </a:pPr>
            <a:r>
              <a:rPr lang="en-IN" sz="1800" dirty="0" smtClean="0"/>
              <a:t>A later </a:t>
            </a:r>
            <a:r>
              <a:rPr lang="en-IN" sz="1800" dirty="0" smtClean="0">
                <a:hlinkClick r:id="rId2"/>
              </a:rPr>
              <a:t>RFC-2183</a:t>
            </a:r>
            <a:r>
              <a:rPr lang="en-IN" sz="1800" dirty="0" smtClean="0"/>
              <a:t> added a new optional header </a:t>
            </a:r>
            <a:r>
              <a:rPr lang="en-IN" sz="1800" b="1" dirty="0" smtClean="0"/>
              <a:t>Content-Disposition</a:t>
            </a:r>
            <a:r>
              <a:rPr lang="en-IN" sz="1800" dirty="0" smtClean="0"/>
              <a:t>, which is used to convey how the data should be handled. E.g. if there is any attachment with the email.</a:t>
            </a:r>
          </a:p>
          <a:p>
            <a:pPr marL="514350" lvl="1" indent="-514350" algn="just">
              <a:buClr>
                <a:srgbClr val="101141"/>
              </a:buClr>
              <a:buFont typeface="Wingdings" pitchFamily="2" charset="2"/>
              <a:buChar char="§"/>
            </a:pPr>
            <a:endParaRPr lang="en-IN" sz="1800" dirty="0" smtClean="0"/>
          </a:p>
        </p:txBody>
      </p:sp>
      <p:sp>
        <p:nvSpPr>
          <p:cNvPr id="3" name="Content Placeholder 2"/>
          <p:cNvSpPr>
            <a:spLocks noGrp="1"/>
          </p:cNvSpPr>
          <p:nvPr>
            <p:ph sz="quarter" idx="10"/>
          </p:nvPr>
        </p:nvSpPr>
        <p:spPr/>
        <p:txBody>
          <a:bodyPr>
            <a:normAutofit fontScale="77500" lnSpcReduction="20000"/>
          </a:bodyPr>
          <a:lstStyle/>
          <a:p>
            <a:r>
              <a:rPr lang="en-IN" dirty="0" smtClean="0"/>
              <a:t>Multipurpose Internet Mail Extensions (MIME)</a:t>
            </a:r>
          </a:p>
          <a:p>
            <a:r>
              <a:rPr lang="en-IN" sz="2600" dirty="0" smtClean="0"/>
              <a:t>References: IETF </a:t>
            </a:r>
            <a:r>
              <a:rPr lang="en-IN" sz="2600" dirty="0" smtClean="0">
                <a:hlinkClick r:id="rId3"/>
              </a:rPr>
              <a:t>RFC-2045 </a:t>
            </a:r>
            <a:r>
              <a:rPr lang="en-IN" sz="2600" dirty="0" smtClean="0"/>
              <a:t>and </a:t>
            </a:r>
            <a:r>
              <a:rPr lang="en-IN" sz="2600" dirty="0" smtClean="0">
                <a:hlinkClick r:id="rId4"/>
              </a:rPr>
              <a:t>RFC-2046</a:t>
            </a:r>
            <a:endParaRPr lang="en-IN" sz="26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31</a:t>
            </a:fld>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MIME Headers</a:t>
            </a:r>
          </a:p>
          <a:p>
            <a:r>
              <a:rPr lang="en-IN" sz="2000" dirty="0" smtClean="0"/>
              <a:t>Content Type</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32</a:t>
            </a:fld>
            <a:endParaRPr lang="en-US" dirty="0"/>
          </a:p>
        </p:txBody>
      </p:sp>
      <p:sp>
        <p:nvSpPr>
          <p:cNvPr id="5" name="TextBox 4"/>
          <p:cNvSpPr txBox="1"/>
          <p:nvPr/>
        </p:nvSpPr>
        <p:spPr>
          <a:xfrm>
            <a:off x="3131840" y="2132856"/>
            <a:ext cx="2160240" cy="307777"/>
          </a:xfrm>
          <a:prstGeom prst="rect">
            <a:avLst/>
          </a:prstGeom>
          <a:noFill/>
          <a:ln>
            <a:solidFill>
              <a:schemeClr val="tx1"/>
            </a:solidFill>
          </a:ln>
        </p:spPr>
        <p:txBody>
          <a:bodyPr wrap="square" rtlCol="0">
            <a:spAutoFit/>
          </a:bodyPr>
          <a:lstStyle/>
          <a:p>
            <a:pPr algn="ctr"/>
            <a:r>
              <a:rPr lang="en-IN" sz="1400" dirty="0" smtClean="0"/>
              <a:t>Types</a:t>
            </a:r>
            <a:endParaRPr lang="en-IN" sz="1400" dirty="0"/>
          </a:p>
        </p:txBody>
      </p:sp>
      <p:sp>
        <p:nvSpPr>
          <p:cNvPr id="6" name="TextBox 5"/>
          <p:cNvSpPr txBox="1"/>
          <p:nvPr/>
        </p:nvSpPr>
        <p:spPr>
          <a:xfrm>
            <a:off x="611560" y="3555013"/>
            <a:ext cx="648072" cy="307777"/>
          </a:xfrm>
          <a:prstGeom prst="rect">
            <a:avLst/>
          </a:prstGeom>
          <a:noFill/>
          <a:ln>
            <a:solidFill>
              <a:schemeClr val="tx1"/>
            </a:solidFill>
          </a:ln>
        </p:spPr>
        <p:txBody>
          <a:bodyPr wrap="square" rtlCol="0">
            <a:spAutoFit/>
          </a:bodyPr>
          <a:lstStyle/>
          <a:p>
            <a:pPr algn="ctr"/>
            <a:r>
              <a:rPr lang="en-IN" sz="1400" dirty="0" smtClean="0">
                <a:hlinkClick r:id="" action="ppaction://noaction"/>
              </a:rPr>
              <a:t>Text</a:t>
            </a:r>
            <a:endParaRPr lang="en-IN" sz="1400" dirty="0"/>
          </a:p>
        </p:txBody>
      </p:sp>
      <p:sp>
        <p:nvSpPr>
          <p:cNvPr id="7" name="TextBox 6"/>
          <p:cNvSpPr txBox="1"/>
          <p:nvPr/>
        </p:nvSpPr>
        <p:spPr>
          <a:xfrm>
            <a:off x="1547664" y="3555013"/>
            <a:ext cx="936104" cy="307777"/>
          </a:xfrm>
          <a:prstGeom prst="rect">
            <a:avLst/>
          </a:prstGeom>
          <a:noFill/>
          <a:ln>
            <a:solidFill>
              <a:schemeClr val="tx1"/>
            </a:solidFill>
          </a:ln>
        </p:spPr>
        <p:txBody>
          <a:bodyPr wrap="square" rtlCol="0">
            <a:spAutoFit/>
          </a:bodyPr>
          <a:lstStyle/>
          <a:p>
            <a:pPr algn="ctr"/>
            <a:r>
              <a:rPr lang="en-IN" sz="1400" dirty="0" smtClean="0">
                <a:hlinkClick r:id="" action="ppaction://noaction"/>
              </a:rPr>
              <a:t>Multipart</a:t>
            </a:r>
            <a:endParaRPr lang="en-IN" sz="1400" dirty="0"/>
          </a:p>
        </p:txBody>
      </p:sp>
      <p:sp>
        <p:nvSpPr>
          <p:cNvPr id="8" name="TextBox 7"/>
          <p:cNvSpPr txBox="1"/>
          <p:nvPr/>
        </p:nvSpPr>
        <p:spPr>
          <a:xfrm>
            <a:off x="2843808" y="3555013"/>
            <a:ext cx="936104" cy="307777"/>
          </a:xfrm>
          <a:prstGeom prst="rect">
            <a:avLst/>
          </a:prstGeom>
          <a:noFill/>
          <a:ln>
            <a:solidFill>
              <a:schemeClr val="tx1"/>
            </a:solidFill>
          </a:ln>
        </p:spPr>
        <p:txBody>
          <a:bodyPr wrap="square" rtlCol="0">
            <a:spAutoFit/>
          </a:bodyPr>
          <a:lstStyle/>
          <a:p>
            <a:pPr algn="ctr"/>
            <a:r>
              <a:rPr lang="en-IN" sz="1400" dirty="0" smtClean="0">
                <a:hlinkClick r:id="" action="ppaction://noaction"/>
              </a:rPr>
              <a:t>Message</a:t>
            </a:r>
            <a:endParaRPr lang="en-IN" sz="1400" dirty="0"/>
          </a:p>
        </p:txBody>
      </p:sp>
      <p:sp>
        <p:nvSpPr>
          <p:cNvPr id="9" name="TextBox 8"/>
          <p:cNvSpPr txBox="1"/>
          <p:nvPr/>
        </p:nvSpPr>
        <p:spPr>
          <a:xfrm>
            <a:off x="4067944" y="3555013"/>
            <a:ext cx="864096" cy="307777"/>
          </a:xfrm>
          <a:prstGeom prst="rect">
            <a:avLst/>
          </a:prstGeom>
          <a:noFill/>
          <a:ln>
            <a:solidFill>
              <a:schemeClr val="tx1"/>
            </a:solidFill>
          </a:ln>
        </p:spPr>
        <p:txBody>
          <a:bodyPr wrap="square" rtlCol="0">
            <a:spAutoFit/>
          </a:bodyPr>
          <a:lstStyle/>
          <a:p>
            <a:pPr algn="ctr"/>
            <a:r>
              <a:rPr lang="en-IN" sz="1400" dirty="0" smtClean="0">
                <a:hlinkClick r:id="" action="ppaction://noaction"/>
              </a:rPr>
              <a:t>Image</a:t>
            </a:r>
            <a:endParaRPr lang="en-IN" sz="1400" dirty="0"/>
          </a:p>
        </p:txBody>
      </p:sp>
      <p:sp>
        <p:nvSpPr>
          <p:cNvPr id="10" name="TextBox 9"/>
          <p:cNvSpPr txBox="1"/>
          <p:nvPr/>
        </p:nvSpPr>
        <p:spPr>
          <a:xfrm>
            <a:off x="5220072" y="3555013"/>
            <a:ext cx="936104" cy="307777"/>
          </a:xfrm>
          <a:prstGeom prst="rect">
            <a:avLst/>
          </a:prstGeom>
          <a:noFill/>
          <a:ln>
            <a:solidFill>
              <a:schemeClr val="tx1"/>
            </a:solidFill>
          </a:ln>
        </p:spPr>
        <p:txBody>
          <a:bodyPr wrap="square" rtlCol="0">
            <a:spAutoFit/>
          </a:bodyPr>
          <a:lstStyle/>
          <a:p>
            <a:pPr algn="ctr"/>
            <a:r>
              <a:rPr lang="en-IN" sz="1400" dirty="0" smtClean="0">
                <a:hlinkClick r:id="" action="ppaction://noaction"/>
              </a:rPr>
              <a:t>Video</a:t>
            </a:r>
            <a:endParaRPr lang="en-IN" sz="1400" dirty="0"/>
          </a:p>
        </p:txBody>
      </p:sp>
      <p:sp>
        <p:nvSpPr>
          <p:cNvPr id="11" name="TextBox 10"/>
          <p:cNvSpPr txBox="1"/>
          <p:nvPr/>
        </p:nvSpPr>
        <p:spPr>
          <a:xfrm>
            <a:off x="6444208" y="3555013"/>
            <a:ext cx="792088" cy="307777"/>
          </a:xfrm>
          <a:prstGeom prst="rect">
            <a:avLst/>
          </a:prstGeom>
          <a:noFill/>
          <a:ln>
            <a:solidFill>
              <a:schemeClr val="tx1"/>
            </a:solidFill>
          </a:ln>
        </p:spPr>
        <p:txBody>
          <a:bodyPr wrap="square" rtlCol="0">
            <a:spAutoFit/>
          </a:bodyPr>
          <a:lstStyle/>
          <a:p>
            <a:pPr algn="ctr"/>
            <a:r>
              <a:rPr lang="en-IN" sz="1400" dirty="0" smtClean="0">
                <a:hlinkClick r:id="" action="ppaction://noaction"/>
              </a:rPr>
              <a:t>Audio</a:t>
            </a:r>
            <a:endParaRPr lang="en-IN" sz="1400" dirty="0"/>
          </a:p>
        </p:txBody>
      </p:sp>
      <p:sp>
        <p:nvSpPr>
          <p:cNvPr id="12" name="TextBox 11"/>
          <p:cNvSpPr txBox="1"/>
          <p:nvPr/>
        </p:nvSpPr>
        <p:spPr>
          <a:xfrm>
            <a:off x="7596336" y="3555013"/>
            <a:ext cx="1080120" cy="307777"/>
          </a:xfrm>
          <a:prstGeom prst="rect">
            <a:avLst/>
          </a:prstGeom>
          <a:noFill/>
          <a:ln>
            <a:solidFill>
              <a:schemeClr val="tx1"/>
            </a:solidFill>
          </a:ln>
        </p:spPr>
        <p:txBody>
          <a:bodyPr wrap="square" rtlCol="0">
            <a:spAutoFit/>
          </a:bodyPr>
          <a:lstStyle/>
          <a:p>
            <a:pPr algn="ctr"/>
            <a:r>
              <a:rPr lang="en-IN" sz="1400" dirty="0" smtClean="0">
                <a:hlinkClick r:id="" action="ppaction://noaction"/>
              </a:rPr>
              <a:t>Application</a:t>
            </a:r>
            <a:endParaRPr lang="en-IN" sz="1400" dirty="0"/>
          </a:p>
        </p:txBody>
      </p:sp>
      <p:sp>
        <p:nvSpPr>
          <p:cNvPr id="13" name="TextBox 12"/>
          <p:cNvSpPr txBox="1"/>
          <p:nvPr/>
        </p:nvSpPr>
        <p:spPr>
          <a:xfrm>
            <a:off x="251520" y="3966155"/>
            <a:ext cx="1224136" cy="461665"/>
          </a:xfrm>
          <a:prstGeom prst="rect">
            <a:avLst/>
          </a:prstGeom>
          <a:noFill/>
          <a:ln>
            <a:noFill/>
          </a:ln>
        </p:spPr>
        <p:txBody>
          <a:bodyPr wrap="square" rtlCol="0">
            <a:spAutoFit/>
          </a:bodyPr>
          <a:lstStyle/>
          <a:p>
            <a:pPr marL="342900" indent="-342900">
              <a:buAutoNum type="arabicPeriod"/>
            </a:pPr>
            <a:r>
              <a:rPr lang="en-IN" sz="1200" dirty="0" smtClean="0"/>
              <a:t>Plain</a:t>
            </a:r>
          </a:p>
          <a:p>
            <a:pPr marL="342900" indent="-342900">
              <a:buAutoNum type="arabicPeriod"/>
            </a:pPr>
            <a:r>
              <a:rPr lang="en-IN" sz="1200" dirty="0" smtClean="0"/>
              <a:t>Enriched</a:t>
            </a:r>
            <a:endParaRPr lang="en-IN" sz="1200" dirty="0"/>
          </a:p>
        </p:txBody>
      </p:sp>
      <p:sp>
        <p:nvSpPr>
          <p:cNvPr id="14" name="TextBox 13"/>
          <p:cNvSpPr txBox="1"/>
          <p:nvPr/>
        </p:nvSpPr>
        <p:spPr>
          <a:xfrm>
            <a:off x="1475656" y="3966155"/>
            <a:ext cx="1368152" cy="830997"/>
          </a:xfrm>
          <a:prstGeom prst="rect">
            <a:avLst/>
          </a:prstGeom>
          <a:noFill/>
          <a:ln>
            <a:noFill/>
          </a:ln>
        </p:spPr>
        <p:txBody>
          <a:bodyPr wrap="square" rtlCol="0">
            <a:spAutoFit/>
          </a:bodyPr>
          <a:lstStyle/>
          <a:p>
            <a:pPr marL="342900" indent="-342900">
              <a:buAutoNum type="arabicPeriod"/>
            </a:pPr>
            <a:r>
              <a:rPr lang="en-IN" sz="1200" dirty="0" smtClean="0"/>
              <a:t>Mixed</a:t>
            </a:r>
          </a:p>
          <a:p>
            <a:pPr marL="342900" indent="-342900">
              <a:buAutoNum type="arabicPeriod"/>
            </a:pPr>
            <a:r>
              <a:rPr lang="en-IN" sz="1200" dirty="0" smtClean="0"/>
              <a:t>Parallel</a:t>
            </a:r>
          </a:p>
          <a:p>
            <a:pPr marL="342900" indent="-342900">
              <a:buAutoNum type="arabicPeriod"/>
            </a:pPr>
            <a:r>
              <a:rPr lang="en-IN" sz="1200" dirty="0" smtClean="0"/>
              <a:t>Alternative</a:t>
            </a:r>
          </a:p>
          <a:p>
            <a:pPr marL="342900" indent="-342900">
              <a:buAutoNum type="arabicPeriod"/>
            </a:pPr>
            <a:r>
              <a:rPr lang="en-IN" sz="1200" dirty="0" smtClean="0"/>
              <a:t>Digest</a:t>
            </a:r>
            <a:endParaRPr lang="en-IN" sz="1200" dirty="0"/>
          </a:p>
        </p:txBody>
      </p:sp>
      <p:sp>
        <p:nvSpPr>
          <p:cNvPr id="15" name="TextBox 14"/>
          <p:cNvSpPr txBox="1"/>
          <p:nvPr/>
        </p:nvSpPr>
        <p:spPr>
          <a:xfrm>
            <a:off x="2771800" y="3966155"/>
            <a:ext cx="1584176" cy="646331"/>
          </a:xfrm>
          <a:prstGeom prst="rect">
            <a:avLst/>
          </a:prstGeom>
          <a:noFill/>
          <a:ln>
            <a:noFill/>
          </a:ln>
        </p:spPr>
        <p:txBody>
          <a:bodyPr wrap="square" rtlCol="0">
            <a:spAutoFit/>
          </a:bodyPr>
          <a:lstStyle/>
          <a:p>
            <a:pPr marL="342900" indent="-342900">
              <a:buAutoNum type="arabicPeriod"/>
            </a:pPr>
            <a:r>
              <a:rPr lang="en-IN" sz="1200" dirty="0" smtClean="0"/>
              <a:t>rfc822</a:t>
            </a:r>
          </a:p>
          <a:p>
            <a:pPr marL="342900" indent="-342900">
              <a:buAutoNum type="arabicPeriod"/>
            </a:pPr>
            <a:r>
              <a:rPr lang="en-IN" sz="1200" dirty="0" smtClean="0"/>
              <a:t>Partial</a:t>
            </a:r>
          </a:p>
          <a:p>
            <a:pPr marL="342900" indent="-342900">
              <a:buAutoNum type="arabicPeriod"/>
            </a:pPr>
            <a:r>
              <a:rPr lang="en-IN" sz="1200" dirty="0" smtClean="0"/>
              <a:t>External-body</a:t>
            </a:r>
          </a:p>
        </p:txBody>
      </p:sp>
      <p:sp>
        <p:nvSpPr>
          <p:cNvPr id="16" name="TextBox 15"/>
          <p:cNvSpPr txBox="1"/>
          <p:nvPr/>
        </p:nvSpPr>
        <p:spPr>
          <a:xfrm>
            <a:off x="3923928" y="3966155"/>
            <a:ext cx="1368152" cy="461665"/>
          </a:xfrm>
          <a:prstGeom prst="rect">
            <a:avLst/>
          </a:prstGeom>
          <a:noFill/>
          <a:ln>
            <a:noFill/>
          </a:ln>
        </p:spPr>
        <p:txBody>
          <a:bodyPr wrap="square" rtlCol="0">
            <a:spAutoFit/>
          </a:bodyPr>
          <a:lstStyle/>
          <a:p>
            <a:pPr marL="342900" indent="-342900">
              <a:buAutoNum type="arabicPeriod"/>
            </a:pPr>
            <a:r>
              <a:rPr lang="en-IN" sz="1200" dirty="0" smtClean="0"/>
              <a:t>jpeg</a:t>
            </a:r>
          </a:p>
          <a:p>
            <a:pPr marL="342900" indent="-342900">
              <a:buAutoNum type="arabicPeriod"/>
            </a:pPr>
            <a:r>
              <a:rPr lang="en-IN" sz="1200" dirty="0" smtClean="0"/>
              <a:t>gif</a:t>
            </a:r>
          </a:p>
        </p:txBody>
      </p:sp>
      <p:sp>
        <p:nvSpPr>
          <p:cNvPr id="17" name="TextBox 16"/>
          <p:cNvSpPr txBox="1"/>
          <p:nvPr/>
        </p:nvSpPr>
        <p:spPr>
          <a:xfrm>
            <a:off x="5076056" y="3966155"/>
            <a:ext cx="1368152" cy="276999"/>
          </a:xfrm>
          <a:prstGeom prst="rect">
            <a:avLst/>
          </a:prstGeom>
          <a:noFill/>
          <a:ln>
            <a:noFill/>
          </a:ln>
        </p:spPr>
        <p:txBody>
          <a:bodyPr wrap="square" rtlCol="0">
            <a:spAutoFit/>
          </a:bodyPr>
          <a:lstStyle/>
          <a:p>
            <a:pPr marL="342900" indent="-342900">
              <a:buAutoNum type="arabicPeriod"/>
            </a:pPr>
            <a:r>
              <a:rPr lang="en-IN" sz="1200" dirty="0" smtClean="0"/>
              <a:t>mpeg</a:t>
            </a:r>
            <a:endParaRPr lang="en-IN" sz="1200" dirty="0"/>
          </a:p>
        </p:txBody>
      </p:sp>
      <p:sp>
        <p:nvSpPr>
          <p:cNvPr id="18" name="TextBox 17"/>
          <p:cNvSpPr txBox="1"/>
          <p:nvPr/>
        </p:nvSpPr>
        <p:spPr>
          <a:xfrm>
            <a:off x="6208427" y="3966155"/>
            <a:ext cx="1368152" cy="276999"/>
          </a:xfrm>
          <a:prstGeom prst="rect">
            <a:avLst/>
          </a:prstGeom>
          <a:noFill/>
          <a:ln>
            <a:noFill/>
          </a:ln>
        </p:spPr>
        <p:txBody>
          <a:bodyPr wrap="square" rtlCol="0">
            <a:spAutoFit/>
          </a:bodyPr>
          <a:lstStyle/>
          <a:p>
            <a:pPr marL="342900" indent="-342900">
              <a:buAutoNum type="arabicPeriod"/>
            </a:pPr>
            <a:r>
              <a:rPr lang="en-IN" sz="1200" dirty="0" smtClean="0"/>
              <a:t>basic</a:t>
            </a:r>
            <a:endParaRPr lang="en-IN" sz="1200" dirty="0"/>
          </a:p>
        </p:txBody>
      </p:sp>
      <p:sp>
        <p:nvSpPr>
          <p:cNvPr id="19" name="TextBox 18"/>
          <p:cNvSpPr txBox="1"/>
          <p:nvPr/>
        </p:nvSpPr>
        <p:spPr>
          <a:xfrm>
            <a:off x="7308304" y="3966155"/>
            <a:ext cx="1656184" cy="461665"/>
          </a:xfrm>
          <a:prstGeom prst="rect">
            <a:avLst/>
          </a:prstGeom>
          <a:noFill/>
          <a:ln>
            <a:noFill/>
          </a:ln>
        </p:spPr>
        <p:txBody>
          <a:bodyPr wrap="square" rtlCol="0">
            <a:spAutoFit/>
          </a:bodyPr>
          <a:lstStyle/>
          <a:p>
            <a:pPr marL="342900" indent="-342900">
              <a:buAutoNum type="arabicPeriod"/>
            </a:pPr>
            <a:r>
              <a:rPr lang="en-IN" sz="1200" dirty="0" smtClean="0"/>
              <a:t>PostScript</a:t>
            </a:r>
          </a:p>
          <a:p>
            <a:pPr marL="342900" indent="-342900">
              <a:buAutoNum type="arabicPeriod"/>
            </a:pPr>
            <a:r>
              <a:rPr lang="en-IN" sz="1200" dirty="0" smtClean="0"/>
              <a:t>octet-stream</a:t>
            </a:r>
          </a:p>
        </p:txBody>
      </p:sp>
      <p:cxnSp>
        <p:nvCxnSpPr>
          <p:cNvPr id="21" name="Straight Arrow Connector 20"/>
          <p:cNvCxnSpPr>
            <a:stCxn id="5" idx="2"/>
            <a:endCxn id="6" idx="0"/>
          </p:cNvCxnSpPr>
          <p:nvPr/>
        </p:nvCxnSpPr>
        <p:spPr>
          <a:xfrm flipH="1">
            <a:off x="935596" y="2440633"/>
            <a:ext cx="3276364" cy="111438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5" idx="2"/>
            <a:endCxn id="7" idx="0"/>
          </p:cNvCxnSpPr>
          <p:nvPr/>
        </p:nvCxnSpPr>
        <p:spPr>
          <a:xfrm flipH="1">
            <a:off x="2015716" y="2440633"/>
            <a:ext cx="2196244" cy="11143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5" idx="2"/>
            <a:endCxn id="8" idx="0"/>
          </p:cNvCxnSpPr>
          <p:nvPr/>
        </p:nvCxnSpPr>
        <p:spPr>
          <a:xfrm flipH="1">
            <a:off x="3311860" y="2440633"/>
            <a:ext cx="900100" cy="11143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5" idx="2"/>
            <a:endCxn id="9" idx="0"/>
          </p:cNvCxnSpPr>
          <p:nvPr/>
        </p:nvCxnSpPr>
        <p:spPr>
          <a:xfrm>
            <a:off x="4211960" y="2440633"/>
            <a:ext cx="288032" cy="11143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5" idx="2"/>
            <a:endCxn id="10" idx="0"/>
          </p:cNvCxnSpPr>
          <p:nvPr/>
        </p:nvCxnSpPr>
        <p:spPr>
          <a:xfrm>
            <a:off x="4211960" y="2440633"/>
            <a:ext cx="1476164" cy="11143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5" idx="2"/>
            <a:endCxn id="11" idx="0"/>
          </p:cNvCxnSpPr>
          <p:nvPr/>
        </p:nvCxnSpPr>
        <p:spPr>
          <a:xfrm>
            <a:off x="4211960" y="2440633"/>
            <a:ext cx="2628292" cy="11143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5" idx="2"/>
            <a:endCxn id="12" idx="0"/>
          </p:cNvCxnSpPr>
          <p:nvPr/>
        </p:nvCxnSpPr>
        <p:spPr>
          <a:xfrm>
            <a:off x="4211960" y="2440633"/>
            <a:ext cx="3924436" cy="11143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587680" cy="4455443"/>
          </a:xfrm>
        </p:spPr>
        <p:txBody>
          <a:bodyPr>
            <a:normAutofit fontScale="47500" lnSpcReduction="20000"/>
          </a:bodyPr>
          <a:lstStyle/>
          <a:p>
            <a:r>
              <a:rPr lang="en-IN" sz="2900" b="1" dirty="0" smtClean="0">
                <a:latin typeface="Courier New" pitchFamily="49" charset="0"/>
                <a:cs typeface="Courier New" pitchFamily="49" charset="0"/>
              </a:rPr>
              <a:t>From: Professor &lt;prof@bits-pilani.ac.in&gt;</a:t>
            </a:r>
          </a:p>
          <a:p>
            <a:r>
              <a:rPr lang="en-IN" sz="2900" b="1" dirty="0" smtClean="0">
                <a:latin typeface="Courier New" pitchFamily="49" charset="0"/>
                <a:cs typeface="Courier New" pitchFamily="49" charset="0"/>
              </a:rPr>
              <a:t>To: Class &lt;class@some_host.com&gt;</a:t>
            </a:r>
          </a:p>
          <a:p>
            <a:r>
              <a:rPr lang="en-IN" sz="2900" b="1" dirty="0" smtClean="0">
                <a:latin typeface="Courier New" pitchFamily="49" charset="0"/>
                <a:cs typeface="Courier New" pitchFamily="49" charset="0"/>
              </a:rPr>
              <a:t>Subject: Sample message</a:t>
            </a:r>
          </a:p>
          <a:p>
            <a:r>
              <a:rPr lang="en-IN" sz="2900" b="1" dirty="0" smtClean="0">
                <a:solidFill>
                  <a:srgbClr val="00B050"/>
                </a:solidFill>
                <a:latin typeface="Courier New" pitchFamily="49" charset="0"/>
                <a:cs typeface="Courier New" pitchFamily="49" charset="0"/>
              </a:rPr>
              <a:t>MIME-Version: 1.0</a:t>
            </a:r>
          </a:p>
          <a:p>
            <a:r>
              <a:rPr lang="en-IN" sz="2900" b="1" dirty="0" smtClean="0">
                <a:solidFill>
                  <a:srgbClr val="00B050"/>
                </a:solidFill>
                <a:latin typeface="Courier New" pitchFamily="49" charset="0"/>
                <a:cs typeface="Courier New" pitchFamily="49" charset="0"/>
              </a:rPr>
              <a:t>Content-type: multipart/mixed; boundary=“example boundary“</a:t>
            </a:r>
          </a:p>
          <a:p>
            <a:endParaRPr lang="en-IN" sz="2900" b="1" dirty="0" smtClean="0">
              <a:solidFill>
                <a:srgbClr val="00B050"/>
              </a:solidFill>
              <a:latin typeface="Courier New" pitchFamily="49" charset="0"/>
              <a:cs typeface="Courier New" pitchFamily="49" charset="0"/>
            </a:endParaRPr>
          </a:p>
          <a:p>
            <a:r>
              <a:rPr lang="en-IN" sz="2900" b="1" dirty="0" smtClean="0">
                <a:solidFill>
                  <a:srgbClr val="FF0000"/>
                </a:solidFill>
                <a:latin typeface="Courier New" pitchFamily="49" charset="0"/>
                <a:cs typeface="Courier New" pitchFamily="49" charset="0"/>
              </a:rPr>
              <a:t>Any body part here will be ignored.</a:t>
            </a:r>
          </a:p>
          <a:p>
            <a:r>
              <a:rPr lang="en-IN" sz="2900" b="1" dirty="0" smtClean="0">
                <a:latin typeface="Courier New" pitchFamily="49" charset="0"/>
                <a:cs typeface="Courier New" pitchFamily="49" charset="0"/>
              </a:rPr>
              <a:t>-- example boundary</a:t>
            </a:r>
          </a:p>
          <a:p>
            <a:r>
              <a:rPr lang="en-IN" sz="2900" b="1" dirty="0" smtClean="0">
                <a:solidFill>
                  <a:srgbClr val="0070C0"/>
                </a:solidFill>
                <a:latin typeface="Courier New" pitchFamily="49" charset="0"/>
                <a:cs typeface="Courier New" pitchFamily="49" charset="0"/>
              </a:rPr>
              <a:t>Since there is no other header here, so it will be considered ASCII text implicitly.</a:t>
            </a:r>
          </a:p>
          <a:p>
            <a:r>
              <a:rPr lang="en-IN" sz="2900" b="1" dirty="0" smtClean="0">
                <a:latin typeface="Courier New" pitchFamily="49" charset="0"/>
                <a:cs typeface="Courier New" pitchFamily="49" charset="0"/>
              </a:rPr>
              <a:t>-- example boundary</a:t>
            </a:r>
          </a:p>
          <a:p>
            <a:r>
              <a:rPr lang="en-IN" sz="2900" b="1" dirty="0" smtClean="0">
                <a:solidFill>
                  <a:srgbClr val="00B050"/>
                </a:solidFill>
                <a:latin typeface="Courier New" pitchFamily="49" charset="0"/>
                <a:cs typeface="Courier New" pitchFamily="49" charset="0"/>
              </a:rPr>
              <a:t>Content-type: text/plain; </a:t>
            </a:r>
            <a:r>
              <a:rPr lang="en-IN" sz="2900" b="1" dirty="0" err="1" smtClean="0">
                <a:solidFill>
                  <a:srgbClr val="00B050"/>
                </a:solidFill>
                <a:latin typeface="Courier New" pitchFamily="49" charset="0"/>
                <a:cs typeface="Courier New" pitchFamily="49" charset="0"/>
              </a:rPr>
              <a:t>charset</a:t>
            </a:r>
            <a:r>
              <a:rPr lang="en-IN" sz="2900" b="1" dirty="0" smtClean="0">
                <a:solidFill>
                  <a:srgbClr val="00B050"/>
                </a:solidFill>
                <a:latin typeface="Courier New" pitchFamily="49" charset="0"/>
                <a:cs typeface="Courier New" pitchFamily="49" charset="0"/>
              </a:rPr>
              <a:t>=us-</a:t>
            </a:r>
            <a:r>
              <a:rPr lang="en-IN" sz="2900" b="1" dirty="0" err="1" smtClean="0">
                <a:solidFill>
                  <a:srgbClr val="00B050"/>
                </a:solidFill>
                <a:latin typeface="Courier New" pitchFamily="49" charset="0"/>
                <a:cs typeface="Courier New" pitchFamily="49" charset="0"/>
              </a:rPr>
              <a:t>ascii</a:t>
            </a:r>
            <a:endParaRPr lang="en-IN" sz="2900" b="1" dirty="0" smtClean="0">
              <a:solidFill>
                <a:srgbClr val="00B050"/>
              </a:solidFill>
              <a:latin typeface="Courier New" pitchFamily="49" charset="0"/>
              <a:cs typeface="Courier New" pitchFamily="49" charset="0"/>
            </a:endParaRPr>
          </a:p>
          <a:p>
            <a:endParaRPr lang="en-IN" sz="2900" b="1" dirty="0" smtClean="0">
              <a:solidFill>
                <a:srgbClr val="00B050"/>
              </a:solidFill>
              <a:latin typeface="Courier New" pitchFamily="49" charset="0"/>
              <a:cs typeface="Courier New" pitchFamily="49" charset="0"/>
            </a:endParaRPr>
          </a:p>
          <a:p>
            <a:r>
              <a:rPr lang="en-IN" sz="2900" b="1" dirty="0" smtClean="0">
                <a:solidFill>
                  <a:srgbClr val="0070C0"/>
                </a:solidFill>
                <a:latin typeface="Courier New" pitchFamily="49" charset="0"/>
                <a:cs typeface="Courier New" pitchFamily="49" charset="0"/>
              </a:rPr>
              <a:t>Some text can go here too, which is explicitly mentioned as ASCII.</a:t>
            </a:r>
          </a:p>
          <a:p>
            <a:r>
              <a:rPr lang="en-IN" sz="2900" b="1" dirty="0" smtClean="0">
                <a:latin typeface="Courier New" pitchFamily="49" charset="0"/>
                <a:cs typeface="Courier New" pitchFamily="49" charset="0"/>
              </a:rPr>
              <a:t>-- example boundary</a:t>
            </a:r>
          </a:p>
          <a:p>
            <a:r>
              <a:rPr lang="en-IN" sz="2900" b="1" dirty="0" smtClean="0">
                <a:solidFill>
                  <a:srgbClr val="00B050"/>
                </a:solidFill>
                <a:latin typeface="Courier New" pitchFamily="49" charset="0"/>
                <a:cs typeface="Courier New" pitchFamily="49" charset="0"/>
              </a:rPr>
              <a:t>Content-type: text/enriched</a:t>
            </a:r>
          </a:p>
          <a:p>
            <a:endParaRPr lang="en-IN" sz="2900" b="1" dirty="0" smtClean="0">
              <a:solidFill>
                <a:srgbClr val="00B050"/>
              </a:solidFill>
              <a:latin typeface="Courier New" pitchFamily="49" charset="0"/>
              <a:cs typeface="Courier New" pitchFamily="49" charset="0"/>
            </a:endParaRPr>
          </a:p>
          <a:p>
            <a:r>
              <a:rPr lang="en-IN" sz="2900" b="1" dirty="0" smtClean="0">
                <a:solidFill>
                  <a:srgbClr val="0070C0"/>
                </a:solidFill>
                <a:latin typeface="Courier New" pitchFamily="49" charset="0"/>
                <a:cs typeface="Courier New" pitchFamily="49" charset="0"/>
              </a:rPr>
              <a:t>This is &lt;bold&gt;&lt;italic&gt;rich text.&lt;/italic&gt;&lt;/bold&gt;</a:t>
            </a:r>
          </a:p>
          <a:p>
            <a:r>
              <a:rPr lang="en-IN" sz="2900" b="1" dirty="0" smtClean="0">
                <a:latin typeface="Courier New" pitchFamily="49" charset="0"/>
                <a:cs typeface="Courier New" pitchFamily="49" charset="0"/>
              </a:rPr>
              <a:t>-- example boundary --</a:t>
            </a:r>
          </a:p>
          <a:p>
            <a:r>
              <a:rPr lang="en-IN" sz="2900" b="1" dirty="0" smtClean="0">
                <a:solidFill>
                  <a:srgbClr val="FF0000"/>
                </a:solidFill>
                <a:latin typeface="Courier New" pitchFamily="49" charset="0"/>
                <a:cs typeface="Courier New" pitchFamily="49" charset="0"/>
              </a:rPr>
              <a:t>Any body part here will be ignored.</a:t>
            </a:r>
          </a:p>
          <a:p>
            <a:endParaRPr lang="en-IN" dirty="0" smtClean="0"/>
          </a:p>
        </p:txBody>
      </p:sp>
      <p:sp>
        <p:nvSpPr>
          <p:cNvPr id="3" name="Content Placeholder 2"/>
          <p:cNvSpPr>
            <a:spLocks noGrp="1"/>
          </p:cNvSpPr>
          <p:nvPr>
            <p:ph sz="quarter" idx="10"/>
          </p:nvPr>
        </p:nvSpPr>
        <p:spPr/>
        <p:txBody>
          <a:bodyPr/>
          <a:lstStyle/>
          <a:p>
            <a:r>
              <a:rPr lang="en-IN" dirty="0" smtClean="0"/>
              <a:t>MIME Headers</a:t>
            </a:r>
          </a:p>
          <a:p>
            <a:r>
              <a:rPr lang="en-IN" sz="2000" dirty="0" smtClean="0"/>
              <a:t>Content Type – Example</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33</a:t>
            </a:fld>
            <a:endParaRPr lang="en-US" dirty="0"/>
          </a:p>
        </p:txBody>
      </p:sp>
      <p:sp>
        <p:nvSpPr>
          <p:cNvPr id="6" name="TextBox 5"/>
          <p:cNvSpPr txBox="1"/>
          <p:nvPr/>
        </p:nvSpPr>
        <p:spPr>
          <a:xfrm>
            <a:off x="251520" y="6021288"/>
            <a:ext cx="8352928" cy="523220"/>
          </a:xfrm>
          <a:prstGeom prst="rect">
            <a:avLst/>
          </a:prstGeom>
          <a:noFill/>
        </p:spPr>
        <p:txBody>
          <a:bodyPr wrap="square" rtlCol="0">
            <a:spAutoFit/>
          </a:bodyPr>
          <a:lstStyle/>
          <a:p>
            <a:r>
              <a:rPr lang="en-IN" sz="1400" b="1" i="1" u="sng" dirty="0" smtClean="0"/>
              <a:t>Note:</a:t>
            </a:r>
            <a:r>
              <a:rPr lang="en-IN" sz="1400" i="1" dirty="0" smtClean="0"/>
              <a:t> Two hyphen prefixes in the boundary delimiters. Two hyphen prefixes and suffixes in the final boundary delimiter.</a:t>
            </a:r>
            <a:endParaRPr lang="en-IN" sz="1400" i="1" dirty="0"/>
          </a:p>
        </p:txBody>
      </p:sp>
      <p:sp>
        <p:nvSpPr>
          <p:cNvPr id="7" name="Rectangle 6"/>
          <p:cNvSpPr/>
          <p:nvPr/>
        </p:nvSpPr>
        <p:spPr>
          <a:xfrm>
            <a:off x="251520" y="3789040"/>
            <a:ext cx="6840760" cy="288032"/>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323528" y="2132856"/>
            <a:ext cx="6840760" cy="576064"/>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251520" y="4653136"/>
            <a:ext cx="6840760" cy="288032"/>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887491"/>
          </a:xfrm>
        </p:spPr>
        <p:txBody>
          <a:bodyPr>
            <a:normAutofit fontScale="55000" lnSpcReduction="20000"/>
          </a:bodyPr>
          <a:lstStyle/>
          <a:p>
            <a:r>
              <a:rPr lang="en-IN" b="1" dirty="0" smtClean="0">
                <a:latin typeface="Courier New" pitchFamily="49" charset="0"/>
                <a:cs typeface="Courier New" pitchFamily="49" charset="0"/>
              </a:rPr>
              <a:t>From: Professor &lt;prof@bits-pilani.ac.in&gt;</a:t>
            </a:r>
          </a:p>
          <a:p>
            <a:r>
              <a:rPr lang="en-IN" b="1" dirty="0" smtClean="0">
                <a:latin typeface="Courier New" pitchFamily="49" charset="0"/>
                <a:cs typeface="Courier New" pitchFamily="49" charset="0"/>
              </a:rPr>
              <a:t>To: Class &lt;class@some_host.com&gt;</a:t>
            </a:r>
          </a:p>
          <a:p>
            <a:r>
              <a:rPr lang="en-IN" b="1" dirty="0" smtClean="0">
                <a:latin typeface="Courier New" pitchFamily="49" charset="0"/>
                <a:cs typeface="Courier New" pitchFamily="49" charset="0"/>
              </a:rPr>
              <a:t>Subject: Sample message</a:t>
            </a:r>
          </a:p>
          <a:p>
            <a:r>
              <a:rPr lang="en-IN" b="1" dirty="0" smtClean="0">
                <a:solidFill>
                  <a:srgbClr val="00B050"/>
                </a:solidFill>
                <a:latin typeface="Courier New" pitchFamily="49" charset="0"/>
                <a:cs typeface="Courier New" pitchFamily="49" charset="0"/>
              </a:rPr>
              <a:t>MIME-Version: 1.0</a:t>
            </a:r>
          </a:p>
          <a:p>
            <a:r>
              <a:rPr lang="en-IN" b="1" dirty="0" smtClean="0">
                <a:solidFill>
                  <a:srgbClr val="00B050"/>
                </a:solidFill>
                <a:latin typeface="Courier New" pitchFamily="49" charset="0"/>
                <a:cs typeface="Courier New" pitchFamily="49" charset="0"/>
              </a:rPr>
              <a:t>Content-Type: multipart/parallel; boundary= “example boundary-1”</a:t>
            </a:r>
          </a:p>
          <a:p>
            <a:endParaRPr lang="en-IN" b="1" dirty="0" smtClean="0">
              <a:solidFill>
                <a:srgbClr val="00B050"/>
              </a:solidFill>
              <a:latin typeface="Courier New" pitchFamily="49" charset="0"/>
              <a:cs typeface="Courier New" pitchFamily="49" charset="0"/>
            </a:endParaRPr>
          </a:p>
          <a:p>
            <a:r>
              <a:rPr lang="en-IN" b="1" dirty="0" smtClean="0">
                <a:latin typeface="Courier New" pitchFamily="49" charset="0"/>
                <a:cs typeface="Courier New" pitchFamily="49" charset="0"/>
              </a:rPr>
              <a:t>-- example boundary-1</a:t>
            </a:r>
          </a:p>
          <a:p>
            <a:r>
              <a:rPr lang="en-IN" b="1" dirty="0" smtClean="0">
                <a:solidFill>
                  <a:srgbClr val="00B050"/>
                </a:solidFill>
                <a:latin typeface="Courier New" pitchFamily="49" charset="0"/>
                <a:cs typeface="Courier New" pitchFamily="49" charset="0"/>
              </a:rPr>
              <a:t>Content-Type: audio/basic</a:t>
            </a:r>
          </a:p>
          <a:p>
            <a:r>
              <a:rPr lang="en-IN" b="1" dirty="0" smtClean="0">
                <a:solidFill>
                  <a:srgbClr val="00B050"/>
                </a:solidFill>
                <a:latin typeface="Courier New" pitchFamily="49" charset="0"/>
                <a:cs typeface="Courier New" pitchFamily="49" charset="0"/>
              </a:rPr>
              <a:t>Content-Transfer-Encoding: base64</a:t>
            </a:r>
          </a:p>
          <a:p>
            <a:endParaRPr lang="en-IN" b="1" dirty="0" smtClean="0">
              <a:solidFill>
                <a:srgbClr val="00B050"/>
              </a:solidFill>
              <a:latin typeface="Courier New" pitchFamily="49" charset="0"/>
              <a:cs typeface="Courier New" pitchFamily="49" charset="0"/>
            </a:endParaRPr>
          </a:p>
          <a:p>
            <a:r>
              <a:rPr lang="en-IN" b="1" dirty="0" smtClean="0">
                <a:solidFill>
                  <a:srgbClr val="0070C0"/>
                </a:solidFill>
                <a:latin typeface="Courier New" pitchFamily="49" charset="0"/>
                <a:cs typeface="Courier New" pitchFamily="49" charset="0"/>
              </a:rPr>
              <a:t>... base64-encoded 8000 Hz single-channel mu-law-format audio data goes here....</a:t>
            </a:r>
          </a:p>
          <a:p>
            <a:r>
              <a:rPr lang="en-IN" b="1" dirty="0" smtClean="0">
                <a:latin typeface="Courier New" pitchFamily="49" charset="0"/>
                <a:cs typeface="Courier New" pitchFamily="49" charset="0"/>
              </a:rPr>
              <a:t>-- example boundary-1</a:t>
            </a:r>
          </a:p>
          <a:p>
            <a:r>
              <a:rPr lang="en-IN" b="1" dirty="0" smtClean="0">
                <a:solidFill>
                  <a:srgbClr val="00B050"/>
                </a:solidFill>
                <a:latin typeface="Courier New" pitchFamily="49" charset="0"/>
                <a:cs typeface="Courier New" pitchFamily="49" charset="0"/>
              </a:rPr>
              <a:t>Content-Type: image/jpeg</a:t>
            </a:r>
          </a:p>
          <a:p>
            <a:r>
              <a:rPr lang="en-IN" b="1" dirty="0" smtClean="0">
                <a:solidFill>
                  <a:srgbClr val="00B050"/>
                </a:solidFill>
                <a:latin typeface="Courier New" pitchFamily="49" charset="0"/>
                <a:cs typeface="Courier New" pitchFamily="49" charset="0"/>
              </a:rPr>
              <a:t>Content-Transfer-Encoding: base64</a:t>
            </a:r>
          </a:p>
          <a:p>
            <a:endParaRPr lang="en-IN" b="1" dirty="0" smtClean="0">
              <a:solidFill>
                <a:srgbClr val="00B050"/>
              </a:solidFill>
              <a:latin typeface="Courier New" pitchFamily="49" charset="0"/>
              <a:cs typeface="Courier New" pitchFamily="49" charset="0"/>
            </a:endParaRPr>
          </a:p>
          <a:p>
            <a:r>
              <a:rPr lang="en-IN" b="1" dirty="0" smtClean="0">
                <a:solidFill>
                  <a:srgbClr val="0070C0"/>
                </a:solidFill>
                <a:latin typeface="Courier New" pitchFamily="49" charset="0"/>
                <a:cs typeface="Courier New" pitchFamily="49" charset="0"/>
              </a:rPr>
              <a:t>... base64-encoded image data goes here....</a:t>
            </a:r>
          </a:p>
          <a:p>
            <a:r>
              <a:rPr lang="en-IN" b="1" dirty="0" smtClean="0">
                <a:latin typeface="Courier New" pitchFamily="49" charset="0"/>
                <a:cs typeface="Courier New" pitchFamily="49" charset="0"/>
              </a:rPr>
              <a:t>-- example boundary-1 --</a:t>
            </a:r>
            <a:endParaRPr lang="en-IN" b="1" dirty="0">
              <a:latin typeface="Courier New" pitchFamily="49" charset="0"/>
              <a:cs typeface="Courier New" pitchFamily="49" charset="0"/>
            </a:endParaRPr>
          </a:p>
        </p:txBody>
      </p:sp>
      <p:sp>
        <p:nvSpPr>
          <p:cNvPr id="3" name="Content Placeholder 2"/>
          <p:cNvSpPr>
            <a:spLocks noGrp="1"/>
          </p:cNvSpPr>
          <p:nvPr>
            <p:ph sz="quarter" idx="10"/>
          </p:nvPr>
        </p:nvSpPr>
        <p:spPr/>
        <p:txBody>
          <a:bodyPr/>
          <a:lstStyle/>
          <a:p>
            <a:r>
              <a:rPr lang="en-IN" dirty="0" smtClean="0"/>
              <a:t>MIME Headers</a:t>
            </a:r>
          </a:p>
          <a:p>
            <a:r>
              <a:rPr lang="en-IN" sz="2000" dirty="0" smtClean="0"/>
              <a:t>Content Type – Multipart example with  parallel subtype</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34</a:t>
            </a:fld>
            <a:endParaRPr lang="en-US" dirty="0"/>
          </a:p>
        </p:txBody>
      </p:sp>
      <p:sp>
        <p:nvSpPr>
          <p:cNvPr id="6" name="Rectangle 5"/>
          <p:cNvSpPr/>
          <p:nvPr/>
        </p:nvSpPr>
        <p:spPr>
          <a:xfrm>
            <a:off x="323528" y="3068960"/>
            <a:ext cx="6840760" cy="576064"/>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323528" y="4437112"/>
            <a:ext cx="6840760" cy="504056"/>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251520" y="2204864"/>
            <a:ext cx="7632848" cy="504056"/>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MIME Headers</a:t>
            </a:r>
          </a:p>
          <a:p>
            <a:r>
              <a:rPr lang="en-IN" sz="2000" dirty="0" smtClean="0"/>
              <a:t>Content-Type-Encoding</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35</a:t>
            </a:fld>
            <a:endParaRPr lang="en-US" dirty="0"/>
          </a:p>
        </p:txBody>
      </p:sp>
      <p:sp>
        <p:nvSpPr>
          <p:cNvPr id="5" name="Rectangle 4"/>
          <p:cNvSpPr/>
          <p:nvPr/>
        </p:nvSpPr>
        <p:spPr>
          <a:xfrm>
            <a:off x="164640" y="1556792"/>
            <a:ext cx="3517310" cy="615553"/>
          </a:xfrm>
          <a:prstGeom prst="rect">
            <a:avLst/>
          </a:prstGeom>
        </p:spPr>
        <p:txBody>
          <a:bodyPr wrap="none">
            <a:spAutoFit/>
          </a:bodyPr>
          <a:lstStyle/>
          <a:p>
            <a:pPr marL="400050" lvl="3" indent="-400050" algn="just">
              <a:buClr>
                <a:srgbClr val="101141"/>
              </a:buClr>
              <a:buNone/>
            </a:pPr>
            <a:r>
              <a:rPr lang="en-IN" b="1" u="sng" dirty="0" smtClean="0"/>
              <a:t>Syntax:</a:t>
            </a:r>
          </a:p>
          <a:p>
            <a:pPr marL="400050" lvl="3" indent="-400050" algn="just">
              <a:buClr>
                <a:srgbClr val="101141"/>
              </a:buClr>
              <a:buNone/>
            </a:pPr>
            <a:r>
              <a:rPr lang="en-IN" sz="1600" b="1" dirty="0" smtClean="0">
                <a:solidFill>
                  <a:srgbClr val="00B050"/>
                </a:solidFill>
                <a:latin typeface="Courier New" pitchFamily="49" charset="0"/>
                <a:cs typeface="Courier New" pitchFamily="49" charset="0"/>
              </a:rPr>
              <a:t>Content-Type-Encoding: type</a:t>
            </a:r>
          </a:p>
        </p:txBody>
      </p:sp>
      <p:graphicFrame>
        <p:nvGraphicFramePr>
          <p:cNvPr id="6" name="Table 5"/>
          <p:cNvGraphicFramePr>
            <a:graphicFrameLocks noGrp="1"/>
          </p:cNvGraphicFramePr>
          <p:nvPr/>
        </p:nvGraphicFramePr>
        <p:xfrm>
          <a:off x="1259632" y="2420888"/>
          <a:ext cx="6096000" cy="3012440"/>
        </p:xfrm>
        <a:graphic>
          <a:graphicData uri="http://schemas.openxmlformats.org/drawingml/2006/table">
            <a:tbl>
              <a:tblPr firstRow="1" bandRow="1">
                <a:tableStyleId>{5C22544A-7EE6-4342-B048-85BDC9FD1C3A}</a:tableStyleId>
              </a:tblPr>
              <a:tblGrid>
                <a:gridCol w="1944216"/>
                <a:gridCol w="4151784"/>
              </a:tblGrid>
              <a:tr h="370840">
                <a:tc>
                  <a:txBody>
                    <a:bodyPr/>
                    <a:lstStyle/>
                    <a:p>
                      <a:r>
                        <a:rPr lang="en-IN" dirty="0" smtClean="0"/>
                        <a:t>Type</a:t>
                      </a:r>
                      <a:endParaRPr lang="en-IN" dirty="0"/>
                    </a:p>
                  </a:txBody>
                  <a:tcPr>
                    <a:solidFill>
                      <a:srgbClr val="0070C0"/>
                    </a:solidFill>
                  </a:tcPr>
                </a:tc>
                <a:tc>
                  <a:txBody>
                    <a:bodyPr/>
                    <a:lstStyle/>
                    <a:p>
                      <a:r>
                        <a:rPr lang="en-IN" dirty="0" smtClean="0"/>
                        <a:t>Description</a:t>
                      </a:r>
                      <a:endParaRPr lang="en-IN" dirty="0"/>
                    </a:p>
                  </a:txBody>
                  <a:tcPr>
                    <a:solidFill>
                      <a:srgbClr val="0070C0"/>
                    </a:solidFill>
                  </a:tcPr>
                </a:tc>
              </a:tr>
              <a:tr h="370840">
                <a:tc>
                  <a:txBody>
                    <a:bodyPr/>
                    <a:lstStyle/>
                    <a:p>
                      <a:r>
                        <a:rPr lang="en-IN" sz="1600" dirty="0" smtClean="0"/>
                        <a:t>7bit</a:t>
                      </a:r>
                      <a:endParaRPr lang="en-IN" sz="1600" dirty="0"/>
                    </a:p>
                  </a:txBody>
                  <a:tcPr/>
                </a:tc>
                <a:tc>
                  <a:txBody>
                    <a:bodyPr/>
                    <a:lstStyle/>
                    <a:p>
                      <a:r>
                        <a:rPr lang="en-IN" sz="1600" dirty="0" smtClean="0"/>
                        <a:t>All</a:t>
                      </a:r>
                      <a:r>
                        <a:rPr lang="en-IN" sz="1600" baseline="0" dirty="0" smtClean="0"/>
                        <a:t> data is in ASCII characters with short lines</a:t>
                      </a:r>
                      <a:endParaRPr lang="en-IN" sz="1600" dirty="0"/>
                    </a:p>
                  </a:txBody>
                  <a:tcPr/>
                </a:tc>
              </a:tr>
              <a:tr h="370840">
                <a:tc>
                  <a:txBody>
                    <a:bodyPr/>
                    <a:lstStyle/>
                    <a:p>
                      <a:r>
                        <a:rPr lang="en-IN" sz="1600" dirty="0" smtClean="0"/>
                        <a:t>8bit</a:t>
                      </a:r>
                      <a:endParaRPr lang="en-IN" sz="1600" dirty="0"/>
                    </a:p>
                  </a:txBody>
                  <a:tcPr/>
                </a:tc>
                <a:tc>
                  <a:txBody>
                    <a:bodyPr/>
                    <a:lstStyle/>
                    <a:p>
                      <a:r>
                        <a:rPr lang="en-IN" sz="1600" dirty="0" smtClean="0"/>
                        <a:t>ASCII</a:t>
                      </a:r>
                      <a:r>
                        <a:rPr lang="en-IN" sz="1600" baseline="0" dirty="0" smtClean="0"/>
                        <a:t> or non-ASCII characters with short lines</a:t>
                      </a:r>
                      <a:endParaRPr lang="en-IN" sz="1600" dirty="0"/>
                    </a:p>
                  </a:txBody>
                  <a:tcPr/>
                </a:tc>
              </a:tr>
              <a:tr h="370840">
                <a:tc>
                  <a:txBody>
                    <a:bodyPr/>
                    <a:lstStyle/>
                    <a:p>
                      <a:r>
                        <a:rPr lang="en-IN" sz="1600" dirty="0" smtClean="0"/>
                        <a:t>binary</a:t>
                      </a:r>
                      <a:endParaRPr lang="en-IN" sz="1600" dirty="0"/>
                    </a:p>
                  </a:txBody>
                  <a:tcPr/>
                </a:tc>
                <a:tc>
                  <a:txBody>
                    <a:bodyPr/>
                    <a:lstStyle/>
                    <a:p>
                      <a:r>
                        <a:rPr lang="en-IN" sz="1600" dirty="0" smtClean="0"/>
                        <a:t>ASCII/non-ASCII</a:t>
                      </a:r>
                      <a:r>
                        <a:rPr lang="en-IN" sz="1600" baseline="0" dirty="0" smtClean="0"/>
                        <a:t> characters unlimited length</a:t>
                      </a:r>
                      <a:endParaRPr lang="en-IN" sz="1600" dirty="0"/>
                    </a:p>
                  </a:txBody>
                  <a:tcPr/>
                </a:tc>
              </a:tr>
              <a:tr h="370840">
                <a:tc>
                  <a:txBody>
                    <a:bodyPr/>
                    <a:lstStyle/>
                    <a:p>
                      <a:r>
                        <a:rPr lang="en-IN" sz="1600" dirty="0" smtClean="0"/>
                        <a:t>base64</a:t>
                      </a:r>
                      <a:r>
                        <a:rPr lang="en-IN" sz="1600" baseline="0" dirty="0" smtClean="0"/>
                        <a:t> </a:t>
                      </a:r>
                      <a:endParaRPr lang="en-IN" sz="1600" dirty="0"/>
                    </a:p>
                  </a:txBody>
                  <a:tcPr/>
                </a:tc>
                <a:tc>
                  <a:txBody>
                    <a:bodyPr/>
                    <a:lstStyle/>
                    <a:p>
                      <a:r>
                        <a:rPr lang="en-IN" sz="1600" dirty="0" smtClean="0"/>
                        <a:t>6 bits blocks</a:t>
                      </a:r>
                      <a:r>
                        <a:rPr lang="en-IN" sz="1600" baseline="0" dirty="0" smtClean="0"/>
                        <a:t> of data converted into 8 bits ASCII characters. Also called Radix-64 encoding</a:t>
                      </a:r>
                      <a:endParaRPr lang="en-IN" sz="1600" dirty="0"/>
                    </a:p>
                  </a:txBody>
                  <a:tcPr/>
                </a:tc>
              </a:tr>
              <a:tr h="370840">
                <a:tc>
                  <a:txBody>
                    <a:bodyPr/>
                    <a:lstStyle/>
                    <a:p>
                      <a:r>
                        <a:rPr lang="en-IN" sz="1600" dirty="0" smtClean="0"/>
                        <a:t>quoted-printable</a:t>
                      </a:r>
                      <a:endParaRPr lang="en-IN" sz="1600" dirty="0"/>
                    </a:p>
                  </a:txBody>
                  <a:tcPr/>
                </a:tc>
                <a:tc>
                  <a:txBody>
                    <a:bodyPr/>
                    <a:lstStyle/>
                    <a:p>
                      <a:r>
                        <a:rPr lang="en-IN" sz="1600" dirty="0" smtClean="0"/>
                        <a:t>A</a:t>
                      </a:r>
                      <a:r>
                        <a:rPr lang="en-IN" sz="1600" baseline="0" dirty="0" smtClean="0"/>
                        <a:t> method to represent non-ASCII into ASCII</a:t>
                      </a:r>
                      <a:endParaRPr lang="en-IN" sz="1600" dirty="0"/>
                    </a:p>
                  </a:txBody>
                  <a:tcPr/>
                </a:tc>
              </a:tr>
              <a:tr h="370840">
                <a:tc>
                  <a:txBody>
                    <a:bodyPr/>
                    <a:lstStyle/>
                    <a:p>
                      <a:r>
                        <a:rPr lang="en-IN" sz="1600" dirty="0" smtClean="0"/>
                        <a:t>x-</a:t>
                      </a:r>
                      <a:r>
                        <a:rPr lang="en-IN" sz="1600" i="1" dirty="0" smtClean="0"/>
                        <a:t>token</a:t>
                      </a:r>
                      <a:endParaRPr lang="en-IN" sz="1600" i="1" dirty="0"/>
                    </a:p>
                  </a:txBody>
                  <a:tcPr/>
                </a:tc>
                <a:tc>
                  <a:txBody>
                    <a:bodyPr/>
                    <a:lstStyle/>
                    <a:p>
                      <a:r>
                        <a:rPr lang="en-IN" sz="1600" dirty="0" smtClean="0"/>
                        <a:t>Non-standard encoding, </a:t>
                      </a:r>
                      <a:r>
                        <a:rPr lang="en-IN" sz="1600" i="1" dirty="0" smtClean="0"/>
                        <a:t>token</a:t>
                      </a:r>
                      <a:r>
                        <a:rPr lang="en-IN" sz="1600" baseline="0" dirty="0" smtClean="0"/>
                        <a:t> is to be replaced by its name.</a:t>
                      </a:r>
                      <a:endParaRPr lang="en-IN" sz="1600" dirty="0"/>
                    </a:p>
                  </a:txBody>
                  <a:tcPr/>
                </a:tc>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MIME Headers</a:t>
            </a:r>
          </a:p>
          <a:p>
            <a:r>
              <a:rPr lang="en-IN" sz="2000" dirty="0" smtClean="0"/>
              <a:t>Content-ID and Content-Description</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36</a:t>
            </a:fld>
            <a:endParaRPr lang="en-US" dirty="0"/>
          </a:p>
        </p:txBody>
      </p:sp>
      <p:sp>
        <p:nvSpPr>
          <p:cNvPr id="6" name="Content Placeholder 5"/>
          <p:cNvSpPr>
            <a:spLocks noGrp="1"/>
          </p:cNvSpPr>
          <p:nvPr>
            <p:ph idx="1"/>
          </p:nvPr>
        </p:nvSpPr>
        <p:spPr/>
        <p:txBody>
          <a:bodyPr>
            <a:normAutofit/>
          </a:bodyPr>
          <a:lstStyle/>
          <a:p>
            <a:pPr marL="0" lvl="1" indent="0" algn="just">
              <a:spcBef>
                <a:spcPts val="0"/>
              </a:spcBef>
              <a:buClr>
                <a:srgbClr val="101141"/>
              </a:buClr>
              <a:buNone/>
            </a:pPr>
            <a:r>
              <a:rPr lang="en-IN" sz="2400" b="1" u="sng" dirty="0" smtClean="0"/>
              <a:t>Content-ID:</a:t>
            </a:r>
            <a:r>
              <a:rPr lang="en-IN" sz="2400" dirty="0" smtClean="0"/>
              <a:t> </a:t>
            </a:r>
            <a:r>
              <a:rPr lang="en-IN" sz="1800" dirty="0" smtClean="0"/>
              <a:t>The Content-ID header associates a unique ID with a MIME body. The value of a Content-ID header has the format &lt;</a:t>
            </a:r>
            <a:r>
              <a:rPr lang="en-IN" sz="1800" dirty="0" err="1" smtClean="0"/>
              <a:t>xxxx@yyyy</a:t>
            </a:r>
            <a:r>
              <a:rPr lang="en-IN" sz="1800" dirty="0" smtClean="0"/>
              <a:t>&gt;. The left side of the value generally contains a serial number, an indication of the date and time the message was generated, or both. The right side of the value to indicate the system where the MIME part originated. </a:t>
            </a:r>
          </a:p>
          <a:p>
            <a:pPr marL="0" lvl="1" indent="0" algn="just">
              <a:spcBef>
                <a:spcPts val="0"/>
              </a:spcBef>
              <a:buClr>
                <a:srgbClr val="101141"/>
              </a:buClr>
              <a:buNone/>
            </a:pPr>
            <a:endParaRPr lang="en-IN" sz="1800" dirty="0" smtClean="0"/>
          </a:p>
          <a:p>
            <a:pPr marL="0" lvl="1" indent="0" algn="just">
              <a:spcBef>
                <a:spcPts val="0"/>
              </a:spcBef>
              <a:buClr>
                <a:srgbClr val="101141"/>
              </a:buClr>
              <a:buNone/>
            </a:pPr>
            <a:r>
              <a:rPr lang="en-IN" sz="1800" dirty="0" smtClean="0"/>
              <a:t>It is used where receiver is expected to receive multiple emails and wants to use the ID of each email to some specific context. </a:t>
            </a:r>
          </a:p>
          <a:p>
            <a:pPr marL="0" lvl="1" indent="0" algn="just">
              <a:spcBef>
                <a:spcPts val="0"/>
              </a:spcBef>
              <a:buClr>
                <a:srgbClr val="101141"/>
              </a:buClr>
              <a:buNone/>
            </a:pPr>
            <a:endParaRPr lang="en-IN" sz="1800" dirty="0" smtClean="0"/>
          </a:p>
          <a:p>
            <a:pPr marL="0" lvl="1" indent="0" algn="just">
              <a:spcBef>
                <a:spcPts val="0"/>
              </a:spcBef>
              <a:buClr>
                <a:srgbClr val="101141"/>
              </a:buClr>
              <a:buNone/>
            </a:pPr>
            <a:r>
              <a:rPr lang="en-IN" sz="1800" dirty="0" smtClean="0"/>
              <a:t>Example: </a:t>
            </a:r>
            <a:r>
              <a:rPr lang="en-IN" sz="1600" b="1" dirty="0" smtClean="0">
                <a:solidFill>
                  <a:srgbClr val="00B050"/>
                </a:solidFill>
                <a:latin typeface="Courier New" pitchFamily="49" charset="0"/>
                <a:cs typeface="Courier New" pitchFamily="49" charset="0"/>
              </a:rPr>
              <a:t>Content-ID: &lt;1118072015@bits-pilani.ac.in&gt;</a:t>
            </a:r>
          </a:p>
          <a:p>
            <a:pPr marL="0" lvl="1" indent="0" algn="just">
              <a:spcBef>
                <a:spcPts val="0"/>
              </a:spcBef>
              <a:buClr>
                <a:srgbClr val="101141"/>
              </a:buClr>
              <a:buNone/>
            </a:pPr>
            <a:endParaRPr lang="en-IN" sz="2400" dirty="0" smtClean="0">
              <a:solidFill>
                <a:srgbClr val="00B050"/>
              </a:solidFill>
              <a:latin typeface="+mn-lt"/>
            </a:endParaRPr>
          </a:p>
          <a:p>
            <a:pPr marL="0" lvl="1" indent="0" algn="just">
              <a:spcBef>
                <a:spcPts val="0"/>
              </a:spcBef>
              <a:buClr>
                <a:srgbClr val="101141"/>
              </a:buClr>
              <a:buNone/>
            </a:pPr>
            <a:r>
              <a:rPr lang="en-IN" sz="2400" b="1" u="sng" dirty="0" smtClean="0"/>
              <a:t>Content-Description</a:t>
            </a:r>
            <a:r>
              <a:rPr lang="en-IN" sz="1800" dirty="0" smtClean="0"/>
              <a:t>: Some textual description about the E-Mail message. Example: </a:t>
            </a:r>
          </a:p>
          <a:p>
            <a:pPr marL="0" lvl="1" indent="0" algn="just">
              <a:spcBef>
                <a:spcPts val="0"/>
              </a:spcBef>
              <a:buClr>
                <a:srgbClr val="101141"/>
              </a:buClr>
              <a:buNone/>
            </a:pPr>
            <a:r>
              <a:rPr lang="en-IN" sz="1600" b="1" dirty="0" smtClean="0">
                <a:solidFill>
                  <a:srgbClr val="00B050"/>
                </a:solidFill>
                <a:latin typeface="Courier New" pitchFamily="49" charset="0"/>
                <a:cs typeface="Courier New" pitchFamily="49" charset="0"/>
              </a:rPr>
              <a:t>Content-Description: This email contains the project status.</a:t>
            </a:r>
          </a:p>
          <a:p>
            <a:pPr marL="0" lvl="1" indent="0" algn="just">
              <a:spcBef>
                <a:spcPts val="0"/>
              </a:spcBef>
              <a:buClr>
                <a:srgbClr val="101141"/>
              </a:buClr>
              <a:buNone/>
            </a:pPr>
            <a:endParaRPr lang="en-IN" sz="1800" dirty="0"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514350" lvl="1" indent="-514350" algn="just">
              <a:buClr>
                <a:srgbClr val="101141"/>
              </a:buClr>
              <a:buFont typeface="Wingdings" pitchFamily="2" charset="2"/>
              <a:buChar char="§"/>
            </a:pPr>
            <a:r>
              <a:rPr lang="en-IN" sz="2400" dirty="0" smtClean="0"/>
              <a:t>Security Enhancement to the MIME is based on the technology from RSA Data Security. RSA was named after the initials of its co-founders, </a:t>
            </a:r>
            <a:r>
              <a:rPr lang="en-IN" sz="2400" b="1" i="1" dirty="0" smtClean="0"/>
              <a:t>R</a:t>
            </a:r>
            <a:r>
              <a:rPr lang="en-IN" sz="2400" i="1" dirty="0" smtClean="0"/>
              <a:t>ivest, </a:t>
            </a:r>
            <a:r>
              <a:rPr lang="en-IN" sz="2400" b="1" i="1" dirty="0" smtClean="0"/>
              <a:t>S</a:t>
            </a:r>
            <a:r>
              <a:rPr lang="en-IN" sz="2400" i="1" dirty="0" smtClean="0"/>
              <a:t>hamir </a:t>
            </a:r>
            <a:r>
              <a:rPr lang="en-IN" sz="2400" dirty="0" smtClean="0"/>
              <a:t>and </a:t>
            </a:r>
            <a:r>
              <a:rPr lang="en-IN" sz="2400" b="1" i="1" dirty="0" smtClean="0"/>
              <a:t>A</a:t>
            </a:r>
            <a:r>
              <a:rPr lang="en-IN" sz="2400" i="1" dirty="0" smtClean="0"/>
              <a:t>dleman</a:t>
            </a:r>
            <a:r>
              <a:rPr lang="en-IN" sz="2400" dirty="0" smtClean="0"/>
              <a:t>. RSA is a division of EMC</a:t>
            </a:r>
            <a:r>
              <a:rPr lang="en-IN" sz="2400" baseline="30000" dirty="0" smtClean="0"/>
              <a:t>2</a:t>
            </a:r>
            <a:r>
              <a:rPr lang="en-IN" sz="2400" dirty="0" smtClean="0"/>
              <a:t> Corporation now.</a:t>
            </a:r>
          </a:p>
          <a:p>
            <a:pPr marL="514350" lvl="1" indent="-514350" algn="just">
              <a:buClr>
                <a:srgbClr val="101141"/>
              </a:buClr>
              <a:buFont typeface="Wingdings" pitchFamily="2" charset="2"/>
              <a:buChar char="§"/>
            </a:pPr>
            <a:r>
              <a:rPr lang="en-IN" sz="2400" dirty="0" smtClean="0"/>
              <a:t>Similar to PGP, S/MIME also offers ability to sign and/or encrypt messages.</a:t>
            </a:r>
          </a:p>
          <a:p>
            <a:pPr marL="514350" lvl="1" indent="-514350" algn="just">
              <a:buClr>
                <a:srgbClr val="101141"/>
              </a:buClr>
              <a:buFont typeface="Wingdings" pitchFamily="2" charset="2"/>
              <a:buChar char="§"/>
            </a:pPr>
            <a:r>
              <a:rPr lang="en-IN" sz="2400" dirty="0" smtClean="0"/>
              <a:t>Standardization attempt through IETF </a:t>
            </a:r>
            <a:r>
              <a:rPr lang="en-IN" sz="2400" dirty="0" smtClean="0">
                <a:hlinkClick r:id="rId2"/>
              </a:rPr>
              <a:t>RFC-5751</a:t>
            </a:r>
            <a:r>
              <a:rPr lang="en-IN" sz="2400" dirty="0" smtClean="0"/>
              <a:t>.</a:t>
            </a:r>
          </a:p>
          <a:p>
            <a:pPr marL="514350" lvl="1" indent="-514350" algn="just">
              <a:buClr>
                <a:srgbClr val="101141"/>
              </a:buClr>
              <a:buFont typeface="Wingdings" pitchFamily="2" charset="2"/>
              <a:buChar char="§"/>
            </a:pPr>
            <a:r>
              <a:rPr lang="en-IN" sz="2400" dirty="0" smtClean="0"/>
              <a:t>S/MIME provides the following functions:</a:t>
            </a:r>
          </a:p>
          <a:p>
            <a:pPr marL="1371600" lvl="3" indent="-514350" algn="just">
              <a:buClr>
                <a:srgbClr val="101141"/>
              </a:buClr>
              <a:buFont typeface="Courier New" pitchFamily="49" charset="0"/>
              <a:buChar char="o"/>
            </a:pPr>
            <a:r>
              <a:rPr lang="en-IN" sz="1600" dirty="0" smtClean="0"/>
              <a:t>Enveloped Data</a:t>
            </a:r>
          </a:p>
          <a:p>
            <a:pPr marL="1371600" lvl="3" indent="-514350" algn="just">
              <a:buClr>
                <a:srgbClr val="101141"/>
              </a:buClr>
              <a:buFont typeface="Courier New" pitchFamily="49" charset="0"/>
              <a:buChar char="o"/>
            </a:pPr>
            <a:r>
              <a:rPr lang="en-IN" sz="1600" dirty="0" smtClean="0"/>
              <a:t>Signed Data</a:t>
            </a:r>
          </a:p>
          <a:p>
            <a:pPr marL="1371600" lvl="3" indent="-514350" algn="just">
              <a:buClr>
                <a:srgbClr val="101141"/>
              </a:buClr>
              <a:buFont typeface="Courier New" pitchFamily="49" charset="0"/>
              <a:buChar char="o"/>
            </a:pPr>
            <a:r>
              <a:rPr lang="en-IN" sz="1600" dirty="0" smtClean="0"/>
              <a:t>Clear-Signed Data</a:t>
            </a:r>
          </a:p>
          <a:p>
            <a:pPr marL="1371600" lvl="3" indent="-514350" algn="just">
              <a:buClr>
                <a:srgbClr val="101141"/>
              </a:buClr>
              <a:buFont typeface="Courier New" pitchFamily="49" charset="0"/>
              <a:buChar char="o"/>
            </a:pPr>
            <a:r>
              <a:rPr lang="en-IN" sz="1600" dirty="0" smtClean="0"/>
              <a:t>Signed and Enveloped data -  combination of above three.</a:t>
            </a:r>
          </a:p>
          <a:p>
            <a:pPr marL="514350" lvl="1" indent="-514350" algn="just">
              <a:buClr>
                <a:srgbClr val="101141"/>
              </a:buClr>
              <a:buFont typeface="Wingdings" pitchFamily="2" charset="2"/>
              <a:buChar char="§"/>
            </a:pPr>
            <a:r>
              <a:rPr lang="en-IN" sz="2400" dirty="0" smtClean="0"/>
              <a:t>S/MIME uses Content-Type header of MIME and introduces new types and subtypes.</a:t>
            </a:r>
          </a:p>
          <a:p>
            <a:pPr marL="514350" lvl="1" indent="-514350" algn="just">
              <a:buClr>
                <a:srgbClr val="101141"/>
              </a:buClr>
              <a:buFont typeface="Wingdings" pitchFamily="2" charset="2"/>
              <a:buChar char="§"/>
            </a:pPr>
            <a:endParaRPr lang="en-IN" sz="2400" dirty="0" smtClean="0"/>
          </a:p>
        </p:txBody>
      </p:sp>
      <p:sp>
        <p:nvSpPr>
          <p:cNvPr id="3" name="Content Placeholder 2"/>
          <p:cNvSpPr>
            <a:spLocks noGrp="1"/>
          </p:cNvSpPr>
          <p:nvPr>
            <p:ph sz="quarter" idx="10"/>
          </p:nvPr>
        </p:nvSpPr>
        <p:spPr/>
        <p:txBody>
          <a:bodyPr/>
          <a:lstStyle/>
          <a:p>
            <a:r>
              <a:rPr lang="en-IN" dirty="0" smtClean="0"/>
              <a:t>Secure/MIME or S/MIME</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37</a:t>
            </a:fld>
            <a:endParaRPr lang="en-US" dirty="0"/>
          </a:p>
        </p:txBody>
      </p:sp>
      <p:pic>
        <p:nvPicPr>
          <p:cNvPr id="1031" name="Picture 7"/>
          <p:cNvPicPr>
            <a:picLocks noChangeAspect="1" noChangeArrowheads="1"/>
          </p:cNvPicPr>
          <p:nvPr/>
        </p:nvPicPr>
        <p:blipFill>
          <a:blip r:embed="rId3" cstate="print"/>
          <a:srcRect r="35177"/>
          <a:stretch>
            <a:fillRect/>
          </a:stretch>
        </p:blipFill>
        <p:spPr bwMode="auto">
          <a:xfrm>
            <a:off x="7020272" y="3501008"/>
            <a:ext cx="1676434" cy="147563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340769"/>
            <a:ext cx="8587680" cy="5256584"/>
          </a:xfrm>
        </p:spPr>
        <p:txBody>
          <a:bodyPr>
            <a:normAutofit fontScale="92500" lnSpcReduction="10000"/>
          </a:bodyPr>
          <a:lstStyle/>
          <a:p>
            <a:pPr marL="0" lvl="1" indent="0" algn="just">
              <a:lnSpc>
                <a:spcPct val="120000"/>
              </a:lnSpc>
              <a:spcBef>
                <a:spcPts val="0"/>
              </a:spcBef>
              <a:buClr>
                <a:srgbClr val="101141"/>
              </a:buClr>
              <a:buNone/>
            </a:pPr>
            <a:r>
              <a:rPr lang="en-IN" sz="2200" b="1" dirty="0" smtClean="0"/>
              <a:t>Enveloped Data: </a:t>
            </a:r>
            <a:r>
              <a:rPr lang="en-IN" sz="2200" dirty="0" smtClean="0"/>
              <a:t>Encrypted content and encrypted session key which was used to encrypt the content in base64 encoding.</a:t>
            </a:r>
          </a:p>
          <a:p>
            <a:pPr marL="0" lvl="1" indent="0" algn="just">
              <a:lnSpc>
                <a:spcPct val="120000"/>
              </a:lnSpc>
              <a:spcBef>
                <a:spcPts val="0"/>
              </a:spcBef>
              <a:buClr>
                <a:srgbClr val="101141"/>
              </a:buClr>
              <a:buNone/>
            </a:pPr>
            <a:r>
              <a:rPr lang="en-IN" sz="2200" b="1" u="sng" dirty="0" smtClean="0"/>
              <a:t>Sender’s Procedure:</a:t>
            </a:r>
          </a:p>
          <a:p>
            <a:pPr marL="514350" lvl="1" indent="-514350" algn="just">
              <a:lnSpc>
                <a:spcPct val="90000"/>
              </a:lnSpc>
              <a:buClr>
                <a:srgbClr val="101141"/>
              </a:buClr>
              <a:buFont typeface="Wingdings" pitchFamily="2" charset="2"/>
              <a:buChar char="§"/>
            </a:pPr>
            <a:r>
              <a:rPr lang="en-IN" sz="2200" dirty="0" smtClean="0"/>
              <a:t>Generate a session key for a symmetric encryption algorithm</a:t>
            </a:r>
            <a:r>
              <a:rPr lang="fr-FR" sz="2200" dirty="0" smtClean="0"/>
              <a:t>.</a:t>
            </a:r>
          </a:p>
          <a:p>
            <a:pPr marL="514350" lvl="1" indent="-514350" algn="just">
              <a:lnSpc>
                <a:spcPct val="90000"/>
              </a:lnSpc>
              <a:buClr>
                <a:srgbClr val="101141"/>
              </a:buClr>
              <a:buFont typeface="Wingdings" pitchFamily="2" charset="2"/>
              <a:buChar char="§"/>
            </a:pPr>
            <a:r>
              <a:rPr lang="en-IN" sz="2200" dirty="0" smtClean="0"/>
              <a:t>Encrypt the session key with the recipient’s public key.</a:t>
            </a:r>
          </a:p>
          <a:p>
            <a:pPr marL="514350" lvl="1" indent="-514350" algn="just">
              <a:lnSpc>
                <a:spcPct val="90000"/>
              </a:lnSpc>
              <a:buClr>
                <a:srgbClr val="101141"/>
              </a:buClr>
              <a:buFont typeface="Wingdings" pitchFamily="2" charset="2"/>
              <a:buChar char="§"/>
            </a:pPr>
            <a:r>
              <a:rPr lang="en-IN" sz="2200" dirty="0" smtClean="0"/>
              <a:t>Prepare a block known as </a:t>
            </a:r>
            <a:r>
              <a:rPr lang="en-IN" sz="2200" b="1" i="1" dirty="0" err="1" smtClean="0"/>
              <a:t>RecipientInfo</a:t>
            </a:r>
            <a:r>
              <a:rPr lang="en-IN" sz="2200" dirty="0" smtClean="0"/>
              <a:t> that contains: an identifier of the recipient’s public-key certificate, an identifier of the algorithm used to encrypt the session key, and the encrypted session key.</a:t>
            </a:r>
          </a:p>
          <a:p>
            <a:pPr marL="514350" lvl="1" indent="-514350" algn="just">
              <a:lnSpc>
                <a:spcPct val="90000"/>
              </a:lnSpc>
              <a:buClr>
                <a:srgbClr val="101141"/>
              </a:buClr>
              <a:buFont typeface="Wingdings" pitchFamily="2" charset="2"/>
              <a:buChar char="§"/>
            </a:pPr>
            <a:r>
              <a:rPr lang="en-IN" sz="2200" dirty="0" smtClean="0"/>
              <a:t>Encrypt the message content with the session key.</a:t>
            </a:r>
          </a:p>
          <a:p>
            <a:pPr marL="514350" lvl="1" indent="-514350" algn="just">
              <a:lnSpc>
                <a:spcPct val="90000"/>
              </a:lnSpc>
              <a:buClr>
                <a:srgbClr val="101141"/>
              </a:buClr>
              <a:buFont typeface="Wingdings" pitchFamily="2" charset="2"/>
              <a:buChar char="§"/>
            </a:pPr>
            <a:r>
              <a:rPr lang="en-IN" sz="2200" b="1" i="1" dirty="0" err="1" smtClean="0"/>
              <a:t>RecipientInfo</a:t>
            </a:r>
            <a:r>
              <a:rPr lang="en-IN" sz="2200" i="1" dirty="0" smtClean="0"/>
              <a:t> </a:t>
            </a:r>
            <a:r>
              <a:rPr lang="en-IN" sz="2200" dirty="0" smtClean="0"/>
              <a:t>block followed by encrypted content is called the Enveloped Data.</a:t>
            </a:r>
          </a:p>
          <a:p>
            <a:pPr marL="514350" lvl="1" indent="-514350" algn="just">
              <a:lnSpc>
                <a:spcPct val="90000"/>
              </a:lnSpc>
              <a:buClr>
                <a:srgbClr val="101141"/>
              </a:buClr>
              <a:buFont typeface="Wingdings" pitchFamily="2" charset="2"/>
              <a:buChar char="§"/>
            </a:pPr>
            <a:r>
              <a:rPr lang="en-IN" sz="2200" dirty="0" smtClean="0"/>
              <a:t>It is encoded into base-64 encoding.</a:t>
            </a:r>
          </a:p>
          <a:p>
            <a:pPr marL="514350" lvl="1" indent="-514350" algn="just">
              <a:lnSpc>
                <a:spcPct val="90000"/>
              </a:lnSpc>
              <a:buClr>
                <a:srgbClr val="101141"/>
              </a:buClr>
              <a:buNone/>
            </a:pPr>
            <a:r>
              <a:rPr lang="en-IN" sz="2200" b="1" u="sng" dirty="0" smtClean="0"/>
              <a:t>Recipient's Procedure:</a:t>
            </a:r>
          </a:p>
          <a:p>
            <a:pPr marL="514350" lvl="1" indent="-514350" algn="just">
              <a:lnSpc>
                <a:spcPct val="90000"/>
              </a:lnSpc>
              <a:buClr>
                <a:srgbClr val="101141"/>
              </a:buClr>
              <a:buFont typeface="Wingdings" pitchFamily="2" charset="2"/>
              <a:buChar char="§"/>
            </a:pPr>
            <a:r>
              <a:rPr lang="en-IN" sz="2200" dirty="0" smtClean="0"/>
              <a:t>Base-64 encoding is stripped off.</a:t>
            </a:r>
          </a:p>
          <a:p>
            <a:pPr marL="514350" lvl="1" indent="-514350" algn="just">
              <a:lnSpc>
                <a:spcPct val="90000"/>
              </a:lnSpc>
              <a:buClr>
                <a:srgbClr val="101141"/>
              </a:buClr>
              <a:buFont typeface="Wingdings" pitchFamily="2" charset="2"/>
              <a:buChar char="§"/>
            </a:pPr>
            <a:r>
              <a:rPr lang="en-IN" sz="2200" dirty="0" smtClean="0"/>
              <a:t>Recipient’s private key is used to decrypt the session key.</a:t>
            </a:r>
          </a:p>
          <a:p>
            <a:pPr marL="514350" lvl="1" indent="-514350" algn="just">
              <a:lnSpc>
                <a:spcPct val="90000"/>
              </a:lnSpc>
              <a:buClr>
                <a:srgbClr val="101141"/>
              </a:buClr>
              <a:buFont typeface="Wingdings" pitchFamily="2" charset="2"/>
              <a:buChar char="§"/>
            </a:pPr>
            <a:r>
              <a:rPr lang="en-IN" sz="2200" dirty="0" smtClean="0"/>
              <a:t>Session key is used to decrypt the encrypted message.</a:t>
            </a:r>
          </a:p>
          <a:p>
            <a:pPr marL="514350" lvl="1" indent="-514350" algn="just">
              <a:lnSpc>
                <a:spcPct val="90000"/>
              </a:lnSpc>
              <a:buClr>
                <a:srgbClr val="101141"/>
              </a:buClr>
              <a:buFont typeface="Wingdings" pitchFamily="2" charset="2"/>
              <a:buChar char="§"/>
            </a:pPr>
            <a:endParaRPr lang="en-IN" sz="2200" dirty="0" smtClean="0"/>
          </a:p>
          <a:p>
            <a:pPr marL="514350" lvl="1" indent="-514350" algn="just">
              <a:lnSpc>
                <a:spcPct val="90000"/>
              </a:lnSpc>
              <a:buClr>
                <a:srgbClr val="101141"/>
              </a:buClr>
              <a:buNone/>
            </a:pPr>
            <a:endParaRPr lang="en-IN" sz="2200" dirty="0" smtClean="0"/>
          </a:p>
        </p:txBody>
      </p:sp>
      <p:sp>
        <p:nvSpPr>
          <p:cNvPr id="3" name="Content Placeholder 2"/>
          <p:cNvSpPr>
            <a:spLocks noGrp="1"/>
          </p:cNvSpPr>
          <p:nvPr>
            <p:ph sz="quarter" idx="10"/>
          </p:nvPr>
        </p:nvSpPr>
        <p:spPr/>
        <p:txBody>
          <a:bodyPr/>
          <a:lstStyle/>
          <a:p>
            <a:r>
              <a:rPr lang="en-IN" dirty="0" smtClean="0"/>
              <a:t>S/MIME: Enveloped Data</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38</a:t>
            </a:fld>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887491"/>
          </a:xfrm>
        </p:spPr>
        <p:txBody>
          <a:bodyPr>
            <a:normAutofit fontScale="92500" lnSpcReduction="10000"/>
          </a:bodyPr>
          <a:lstStyle/>
          <a:p>
            <a:r>
              <a:rPr lang="en-IN" sz="1600" b="1" dirty="0" smtClean="0">
                <a:solidFill>
                  <a:srgbClr val="00B050"/>
                </a:solidFill>
                <a:latin typeface="Courier New" pitchFamily="49" charset="0"/>
                <a:cs typeface="Courier New" pitchFamily="49" charset="0"/>
              </a:rPr>
              <a:t>Content-Type: application/pkcs7-mime; smime-type=enveloped-data;</a:t>
            </a:r>
          </a:p>
          <a:p>
            <a:r>
              <a:rPr lang="en-IN" sz="1600" b="1" dirty="0" smtClean="0">
                <a:solidFill>
                  <a:srgbClr val="00B050"/>
                </a:solidFill>
                <a:latin typeface="Courier New" pitchFamily="49" charset="0"/>
                <a:cs typeface="Courier New" pitchFamily="49" charset="0"/>
              </a:rPr>
              <a:t>name=smime.p7m</a:t>
            </a:r>
          </a:p>
          <a:p>
            <a:r>
              <a:rPr lang="en-IN" sz="1600" b="1" dirty="0" smtClean="0">
                <a:solidFill>
                  <a:srgbClr val="00B050"/>
                </a:solidFill>
                <a:latin typeface="Courier New" pitchFamily="49" charset="0"/>
                <a:cs typeface="Courier New" pitchFamily="49" charset="0"/>
              </a:rPr>
              <a:t>Content-Transfer-Encoding: base64</a:t>
            </a:r>
          </a:p>
          <a:p>
            <a:r>
              <a:rPr lang="en-IN" sz="1600" b="1" dirty="0" smtClean="0">
                <a:solidFill>
                  <a:srgbClr val="00B050"/>
                </a:solidFill>
                <a:latin typeface="Courier New" pitchFamily="49" charset="0"/>
                <a:cs typeface="Courier New" pitchFamily="49" charset="0"/>
              </a:rPr>
              <a:t>Content-Disposition: attachment; filename=smime.p7m</a:t>
            </a:r>
          </a:p>
          <a:p>
            <a:endParaRPr lang="en-IN" sz="1600" b="1" dirty="0" smtClean="0">
              <a:latin typeface="Courier New" pitchFamily="49" charset="0"/>
              <a:cs typeface="Courier New" pitchFamily="49" charset="0"/>
            </a:endParaRPr>
          </a:p>
          <a:p>
            <a:r>
              <a:rPr lang="en-IN" sz="1600" b="1" dirty="0" smtClean="0">
                <a:solidFill>
                  <a:srgbClr val="0070C0"/>
                </a:solidFill>
                <a:latin typeface="Courier New" pitchFamily="49" charset="0"/>
                <a:cs typeface="Courier New" pitchFamily="49" charset="0"/>
              </a:rPr>
              <a:t>rfvbnj756tbBghyHhHUujhJhjH77n8HHGT9HG4VQpfyF467GhIGfHfYT6</a:t>
            </a:r>
          </a:p>
          <a:p>
            <a:r>
              <a:rPr lang="en-IN" sz="1600" b="1" dirty="0" smtClean="0">
                <a:solidFill>
                  <a:srgbClr val="0070C0"/>
                </a:solidFill>
                <a:latin typeface="Courier New" pitchFamily="49" charset="0"/>
                <a:cs typeface="Courier New" pitchFamily="49" charset="0"/>
              </a:rPr>
              <a:t>7n8HHGghyHhHUujhJh4VQpfyF467GhIGfHfYGTrfvbnjT6jH7756tbB9H</a:t>
            </a:r>
          </a:p>
          <a:p>
            <a:r>
              <a:rPr lang="en-IN" sz="1600" b="1" dirty="0" smtClean="0">
                <a:solidFill>
                  <a:srgbClr val="0070C0"/>
                </a:solidFill>
                <a:latin typeface="Courier New" pitchFamily="49" charset="0"/>
                <a:cs typeface="Courier New" pitchFamily="49" charset="0"/>
              </a:rPr>
              <a:t>f8HHGTrfvhJhjH776tbB9HG4VQbnj7567GhIGfHfYT6ghyHhHUujpfyF4</a:t>
            </a:r>
          </a:p>
          <a:p>
            <a:r>
              <a:rPr lang="en-IN" sz="1600" b="1" dirty="0" smtClean="0">
                <a:solidFill>
                  <a:srgbClr val="0070C0"/>
                </a:solidFill>
                <a:latin typeface="Courier New" pitchFamily="49" charset="0"/>
                <a:cs typeface="Courier New" pitchFamily="49" charset="0"/>
              </a:rPr>
              <a:t>0GhIGfHfQbnj756YT64V</a:t>
            </a:r>
          </a:p>
          <a:p>
            <a:endParaRPr lang="en-IN" sz="1600" b="1" dirty="0" smtClean="0">
              <a:solidFill>
                <a:srgbClr val="0070C0"/>
              </a:solidFill>
              <a:latin typeface="Courier New" pitchFamily="49" charset="0"/>
              <a:cs typeface="Courier New" pitchFamily="49" charset="0"/>
            </a:endParaRPr>
          </a:p>
          <a:p>
            <a:r>
              <a:rPr lang="en-IN" sz="2000" b="1" u="sng" dirty="0" smtClean="0"/>
              <a:t>Observations:</a:t>
            </a:r>
          </a:p>
          <a:p>
            <a:pPr marL="514350" lvl="1" indent="-514350" algn="just">
              <a:lnSpc>
                <a:spcPct val="90000"/>
              </a:lnSpc>
              <a:buClr>
                <a:srgbClr val="101141"/>
              </a:buClr>
              <a:buFont typeface="Wingdings" pitchFamily="2" charset="2"/>
              <a:buChar char="§"/>
            </a:pPr>
            <a:r>
              <a:rPr lang="en-IN" sz="2200" dirty="0" smtClean="0"/>
              <a:t>Content-Type is application and sub-type is pkcs7-mime.</a:t>
            </a:r>
          </a:p>
          <a:p>
            <a:pPr marL="514350" lvl="1" indent="-514350" algn="just">
              <a:lnSpc>
                <a:spcPct val="90000"/>
              </a:lnSpc>
              <a:buClr>
                <a:srgbClr val="101141"/>
              </a:buClr>
              <a:buFont typeface="Wingdings" pitchFamily="2" charset="2"/>
              <a:buChar char="§"/>
            </a:pPr>
            <a:r>
              <a:rPr lang="en-IN" sz="2200" dirty="0" smtClean="0"/>
              <a:t>Encoding is done using base64.</a:t>
            </a:r>
          </a:p>
          <a:p>
            <a:pPr marL="514350" lvl="1" indent="-514350" algn="just">
              <a:lnSpc>
                <a:spcPct val="90000"/>
              </a:lnSpc>
              <a:buClr>
                <a:srgbClr val="101141"/>
              </a:buClr>
              <a:buFont typeface="Wingdings" pitchFamily="2" charset="2"/>
              <a:buChar char="§"/>
            </a:pPr>
            <a:r>
              <a:rPr lang="en-IN" sz="2200" dirty="0" smtClean="0"/>
              <a:t>A new MIME header </a:t>
            </a:r>
            <a:r>
              <a:rPr lang="en-IN" sz="2200" b="1" dirty="0" smtClean="0"/>
              <a:t>Content-Disposition</a:t>
            </a:r>
            <a:r>
              <a:rPr lang="en-IN" sz="2200" dirty="0" smtClean="0"/>
              <a:t> specifying an attachment with a parameter of file name having p7m extension.</a:t>
            </a:r>
          </a:p>
          <a:p>
            <a:pPr marL="514350" lvl="1" indent="-514350" algn="just">
              <a:lnSpc>
                <a:spcPct val="90000"/>
              </a:lnSpc>
              <a:buClr>
                <a:srgbClr val="101141"/>
              </a:buClr>
              <a:buFont typeface="Wingdings" pitchFamily="2" charset="2"/>
              <a:buChar char="§"/>
            </a:pPr>
            <a:r>
              <a:rPr lang="en-IN" sz="2200" dirty="0" smtClean="0"/>
              <a:t>Blue text is base64 encoded enveloped data.</a:t>
            </a:r>
          </a:p>
          <a:p>
            <a:pPr marL="514350" lvl="1" indent="-514350" algn="just">
              <a:lnSpc>
                <a:spcPct val="90000"/>
              </a:lnSpc>
              <a:buClr>
                <a:srgbClr val="101141"/>
              </a:buClr>
              <a:buFont typeface="Wingdings" pitchFamily="2" charset="2"/>
              <a:buChar char="§"/>
            </a:pPr>
            <a:r>
              <a:rPr lang="en-IN" sz="2200" dirty="0" smtClean="0"/>
              <a:t>PKCS-7 = Public Key Cryptography Standards-7.</a:t>
            </a:r>
          </a:p>
        </p:txBody>
      </p:sp>
      <p:sp>
        <p:nvSpPr>
          <p:cNvPr id="3" name="Content Placeholder 2"/>
          <p:cNvSpPr>
            <a:spLocks noGrp="1"/>
          </p:cNvSpPr>
          <p:nvPr>
            <p:ph sz="quarter" idx="10"/>
          </p:nvPr>
        </p:nvSpPr>
        <p:spPr/>
        <p:txBody>
          <a:bodyPr/>
          <a:lstStyle/>
          <a:p>
            <a:r>
              <a:rPr lang="en-IN" dirty="0" smtClean="0"/>
              <a:t>S/MIME: Enveloped-Data</a:t>
            </a:r>
          </a:p>
          <a:p>
            <a:r>
              <a:rPr lang="en-IN" sz="2000" dirty="0" smtClean="0"/>
              <a:t>Example</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39</a:t>
            </a:fld>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340769"/>
            <a:ext cx="8587680" cy="5256584"/>
          </a:xfrm>
        </p:spPr>
        <p:txBody>
          <a:bodyPr>
            <a:normAutofit fontScale="92500" lnSpcReduction="10000"/>
          </a:bodyPr>
          <a:lstStyle/>
          <a:p>
            <a:pPr marL="0" lvl="1" indent="0" algn="just">
              <a:lnSpc>
                <a:spcPct val="120000"/>
              </a:lnSpc>
              <a:spcBef>
                <a:spcPts val="0"/>
              </a:spcBef>
              <a:buClr>
                <a:srgbClr val="101141"/>
              </a:buClr>
              <a:buNone/>
            </a:pPr>
            <a:r>
              <a:rPr lang="en-IN" sz="2200" b="1" dirty="0" smtClean="0"/>
              <a:t>Signed Data: </a:t>
            </a:r>
            <a:r>
              <a:rPr lang="en-IN" sz="2200" dirty="0" smtClean="0"/>
              <a:t>Encrypted message digest as signature and the content in base64 encoding.</a:t>
            </a:r>
          </a:p>
          <a:p>
            <a:pPr marL="0" lvl="1" indent="0" algn="just">
              <a:lnSpc>
                <a:spcPct val="120000"/>
              </a:lnSpc>
              <a:spcBef>
                <a:spcPts val="0"/>
              </a:spcBef>
              <a:buClr>
                <a:srgbClr val="101141"/>
              </a:buClr>
              <a:buNone/>
            </a:pPr>
            <a:r>
              <a:rPr lang="en-IN" sz="2200" b="1" u="sng" dirty="0" smtClean="0"/>
              <a:t>Sender’s Procedure:</a:t>
            </a:r>
          </a:p>
          <a:p>
            <a:pPr marL="514350" lvl="1" indent="-514350" algn="just">
              <a:lnSpc>
                <a:spcPct val="90000"/>
              </a:lnSpc>
              <a:buClr>
                <a:srgbClr val="101141"/>
              </a:buClr>
              <a:buFont typeface="Wingdings" pitchFamily="2" charset="2"/>
              <a:buChar char="§"/>
            </a:pPr>
            <a:r>
              <a:rPr lang="en-IN" sz="2200" dirty="0" smtClean="0"/>
              <a:t>Sender selects the digest algorithm</a:t>
            </a:r>
            <a:r>
              <a:rPr lang="fr-FR" sz="2200" dirty="0" smtClean="0"/>
              <a:t> and </a:t>
            </a:r>
            <a:r>
              <a:rPr lang="en-IN" sz="2200" dirty="0" smtClean="0"/>
              <a:t>a message digest is computed using the algorithm.</a:t>
            </a:r>
          </a:p>
          <a:p>
            <a:pPr marL="514350" lvl="1" indent="-514350" algn="just">
              <a:lnSpc>
                <a:spcPct val="90000"/>
              </a:lnSpc>
              <a:buClr>
                <a:srgbClr val="101141"/>
              </a:buClr>
              <a:buFont typeface="Wingdings" pitchFamily="2" charset="2"/>
              <a:buChar char="§"/>
            </a:pPr>
            <a:r>
              <a:rPr lang="en-IN" sz="2200" dirty="0" smtClean="0"/>
              <a:t>The digest is encrypted using sender’s private key.</a:t>
            </a:r>
          </a:p>
          <a:p>
            <a:pPr marL="514350" lvl="1" indent="-514350" algn="just">
              <a:lnSpc>
                <a:spcPct val="90000"/>
              </a:lnSpc>
              <a:buClr>
                <a:srgbClr val="101141"/>
              </a:buClr>
              <a:buFont typeface="Wingdings" pitchFamily="2" charset="2"/>
              <a:buChar char="§"/>
            </a:pPr>
            <a:r>
              <a:rPr lang="en-IN" sz="2200" dirty="0" smtClean="0"/>
              <a:t>A block called </a:t>
            </a:r>
            <a:r>
              <a:rPr lang="en-IN" sz="2200" b="1" i="1" dirty="0" err="1" smtClean="0"/>
              <a:t>SignerInfo</a:t>
            </a:r>
            <a:r>
              <a:rPr lang="en-IN" sz="2200" b="1" i="1" dirty="0" smtClean="0"/>
              <a:t> </a:t>
            </a:r>
            <a:r>
              <a:rPr lang="en-IN" sz="2200" dirty="0" smtClean="0"/>
              <a:t>is prepared that contains sender’s public key certificate, message digest algorithm used, encryption algorithm used and then the encrypted message digest.</a:t>
            </a:r>
          </a:p>
          <a:p>
            <a:pPr marL="514350" lvl="1" indent="-514350" algn="just">
              <a:lnSpc>
                <a:spcPct val="90000"/>
              </a:lnSpc>
              <a:buClr>
                <a:srgbClr val="101141"/>
              </a:buClr>
              <a:buFont typeface="Wingdings" pitchFamily="2" charset="2"/>
              <a:buChar char="§"/>
            </a:pPr>
            <a:r>
              <a:rPr lang="en-IN" sz="2200" b="1" i="1" dirty="0" err="1" smtClean="0"/>
              <a:t>SignerInfo</a:t>
            </a:r>
            <a:r>
              <a:rPr lang="en-IN" sz="2200" i="1" dirty="0" smtClean="0"/>
              <a:t> </a:t>
            </a:r>
            <a:r>
              <a:rPr lang="en-IN" sz="2200" dirty="0" smtClean="0"/>
              <a:t>block followed by content is called the Signed Data.</a:t>
            </a:r>
          </a:p>
          <a:p>
            <a:pPr marL="514350" lvl="1" indent="-514350" algn="just">
              <a:lnSpc>
                <a:spcPct val="90000"/>
              </a:lnSpc>
              <a:buClr>
                <a:srgbClr val="101141"/>
              </a:buClr>
              <a:buFont typeface="Wingdings" pitchFamily="2" charset="2"/>
              <a:buChar char="§"/>
            </a:pPr>
            <a:r>
              <a:rPr lang="en-IN" sz="2200" dirty="0" smtClean="0"/>
              <a:t>It is encoded into base-64 encoding.</a:t>
            </a:r>
          </a:p>
          <a:p>
            <a:pPr marL="514350" lvl="1" indent="-514350" algn="just">
              <a:lnSpc>
                <a:spcPct val="90000"/>
              </a:lnSpc>
              <a:buClr>
                <a:srgbClr val="101141"/>
              </a:buClr>
              <a:buNone/>
            </a:pPr>
            <a:r>
              <a:rPr lang="en-IN" sz="2200" b="1" u="sng" dirty="0" smtClean="0"/>
              <a:t>Recipient's Procedure:</a:t>
            </a:r>
          </a:p>
          <a:p>
            <a:pPr marL="514350" lvl="1" indent="-514350" algn="just">
              <a:lnSpc>
                <a:spcPct val="90000"/>
              </a:lnSpc>
              <a:buClr>
                <a:srgbClr val="101141"/>
              </a:buClr>
              <a:buFont typeface="Wingdings" pitchFamily="2" charset="2"/>
              <a:buChar char="§"/>
            </a:pPr>
            <a:r>
              <a:rPr lang="en-IN" sz="2200" dirty="0" smtClean="0"/>
              <a:t>Base-64 encoding is stripped off.</a:t>
            </a:r>
          </a:p>
          <a:p>
            <a:pPr marL="514350" lvl="1" indent="-514350" algn="just">
              <a:lnSpc>
                <a:spcPct val="90000"/>
              </a:lnSpc>
              <a:buClr>
                <a:srgbClr val="101141"/>
              </a:buClr>
              <a:buFont typeface="Wingdings" pitchFamily="2" charset="2"/>
              <a:buChar char="§"/>
            </a:pPr>
            <a:r>
              <a:rPr lang="en-IN" sz="2200" dirty="0" smtClean="0"/>
              <a:t>Sender’s public key is used to decrypt the digest.</a:t>
            </a:r>
          </a:p>
          <a:p>
            <a:pPr marL="514350" lvl="1" indent="-514350" algn="just">
              <a:lnSpc>
                <a:spcPct val="90000"/>
              </a:lnSpc>
              <a:buClr>
                <a:srgbClr val="101141"/>
              </a:buClr>
              <a:buFont typeface="Wingdings" pitchFamily="2" charset="2"/>
              <a:buChar char="§"/>
            </a:pPr>
            <a:r>
              <a:rPr lang="en-IN" sz="2200" dirty="0" smtClean="0"/>
              <a:t>Recipient also independently calculates the digest and compares it with the decrypted digest to verify the signature.</a:t>
            </a:r>
          </a:p>
          <a:p>
            <a:pPr marL="514350" lvl="1" indent="-514350" algn="just">
              <a:lnSpc>
                <a:spcPct val="90000"/>
              </a:lnSpc>
              <a:buClr>
                <a:srgbClr val="101141"/>
              </a:buClr>
              <a:buFont typeface="Wingdings" pitchFamily="2" charset="2"/>
              <a:buChar char="§"/>
            </a:pPr>
            <a:endParaRPr lang="en-IN" sz="2200" dirty="0" smtClean="0"/>
          </a:p>
          <a:p>
            <a:pPr marL="514350" lvl="1" indent="-514350" algn="just">
              <a:lnSpc>
                <a:spcPct val="90000"/>
              </a:lnSpc>
              <a:buClr>
                <a:srgbClr val="101141"/>
              </a:buClr>
              <a:buNone/>
            </a:pPr>
            <a:endParaRPr lang="en-IN" sz="2200" dirty="0" smtClean="0"/>
          </a:p>
        </p:txBody>
      </p:sp>
      <p:sp>
        <p:nvSpPr>
          <p:cNvPr id="3" name="Content Placeholder 2"/>
          <p:cNvSpPr>
            <a:spLocks noGrp="1"/>
          </p:cNvSpPr>
          <p:nvPr>
            <p:ph sz="quarter" idx="10"/>
          </p:nvPr>
        </p:nvSpPr>
        <p:spPr/>
        <p:txBody>
          <a:bodyPr/>
          <a:lstStyle/>
          <a:p>
            <a:r>
              <a:rPr lang="en-IN" dirty="0" smtClean="0"/>
              <a:t>S/MIME: Signed Data</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40</a:t>
            </a:fld>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887491"/>
          </a:xfrm>
        </p:spPr>
        <p:txBody>
          <a:bodyPr>
            <a:normAutofit lnSpcReduction="10000"/>
          </a:bodyPr>
          <a:lstStyle/>
          <a:p>
            <a:pPr marL="0"/>
            <a:r>
              <a:rPr lang="en-IN" sz="1600" b="1" dirty="0" smtClean="0">
                <a:solidFill>
                  <a:srgbClr val="00B050"/>
                </a:solidFill>
                <a:latin typeface="Courier New" pitchFamily="49" charset="0"/>
                <a:cs typeface="Courier New" pitchFamily="49" charset="0"/>
              </a:rPr>
              <a:t>Content-Type: application/pkcs7-mime; smime-type=signed-data; name=smime.p7m</a:t>
            </a:r>
          </a:p>
          <a:p>
            <a:r>
              <a:rPr lang="en-IN" sz="1600" b="1" dirty="0" smtClean="0">
                <a:solidFill>
                  <a:srgbClr val="00B050"/>
                </a:solidFill>
                <a:latin typeface="Courier New" pitchFamily="49" charset="0"/>
                <a:cs typeface="Courier New" pitchFamily="49" charset="0"/>
              </a:rPr>
              <a:t>Content-Transfer-Encoding: base64</a:t>
            </a:r>
          </a:p>
          <a:p>
            <a:r>
              <a:rPr lang="en-IN" sz="1600" b="1" dirty="0" smtClean="0">
                <a:solidFill>
                  <a:srgbClr val="00B050"/>
                </a:solidFill>
                <a:latin typeface="Courier New" pitchFamily="49" charset="0"/>
                <a:cs typeface="Courier New" pitchFamily="49" charset="0"/>
              </a:rPr>
              <a:t>Content-Disposition: attachment; filename=smime.p7m</a:t>
            </a:r>
          </a:p>
          <a:p>
            <a:endParaRPr lang="en-IN" sz="1600" b="1" dirty="0" smtClean="0">
              <a:latin typeface="Courier New" pitchFamily="49" charset="0"/>
              <a:cs typeface="Courier New" pitchFamily="49" charset="0"/>
            </a:endParaRPr>
          </a:p>
          <a:p>
            <a:r>
              <a:rPr lang="en-IN" sz="1600" b="1" dirty="0" smtClean="0">
                <a:solidFill>
                  <a:srgbClr val="0070C0"/>
                </a:solidFill>
                <a:latin typeface="Courier New" pitchFamily="49" charset="0"/>
                <a:cs typeface="Courier New" pitchFamily="49" charset="0"/>
              </a:rPr>
              <a:t>567GhIGfHfYT6ghyHhHUujpfyF4f8HHGTrfvhJhjH776tbB9HG4VQbnj7</a:t>
            </a:r>
          </a:p>
          <a:p>
            <a:r>
              <a:rPr lang="en-IN" sz="1600" b="1" dirty="0" smtClean="0">
                <a:solidFill>
                  <a:srgbClr val="0070C0"/>
                </a:solidFill>
                <a:latin typeface="Courier New" pitchFamily="49" charset="0"/>
                <a:cs typeface="Courier New" pitchFamily="49" charset="0"/>
              </a:rPr>
              <a:t>77n8HHGT9HG4VQpfyF467GhIGfHfYT6rfvbnj756tbBghyHhHUujhJhjH</a:t>
            </a:r>
          </a:p>
          <a:p>
            <a:r>
              <a:rPr lang="en-IN" sz="1600" b="1" dirty="0" smtClean="0">
                <a:solidFill>
                  <a:srgbClr val="0070C0"/>
                </a:solidFill>
                <a:latin typeface="Courier New" pitchFamily="49" charset="0"/>
                <a:cs typeface="Courier New" pitchFamily="49" charset="0"/>
              </a:rPr>
              <a:t>HUujhJh4VQpfyF467GhIGfHfYGTrfvbnjT6jH7756tbB9H7n8HHGghyHh</a:t>
            </a:r>
          </a:p>
          <a:p>
            <a:r>
              <a:rPr lang="en-IN" sz="1600" b="1" dirty="0" smtClean="0">
                <a:solidFill>
                  <a:srgbClr val="0070C0"/>
                </a:solidFill>
                <a:latin typeface="Courier New" pitchFamily="49" charset="0"/>
                <a:cs typeface="Courier New" pitchFamily="49" charset="0"/>
              </a:rPr>
              <a:t>6YT64V0GhIGfHfQbnj75</a:t>
            </a:r>
          </a:p>
          <a:p>
            <a:endParaRPr lang="en-IN" sz="1600" b="1" dirty="0" smtClean="0">
              <a:solidFill>
                <a:srgbClr val="0070C0"/>
              </a:solidFill>
              <a:latin typeface="Courier New" pitchFamily="49" charset="0"/>
              <a:cs typeface="Courier New" pitchFamily="49" charset="0"/>
            </a:endParaRPr>
          </a:p>
          <a:p>
            <a:r>
              <a:rPr lang="en-IN" sz="2000" b="1" u="sng" dirty="0" smtClean="0"/>
              <a:t>Observations:</a:t>
            </a:r>
          </a:p>
          <a:p>
            <a:pPr marL="514350" lvl="1" indent="-514350" algn="just">
              <a:lnSpc>
                <a:spcPct val="90000"/>
              </a:lnSpc>
              <a:buClr>
                <a:srgbClr val="101141"/>
              </a:buClr>
              <a:buFont typeface="Wingdings" pitchFamily="2" charset="2"/>
              <a:buChar char="§"/>
            </a:pPr>
            <a:r>
              <a:rPr lang="en-IN" sz="2200" dirty="0" smtClean="0"/>
              <a:t>Content-Type is application and sub-type is pkcs7-mime.</a:t>
            </a:r>
          </a:p>
          <a:p>
            <a:pPr marL="514350" lvl="1" indent="-514350" algn="just">
              <a:lnSpc>
                <a:spcPct val="90000"/>
              </a:lnSpc>
              <a:buClr>
                <a:srgbClr val="101141"/>
              </a:buClr>
              <a:buFont typeface="Wingdings" pitchFamily="2" charset="2"/>
              <a:buChar char="§"/>
            </a:pPr>
            <a:r>
              <a:rPr lang="en-IN" sz="2200" dirty="0" smtClean="0"/>
              <a:t>Encoding is done using base64.</a:t>
            </a:r>
          </a:p>
          <a:p>
            <a:pPr marL="514350" lvl="1" indent="-514350" algn="just">
              <a:lnSpc>
                <a:spcPct val="90000"/>
              </a:lnSpc>
              <a:buClr>
                <a:srgbClr val="101141"/>
              </a:buClr>
              <a:buFont typeface="Wingdings" pitchFamily="2" charset="2"/>
              <a:buChar char="§"/>
            </a:pPr>
            <a:r>
              <a:rPr lang="en-IN" sz="2200" dirty="0" smtClean="0"/>
              <a:t>Content-Disposition specifying an attachment with a parameter of file name having p7m extension.</a:t>
            </a:r>
          </a:p>
          <a:p>
            <a:pPr marL="514350" lvl="1" indent="-514350" algn="just">
              <a:lnSpc>
                <a:spcPct val="90000"/>
              </a:lnSpc>
              <a:buClr>
                <a:srgbClr val="101141"/>
              </a:buClr>
              <a:buFont typeface="Wingdings" pitchFamily="2" charset="2"/>
              <a:buChar char="§"/>
            </a:pPr>
            <a:r>
              <a:rPr lang="en-IN" sz="2200" dirty="0" smtClean="0"/>
              <a:t>Blue text is base64 encoded signed data.</a:t>
            </a:r>
          </a:p>
        </p:txBody>
      </p:sp>
      <p:sp>
        <p:nvSpPr>
          <p:cNvPr id="3" name="Content Placeholder 2"/>
          <p:cNvSpPr>
            <a:spLocks noGrp="1"/>
          </p:cNvSpPr>
          <p:nvPr>
            <p:ph sz="quarter" idx="10"/>
          </p:nvPr>
        </p:nvSpPr>
        <p:spPr/>
        <p:txBody>
          <a:bodyPr/>
          <a:lstStyle/>
          <a:p>
            <a:r>
              <a:rPr lang="en-IN" dirty="0" smtClean="0"/>
              <a:t>S/MIME: Signed-Data</a:t>
            </a:r>
          </a:p>
          <a:p>
            <a:r>
              <a:rPr lang="en-IN" sz="2000" dirty="0" smtClean="0"/>
              <a:t>Example</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41</a:t>
            </a:fld>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340769"/>
            <a:ext cx="8587680" cy="5256584"/>
          </a:xfrm>
        </p:spPr>
        <p:txBody>
          <a:bodyPr>
            <a:normAutofit fontScale="92500" lnSpcReduction="10000"/>
          </a:bodyPr>
          <a:lstStyle/>
          <a:p>
            <a:pPr marL="0" lvl="1" indent="0" algn="just">
              <a:lnSpc>
                <a:spcPct val="120000"/>
              </a:lnSpc>
              <a:spcBef>
                <a:spcPts val="0"/>
              </a:spcBef>
              <a:buClr>
                <a:srgbClr val="101141"/>
              </a:buClr>
              <a:buNone/>
            </a:pPr>
            <a:r>
              <a:rPr lang="en-IN" sz="2200" b="1" dirty="0" smtClean="0"/>
              <a:t>Clear-Signed Data: </a:t>
            </a:r>
            <a:r>
              <a:rPr lang="en-IN" sz="2200" dirty="0" smtClean="0"/>
              <a:t>Same as Signed-Data but base64 encoding is done only on the encrypted digest (digital signature). A recipient without S/MIME capability can read the message but cannot verify the signature.</a:t>
            </a:r>
          </a:p>
          <a:p>
            <a:pPr marL="0" lvl="1" indent="0" algn="just">
              <a:lnSpc>
                <a:spcPct val="120000"/>
              </a:lnSpc>
              <a:spcBef>
                <a:spcPts val="0"/>
              </a:spcBef>
              <a:buClr>
                <a:srgbClr val="101141"/>
              </a:buClr>
              <a:buNone/>
            </a:pPr>
            <a:r>
              <a:rPr lang="en-IN" sz="2200" b="1" u="sng" dirty="0" smtClean="0"/>
              <a:t>Sender’s Procedure:</a:t>
            </a:r>
          </a:p>
          <a:p>
            <a:pPr marL="514350" lvl="1" indent="-514350" algn="just">
              <a:lnSpc>
                <a:spcPct val="90000"/>
              </a:lnSpc>
              <a:buClr>
                <a:srgbClr val="101141"/>
              </a:buClr>
              <a:buFont typeface="Wingdings" pitchFamily="2" charset="2"/>
              <a:buChar char="§"/>
            </a:pPr>
            <a:r>
              <a:rPr lang="en-IN" sz="2200" dirty="0" smtClean="0"/>
              <a:t>Sender selects the digest algorithm</a:t>
            </a:r>
            <a:r>
              <a:rPr lang="fr-FR" sz="2200" dirty="0" smtClean="0"/>
              <a:t> and </a:t>
            </a:r>
            <a:r>
              <a:rPr lang="en-IN" sz="2200" dirty="0" smtClean="0"/>
              <a:t>a message digest is computed using the algorithm.</a:t>
            </a:r>
          </a:p>
          <a:p>
            <a:pPr marL="514350" lvl="1" indent="-514350" algn="just">
              <a:lnSpc>
                <a:spcPct val="90000"/>
              </a:lnSpc>
              <a:buClr>
                <a:srgbClr val="101141"/>
              </a:buClr>
              <a:buFont typeface="Wingdings" pitchFamily="2" charset="2"/>
              <a:buChar char="§"/>
            </a:pPr>
            <a:r>
              <a:rPr lang="en-IN" sz="2200" dirty="0" smtClean="0"/>
              <a:t>The digest is encrypted using sender’s private key.</a:t>
            </a:r>
          </a:p>
          <a:p>
            <a:pPr marL="514350" lvl="1" indent="-514350" algn="just">
              <a:lnSpc>
                <a:spcPct val="90000"/>
              </a:lnSpc>
              <a:buClr>
                <a:srgbClr val="101141"/>
              </a:buClr>
              <a:buFont typeface="Wingdings" pitchFamily="2" charset="2"/>
              <a:buChar char="§"/>
            </a:pPr>
            <a:r>
              <a:rPr lang="en-IN" sz="2200" dirty="0" smtClean="0"/>
              <a:t>A block called </a:t>
            </a:r>
            <a:r>
              <a:rPr lang="en-IN" sz="2200" b="1" i="1" dirty="0" err="1" smtClean="0"/>
              <a:t>SignerInfo</a:t>
            </a:r>
            <a:r>
              <a:rPr lang="en-IN" sz="2200" b="1" i="1" dirty="0" smtClean="0"/>
              <a:t> </a:t>
            </a:r>
            <a:r>
              <a:rPr lang="en-IN" sz="2200" dirty="0" smtClean="0"/>
              <a:t>is prepared that contains sender’s public key certificate, message digest algorithm used, encryption algorithm used and then the encrypted message digest. It is encoded into base-64 encoding.</a:t>
            </a:r>
          </a:p>
          <a:p>
            <a:pPr marL="514350" lvl="1" indent="-514350" algn="just">
              <a:lnSpc>
                <a:spcPct val="90000"/>
              </a:lnSpc>
              <a:buClr>
                <a:srgbClr val="101141"/>
              </a:buClr>
              <a:buFont typeface="Wingdings" pitchFamily="2" charset="2"/>
              <a:buChar char="§"/>
            </a:pPr>
            <a:r>
              <a:rPr lang="en-IN" sz="2200" dirty="0" smtClean="0"/>
              <a:t>Message followed by </a:t>
            </a:r>
            <a:r>
              <a:rPr lang="en-IN" sz="2200" b="1" i="1" dirty="0" err="1" smtClean="0"/>
              <a:t>SignerInfo</a:t>
            </a:r>
            <a:r>
              <a:rPr lang="en-IN" sz="2200" i="1" dirty="0" smtClean="0"/>
              <a:t> </a:t>
            </a:r>
            <a:r>
              <a:rPr lang="en-IN" sz="2200" dirty="0" smtClean="0"/>
              <a:t>block is called the Signed Data.</a:t>
            </a:r>
          </a:p>
          <a:p>
            <a:pPr marL="514350" lvl="1" indent="-514350" algn="just">
              <a:lnSpc>
                <a:spcPct val="90000"/>
              </a:lnSpc>
              <a:buClr>
                <a:srgbClr val="101141"/>
              </a:buClr>
              <a:buNone/>
            </a:pPr>
            <a:r>
              <a:rPr lang="en-IN" sz="2200" b="1" u="sng" dirty="0" smtClean="0"/>
              <a:t>Recipient's Procedure:</a:t>
            </a:r>
          </a:p>
          <a:p>
            <a:pPr marL="514350" lvl="1" indent="-514350" algn="just">
              <a:lnSpc>
                <a:spcPct val="90000"/>
              </a:lnSpc>
              <a:buClr>
                <a:srgbClr val="101141"/>
              </a:buClr>
              <a:buFont typeface="Wingdings" pitchFamily="2" charset="2"/>
              <a:buChar char="§"/>
            </a:pPr>
            <a:r>
              <a:rPr lang="en-IN" sz="2200" dirty="0" smtClean="0"/>
              <a:t>Recipient can read the message without verifying the signature.</a:t>
            </a:r>
          </a:p>
          <a:p>
            <a:pPr marL="514350" lvl="1" indent="-514350" algn="just">
              <a:lnSpc>
                <a:spcPct val="90000"/>
              </a:lnSpc>
              <a:buClr>
                <a:srgbClr val="101141"/>
              </a:buClr>
              <a:buFont typeface="Wingdings" pitchFamily="2" charset="2"/>
              <a:buChar char="§"/>
            </a:pPr>
            <a:r>
              <a:rPr lang="en-IN" sz="2200" dirty="0" smtClean="0"/>
              <a:t>Base-64 encoding is stripped off from the </a:t>
            </a:r>
            <a:r>
              <a:rPr lang="en-IN" sz="2200" b="1" i="1" dirty="0" err="1" smtClean="0"/>
              <a:t>SignerInfo</a:t>
            </a:r>
            <a:r>
              <a:rPr lang="en-IN" sz="2200" b="1" i="1" dirty="0" smtClean="0"/>
              <a:t> block.</a:t>
            </a:r>
            <a:endParaRPr lang="en-IN" sz="2200" dirty="0" smtClean="0"/>
          </a:p>
          <a:p>
            <a:pPr marL="514350" lvl="1" indent="-514350" algn="just">
              <a:lnSpc>
                <a:spcPct val="90000"/>
              </a:lnSpc>
              <a:buClr>
                <a:srgbClr val="101141"/>
              </a:buClr>
              <a:buFont typeface="Wingdings" pitchFamily="2" charset="2"/>
              <a:buChar char="§"/>
            </a:pPr>
            <a:r>
              <a:rPr lang="en-IN" sz="2200" dirty="0" smtClean="0"/>
              <a:t>Sender’s public key is used to decrypt the digest.</a:t>
            </a:r>
          </a:p>
          <a:p>
            <a:pPr marL="514350" lvl="1" indent="-514350" algn="just">
              <a:lnSpc>
                <a:spcPct val="90000"/>
              </a:lnSpc>
              <a:buClr>
                <a:srgbClr val="101141"/>
              </a:buClr>
              <a:buFont typeface="Wingdings" pitchFamily="2" charset="2"/>
              <a:buChar char="§"/>
            </a:pPr>
            <a:r>
              <a:rPr lang="en-IN" sz="2200" dirty="0" smtClean="0"/>
              <a:t>Recipient also independently calculates the digest and compares it with decrypted digest to verify the signature.</a:t>
            </a:r>
          </a:p>
          <a:p>
            <a:pPr marL="514350" lvl="1" indent="-514350" algn="just">
              <a:lnSpc>
                <a:spcPct val="90000"/>
              </a:lnSpc>
              <a:buClr>
                <a:srgbClr val="101141"/>
              </a:buClr>
              <a:buFont typeface="Wingdings" pitchFamily="2" charset="2"/>
              <a:buChar char="§"/>
            </a:pPr>
            <a:endParaRPr lang="en-IN" sz="2200" dirty="0" smtClean="0"/>
          </a:p>
          <a:p>
            <a:pPr marL="514350" lvl="1" indent="-514350" algn="just">
              <a:lnSpc>
                <a:spcPct val="90000"/>
              </a:lnSpc>
              <a:buClr>
                <a:srgbClr val="101141"/>
              </a:buClr>
              <a:buNone/>
            </a:pPr>
            <a:endParaRPr lang="en-IN" sz="2200" dirty="0" smtClean="0"/>
          </a:p>
        </p:txBody>
      </p:sp>
      <p:sp>
        <p:nvSpPr>
          <p:cNvPr id="3" name="Content Placeholder 2"/>
          <p:cNvSpPr>
            <a:spLocks noGrp="1"/>
          </p:cNvSpPr>
          <p:nvPr>
            <p:ph sz="quarter" idx="10"/>
          </p:nvPr>
        </p:nvSpPr>
        <p:spPr/>
        <p:txBody>
          <a:bodyPr/>
          <a:lstStyle/>
          <a:p>
            <a:r>
              <a:rPr lang="en-IN" dirty="0" smtClean="0"/>
              <a:t>S/MIME: Clear-Signed Data</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42</a:t>
            </a:fld>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12777"/>
            <a:ext cx="8229600" cy="5112568"/>
          </a:xfrm>
        </p:spPr>
        <p:txBody>
          <a:bodyPr>
            <a:normAutofit fontScale="70000" lnSpcReduction="20000"/>
          </a:bodyPr>
          <a:lstStyle/>
          <a:p>
            <a:r>
              <a:rPr lang="en-IN" sz="1800" b="1" dirty="0" smtClean="0">
                <a:solidFill>
                  <a:srgbClr val="00B050"/>
                </a:solidFill>
                <a:latin typeface="Courier New" pitchFamily="49" charset="0"/>
                <a:cs typeface="Courier New" pitchFamily="49" charset="0"/>
              </a:rPr>
              <a:t>Content-Type: multipart/signed; protocol="application/pkcs7-signature";</a:t>
            </a:r>
          </a:p>
          <a:p>
            <a:r>
              <a:rPr lang="en-IN" sz="1800" b="1" dirty="0" err="1" smtClean="0">
                <a:solidFill>
                  <a:srgbClr val="00B050"/>
                </a:solidFill>
                <a:latin typeface="Courier New" pitchFamily="49" charset="0"/>
                <a:cs typeface="Courier New" pitchFamily="49" charset="0"/>
              </a:rPr>
              <a:t>micalg</a:t>
            </a:r>
            <a:r>
              <a:rPr lang="en-IN" sz="1800" b="1" dirty="0" smtClean="0">
                <a:solidFill>
                  <a:srgbClr val="00B050"/>
                </a:solidFill>
                <a:latin typeface="Courier New" pitchFamily="49" charset="0"/>
                <a:cs typeface="Courier New" pitchFamily="49" charset="0"/>
              </a:rPr>
              <a:t>=sha1; boundary=boundary</a:t>
            </a:r>
          </a:p>
          <a:p>
            <a:endParaRPr lang="en-IN" sz="1800" b="1" dirty="0" smtClean="0">
              <a:solidFill>
                <a:srgbClr val="00B050"/>
              </a:solidFill>
              <a:latin typeface="Courier New" pitchFamily="49" charset="0"/>
              <a:cs typeface="Courier New" pitchFamily="49" charset="0"/>
            </a:endParaRPr>
          </a:p>
          <a:p>
            <a:r>
              <a:rPr lang="en-IN" sz="1800" b="1" dirty="0" smtClean="0">
                <a:latin typeface="Courier New" pitchFamily="49" charset="0"/>
                <a:cs typeface="Courier New" pitchFamily="49" charset="0"/>
              </a:rPr>
              <a:t>--boundary</a:t>
            </a:r>
          </a:p>
          <a:p>
            <a:r>
              <a:rPr lang="en-IN" sz="1800" b="1" dirty="0" smtClean="0">
                <a:solidFill>
                  <a:srgbClr val="00B050"/>
                </a:solidFill>
                <a:latin typeface="Courier New" pitchFamily="49" charset="0"/>
                <a:cs typeface="Courier New" pitchFamily="49" charset="0"/>
              </a:rPr>
              <a:t>Content-Type: text/plain</a:t>
            </a:r>
          </a:p>
          <a:p>
            <a:endParaRPr lang="en-IN" sz="1800" b="1" dirty="0" smtClean="0">
              <a:solidFill>
                <a:srgbClr val="00B050"/>
              </a:solidFill>
              <a:latin typeface="Courier New" pitchFamily="49" charset="0"/>
              <a:cs typeface="Courier New" pitchFamily="49" charset="0"/>
            </a:endParaRPr>
          </a:p>
          <a:p>
            <a:r>
              <a:rPr lang="en-IN" sz="1800" b="1" dirty="0" smtClean="0">
                <a:latin typeface="Courier New" pitchFamily="49" charset="0"/>
                <a:cs typeface="Courier New" pitchFamily="49" charset="0"/>
              </a:rPr>
              <a:t>This is a clear-signed message.</a:t>
            </a:r>
          </a:p>
          <a:p>
            <a:endParaRPr lang="en-IN" sz="1800" b="1" dirty="0" smtClean="0">
              <a:latin typeface="Courier New" pitchFamily="49" charset="0"/>
              <a:cs typeface="Courier New" pitchFamily="49" charset="0"/>
            </a:endParaRPr>
          </a:p>
          <a:p>
            <a:r>
              <a:rPr lang="en-IN" sz="1800" b="1" dirty="0" smtClean="0">
                <a:latin typeface="Courier New" pitchFamily="49" charset="0"/>
                <a:cs typeface="Courier New" pitchFamily="49" charset="0"/>
              </a:rPr>
              <a:t>--boundary</a:t>
            </a:r>
          </a:p>
          <a:p>
            <a:r>
              <a:rPr lang="en-IN" sz="1800" b="1" dirty="0" smtClean="0">
                <a:solidFill>
                  <a:srgbClr val="00B050"/>
                </a:solidFill>
                <a:latin typeface="Courier New" pitchFamily="49" charset="0"/>
                <a:cs typeface="Courier New" pitchFamily="49" charset="0"/>
              </a:rPr>
              <a:t>Content-Type: application/pkcs7-signature; </a:t>
            </a:r>
            <a:r>
              <a:rPr lang="en-IN" sz="1800" b="1" dirty="0" err="1" smtClean="0">
                <a:solidFill>
                  <a:srgbClr val="00B050"/>
                </a:solidFill>
                <a:latin typeface="Courier New" pitchFamily="49" charset="0"/>
                <a:cs typeface="Courier New" pitchFamily="49" charset="0"/>
              </a:rPr>
              <a:t>smime</a:t>
            </a:r>
            <a:r>
              <a:rPr lang="en-IN" sz="1800" b="1" dirty="0" smtClean="0">
                <a:solidFill>
                  <a:srgbClr val="00B050"/>
                </a:solidFill>
                <a:latin typeface="Courier New" pitchFamily="49" charset="0"/>
                <a:cs typeface="Courier New" pitchFamily="49" charset="0"/>
              </a:rPr>
              <a:t>-type=signed-data; name=smime.p7s</a:t>
            </a:r>
          </a:p>
          <a:p>
            <a:r>
              <a:rPr lang="en-IN" sz="1800" b="1" dirty="0" smtClean="0">
                <a:solidFill>
                  <a:srgbClr val="00B050"/>
                </a:solidFill>
                <a:latin typeface="Courier New" pitchFamily="49" charset="0"/>
                <a:cs typeface="Courier New" pitchFamily="49" charset="0"/>
              </a:rPr>
              <a:t>Content-Transfer-Encoding: base64</a:t>
            </a:r>
          </a:p>
          <a:p>
            <a:r>
              <a:rPr lang="en-IN" sz="1800" b="1" dirty="0" smtClean="0">
                <a:solidFill>
                  <a:srgbClr val="00B050"/>
                </a:solidFill>
                <a:latin typeface="Courier New" pitchFamily="49" charset="0"/>
                <a:cs typeface="Courier New" pitchFamily="49" charset="0"/>
              </a:rPr>
              <a:t>Content-Disposition: attachment; filename=smime.p7s</a:t>
            </a:r>
          </a:p>
          <a:p>
            <a:endParaRPr lang="en-IN" sz="1800" b="1" dirty="0" smtClean="0">
              <a:solidFill>
                <a:srgbClr val="00B050"/>
              </a:solidFill>
              <a:latin typeface="Courier New" pitchFamily="49" charset="0"/>
              <a:cs typeface="Courier New" pitchFamily="49" charset="0"/>
            </a:endParaRPr>
          </a:p>
          <a:p>
            <a:r>
              <a:rPr lang="en-IN" sz="1800" b="1" dirty="0" smtClean="0">
                <a:solidFill>
                  <a:srgbClr val="0070C0"/>
                </a:solidFill>
                <a:latin typeface="Courier New" pitchFamily="49" charset="0"/>
                <a:cs typeface="Courier New" pitchFamily="49" charset="0"/>
              </a:rPr>
              <a:t>ghyHhHUujhJhjH77n8HHGTrfvbnj756tbB9HG4VQpfyF467GhIGfHfYT6</a:t>
            </a:r>
          </a:p>
          <a:p>
            <a:r>
              <a:rPr lang="en-IN" sz="1800" b="1" dirty="0" smtClean="0">
                <a:solidFill>
                  <a:srgbClr val="0070C0"/>
                </a:solidFill>
                <a:latin typeface="Courier New" pitchFamily="49" charset="0"/>
                <a:cs typeface="Courier New" pitchFamily="49" charset="0"/>
              </a:rPr>
              <a:t>4VQpfyF467GhIGfHfYT6jH77n8HHGghyHhHUujhJh756tbB9HGTrfvbnj</a:t>
            </a:r>
          </a:p>
          <a:p>
            <a:r>
              <a:rPr lang="en-IN" sz="1800" b="1" dirty="0" smtClean="0">
                <a:solidFill>
                  <a:srgbClr val="0070C0"/>
                </a:solidFill>
                <a:latin typeface="Courier New" pitchFamily="49" charset="0"/>
                <a:cs typeface="Courier New" pitchFamily="49" charset="0"/>
              </a:rPr>
              <a:t>n8HHGTrfvhJhjH776tbB9HG4VQbnj7567GhIGfHfYT6ghyHhHUujpfyF4</a:t>
            </a:r>
          </a:p>
          <a:p>
            <a:r>
              <a:rPr lang="en-IN" sz="1800" b="1" dirty="0" smtClean="0">
                <a:solidFill>
                  <a:srgbClr val="0070C0"/>
                </a:solidFill>
                <a:latin typeface="Courier New" pitchFamily="49" charset="0"/>
                <a:cs typeface="Courier New" pitchFamily="49" charset="0"/>
              </a:rPr>
              <a:t>7GhIGfHfYT64VQbnj756</a:t>
            </a:r>
          </a:p>
          <a:p>
            <a:r>
              <a:rPr lang="en-IN" sz="1800" b="1" dirty="0" smtClean="0">
                <a:latin typeface="Courier New" pitchFamily="49" charset="0"/>
                <a:cs typeface="Courier New" pitchFamily="49" charset="0"/>
              </a:rPr>
              <a:t>--boundary--</a:t>
            </a:r>
          </a:p>
          <a:p>
            <a:endParaRPr lang="en-IN" sz="1600" b="1" dirty="0" smtClean="0">
              <a:solidFill>
                <a:srgbClr val="0070C0"/>
              </a:solidFill>
              <a:latin typeface="Courier New" pitchFamily="49" charset="0"/>
              <a:cs typeface="Courier New" pitchFamily="49" charset="0"/>
            </a:endParaRPr>
          </a:p>
          <a:p>
            <a:r>
              <a:rPr lang="en-IN" sz="2000" b="1" u="sng" dirty="0" smtClean="0"/>
              <a:t>Observe the following:</a:t>
            </a:r>
          </a:p>
          <a:p>
            <a:pPr marL="514350" lvl="1" indent="-514350" algn="just">
              <a:lnSpc>
                <a:spcPct val="90000"/>
              </a:lnSpc>
              <a:buClr>
                <a:srgbClr val="101141"/>
              </a:buClr>
              <a:buFont typeface="Wingdings" pitchFamily="2" charset="2"/>
              <a:buChar char="§"/>
            </a:pPr>
            <a:r>
              <a:rPr lang="en-IN" sz="2200" dirty="0" smtClean="0"/>
              <a:t>Content-Type is multipart and sub-type is signed. Protocol parameter tells the signature and </a:t>
            </a:r>
            <a:r>
              <a:rPr lang="en-IN" sz="2200" dirty="0" err="1" smtClean="0"/>
              <a:t>micalg</a:t>
            </a:r>
            <a:r>
              <a:rPr lang="en-IN" sz="2200" dirty="0" smtClean="0"/>
              <a:t> tells the digest algorithm.</a:t>
            </a:r>
          </a:p>
          <a:p>
            <a:pPr marL="514350" lvl="1" indent="-514350" algn="just">
              <a:lnSpc>
                <a:spcPct val="90000"/>
              </a:lnSpc>
              <a:buClr>
                <a:srgbClr val="101141"/>
              </a:buClr>
              <a:buFont typeface="Wingdings" pitchFamily="2" charset="2"/>
              <a:buChar char="§"/>
            </a:pPr>
            <a:r>
              <a:rPr lang="en-IN" sz="2200" dirty="0" smtClean="0"/>
              <a:t>The message body is plain text. The digital signature is in the second part.</a:t>
            </a:r>
          </a:p>
          <a:p>
            <a:pPr marL="514350" lvl="1" indent="-514350" algn="just">
              <a:lnSpc>
                <a:spcPct val="90000"/>
              </a:lnSpc>
              <a:buClr>
                <a:srgbClr val="101141"/>
              </a:buClr>
              <a:buFont typeface="Wingdings" pitchFamily="2" charset="2"/>
              <a:buChar char="§"/>
            </a:pPr>
            <a:r>
              <a:rPr lang="en-IN" sz="2200" dirty="0" smtClean="0"/>
              <a:t>Content-Disposition specifying an attachment with a parameter of file name having p7s extension.</a:t>
            </a:r>
          </a:p>
        </p:txBody>
      </p:sp>
      <p:sp>
        <p:nvSpPr>
          <p:cNvPr id="3" name="Content Placeholder 2"/>
          <p:cNvSpPr>
            <a:spLocks noGrp="1"/>
          </p:cNvSpPr>
          <p:nvPr>
            <p:ph sz="quarter" idx="10"/>
          </p:nvPr>
        </p:nvSpPr>
        <p:spPr/>
        <p:txBody>
          <a:bodyPr/>
          <a:lstStyle/>
          <a:p>
            <a:r>
              <a:rPr lang="en-IN" dirty="0" smtClean="0"/>
              <a:t>S/MIME: Clear-Signed Data</a:t>
            </a:r>
          </a:p>
          <a:p>
            <a:r>
              <a:rPr lang="en-IN" sz="2000" dirty="0" smtClean="0"/>
              <a:t>Example</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43</a:t>
            </a:fld>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514350" lvl="1" indent="-514350" algn="just">
              <a:lnSpc>
                <a:spcPct val="90000"/>
              </a:lnSpc>
              <a:buClr>
                <a:srgbClr val="101141"/>
              </a:buClr>
              <a:buFont typeface="Wingdings" pitchFamily="2" charset="2"/>
              <a:buChar char="§"/>
            </a:pPr>
            <a:r>
              <a:rPr lang="en-IN" dirty="0" smtClean="0"/>
              <a:t>Hash Functions: SHA-1 and Message Digest (MD5)</a:t>
            </a:r>
          </a:p>
          <a:p>
            <a:pPr marL="514350" lvl="1" indent="-514350" algn="just">
              <a:lnSpc>
                <a:spcPct val="90000"/>
              </a:lnSpc>
              <a:buClr>
                <a:srgbClr val="101141"/>
              </a:buClr>
              <a:buFont typeface="Wingdings" pitchFamily="2" charset="2"/>
              <a:buChar char="§"/>
            </a:pPr>
            <a:r>
              <a:rPr lang="en-IN" dirty="0" smtClean="0"/>
              <a:t>Digital Signatures: DSS and RSA</a:t>
            </a:r>
          </a:p>
          <a:p>
            <a:pPr marL="514350" lvl="1" indent="-514350" algn="just">
              <a:lnSpc>
                <a:spcPct val="90000"/>
              </a:lnSpc>
              <a:buClr>
                <a:srgbClr val="101141"/>
              </a:buClr>
              <a:buFont typeface="Wingdings" pitchFamily="2" charset="2"/>
              <a:buChar char="§"/>
            </a:pPr>
            <a:r>
              <a:rPr lang="en-IN" dirty="0" smtClean="0"/>
              <a:t>Session Key Encryption: Diffie-Hellman/</a:t>
            </a:r>
            <a:r>
              <a:rPr lang="en-IN" dirty="0" err="1" smtClean="0"/>
              <a:t>ElGamal</a:t>
            </a:r>
            <a:r>
              <a:rPr lang="en-IN" dirty="0" smtClean="0"/>
              <a:t> and RSA</a:t>
            </a:r>
          </a:p>
          <a:p>
            <a:pPr marL="514350" lvl="1" indent="-514350" algn="just">
              <a:lnSpc>
                <a:spcPct val="90000"/>
              </a:lnSpc>
              <a:buClr>
                <a:srgbClr val="101141"/>
              </a:buClr>
              <a:buFont typeface="Wingdings" pitchFamily="2" charset="2"/>
              <a:buChar char="§"/>
            </a:pPr>
            <a:r>
              <a:rPr lang="en-IN" dirty="0" smtClean="0"/>
              <a:t>Message Encryption: 3-DES, RC2/40</a:t>
            </a:r>
          </a:p>
          <a:p>
            <a:endParaRPr lang="en-IN" dirty="0" smtClean="0"/>
          </a:p>
          <a:p>
            <a:pPr marL="0" indent="0" algn="just">
              <a:lnSpc>
                <a:spcPct val="110000"/>
              </a:lnSpc>
              <a:spcBef>
                <a:spcPts val="0"/>
              </a:spcBef>
            </a:pPr>
            <a:r>
              <a:rPr lang="en-IN" sz="1800" b="1" u="sng" dirty="0" smtClean="0"/>
              <a:t>Note</a:t>
            </a:r>
            <a:r>
              <a:rPr lang="en-IN" sz="1800" b="1" dirty="0" smtClean="0"/>
              <a:t>:</a:t>
            </a:r>
            <a:r>
              <a:rPr lang="en-IN" sz="1800" dirty="0" smtClean="0"/>
              <a:t> There are few absolute (MUST) and few recommended (SHOULD) requirements for the sender and receiver to support the above algorithms. They are described in IETF </a:t>
            </a:r>
            <a:r>
              <a:rPr lang="en-IN" sz="1800" dirty="0" smtClean="0">
                <a:hlinkClick r:id="rId2"/>
              </a:rPr>
              <a:t>RFC-5751</a:t>
            </a:r>
            <a:r>
              <a:rPr lang="en-IN" sz="1800" dirty="0" smtClean="0"/>
              <a:t>.</a:t>
            </a:r>
            <a:endParaRPr lang="en-IN" sz="1800" dirty="0"/>
          </a:p>
        </p:txBody>
      </p:sp>
      <p:sp>
        <p:nvSpPr>
          <p:cNvPr id="3" name="Content Placeholder 2"/>
          <p:cNvSpPr>
            <a:spLocks noGrp="1"/>
          </p:cNvSpPr>
          <p:nvPr>
            <p:ph sz="quarter" idx="10"/>
          </p:nvPr>
        </p:nvSpPr>
        <p:spPr/>
        <p:txBody>
          <a:bodyPr/>
          <a:lstStyle/>
          <a:p>
            <a:r>
              <a:rPr lang="en-IN" dirty="0" smtClean="0"/>
              <a:t>S/MIME: Cryptographic Algorithms</a:t>
            </a:r>
          </a:p>
          <a:p>
            <a:r>
              <a:rPr lang="en-IN" sz="2000" dirty="0" smtClean="0"/>
              <a:t>Quick Summary</a:t>
            </a:r>
            <a:endParaRPr lang="en-IN" sz="2000"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44</a:t>
            </a:fld>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endParaRPr lang="en-US" b="1" i="1" spc="-150" dirty="0" smtClean="0">
              <a:latin typeface="Arial" pitchFamily="34" charset="0"/>
            </a:endParaRPr>
          </a:p>
          <a:p>
            <a:pPr lvl="0"/>
            <a:endParaRPr lang="en-US" b="1" i="1" spc="-150" dirty="0" smtClean="0">
              <a:latin typeface="Arial" pitchFamily="34" charset="0"/>
            </a:endParaRPr>
          </a:p>
          <a:p>
            <a:pPr lvl="0"/>
            <a:endParaRPr lang="en-US" b="1" i="1" spc="-150" dirty="0" smtClean="0">
              <a:latin typeface="Arial" pitchFamily="34" charset="0"/>
            </a:endParaRPr>
          </a:p>
          <a:p>
            <a:pPr lvl="0"/>
            <a:r>
              <a:rPr lang="en-US" b="1" i="1" spc="-150" dirty="0" smtClean="0">
                <a:latin typeface="Arial" pitchFamily="34" charset="0"/>
              </a:rPr>
              <a:t>                                         Thank You</a:t>
            </a:r>
          </a:p>
          <a:p>
            <a:endParaRPr lang="en-IN" dirty="0"/>
          </a:p>
        </p:txBody>
      </p:sp>
      <p:sp>
        <p:nvSpPr>
          <p:cNvPr id="3" name="Content Placeholder 2"/>
          <p:cNvSpPr>
            <a:spLocks noGrp="1"/>
          </p:cNvSpPr>
          <p:nvPr>
            <p:ph sz="quarter" idx="10"/>
          </p:nvPr>
        </p:nvSpPr>
        <p:spPr/>
        <p:txBody>
          <a:bodyPr/>
          <a:lstStyle/>
          <a:p>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pPr/>
              <a:t>45</a:t>
            </a:fld>
            <a:endParaRPr lang="en-US" dirty="0"/>
          </a:p>
        </p:txBody>
      </p:sp>
    </p:spTree>
  </p:cSld>
  <p:clrMapOvr>
    <a:masterClrMapping/>
  </p:clrMapOvr>
</p:sld>
</file>

<file path=ppt/theme/theme1.xml><?xml version="1.0" encoding="utf-8"?>
<a:theme xmlns:a="http://schemas.openxmlformats.org/drawingml/2006/main" name="1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9290</TotalTime>
  <Words>3988</Words>
  <Application>Microsoft Office PowerPoint</Application>
  <PresentationFormat>On-screen Show (4:3)</PresentationFormat>
  <Paragraphs>656</Paragraphs>
  <Slides>45</Slides>
  <Notes>3</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1_Office Theme</vt:lpstr>
      <vt:lpstr> Network Security                                                                 Vijayalakshmi  Anand</vt:lpstr>
      <vt:lpstr>Slide 2</vt:lpstr>
      <vt:lpstr>Slide 3</vt:lpstr>
      <vt:lpstr>Transmission of Credit Card Details</vt:lpstr>
      <vt:lpstr>Need for Security…</vt:lpstr>
      <vt:lpstr>Authentication…</vt:lpstr>
      <vt:lpstr>Integrity…</vt:lpstr>
      <vt:lpstr>Confidentiality…</vt:lpstr>
      <vt:lpstr>Non-repudiation …</vt:lpstr>
      <vt:lpstr>How to achieve Security?</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lakshya</dc:creator>
  <cp:lastModifiedBy>BITS11</cp:lastModifiedBy>
  <cp:revision>684</cp:revision>
  <dcterms:created xsi:type="dcterms:W3CDTF">2012-01-02T05:05:52Z</dcterms:created>
  <dcterms:modified xsi:type="dcterms:W3CDTF">2018-03-30T12:37:37Z</dcterms:modified>
</cp:coreProperties>
</file>