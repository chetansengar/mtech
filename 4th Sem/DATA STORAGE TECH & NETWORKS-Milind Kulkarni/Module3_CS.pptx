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3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4C75A-7978-4E55-B748-D4596474E66E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B73BD-CF43-467D-963E-753B1741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35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9D2F-5FCE-4B4F-80E6-E39EED6BD8E1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133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78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912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72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95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7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2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596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47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8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4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95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D90F4-118C-4A81-95FB-2A15071F7DF0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9DD6-0BE1-4641-A530-66FFF90FF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4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09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488" y="1268761"/>
            <a:ext cx="9071992" cy="4525963"/>
          </a:xfrm>
        </p:spPr>
        <p:txBody>
          <a:bodyPr/>
          <a:lstStyle/>
          <a:p>
            <a:r>
              <a:rPr lang="en-US" sz="3600" b="1" dirty="0"/>
              <a:t>Network Attached Storage (NAS)</a:t>
            </a:r>
          </a:p>
          <a:p>
            <a:pPr lvl="1"/>
            <a:r>
              <a:rPr lang="en-US" dirty="0" smtClean="0"/>
              <a:t>Storage Array Types</a:t>
            </a:r>
          </a:p>
          <a:p>
            <a:pPr lvl="1"/>
            <a:r>
              <a:rPr lang="en-US" dirty="0" smtClean="0"/>
              <a:t>What is NAS….?</a:t>
            </a:r>
          </a:p>
          <a:p>
            <a:pPr lvl="1"/>
            <a:r>
              <a:rPr lang="en-US" dirty="0" smtClean="0"/>
              <a:t>File Systems Functions</a:t>
            </a:r>
          </a:p>
          <a:p>
            <a:pPr lvl="1"/>
            <a:r>
              <a:rPr lang="en-US" dirty="0" smtClean="0"/>
              <a:t>File System for Network Storage vs. Traditional File System</a:t>
            </a:r>
          </a:p>
          <a:p>
            <a:pPr lvl="1"/>
            <a:r>
              <a:rPr lang="en-US" dirty="0" smtClean="0"/>
              <a:t>NAS Systems/Architectures</a:t>
            </a:r>
          </a:p>
          <a:p>
            <a:pPr lvl="2"/>
            <a:r>
              <a:rPr lang="en-US" dirty="0" smtClean="0"/>
              <a:t>Gateway NAS and NAS Appliances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91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Arrays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12776"/>
            <a:ext cx="8712968" cy="504056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SAN</a:t>
            </a:r>
          </a:p>
          <a:p>
            <a:pPr lvl="1"/>
            <a:r>
              <a:rPr lang="en-US" dirty="0" smtClean="0"/>
              <a:t>Provides connectivity via FC, </a:t>
            </a:r>
            <a:r>
              <a:rPr lang="en-US" dirty="0" err="1" smtClean="0"/>
              <a:t>FCoE</a:t>
            </a:r>
            <a:r>
              <a:rPr lang="en-US" dirty="0" smtClean="0"/>
              <a:t>, </a:t>
            </a:r>
            <a:r>
              <a:rPr lang="en-US" dirty="0" err="1" smtClean="0"/>
              <a:t>iSCSI</a:t>
            </a:r>
            <a:r>
              <a:rPr lang="en-US" dirty="0" smtClean="0"/>
              <a:t>, SCSI (SAS)</a:t>
            </a:r>
          </a:p>
          <a:p>
            <a:pPr lvl="1"/>
            <a:r>
              <a:rPr lang="en-US" dirty="0" smtClean="0"/>
              <a:t>Uses low level disk drive access commands like READ block, WRITE block, and READ capacity</a:t>
            </a:r>
          </a:p>
          <a:p>
            <a:r>
              <a:rPr lang="en-US" b="1" i="1" dirty="0" smtClean="0"/>
              <a:t>NAS</a:t>
            </a:r>
          </a:p>
          <a:p>
            <a:pPr lvl="1"/>
            <a:r>
              <a:rPr lang="en-US" dirty="0" smtClean="0"/>
              <a:t>Provides connectivity over file based protocols like Network File System (NFS), SMB/CIFS (Server Message Block/Common Internet File System)</a:t>
            </a:r>
          </a:p>
          <a:p>
            <a:pPr lvl="1"/>
            <a:r>
              <a:rPr lang="en-US" dirty="0" smtClean="0"/>
              <a:t>Uses high level file based protocols </a:t>
            </a:r>
          </a:p>
          <a:p>
            <a:pPr lvl="1"/>
            <a:r>
              <a:rPr lang="en-US" dirty="0" smtClean="0"/>
              <a:t>Commands: create a file, rename a file, lock a byte range within a file etc. </a:t>
            </a:r>
          </a:p>
          <a:p>
            <a:r>
              <a:rPr lang="en-US" dirty="0" smtClean="0"/>
              <a:t>Unified (SAN and NAS)</a:t>
            </a:r>
          </a:p>
          <a:p>
            <a:pPr lvl="1"/>
            <a:r>
              <a:rPr lang="en-US" dirty="0" smtClean="0"/>
              <a:t>Shared storage over both file and block protocols (aka multiprotocol arrays)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3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on the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does a Computer Network achieve?</a:t>
            </a:r>
          </a:p>
          <a:p>
            <a:pPr lvl="1"/>
            <a:r>
              <a:rPr lang="en-US" dirty="0" smtClean="0"/>
              <a:t>Communication </a:t>
            </a:r>
          </a:p>
          <a:p>
            <a:r>
              <a:rPr lang="en-US" dirty="0" smtClean="0"/>
              <a:t>Complexity management for computation</a:t>
            </a:r>
          </a:p>
          <a:p>
            <a:pPr lvl="1"/>
            <a:r>
              <a:rPr lang="en-US" dirty="0" smtClean="0"/>
              <a:t>Local computation vs. Non-local Computation</a:t>
            </a:r>
          </a:p>
          <a:p>
            <a:r>
              <a:rPr lang="en-US" dirty="0" smtClean="0"/>
              <a:t>Collaboration</a:t>
            </a:r>
          </a:p>
          <a:p>
            <a:r>
              <a:rPr lang="en-US" dirty="0" smtClean="0"/>
              <a:t>Persistent Shared Data</a:t>
            </a:r>
          </a:p>
          <a:p>
            <a:pPr lvl="1"/>
            <a:r>
              <a:rPr lang="en-US" dirty="0" smtClean="0"/>
              <a:t>Data is accessible to (or accessible through) multiple computers and persistent across computations</a:t>
            </a:r>
          </a:p>
          <a:p>
            <a:pPr lvl="1"/>
            <a:r>
              <a:rPr lang="en-US" dirty="0" smtClean="0"/>
              <a:t>Storage is shared by multiple computers i.e. available on a network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88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274638"/>
            <a:ext cx="6264696" cy="85010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 Attached Storage (NAS)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600200"/>
            <a:ext cx="8496944" cy="4925144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NAS drives examples:</a:t>
            </a:r>
          </a:p>
          <a:p>
            <a:pPr lvl="1"/>
            <a:r>
              <a:rPr lang="en-US" dirty="0" smtClean="0"/>
              <a:t>Windows</a:t>
            </a:r>
          </a:p>
          <a:p>
            <a:pPr lvl="2"/>
            <a:r>
              <a:rPr lang="en-US" dirty="0" smtClean="0"/>
              <a:t>Shares or network shares</a:t>
            </a:r>
          </a:p>
          <a:p>
            <a:pPr lvl="2"/>
            <a:r>
              <a:rPr lang="en-US" dirty="0" smtClean="0"/>
              <a:t>Supports mapping of external file systems on local machine as drive name</a:t>
            </a:r>
          </a:p>
          <a:p>
            <a:pPr lvl="1"/>
            <a:r>
              <a:rPr lang="en-US" dirty="0" smtClean="0"/>
              <a:t>Linux </a:t>
            </a:r>
          </a:p>
          <a:p>
            <a:pPr lvl="2"/>
            <a:r>
              <a:rPr lang="en-US" dirty="0" smtClean="0"/>
              <a:t>Exports or NFS exports</a:t>
            </a:r>
          </a:p>
          <a:p>
            <a:pPr lvl="2"/>
            <a:r>
              <a:rPr lang="en-US" dirty="0" smtClean="0"/>
              <a:t>NFS exports are usually mounted to a mount point within the root file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</a:t>
            </a:fld>
            <a:endParaRPr lang="en-IN" dirty="0"/>
          </a:p>
        </p:txBody>
      </p:sp>
      <p:pic>
        <p:nvPicPr>
          <p:cNvPr id="1026" name="Picture 2" descr="Image result for compu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9577" y="2060848"/>
            <a:ext cx="1651947" cy="936104"/>
          </a:xfrm>
          <a:prstGeom prst="rect">
            <a:avLst/>
          </a:prstGeom>
          <a:noFill/>
        </p:spPr>
      </p:pic>
      <p:sp>
        <p:nvSpPr>
          <p:cNvPr id="6" name="Frame 5"/>
          <p:cNvSpPr/>
          <p:nvPr/>
        </p:nvSpPr>
        <p:spPr>
          <a:xfrm>
            <a:off x="5291512" y="2134524"/>
            <a:ext cx="1078452" cy="720080"/>
          </a:xfrm>
          <a:prstGeom prst="fram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NAS Head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" name="Group 10"/>
          <p:cNvGrpSpPr/>
          <p:nvPr/>
        </p:nvGrpSpPr>
        <p:grpSpPr>
          <a:xfrm>
            <a:off x="8112224" y="2060848"/>
            <a:ext cx="720080" cy="864096"/>
            <a:chOff x="6660232" y="2780928"/>
            <a:chExt cx="720080" cy="864096"/>
          </a:xfrm>
        </p:grpSpPr>
        <p:sp>
          <p:nvSpPr>
            <p:cNvPr id="7" name="Can 6"/>
            <p:cNvSpPr/>
            <p:nvPr/>
          </p:nvSpPr>
          <p:spPr>
            <a:xfrm>
              <a:off x="6660232" y="2780928"/>
              <a:ext cx="288032" cy="360040"/>
            </a:xfrm>
            <a:prstGeom prst="can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an 7"/>
            <p:cNvSpPr/>
            <p:nvPr/>
          </p:nvSpPr>
          <p:spPr>
            <a:xfrm>
              <a:off x="7092280" y="2780928"/>
              <a:ext cx="288032" cy="360040"/>
            </a:xfrm>
            <a:prstGeom prst="can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n 8"/>
            <p:cNvSpPr/>
            <p:nvPr/>
          </p:nvSpPr>
          <p:spPr>
            <a:xfrm>
              <a:off x="6660232" y="3284984"/>
              <a:ext cx="288032" cy="360040"/>
            </a:xfrm>
            <a:prstGeom prst="can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an 9"/>
            <p:cNvSpPr/>
            <p:nvPr/>
          </p:nvSpPr>
          <p:spPr>
            <a:xfrm>
              <a:off x="7092280" y="3284984"/>
              <a:ext cx="288032" cy="360040"/>
            </a:xfrm>
            <a:prstGeom prst="can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>
            <a:off x="3575720" y="2463092"/>
            <a:ext cx="172819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355896" y="2492896"/>
            <a:ext cx="172819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0800000" flipV="1">
            <a:off x="3863753" y="2060848"/>
            <a:ext cx="100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R/W file</a:t>
            </a:r>
          </a:p>
        </p:txBody>
      </p:sp>
      <p:sp>
        <p:nvSpPr>
          <p:cNvPr id="16" name="TextBox 15"/>
          <p:cNvSpPr txBox="1"/>
          <p:nvPr/>
        </p:nvSpPr>
        <p:spPr>
          <a:xfrm rot="10800000" flipV="1">
            <a:off x="6456039" y="1880147"/>
            <a:ext cx="1440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Block I/O to Disk drives</a:t>
            </a:r>
          </a:p>
        </p:txBody>
      </p:sp>
      <p:sp>
        <p:nvSpPr>
          <p:cNvPr id="17" name="TextBox 16"/>
          <p:cNvSpPr txBox="1"/>
          <p:nvPr/>
        </p:nvSpPr>
        <p:spPr>
          <a:xfrm rot="10800000" flipV="1">
            <a:off x="7896201" y="2996953"/>
            <a:ext cx="1440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NAS Backend</a:t>
            </a:r>
          </a:p>
          <a:p>
            <a:r>
              <a:rPr lang="en-US" dirty="0"/>
              <a:t>(Disk drives)</a:t>
            </a:r>
          </a:p>
        </p:txBody>
      </p:sp>
      <p:sp>
        <p:nvSpPr>
          <p:cNvPr id="19" name="TextBox 18"/>
          <p:cNvSpPr txBox="1"/>
          <p:nvPr/>
        </p:nvSpPr>
        <p:spPr>
          <a:xfrm rot="10800000" flipV="1">
            <a:off x="2639616" y="30689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54095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Attached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Storage units are on the network</a:t>
            </a:r>
          </a:p>
          <a:p>
            <a:pPr lvl="1"/>
            <a:r>
              <a:rPr lang="en-US" dirty="0" smtClean="0"/>
              <a:t>Network is the same as the compute network (LAN)</a:t>
            </a:r>
          </a:p>
          <a:p>
            <a:pPr lvl="1"/>
            <a:r>
              <a:rPr lang="en-US" dirty="0" smtClean="0"/>
              <a:t>Data is accessed as files from file systems</a:t>
            </a:r>
          </a:p>
          <a:p>
            <a:pPr lvl="2"/>
            <a:r>
              <a:rPr lang="en-US" dirty="0" smtClean="0"/>
              <a:t>File Systems are supported by file servers (NAS servers)</a:t>
            </a:r>
          </a:p>
          <a:p>
            <a:pPr lvl="2"/>
            <a:r>
              <a:rPr lang="en-US" dirty="0" smtClean="0"/>
              <a:t>Novell’s file servers were one of the earliest networked file servers.</a:t>
            </a:r>
          </a:p>
          <a:p>
            <a:endParaRPr lang="en-US" dirty="0" smtClean="0"/>
          </a:p>
          <a:p>
            <a:r>
              <a:rPr lang="en-US" dirty="0" smtClean="0"/>
              <a:t>NAS systems come in different configurations:</a:t>
            </a:r>
          </a:p>
          <a:p>
            <a:pPr lvl="1"/>
            <a:r>
              <a:rPr lang="en-US" dirty="0" smtClean="0"/>
              <a:t>Server including FM and FS and direct attached storage</a:t>
            </a:r>
          </a:p>
          <a:p>
            <a:pPr lvl="1"/>
            <a:r>
              <a:rPr lang="en-US" dirty="0" smtClean="0"/>
              <a:t>NAS head (only the FM) separate from the FS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52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NAS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412776"/>
            <a:ext cx="4392488" cy="5112568"/>
          </a:xfrm>
        </p:spPr>
        <p:txBody>
          <a:bodyPr/>
          <a:lstStyle/>
          <a:p>
            <a:r>
              <a:rPr lang="en-US" dirty="0" smtClean="0"/>
              <a:t>NAS 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23992" y="1412776"/>
            <a:ext cx="4427984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rgbClr val="C00000"/>
                </a:solidFill>
              </a:rPr>
              <a:t>NAS Gateway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7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484784"/>
            <a:ext cx="8712968" cy="4896544"/>
          </a:xfrm>
        </p:spPr>
        <p:txBody>
          <a:bodyPr/>
          <a:lstStyle/>
          <a:p>
            <a:r>
              <a:rPr lang="en-US" dirty="0" smtClean="0"/>
              <a:t>File systems form an intermediate layer between block oriented hard disks and applications with a volume manager</a:t>
            </a:r>
          </a:p>
          <a:p>
            <a:pPr lvl="1"/>
            <a:r>
              <a:rPr lang="en-US" dirty="0" smtClean="0"/>
              <a:t>Manage the blocks of the disk</a:t>
            </a:r>
          </a:p>
          <a:p>
            <a:pPr lvl="1"/>
            <a:r>
              <a:rPr lang="en-US" dirty="0" smtClean="0"/>
              <a:t>Make available to users and applications via directories and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30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Systems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12776"/>
            <a:ext cx="8640960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Journaling</a:t>
            </a:r>
          </a:p>
          <a:p>
            <a:pPr lvl="1"/>
            <a:r>
              <a:rPr lang="en-US" dirty="0" smtClean="0"/>
              <a:t>Ensure consistency of the file system even after a system crash</a:t>
            </a:r>
          </a:p>
          <a:p>
            <a:pPr lvl="1"/>
            <a:r>
              <a:rPr lang="en-US" dirty="0" smtClean="0"/>
              <a:t>Every change in the file system is first recorded in a log file</a:t>
            </a:r>
          </a:p>
          <a:p>
            <a:r>
              <a:rPr lang="en-US" dirty="0" smtClean="0"/>
              <a:t>Snapshots</a:t>
            </a:r>
          </a:p>
          <a:p>
            <a:pPr lvl="1"/>
            <a:r>
              <a:rPr lang="en-US" dirty="0" smtClean="0"/>
              <a:t>To freeze the state of the file system at a given point of time (state of the data should be consistent)</a:t>
            </a:r>
          </a:p>
          <a:p>
            <a:pPr lvl="1"/>
            <a:r>
              <a:rPr lang="en-US" dirty="0" smtClean="0"/>
              <a:t>It loads server’s CPU and hardware independent</a:t>
            </a:r>
          </a:p>
          <a:p>
            <a:r>
              <a:rPr lang="en-US" dirty="0" smtClean="0"/>
              <a:t>Dynamic File System Expansion</a:t>
            </a:r>
          </a:p>
          <a:p>
            <a:pPr lvl="1"/>
            <a:r>
              <a:rPr lang="en-US" dirty="0" smtClean="0"/>
              <a:t>Volume manager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46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NAS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12776"/>
            <a:ext cx="8712968" cy="5040560"/>
          </a:xfrm>
        </p:spPr>
        <p:txBody>
          <a:bodyPr>
            <a:normAutofit/>
          </a:bodyPr>
          <a:lstStyle/>
          <a:p>
            <a:r>
              <a:rPr lang="en-US" dirty="0" smtClean="0"/>
              <a:t>File Servers</a:t>
            </a:r>
          </a:p>
          <a:p>
            <a:pPr lvl="1"/>
            <a:r>
              <a:rPr lang="en-US" dirty="0" smtClean="0"/>
              <a:t>Operating System Implementation</a:t>
            </a:r>
          </a:p>
          <a:p>
            <a:pPr lvl="2"/>
            <a:r>
              <a:rPr lang="en-US" dirty="0" smtClean="0"/>
              <a:t>Customized Operating Systems</a:t>
            </a:r>
          </a:p>
          <a:p>
            <a:pPr lvl="3"/>
            <a:r>
              <a:rPr lang="en-US" dirty="0" smtClean="0"/>
              <a:t>Typically thinned versions of Linux or Windows</a:t>
            </a:r>
          </a:p>
          <a:p>
            <a:pPr lvl="2"/>
            <a:r>
              <a:rPr lang="en-US" dirty="0" smtClean="0"/>
              <a:t>Most tasks are I/O bound (particularly file I/O)</a:t>
            </a:r>
          </a:p>
          <a:p>
            <a:pPr lvl="3"/>
            <a:r>
              <a:rPr lang="en-US" dirty="0" smtClean="0"/>
              <a:t>Simpler scheduling and task management</a:t>
            </a:r>
          </a:p>
          <a:p>
            <a:pPr lvl="3"/>
            <a:r>
              <a:rPr lang="en-US" dirty="0" smtClean="0"/>
              <a:t>No user management or user interaction required</a:t>
            </a:r>
          </a:p>
          <a:p>
            <a:pPr lvl="2"/>
            <a:r>
              <a:rPr lang="en-US" dirty="0" smtClean="0"/>
              <a:t>Restricted Memory allocation model (Mostly for buffering)</a:t>
            </a:r>
          </a:p>
          <a:p>
            <a:pPr lvl="3"/>
            <a:r>
              <a:rPr lang="en-US" dirty="0" smtClean="0"/>
              <a:t>No heap needed</a:t>
            </a:r>
          </a:p>
          <a:p>
            <a:pPr lvl="3"/>
            <a:r>
              <a:rPr lang="en-US" dirty="0" smtClean="0"/>
              <a:t>Limited stack size</a:t>
            </a:r>
          </a:p>
          <a:p>
            <a:pPr lvl="2"/>
            <a:r>
              <a:rPr lang="en-US" dirty="0" smtClean="0"/>
              <a:t>Tasks are (soft) real-time</a:t>
            </a:r>
          </a:p>
          <a:p>
            <a:pPr lvl="3"/>
            <a:r>
              <a:rPr lang="en-US" dirty="0" smtClean="0"/>
              <a:t>At the server level, I/O requests must have time-bounds to provide performance guarantees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25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NAS Arrays: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12776"/>
            <a:ext cx="8640960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Multiple individual NAS arrays can be deployed </a:t>
            </a:r>
          </a:p>
          <a:p>
            <a:pPr lvl="1"/>
            <a:r>
              <a:rPr lang="en-US" dirty="0" smtClean="0"/>
              <a:t>e.g. per project one NAS array</a:t>
            </a:r>
          </a:p>
          <a:p>
            <a:pPr lvl="1"/>
            <a:r>
              <a:rPr lang="en-US" dirty="0" smtClean="0"/>
              <a:t>Drawback</a:t>
            </a:r>
          </a:p>
          <a:p>
            <a:pPr lvl="2"/>
            <a:r>
              <a:rPr lang="en-US" dirty="0" smtClean="0"/>
              <a:t>Management becomes tedious</a:t>
            </a:r>
          </a:p>
          <a:p>
            <a:r>
              <a:rPr lang="en-US" dirty="0" smtClean="0"/>
              <a:t>Single Global Namespace or single file system (scale-out NAS system)</a:t>
            </a:r>
          </a:p>
          <a:p>
            <a:pPr lvl="1"/>
            <a:r>
              <a:rPr lang="en-US" dirty="0" smtClean="0"/>
              <a:t>Adding more servers with CPU + memory + storage</a:t>
            </a:r>
          </a:p>
          <a:p>
            <a:pPr lvl="1"/>
            <a:r>
              <a:rPr lang="en-US" dirty="0" smtClean="0"/>
              <a:t>One file system on the network accessed by all nodes</a:t>
            </a:r>
          </a:p>
          <a:p>
            <a:pPr lvl="1"/>
            <a:r>
              <a:rPr lang="en-US" dirty="0" smtClean="0"/>
              <a:t>Called as NAS clusters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64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/>
          <a:lstStyle/>
          <a:p>
            <a:r>
              <a:rPr lang="en-US" dirty="0" smtClean="0"/>
              <a:t>Multiple Individual NAS Arrays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NAS Cluster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6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Network File System protocol (NFS)</a:t>
            </a:r>
          </a:p>
          <a:p>
            <a:pPr lvl="1"/>
            <a:r>
              <a:rPr lang="en-US" dirty="0" smtClean="0"/>
              <a:t>Design goals</a:t>
            </a:r>
          </a:p>
          <a:p>
            <a:pPr lvl="1"/>
            <a:r>
              <a:rPr lang="en-US" dirty="0" smtClean="0"/>
              <a:t>Interface</a:t>
            </a:r>
          </a:p>
          <a:p>
            <a:pPr lvl="1"/>
            <a:r>
              <a:rPr lang="en-US" dirty="0" smtClean="0"/>
              <a:t>NFS Transport</a:t>
            </a:r>
          </a:p>
          <a:p>
            <a:pPr lvl="1"/>
            <a:r>
              <a:rPr lang="en-US" dirty="0" smtClean="0"/>
              <a:t>Operation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24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NFS?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12776"/>
            <a:ext cx="8568952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A remote file system protocol </a:t>
            </a:r>
          </a:p>
          <a:p>
            <a:pPr lvl="1"/>
            <a:r>
              <a:rPr lang="en-US" dirty="0" smtClean="0"/>
              <a:t>Designed and implemented by Sun Microsystems</a:t>
            </a:r>
          </a:p>
          <a:p>
            <a:pPr lvl="1"/>
            <a:r>
              <a:rPr lang="en-US" dirty="0" smtClean="0"/>
              <a:t>Provides Unix-like file system interface and semantics</a:t>
            </a:r>
          </a:p>
          <a:p>
            <a:r>
              <a:rPr lang="en-US" dirty="0" smtClean="0"/>
              <a:t>It is implemented as a Client-Server application</a:t>
            </a:r>
          </a:p>
          <a:p>
            <a:pPr lvl="1"/>
            <a:r>
              <a:rPr lang="en-US" dirty="0" smtClean="0"/>
              <a:t>Client part imports file systems (from other computers)</a:t>
            </a:r>
          </a:p>
          <a:p>
            <a:pPr lvl="1"/>
            <a:r>
              <a:rPr lang="en-US" dirty="0" smtClean="0"/>
              <a:t>Server part exports (local) file systems</a:t>
            </a:r>
          </a:p>
          <a:p>
            <a:pPr lvl="2"/>
            <a:r>
              <a:rPr lang="en-US" dirty="0" smtClean="0"/>
              <a:t>i.e. makes it visible on the network and enables access from other computers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72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Design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84784"/>
            <a:ext cx="8496944" cy="4824536"/>
          </a:xfrm>
        </p:spPr>
        <p:txBody>
          <a:bodyPr>
            <a:normAutofit/>
          </a:bodyPr>
          <a:lstStyle/>
          <a:p>
            <a:r>
              <a:rPr lang="en-US" dirty="0" smtClean="0"/>
              <a:t> Stateless protocol</a:t>
            </a:r>
          </a:p>
          <a:p>
            <a:pPr lvl="1"/>
            <a:r>
              <a:rPr lang="en-US" dirty="0" smtClean="0"/>
              <a:t>Increased robustness – easy recovery from failures</a:t>
            </a:r>
          </a:p>
          <a:p>
            <a:r>
              <a:rPr lang="en-US" dirty="0" smtClean="0"/>
              <a:t>Support for Unix </a:t>
            </a:r>
            <a:r>
              <a:rPr lang="en-US" dirty="0" err="1" smtClean="0"/>
              <a:t>filesystem</a:t>
            </a:r>
            <a:r>
              <a:rPr lang="en-US" dirty="0" smtClean="0"/>
              <a:t> semantics</a:t>
            </a:r>
          </a:p>
          <a:p>
            <a:pPr lvl="1"/>
            <a:r>
              <a:rPr lang="en-US" dirty="0" smtClean="0"/>
              <a:t>Also supports other semantics such as MS-DOS</a:t>
            </a:r>
          </a:p>
          <a:p>
            <a:r>
              <a:rPr lang="en-US" dirty="0" smtClean="0"/>
              <a:t>Protection and Access Control same as Unix </a:t>
            </a:r>
            <a:r>
              <a:rPr lang="en-US" dirty="0" err="1" smtClean="0"/>
              <a:t>filesystem</a:t>
            </a:r>
            <a:r>
              <a:rPr lang="en-US" dirty="0" smtClean="0"/>
              <a:t> semantics</a:t>
            </a:r>
          </a:p>
          <a:p>
            <a:r>
              <a:rPr lang="en-US" dirty="0" smtClean="0"/>
              <a:t>Transport-independent protocol</a:t>
            </a:r>
          </a:p>
          <a:p>
            <a:pPr lvl="1"/>
            <a:r>
              <a:rPr lang="en-US" dirty="0" smtClean="0"/>
              <a:t>Originally implemented on top of UDP</a:t>
            </a:r>
          </a:p>
          <a:p>
            <a:pPr lvl="1"/>
            <a:r>
              <a:rPr lang="en-US" dirty="0" smtClean="0"/>
              <a:t>Easily moved to TCP later </a:t>
            </a:r>
          </a:p>
          <a:p>
            <a:pPr lvl="1"/>
            <a:r>
              <a:rPr lang="en-US" dirty="0" smtClean="0"/>
              <a:t>Has been implemented over many non-IP-based protocols.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747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Design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84784"/>
            <a:ext cx="8568952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Design for clients and servers connected on a locally fast network.</a:t>
            </a:r>
          </a:p>
          <a:p>
            <a:pPr lvl="1"/>
            <a:r>
              <a:rPr lang="en-US" dirty="0" smtClean="0"/>
              <a:t>Does not work well over slow links nor between clients and servers with intervening gateways</a:t>
            </a:r>
          </a:p>
          <a:p>
            <a:endParaRPr lang="en-US" dirty="0" smtClean="0"/>
          </a:p>
          <a:p>
            <a:r>
              <a:rPr lang="en-US" dirty="0" smtClean="0"/>
              <a:t>Stateless protocol</a:t>
            </a:r>
          </a:p>
          <a:p>
            <a:pPr lvl="1"/>
            <a:r>
              <a:rPr lang="en-US" dirty="0" smtClean="0"/>
              <a:t>Session state is not maintained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780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NFS- Transport[1]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84784"/>
            <a:ext cx="8568952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Uses a Request – Response model</a:t>
            </a:r>
          </a:p>
          <a:p>
            <a:pPr lvl="1"/>
            <a:r>
              <a:rPr lang="en-US" dirty="0" smtClean="0"/>
              <a:t>Server receives RPC – Remote Procedure Call –requests  from clients</a:t>
            </a:r>
          </a:p>
          <a:p>
            <a:pPr lvl="1"/>
            <a:r>
              <a:rPr lang="en-US" dirty="0" smtClean="0"/>
              <a:t>Can be run on top of stream (e.g. TCP) or datagram protocol (e.g. UDP)</a:t>
            </a:r>
          </a:p>
          <a:p>
            <a:r>
              <a:rPr lang="en-US" dirty="0" smtClean="0"/>
              <a:t>Each RPC message may need to be broken into multiple packets to be sent across the network.</a:t>
            </a:r>
          </a:p>
          <a:p>
            <a:pPr lvl="1"/>
            <a:r>
              <a:rPr lang="en-US" dirty="0" smtClean="0"/>
              <a:t>May typically require up to 6 packets</a:t>
            </a:r>
          </a:p>
          <a:p>
            <a:pPr lvl="1"/>
            <a:r>
              <a:rPr lang="en-US" dirty="0" smtClean="0"/>
              <a:t>May cause problems in UDP – in case of failure, entire message must be retransmitted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668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– Transport[2]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484784"/>
            <a:ext cx="8640960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Remote Procedure Call (RPC)</a:t>
            </a:r>
          </a:p>
          <a:p>
            <a:pPr lvl="1"/>
            <a:r>
              <a:rPr lang="en-US" dirty="0" smtClean="0"/>
              <a:t>Client sees a procedure call interface (akin to a local procedure call)</a:t>
            </a:r>
          </a:p>
          <a:p>
            <a:pPr lvl="1"/>
            <a:r>
              <a:rPr lang="en-US" dirty="0" smtClean="0"/>
              <a:t>But the call (along with the parameters) is </a:t>
            </a:r>
            <a:r>
              <a:rPr lang="en-US" dirty="0" err="1" smtClean="0"/>
              <a:t>marshalled</a:t>
            </a:r>
            <a:r>
              <a:rPr lang="en-US" dirty="0" smtClean="0"/>
              <a:t> into a message and sent over the network</a:t>
            </a:r>
          </a:p>
          <a:p>
            <a:pPr lvl="2"/>
            <a:r>
              <a:rPr lang="en-US" dirty="0" smtClean="0"/>
              <a:t>Marshalling may involve serializing</a:t>
            </a:r>
          </a:p>
          <a:p>
            <a:r>
              <a:rPr lang="en-US" dirty="0" smtClean="0"/>
              <a:t>Server </a:t>
            </a:r>
            <a:r>
              <a:rPr lang="en-US" dirty="0" err="1" smtClean="0"/>
              <a:t>unmarshalls</a:t>
            </a:r>
            <a:r>
              <a:rPr lang="en-US" dirty="0" smtClean="0"/>
              <a:t> the message (i.e. separates it into pieces) and processes it as a local operation.</a:t>
            </a:r>
          </a:p>
          <a:p>
            <a:r>
              <a:rPr lang="en-US" dirty="0" smtClean="0"/>
              <a:t>The result is similarly </a:t>
            </a:r>
            <a:r>
              <a:rPr lang="en-US" dirty="0" err="1" smtClean="0"/>
              <a:t>marshalled</a:t>
            </a:r>
            <a:r>
              <a:rPr lang="en-US" dirty="0" smtClean="0"/>
              <a:t> by the server and sent to the client which in turn </a:t>
            </a:r>
            <a:r>
              <a:rPr lang="en-US" dirty="0" err="1" smtClean="0"/>
              <a:t>unmarshalls</a:t>
            </a:r>
            <a:r>
              <a:rPr lang="en-US" dirty="0" smtClean="0"/>
              <a:t> it.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18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NFS-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84784"/>
            <a:ext cx="8568952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NFS RPC requests</a:t>
            </a:r>
          </a:p>
          <a:p>
            <a:pPr lvl="1"/>
            <a:r>
              <a:rPr lang="en-US" dirty="0" smtClean="0"/>
              <a:t>Idempotent </a:t>
            </a:r>
            <a:r>
              <a:rPr lang="en-US" smtClean="0"/>
              <a:t>Operations(i.e. NFS </a:t>
            </a:r>
            <a:r>
              <a:rPr lang="en-US" dirty="0" smtClean="0"/>
              <a:t>client may send the same request one or more times without any harmful side effects)</a:t>
            </a:r>
          </a:p>
          <a:p>
            <a:pPr lvl="2"/>
            <a:r>
              <a:rPr lang="en-US" dirty="0" smtClean="0"/>
              <a:t>GETATTR, SETATTR, LOOKUP, READLINK, READ, WRITE, CREATE, SYMLINK, READDIR, STATFS</a:t>
            </a:r>
          </a:p>
          <a:p>
            <a:pPr lvl="1"/>
            <a:r>
              <a:rPr lang="en-US" dirty="0" smtClean="0"/>
              <a:t>Non-Idempotent Operations</a:t>
            </a:r>
          </a:p>
          <a:p>
            <a:pPr lvl="2"/>
            <a:r>
              <a:rPr lang="en-US" dirty="0" smtClean="0"/>
              <a:t>REMOVE, RENAME, LINK, MKDIR, RMDIR</a:t>
            </a:r>
          </a:p>
          <a:p>
            <a:r>
              <a:rPr lang="en-US" dirty="0" err="1" smtClean="0"/>
              <a:t>Idempotency</a:t>
            </a:r>
            <a:r>
              <a:rPr lang="en-US" dirty="0" smtClean="0"/>
              <a:t> is significant because of</a:t>
            </a:r>
          </a:p>
          <a:p>
            <a:pPr lvl="1"/>
            <a:r>
              <a:rPr lang="en-US" dirty="0" smtClean="0"/>
              <a:t>slow links and lost RPC </a:t>
            </a:r>
            <a:r>
              <a:rPr lang="en-US" dirty="0" err="1" smtClean="0"/>
              <a:t>acks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file on the server is identified by a globally unique file handle</a:t>
            </a:r>
          </a:p>
          <a:p>
            <a:pPr lvl="1"/>
            <a:r>
              <a:rPr lang="en-US" dirty="0" smtClean="0"/>
              <a:t>created when a lookup is sent by client to server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762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NFS- Operation[1]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12776"/>
            <a:ext cx="8568952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NFS protocol is stateless</a:t>
            </a:r>
          </a:p>
          <a:p>
            <a:pPr lvl="1"/>
            <a:r>
              <a:rPr lang="en-US" dirty="0" smtClean="0"/>
              <a:t>Each request is independent</a:t>
            </a:r>
          </a:p>
          <a:p>
            <a:pPr lvl="2"/>
            <a:r>
              <a:rPr lang="en-US" dirty="0" smtClean="0"/>
              <a:t>Server need not maintain information about clients and their requests</a:t>
            </a:r>
          </a:p>
          <a:p>
            <a:r>
              <a:rPr lang="en-US" dirty="0" smtClean="0"/>
              <a:t>In practice, server caches recently accessed file data. </a:t>
            </a:r>
          </a:p>
          <a:p>
            <a:pPr lvl="1"/>
            <a:r>
              <a:rPr lang="en-US" dirty="0" smtClean="0"/>
              <a:t>It improves performance</a:t>
            </a:r>
          </a:p>
          <a:p>
            <a:pPr lvl="1"/>
            <a:r>
              <a:rPr lang="en-US" dirty="0" smtClean="0"/>
              <a:t>and is useful for detecting retrials of previously serviced requests</a:t>
            </a:r>
          </a:p>
          <a:p>
            <a:r>
              <a:rPr lang="en-US" dirty="0" smtClean="0"/>
              <a:t>Transaction-Commit semantics implies high overhead:</a:t>
            </a:r>
          </a:p>
          <a:p>
            <a:pPr lvl="1"/>
            <a:r>
              <a:rPr lang="en-US" dirty="0" smtClean="0"/>
              <a:t>Synchronous writes are required for write operations.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294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NFS- Operation[2]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NFS is a client-server protocol</a:t>
            </a:r>
          </a:p>
          <a:p>
            <a:pPr lvl="1"/>
            <a:r>
              <a:rPr lang="en-US" dirty="0" smtClean="0"/>
              <a:t>No discovery or registry is used.</a:t>
            </a:r>
          </a:p>
          <a:p>
            <a:pPr lvl="2"/>
            <a:r>
              <a:rPr lang="en-US" dirty="0" smtClean="0"/>
              <a:t>i.e. client must know the server and the </a:t>
            </a:r>
            <a:r>
              <a:rPr lang="en-US" dirty="0" err="1" smtClean="0"/>
              <a:t>filesystem</a:t>
            </a:r>
            <a:endParaRPr lang="en-US" dirty="0" smtClean="0"/>
          </a:p>
          <a:p>
            <a:pPr lvl="1"/>
            <a:r>
              <a:rPr lang="en-US" dirty="0" smtClean="0"/>
              <a:t>Server’s </a:t>
            </a:r>
            <a:r>
              <a:rPr lang="en-US" dirty="0" err="1" smtClean="0"/>
              <a:t>filesystem</a:t>
            </a:r>
            <a:r>
              <a:rPr lang="en-US" dirty="0" smtClean="0"/>
              <a:t> has to be exported (by mounting).</a:t>
            </a:r>
          </a:p>
          <a:p>
            <a:pPr lvl="2"/>
            <a:r>
              <a:rPr lang="en-US" dirty="0" smtClean="0"/>
              <a:t>Refer to mount system call on Unix</a:t>
            </a:r>
          </a:p>
          <a:p>
            <a:pPr lvl="2"/>
            <a:r>
              <a:rPr lang="en-US" dirty="0" smtClean="0"/>
              <a:t>Each server has a globally unique id (</a:t>
            </a:r>
            <a:r>
              <a:rPr lang="en-US" dirty="0" err="1" smtClean="0"/>
              <a:t>guid</a:t>
            </a:r>
            <a:r>
              <a:rPr lang="en-US" dirty="0" smtClean="0"/>
              <a:t>) </a:t>
            </a:r>
          </a:p>
          <a:p>
            <a:r>
              <a:rPr lang="en-US" dirty="0" smtClean="0"/>
              <a:t>Client application need not distinguish between local and remote files</a:t>
            </a:r>
          </a:p>
          <a:p>
            <a:pPr lvl="1"/>
            <a:r>
              <a:rPr lang="en-US" dirty="0" smtClean="0"/>
              <a:t>i.e. once a </a:t>
            </a:r>
            <a:r>
              <a:rPr lang="en-US" dirty="0" err="1" smtClean="0"/>
              <a:t>filesystem</a:t>
            </a:r>
            <a:r>
              <a:rPr lang="en-US" dirty="0" smtClean="0"/>
              <a:t> is mounted applications use the same interface for both types of files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401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- Operation[3]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412776"/>
            <a:ext cx="8712968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NFS is a client-server protocol</a:t>
            </a:r>
          </a:p>
          <a:p>
            <a:pPr lvl="1"/>
            <a:r>
              <a:rPr lang="en-US" dirty="0" smtClean="0"/>
              <a:t>File manager part of  client file system remains the same as that for the local file system</a:t>
            </a:r>
          </a:p>
          <a:p>
            <a:pPr lvl="2"/>
            <a:r>
              <a:rPr lang="en-US" dirty="0" smtClean="0"/>
              <a:t>Only the file store is local or remote </a:t>
            </a:r>
          </a:p>
          <a:p>
            <a:r>
              <a:rPr lang="en-US" dirty="0" smtClean="0"/>
              <a:t>Each remote file that is active manifests as an </a:t>
            </a:r>
            <a:r>
              <a:rPr lang="en-US" dirty="0" err="1" smtClean="0"/>
              <a:t>nfsnode</a:t>
            </a:r>
            <a:r>
              <a:rPr lang="en-US" dirty="0" smtClean="0"/>
              <a:t> in the client’s </a:t>
            </a:r>
            <a:r>
              <a:rPr lang="en-US" dirty="0" err="1" smtClean="0"/>
              <a:t>filesystem</a:t>
            </a:r>
            <a:endParaRPr lang="en-US" dirty="0" smtClean="0"/>
          </a:p>
          <a:p>
            <a:pPr lvl="1"/>
            <a:r>
              <a:rPr lang="en-US" dirty="0" smtClean="0"/>
              <a:t>Recall the active file data structures:</a:t>
            </a:r>
          </a:p>
          <a:p>
            <a:pPr lvl="2"/>
            <a:r>
              <a:rPr lang="en-US" dirty="0" smtClean="0"/>
              <a:t>Per-Process File Descriptor</a:t>
            </a:r>
          </a:p>
          <a:p>
            <a:pPr lvl="3"/>
            <a:r>
              <a:rPr lang="en-US" dirty="0" smtClean="0"/>
              <a:t>Kernel File Entry </a:t>
            </a:r>
          </a:p>
          <a:p>
            <a:pPr lvl="3"/>
            <a:r>
              <a:rPr lang="en-US" dirty="0" err="1" smtClean="0"/>
              <a:t>vnode</a:t>
            </a:r>
            <a:endParaRPr lang="en-US" dirty="0" smtClean="0"/>
          </a:p>
          <a:p>
            <a:pPr lvl="3"/>
            <a:r>
              <a:rPr lang="en-US" dirty="0" smtClean="0"/>
              <a:t>file-store-specific data structure </a:t>
            </a:r>
          </a:p>
          <a:p>
            <a:pPr lvl="4"/>
            <a:r>
              <a:rPr lang="en-US" b="1" dirty="0" err="1" smtClean="0"/>
              <a:t>inode</a:t>
            </a:r>
            <a:r>
              <a:rPr lang="en-US" b="1" dirty="0" smtClean="0"/>
              <a:t> </a:t>
            </a:r>
            <a:r>
              <a:rPr lang="en-US" dirty="0" smtClean="0"/>
              <a:t>for local file store and</a:t>
            </a:r>
          </a:p>
          <a:p>
            <a:pPr lvl="4"/>
            <a:r>
              <a:rPr lang="en-US" b="1" dirty="0" err="1" smtClean="0"/>
              <a:t>nfsnode</a:t>
            </a:r>
            <a:r>
              <a:rPr lang="en-US" b="1" dirty="0" smtClean="0"/>
              <a:t> </a:t>
            </a:r>
            <a:r>
              <a:rPr lang="en-US" dirty="0" smtClean="0"/>
              <a:t>for remote </a:t>
            </a:r>
            <a:r>
              <a:rPr lang="en-US" dirty="0" err="1" smtClean="0"/>
              <a:t>filestore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236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-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12776"/>
            <a:ext cx="8568952" cy="5040560"/>
          </a:xfrm>
        </p:spPr>
        <p:txBody>
          <a:bodyPr>
            <a:normAutofit/>
          </a:bodyPr>
          <a:lstStyle/>
          <a:p>
            <a:r>
              <a:rPr lang="en-US" dirty="0" smtClean="0"/>
              <a:t>Basic Protocol (Mounting): Client C, Server S</a:t>
            </a:r>
          </a:p>
          <a:p>
            <a:pPr lvl="1"/>
            <a:r>
              <a:rPr lang="en-US" dirty="0" smtClean="0"/>
              <a:t>C (mount process) -----&gt; S(</a:t>
            </a:r>
            <a:r>
              <a:rPr lang="en-US" dirty="0" err="1" smtClean="0"/>
              <a:t>portmap</a:t>
            </a:r>
            <a:r>
              <a:rPr lang="en-US" dirty="0" smtClean="0"/>
              <a:t> daemon)   </a:t>
            </a:r>
          </a:p>
          <a:p>
            <a:pPr lvl="2"/>
            <a:r>
              <a:rPr lang="en-US" dirty="0" smtClean="0"/>
              <a:t>request port address of </a:t>
            </a:r>
            <a:r>
              <a:rPr lang="en-US" dirty="0" err="1" smtClean="0"/>
              <a:t>mountd</a:t>
            </a:r>
            <a:endParaRPr lang="en-US" dirty="0" smtClean="0"/>
          </a:p>
          <a:p>
            <a:pPr lvl="1"/>
            <a:r>
              <a:rPr lang="en-US" dirty="0" smtClean="0"/>
              <a:t>S (</a:t>
            </a:r>
            <a:r>
              <a:rPr lang="en-US" dirty="0" err="1" smtClean="0"/>
              <a:t>portmap</a:t>
            </a:r>
            <a:r>
              <a:rPr lang="en-US" dirty="0" smtClean="0"/>
              <a:t> daemon) ----&gt; C</a:t>
            </a:r>
          </a:p>
          <a:p>
            <a:pPr lvl="2"/>
            <a:r>
              <a:rPr lang="en-US" dirty="0" smtClean="0"/>
              <a:t>return the port address of its </a:t>
            </a:r>
            <a:r>
              <a:rPr lang="en-US" dirty="0" err="1" smtClean="0"/>
              <a:t>mountd</a:t>
            </a:r>
            <a:endParaRPr lang="en-US" dirty="0" smtClean="0"/>
          </a:p>
          <a:p>
            <a:pPr lvl="1"/>
            <a:r>
              <a:rPr lang="en-US" dirty="0" smtClean="0"/>
              <a:t>C (mount process) ----&gt; S(</a:t>
            </a:r>
            <a:r>
              <a:rPr lang="en-US" dirty="0" err="1" smtClean="0"/>
              <a:t>mountd</a:t>
            </a:r>
            <a:r>
              <a:rPr lang="en-US" dirty="0" smtClean="0"/>
              <a:t> daemon)</a:t>
            </a:r>
          </a:p>
          <a:p>
            <a:pPr lvl="2"/>
            <a:r>
              <a:rPr lang="en-US" dirty="0" smtClean="0"/>
              <a:t>request mounting of </a:t>
            </a:r>
            <a:r>
              <a:rPr lang="en-US" dirty="0" err="1" smtClean="0"/>
              <a:t>filesystem</a:t>
            </a:r>
            <a:r>
              <a:rPr lang="en-US" dirty="0" smtClean="0"/>
              <a:t> [pathname]</a:t>
            </a:r>
          </a:p>
          <a:p>
            <a:pPr lvl="1"/>
            <a:r>
              <a:rPr lang="en-US" dirty="0" smtClean="0"/>
              <a:t>S (</a:t>
            </a:r>
            <a:r>
              <a:rPr lang="en-US" dirty="0" err="1" smtClean="0"/>
              <a:t>mountd</a:t>
            </a:r>
            <a:r>
              <a:rPr lang="en-US" dirty="0" smtClean="0"/>
              <a:t> daemon):</a:t>
            </a:r>
          </a:p>
          <a:p>
            <a:pPr lvl="2"/>
            <a:r>
              <a:rPr lang="en-US" dirty="0" smtClean="0"/>
              <a:t>get file handle for desired mount point from kernel</a:t>
            </a:r>
          </a:p>
          <a:p>
            <a:pPr lvl="1"/>
            <a:r>
              <a:rPr lang="en-US" dirty="0" smtClean="0"/>
              <a:t>S (</a:t>
            </a:r>
            <a:r>
              <a:rPr lang="en-US" dirty="0" err="1" smtClean="0"/>
              <a:t>mountd</a:t>
            </a:r>
            <a:r>
              <a:rPr lang="en-US" dirty="0" smtClean="0"/>
              <a:t> daemon) ---&gt; C</a:t>
            </a:r>
          </a:p>
          <a:p>
            <a:pPr lvl="2"/>
            <a:r>
              <a:rPr lang="en-US" dirty="0" smtClean="0"/>
              <a:t>return </a:t>
            </a:r>
            <a:r>
              <a:rPr lang="en-US" dirty="0" err="1" smtClean="0"/>
              <a:t>filehandle</a:t>
            </a:r>
            <a:r>
              <a:rPr lang="en-US" dirty="0" smtClean="0"/>
              <a:t> of </a:t>
            </a:r>
            <a:r>
              <a:rPr lang="en-US" dirty="0" err="1" smtClean="0"/>
              <a:t>mountpoint</a:t>
            </a:r>
            <a:r>
              <a:rPr lang="en-US" dirty="0" smtClean="0"/>
              <a:t> OR error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359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-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12776"/>
            <a:ext cx="8568952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Basic Protocol (I/O Operation): Client C, Server S</a:t>
            </a:r>
          </a:p>
          <a:p>
            <a:pPr lvl="1"/>
            <a:r>
              <a:rPr lang="en-US" dirty="0" smtClean="0"/>
              <a:t>C (app. process): write system call</a:t>
            </a:r>
          </a:p>
          <a:p>
            <a:pPr lvl="2"/>
            <a:r>
              <a:rPr lang="en-US" dirty="0" smtClean="0"/>
              <a:t>Data is copied into kernel buffer and call returns</a:t>
            </a:r>
          </a:p>
          <a:p>
            <a:pPr lvl="2"/>
            <a:r>
              <a:rPr lang="en-US" dirty="0" err="1" smtClean="0"/>
              <a:t>nfsiod</a:t>
            </a:r>
            <a:r>
              <a:rPr lang="en-US" dirty="0" smtClean="0"/>
              <a:t> daemon wakes up</a:t>
            </a:r>
          </a:p>
          <a:p>
            <a:pPr lvl="1"/>
            <a:r>
              <a:rPr lang="en-US" dirty="0" smtClean="0"/>
              <a:t>C (</a:t>
            </a:r>
            <a:r>
              <a:rPr lang="en-US" dirty="0" err="1" smtClean="0"/>
              <a:t>nfsiod</a:t>
            </a:r>
            <a:r>
              <a:rPr lang="en-US" dirty="0" smtClean="0"/>
              <a:t> daemon) -----&gt; S(</a:t>
            </a:r>
            <a:r>
              <a:rPr lang="en-US" dirty="0" err="1" smtClean="0"/>
              <a:t>nfs_rcv</a:t>
            </a:r>
            <a:r>
              <a:rPr lang="en-US" dirty="0" smtClean="0"/>
              <a:t>)   </a:t>
            </a:r>
          </a:p>
          <a:p>
            <a:pPr lvl="2"/>
            <a:r>
              <a:rPr lang="en-US" dirty="0" smtClean="0"/>
              <a:t>Request write [buffer contents]</a:t>
            </a:r>
          </a:p>
          <a:p>
            <a:pPr lvl="1"/>
            <a:r>
              <a:rPr lang="en-US" dirty="0" smtClean="0"/>
              <a:t>S delegates request to </a:t>
            </a:r>
            <a:r>
              <a:rPr lang="en-US" dirty="0" err="1" smtClean="0"/>
              <a:t>nfsd</a:t>
            </a:r>
            <a:r>
              <a:rPr lang="en-US" dirty="0" smtClean="0"/>
              <a:t> daemon</a:t>
            </a:r>
          </a:p>
          <a:p>
            <a:pPr lvl="2"/>
            <a:r>
              <a:rPr lang="en-US" dirty="0" err="1" smtClean="0"/>
              <a:t>nfsd</a:t>
            </a:r>
            <a:r>
              <a:rPr lang="en-US" dirty="0" smtClean="0"/>
              <a:t> daemon invokes write on disk and waits for  I/O</a:t>
            </a:r>
          </a:p>
          <a:p>
            <a:pPr lvl="1"/>
            <a:r>
              <a:rPr lang="en-US" dirty="0" smtClean="0"/>
              <a:t>S (</a:t>
            </a:r>
            <a:r>
              <a:rPr lang="en-US" dirty="0" err="1" smtClean="0"/>
              <a:t>nfsd</a:t>
            </a:r>
            <a:r>
              <a:rPr lang="en-US" dirty="0" smtClean="0"/>
              <a:t> daemon) ---&gt; C (</a:t>
            </a:r>
            <a:r>
              <a:rPr lang="en-US" dirty="0" err="1" smtClean="0"/>
              <a:t>nfsiod</a:t>
            </a:r>
            <a:r>
              <a:rPr lang="en-US" dirty="0" smtClean="0"/>
              <a:t> daemon) </a:t>
            </a:r>
          </a:p>
          <a:p>
            <a:pPr lvl="2"/>
            <a:r>
              <a:rPr lang="en-US" dirty="0" smtClean="0"/>
              <a:t>return </a:t>
            </a:r>
            <a:r>
              <a:rPr lang="en-US" dirty="0" err="1" smtClean="0"/>
              <a:t>ack</a:t>
            </a:r>
            <a:r>
              <a:rPr lang="en-US" dirty="0" smtClean="0"/>
              <a:t> for the write operation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231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NFSv3 </a:t>
            </a:r>
            <a:r>
              <a:rPr lang="en-US" dirty="0" err="1" smtClean="0"/>
              <a:t>vs</a:t>
            </a:r>
            <a:r>
              <a:rPr lang="en-US" dirty="0" smtClean="0"/>
              <a:t> NFSv4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489654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NFSv3</a:t>
            </a:r>
          </a:p>
          <a:p>
            <a:pPr lvl="1"/>
            <a:r>
              <a:rPr lang="en-US" dirty="0" smtClean="0"/>
              <a:t>One RPC per RTT</a:t>
            </a:r>
          </a:p>
          <a:p>
            <a:pPr lvl="1"/>
            <a:r>
              <a:rPr lang="en-US" dirty="0" smtClean="0"/>
              <a:t>Port </a:t>
            </a:r>
            <a:r>
              <a:rPr lang="en-US" dirty="0" err="1" smtClean="0"/>
              <a:t>mapper</a:t>
            </a:r>
            <a:r>
              <a:rPr lang="en-US" dirty="0" smtClean="0"/>
              <a:t> service required to determine which network port to listen or connect</a:t>
            </a:r>
          </a:p>
          <a:p>
            <a:pPr lvl="1"/>
            <a:r>
              <a:rPr lang="en-US" dirty="0" smtClean="0"/>
              <a:t>No caching</a:t>
            </a:r>
          </a:p>
          <a:p>
            <a:endParaRPr lang="en-US" dirty="0" smtClean="0"/>
          </a:p>
          <a:p>
            <a:r>
              <a:rPr lang="en-US" dirty="0" smtClean="0"/>
              <a:t>NFSv4 features</a:t>
            </a:r>
          </a:p>
          <a:p>
            <a:pPr lvl="1"/>
            <a:r>
              <a:rPr lang="en-US" dirty="0" smtClean="0"/>
              <a:t>Access control lists (similar to Windows ACLs)</a:t>
            </a:r>
          </a:p>
          <a:p>
            <a:pPr lvl="1"/>
            <a:r>
              <a:rPr lang="en-US" dirty="0" smtClean="0"/>
              <a:t>Compound RPCs</a:t>
            </a:r>
          </a:p>
          <a:p>
            <a:pPr lvl="1"/>
            <a:r>
              <a:rPr lang="en-US" dirty="0" smtClean="0"/>
              <a:t>Client side caching</a:t>
            </a:r>
          </a:p>
          <a:p>
            <a:pPr lvl="1"/>
            <a:r>
              <a:rPr lang="en-US" dirty="0" smtClean="0"/>
              <a:t>Operation over TCP port 2049</a:t>
            </a:r>
          </a:p>
          <a:p>
            <a:pPr lvl="1"/>
            <a:r>
              <a:rPr lang="en-US" dirty="0" smtClean="0"/>
              <a:t>Mandating Strong security (Kerberos v5 for cryptographic services)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863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NFS </a:t>
            </a:r>
            <a:r>
              <a:rPr lang="en-US" dirty="0" smtClean="0"/>
              <a:t>performance Issues: Inconsistency, caching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51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84784"/>
            <a:ext cx="8496944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Every request by a client may be delayed by:</a:t>
            </a:r>
          </a:p>
          <a:p>
            <a:pPr>
              <a:buNone/>
            </a:pPr>
            <a:r>
              <a:rPr lang="en-US" dirty="0" smtClean="0"/>
              <a:t>	1. RPC Round-trip </a:t>
            </a:r>
          </a:p>
          <a:p>
            <a:pPr>
              <a:buNone/>
            </a:pPr>
            <a:r>
              <a:rPr lang="en-US" dirty="0" smtClean="0"/>
              <a:t>	2. I/O Wait at the server </a:t>
            </a:r>
          </a:p>
          <a:p>
            <a:pPr lvl="1"/>
            <a:r>
              <a:rPr lang="en-US" dirty="0" smtClean="0"/>
              <a:t>which may be serving multiple clients</a:t>
            </a:r>
          </a:p>
          <a:p>
            <a:r>
              <a:rPr lang="en-US" dirty="0" smtClean="0"/>
              <a:t>Server-side Caching addresses the second issue.</a:t>
            </a:r>
          </a:p>
          <a:p>
            <a:pPr lvl="1"/>
            <a:r>
              <a:rPr lang="en-US" dirty="0" smtClean="0"/>
              <a:t>Server may still be serving multiple clients </a:t>
            </a:r>
          </a:p>
          <a:p>
            <a:pPr lvl="1"/>
            <a:r>
              <a:rPr lang="en-US" dirty="0" smtClean="0"/>
              <a:t>But server’s I/O rate will be improved and so should client’s wait time</a:t>
            </a:r>
          </a:p>
          <a:p>
            <a:r>
              <a:rPr lang="en-US" dirty="0" smtClean="0"/>
              <a:t>Client-side Caching addresses the first issue.</a:t>
            </a:r>
          </a:p>
          <a:p>
            <a:pPr lvl="1"/>
            <a:r>
              <a:rPr lang="en-US" dirty="0" smtClean="0"/>
              <a:t>But caching may introduce coherence issues: </a:t>
            </a:r>
          </a:p>
          <a:p>
            <a:pPr lvl="2"/>
            <a:r>
              <a:rPr lang="en-US" dirty="0" smtClean="0"/>
              <a:t>Clients may be accessing stale data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987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- Performance - Inconsistent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4896544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Scenario:</a:t>
            </a:r>
          </a:p>
          <a:p>
            <a:pPr>
              <a:buNone/>
            </a:pPr>
            <a:r>
              <a:rPr lang="en-US" dirty="0" smtClean="0"/>
              <a:t>	First client writes data that is later read by second client.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Two main ways for stale data to be read:</a:t>
            </a:r>
          </a:p>
          <a:p>
            <a:pPr>
              <a:buNone/>
            </a:pPr>
            <a:r>
              <a:rPr lang="en-US" dirty="0" smtClean="0"/>
              <a:t>	1. Second client has stale data in its cache and does not know that modified data are available.</a:t>
            </a:r>
          </a:p>
          <a:p>
            <a:pPr>
              <a:buNone/>
            </a:pPr>
            <a:r>
              <a:rPr lang="en-US" dirty="0" smtClean="0"/>
              <a:t>	2. First client has modified data in its cache but has not written those data back to the server. </a:t>
            </a:r>
          </a:p>
          <a:p>
            <a:r>
              <a:rPr lang="en-US" dirty="0" smtClean="0"/>
              <a:t>Synchronous writing solves the second problem.</a:t>
            </a:r>
          </a:p>
          <a:p>
            <a:pPr lvl="1"/>
            <a:r>
              <a:rPr lang="en-US" dirty="0" smtClean="0"/>
              <a:t>It also results in behavior that is close  to the local </a:t>
            </a:r>
            <a:r>
              <a:rPr lang="en-US" dirty="0" err="1" smtClean="0"/>
              <a:t>filesystem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But  clients are restricted to one write per RPC RTT.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964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Performance Caching[1]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435280" cy="49685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Delayed writing model:</a:t>
            </a:r>
          </a:p>
          <a:p>
            <a:pPr lvl="1"/>
            <a:r>
              <a:rPr lang="en-US" dirty="0" smtClean="0"/>
              <a:t>Write request returns as soon as data are cached by the client</a:t>
            </a:r>
          </a:p>
          <a:p>
            <a:r>
              <a:rPr lang="en-US" dirty="0" smtClean="0"/>
              <a:t>Pros:</a:t>
            </a:r>
          </a:p>
          <a:p>
            <a:pPr lvl="1"/>
            <a:r>
              <a:rPr lang="en-US" dirty="0" smtClean="0"/>
              <a:t>Following things can now be bundled in to a single request to the server (i.e. the last one):</a:t>
            </a:r>
          </a:p>
          <a:p>
            <a:pPr lvl="2"/>
            <a:r>
              <a:rPr lang="en-US" dirty="0" smtClean="0"/>
              <a:t>multiple writes to the same blocks,</a:t>
            </a:r>
          </a:p>
          <a:p>
            <a:pPr lvl="2"/>
            <a:r>
              <a:rPr lang="en-US" dirty="0" smtClean="0"/>
              <a:t>file deletion or file truncation shortly after write(s)</a:t>
            </a:r>
          </a:p>
          <a:p>
            <a:r>
              <a:rPr lang="en-US" dirty="0" smtClean="0"/>
              <a:t>Cons:</a:t>
            </a:r>
          </a:p>
          <a:p>
            <a:pPr lvl="1"/>
            <a:r>
              <a:rPr lang="en-US" dirty="0" smtClean="0"/>
              <a:t>Client crash may result in loss of data</a:t>
            </a:r>
          </a:p>
          <a:p>
            <a:pPr lvl="1"/>
            <a:r>
              <a:rPr lang="en-US" dirty="0" smtClean="0"/>
              <a:t>Server must notify a client - holding a cached copy –</a:t>
            </a:r>
          </a:p>
          <a:p>
            <a:pPr lvl="2"/>
            <a:r>
              <a:rPr lang="en-US" dirty="0" smtClean="0"/>
              <a:t>that other client(s) want to read/write the file held by the first client.</a:t>
            </a:r>
          </a:p>
          <a:p>
            <a:r>
              <a:rPr lang="en-US" dirty="0" smtClean="0"/>
              <a:t>This introduces state in the implementation</a:t>
            </a:r>
          </a:p>
          <a:p>
            <a:pPr lvl="1"/>
            <a:r>
              <a:rPr lang="en-US" dirty="0" smtClean="0"/>
              <a:t>Error propagation to the client may be problematic:</a:t>
            </a:r>
          </a:p>
          <a:p>
            <a:pPr lvl="2"/>
            <a:r>
              <a:rPr lang="en-US" dirty="0" smtClean="0"/>
              <a:t>e.g. “Out of space” error</a:t>
            </a:r>
          </a:p>
          <a:p>
            <a:pPr lvl="2"/>
            <a:r>
              <a:rPr lang="en-US" dirty="0" smtClean="0"/>
              <a:t>e.g.  client process exiting before error notification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749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Performance Caching[2]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12776"/>
            <a:ext cx="8640960" cy="496855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Asynchronous writing model:</a:t>
            </a:r>
          </a:p>
          <a:p>
            <a:pPr lvl="1"/>
            <a:r>
              <a:rPr lang="en-US" dirty="0" smtClean="0"/>
              <a:t>As soon as data are cached by the client, write to the server is initiated and then the write request returns.</a:t>
            </a:r>
          </a:p>
          <a:p>
            <a:r>
              <a:rPr lang="en-US" dirty="0" smtClean="0"/>
              <a:t>Variants:</a:t>
            </a:r>
          </a:p>
          <a:p>
            <a:pPr lvl="1"/>
            <a:r>
              <a:rPr lang="en-US" dirty="0" smtClean="0"/>
              <a:t>write on close (file)</a:t>
            </a:r>
          </a:p>
          <a:p>
            <a:pPr lvl="2"/>
            <a:r>
              <a:rPr lang="en-US" dirty="0" smtClean="0"/>
              <a:t>Delays are only deferred</a:t>
            </a:r>
          </a:p>
          <a:p>
            <a:pPr lvl="1"/>
            <a:r>
              <a:rPr lang="en-US" dirty="0" smtClean="0"/>
              <a:t>Read-sharing only  (.e.g. Sprite file system, Unix like distributed file system)</a:t>
            </a:r>
          </a:p>
          <a:p>
            <a:r>
              <a:rPr lang="en-US" dirty="0" smtClean="0"/>
              <a:t>Cache Verification model</a:t>
            </a:r>
          </a:p>
          <a:p>
            <a:pPr lvl="1"/>
            <a:r>
              <a:rPr lang="en-US" dirty="0" smtClean="0"/>
              <a:t>Client performs cache verification on access</a:t>
            </a:r>
          </a:p>
          <a:p>
            <a:pPr lvl="2"/>
            <a:r>
              <a:rPr lang="en-US" dirty="0" smtClean="0"/>
              <a:t>RPC RTT delays</a:t>
            </a:r>
          </a:p>
          <a:p>
            <a:r>
              <a:rPr lang="en-US" dirty="0" smtClean="0"/>
              <a:t>Callback model</a:t>
            </a:r>
          </a:p>
          <a:p>
            <a:pPr lvl="1"/>
            <a:r>
              <a:rPr lang="en-US" dirty="0" smtClean="0"/>
              <a:t>Server keeps track of cached copies and notifies them on update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177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Performance Caching[3]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484784"/>
            <a:ext cx="8435280" cy="4824536"/>
          </a:xfrm>
        </p:spPr>
        <p:txBody>
          <a:bodyPr>
            <a:normAutofit/>
          </a:bodyPr>
          <a:lstStyle/>
          <a:p>
            <a:r>
              <a:rPr lang="en-US" dirty="0" smtClean="0"/>
              <a:t>Leasing model:</a:t>
            </a:r>
          </a:p>
          <a:p>
            <a:pPr lvl="1"/>
            <a:r>
              <a:rPr lang="en-US" dirty="0" smtClean="0"/>
              <a:t>Leases are issued for time intervals.</a:t>
            </a:r>
          </a:p>
          <a:p>
            <a:pPr lvl="1"/>
            <a:r>
              <a:rPr lang="en-US" dirty="0" smtClean="0"/>
              <a:t>As long as lease holds server will callback on update</a:t>
            </a:r>
          </a:p>
          <a:p>
            <a:pPr lvl="1"/>
            <a:r>
              <a:rPr lang="en-US" dirty="0" smtClean="0"/>
              <a:t>When lease expires client must verify its cache contents and/or obtain a new lease.</a:t>
            </a:r>
          </a:p>
          <a:p>
            <a:r>
              <a:rPr lang="en-US" dirty="0" smtClean="0"/>
              <a:t>Requires much less server memory and reduces traffic.</a:t>
            </a:r>
          </a:p>
          <a:p>
            <a:r>
              <a:rPr lang="en-US" dirty="0" smtClean="0"/>
              <a:t>Read-caching and write-caching may be given separate leases.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291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NFS Crash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412776"/>
            <a:ext cx="8363272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Caching schemes introduce state</a:t>
            </a:r>
          </a:p>
          <a:p>
            <a:pPr lvl="1"/>
            <a:r>
              <a:rPr lang="en-US" dirty="0" smtClean="0"/>
              <a:t>If system crashes, state must be recovered:</a:t>
            </a:r>
          </a:p>
          <a:p>
            <a:pPr lvl="2"/>
            <a:r>
              <a:rPr lang="en-US" dirty="0" smtClean="0"/>
              <a:t>E.g. leases</a:t>
            </a:r>
          </a:p>
          <a:p>
            <a:pPr lvl="1"/>
            <a:r>
              <a:rPr lang="en-US" dirty="0" smtClean="0"/>
              <a:t>If state depends on time (or intervals), recovery time must be accounted for in leasing</a:t>
            </a:r>
          </a:p>
          <a:p>
            <a:pPr lvl="2"/>
            <a:r>
              <a:rPr lang="en-US" dirty="0" smtClean="0"/>
              <a:t>Clocks become critical.</a:t>
            </a:r>
          </a:p>
          <a:p>
            <a:r>
              <a:rPr lang="en-US" dirty="0" smtClean="0"/>
              <a:t>Server congestion may also lead to failure</a:t>
            </a:r>
          </a:p>
          <a:p>
            <a:pPr lvl="1"/>
            <a:r>
              <a:rPr lang="en-US" dirty="0" smtClean="0"/>
              <a:t>And recovery issues apply here as well.</a:t>
            </a:r>
          </a:p>
          <a:p>
            <a:r>
              <a:rPr lang="en-US" dirty="0" smtClean="0"/>
              <a:t>Timing Issues</a:t>
            </a:r>
          </a:p>
          <a:p>
            <a:pPr lvl="1"/>
            <a:r>
              <a:rPr lang="en-US" dirty="0" smtClean="0"/>
              <a:t>Clocks??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752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CIFS is the de facto file-serving protocol in the Microsoft windows world</a:t>
            </a:r>
          </a:p>
          <a:p>
            <a:r>
              <a:rPr lang="en-US" dirty="0" smtClean="0"/>
              <a:t>It operates natively over TCP/IP networks </a:t>
            </a:r>
            <a:r>
              <a:rPr lang="en-US" smtClean="0"/>
              <a:t>on port 445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20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1836</Words>
  <Application>Microsoft Office PowerPoint</Application>
  <PresentationFormat>Widescreen</PresentationFormat>
  <Paragraphs>321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Topics</vt:lpstr>
      <vt:lpstr>Storage Arrays Types</vt:lpstr>
      <vt:lpstr>Storage on the Network</vt:lpstr>
      <vt:lpstr>Network Attached Storage (NAS)</vt:lpstr>
      <vt:lpstr>Network Attached Storage</vt:lpstr>
      <vt:lpstr>NAS Architectures</vt:lpstr>
      <vt:lpstr>File Systems</vt:lpstr>
      <vt:lpstr>File Systems Functions</vt:lpstr>
      <vt:lpstr>NAS Systems</vt:lpstr>
      <vt:lpstr>NAS Arrays: Scaling</vt:lpstr>
      <vt:lpstr>Example</vt:lpstr>
      <vt:lpstr>Topics</vt:lpstr>
      <vt:lpstr>What is NFS?</vt:lpstr>
      <vt:lpstr>NFS Design Goals</vt:lpstr>
      <vt:lpstr>NFS Design Limitations</vt:lpstr>
      <vt:lpstr>NFS- Transport[1]</vt:lpstr>
      <vt:lpstr>NFS – Transport[2]</vt:lpstr>
      <vt:lpstr>NFS- Interface</vt:lpstr>
      <vt:lpstr>NFS- Operation[1]</vt:lpstr>
      <vt:lpstr>NFS- Operation[2]</vt:lpstr>
      <vt:lpstr>NFS - Operation[3]</vt:lpstr>
      <vt:lpstr>NFS - Operation</vt:lpstr>
      <vt:lpstr>NFS - Operation</vt:lpstr>
      <vt:lpstr>NFSv3 vs NFSv4</vt:lpstr>
      <vt:lpstr>Topics</vt:lpstr>
      <vt:lpstr>NFS Performance</vt:lpstr>
      <vt:lpstr>NFS - Performance - Inconsistent Data</vt:lpstr>
      <vt:lpstr>NFS Performance Caching[1]</vt:lpstr>
      <vt:lpstr>NFS Performance Caching[2]</vt:lpstr>
      <vt:lpstr>NFS Performance Caching[3]</vt:lpstr>
      <vt:lpstr>NFS Crash Recovery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Dean_S&amp;T</dc:creator>
  <cp:lastModifiedBy>Dean_S&amp;T</cp:lastModifiedBy>
  <cp:revision>1</cp:revision>
  <dcterms:created xsi:type="dcterms:W3CDTF">2019-11-08T11:00:52Z</dcterms:created>
  <dcterms:modified xsi:type="dcterms:W3CDTF">2019-11-08T11:01:18Z</dcterms:modified>
</cp:coreProperties>
</file>