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6"/>
  </p:notesMasterIdLst>
  <p:sldIdLst>
    <p:sldId id="355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89" r:id="rId49"/>
    <p:sldId id="390" r:id="rId50"/>
    <p:sldId id="391" r:id="rId51"/>
    <p:sldId id="392" r:id="rId52"/>
    <p:sldId id="393" r:id="rId53"/>
    <p:sldId id="394" r:id="rId54"/>
    <p:sldId id="395" r:id="rId55"/>
    <p:sldId id="396" r:id="rId56"/>
    <p:sldId id="397" r:id="rId57"/>
    <p:sldId id="398" r:id="rId58"/>
    <p:sldId id="399" r:id="rId59"/>
    <p:sldId id="400" r:id="rId60"/>
    <p:sldId id="401" r:id="rId61"/>
    <p:sldId id="402" r:id="rId62"/>
    <p:sldId id="403" r:id="rId63"/>
    <p:sldId id="404" r:id="rId64"/>
    <p:sldId id="405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94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8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D831-27D1-4804-BBE6-E7E773617FD4}" type="datetimeFigureOut">
              <a:rPr lang="en-IN" smtClean="0"/>
              <a:pPr/>
              <a:t>19-04-2019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C9D2F-5FCE-4B4F-80E6-E39EED6BD8E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96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4/19/2019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 Storage Technologies &amp; Networks IS ZC446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9CB88-5E1A-4FAC-892A-60949ACB1F6F}" type="datetimeFigureOut">
              <a:rPr lang="en-US" smtClean="0"/>
              <a:pPr/>
              <a:t>4/19/2019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 userDrawn="1"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DSTN Lecture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DSTN Lecture 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</a:t>
            </a:fld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363272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File System (Unix FS as an Example)</a:t>
            </a:r>
          </a:p>
          <a:p>
            <a:pPr lvl="1"/>
            <a:r>
              <a:rPr lang="en-US" dirty="0" smtClean="0"/>
              <a:t>Files &amp; File Descriptors</a:t>
            </a:r>
          </a:p>
          <a:p>
            <a:pPr lvl="1"/>
            <a:r>
              <a:rPr lang="en-US" dirty="0" smtClean="0"/>
              <a:t>File Entries</a:t>
            </a:r>
          </a:p>
          <a:p>
            <a:pPr lvl="1"/>
            <a:r>
              <a:rPr lang="en-US" dirty="0" smtClean="0"/>
              <a:t>Virtual File System and v-node</a:t>
            </a:r>
          </a:p>
          <a:p>
            <a:pPr lvl="1"/>
            <a:r>
              <a:rPr lang="en-US" dirty="0" smtClean="0"/>
              <a:t>Local File System and </a:t>
            </a:r>
            <a:r>
              <a:rPr lang="en-US" dirty="0" err="1" smtClean="0"/>
              <a:t>i</a:t>
            </a:r>
            <a:r>
              <a:rPr lang="en-US" dirty="0" smtClean="0"/>
              <a:t>-node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Files and File Systems: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A file system is a logical abstraction for secondary (persistent) storage</a:t>
            </a:r>
          </a:p>
          <a:p>
            <a:pPr lvl="1"/>
            <a:r>
              <a:rPr lang="en-US" dirty="0" smtClean="0"/>
              <a:t>i.e. physical storage is partitioned into logical units</a:t>
            </a:r>
          </a:p>
          <a:p>
            <a:pPr lvl="1"/>
            <a:r>
              <a:rPr lang="en-US" dirty="0" smtClean="0"/>
              <a:t>Each logical unit has a file system – modeled as a tree for navigation</a:t>
            </a:r>
          </a:p>
          <a:p>
            <a:pPr lvl="1"/>
            <a:r>
              <a:rPr lang="en-US" dirty="0" smtClean="0"/>
              <a:t>Nodes of the tree are directories (internal) and files (terminal)</a:t>
            </a:r>
          </a:p>
          <a:p>
            <a:pPr lvl="2"/>
            <a:r>
              <a:rPr lang="en-US" dirty="0" smtClean="0"/>
              <a:t>In Unix directories are also files that store directory listings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Files and File Systems: Data Access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712968" cy="482453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Persistent data may be accessed:</a:t>
            </a:r>
          </a:p>
          <a:p>
            <a:pPr lvl="1"/>
            <a:r>
              <a:rPr lang="en-US" dirty="0" smtClean="0"/>
              <a:t>in large sequential chunks or </a:t>
            </a:r>
          </a:p>
          <a:p>
            <a:pPr lvl="1"/>
            <a:r>
              <a:rPr lang="en-US" dirty="0" smtClean="0"/>
              <a:t>in small random records</a:t>
            </a:r>
          </a:p>
          <a:p>
            <a:endParaRPr lang="en-US" dirty="0" smtClean="0"/>
          </a:p>
          <a:p>
            <a:r>
              <a:rPr lang="en-US" dirty="0" smtClean="0"/>
              <a:t>File systems are typically designed to handle these two kinds of accesses respectively</a:t>
            </a:r>
          </a:p>
          <a:p>
            <a:endParaRPr lang="en-US" dirty="0" smtClean="0"/>
          </a:p>
          <a:p>
            <a:r>
              <a:rPr lang="en-US" dirty="0" smtClean="0"/>
              <a:t>Any standard OS includes built-in File System</a:t>
            </a:r>
          </a:p>
          <a:p>
            <a:pPr lvl="1"/>
            <a:r>
              <a:rPr lang="en-US" dirty="0" smtClean="0"/>
              <a:t>One or more file systems are supported</a:t>
            </a:r>
          </a:p>
          <a:p>
            <a:pPr lvl="1"/>
            <a:r>
              <a:rPr lang="en-US" dirty="0" smtClean="0"/>
              <a:t>e.g. ext, ext2, ext3, NTFS, FAT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Files in UNIX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Files are logical storage units as well as logical I/O streams in Unix</a:t>
            </a:r>
          </a:p>
          <a:p>
            <a:pPr lvl="1"/>
            <a:r>
              <a:rPr lang="en-US" dirty="0" smtClean="0"/>
              <a:t>i.e. access to each physical I/O device is supported through a logical abstraction, which is a file </a:t>
            </a:r>
          </a:p>
          <a:p>
            <a:r>
              <a:rPr lang="en-US" dirty="0" smtClean="0"/>
              <a:t>A file is contained in a directory (which is also supported as a file)</a:t>
            </a:r>
          </a:p>
          <a:p>
            <a:r>
              <a:rPr lang="en-US" dirty="0" smtClean="0"/>
              <a:t>Unix treats network connections and storage devices through the same high level abstraction:</a:t>
            </a:r>
          </a:p>
          <a:p>
            <a:pPr lvl="1"/>
            <a:r>
              <a:rPr lang="en-US" dirty="0" smtClean="0"/>
              <a:t>Socket access (by applications) is very similar to I/O on devices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Descriptors in UNIX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4896544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An application opening a file gets a “file descriptor” object</a:t>
            </a:r>
          </a:p>
          <a:p>
            <a:pPr lvl="1"/>
            <a:r>
              <a:rPr lang="en-US" dirty="0" smtClean="0"/>
              <a:t>File descriptor is held by the user process</a:t>
            </a:r>
          </a:p>
          <a:p>
            <a:pPr lvl="2"/>
            <a:r>
              <a:rPr lang="en-US" dirty="0" smtClean="0"/>
              <a:t>Each process maintains a descriptor table for holding descriptors (nonnegative integer) of open files.</a:t>
            </a:r>
          </a:p>
          <a:p>
            <a:pPr lvl="1"/>
            <a:r>
              <a:rPr lang="en-US" dirty="0" smtClean="0"/>
              <a:t>Typical operations on file descriptor:</a:t>
            </a:r>
          </a:p>
          <a:p>
            <a:pPr lvl="2"/>
            <a:r>
              <a:rPr lang="en-US" dirty="0" smtClean="0"/>
              <a:t>read, write, select, </a:t>
            </a:r>
            <a:r>
              <a:rPr lang="en-US" dirty="0" err="1" smtClean="0"/>
              <a:t>ioctl</a:t>
            </a:r>
            <a:r>
              <a:rPr lang="en-US" dirty="0" smtClean="0"/>
              <a:t>, close</a:t>
            </a:r>
          </a:p>
          <a:p>
            <a:pPr lvl="1"/>
            <a:r>
              <a:rPr lang="en-US" dirty="0" smtClean="0"/>
              <a:t>Each descriptor object in turn points to a “file entry” in a shared table maintained by the kernel</a:t>
            </a:r>
          </a:p>
          <a:p>
            <a:pPr lvl="2"/>
            <a:r>
              <a:rPr lang="en-US" dirty="0" smtClean="0"/>
              <a:t>The file entry points to a data structure for maintaining specific file instance information and state associated with an instance.</a:t>
            </a:r>
          </a:p>
          <a:p>
            <a:pPr lvl="3"/>
            <a:r>
              <a:rPr lang="en-US" dirty="0" smtClean="0">
                <a:solidFill>
                  <a:srgbClr val="00B050"/>
                </a:solidFill>
              </a:rPr>
              <a:t>This data structure is opaque to operations manipulating the file entry.</a:t>
            </a:r>
          </a:p>
          <a:p>
            <a:pPr lvl="3"/>
            <a:r>
              <a:rPr lang="en-US" dirty="0" smtClean="0">
                <a:solidFill>
                  <a:srgbClr val="00B050"/>
                </a:solidFill>
              </a:rPr>
              <a:t>Underlying object instances cannot manipulate the file entry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Open Files in UNIX: File Entries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568952" cy="4968552"/>
          </a:xfrm>
        </p:spPr>
        <p:txBody>
          <a:bodyPr>
            <a:normAutofit/>
          </a:bodyPr>
          <a:lstStyle/>
          <a:p>
            <a:r>
              <a:rPr lang="en-US" i="1" dirty="0" smtClean="0">
                <a:solidFill>
                  <a:srgbClr val="00B050"/>
                </a:solidFill>
              </a:rPr>
              <a:t>read/write</a:t>
            </a:r>
            <a:r>
              <a:rPr lang="en-US" dirty="0" smtClean="0"/>
              <a:t> system calls do not take an offset as an argument</a:t>
            </a:r>
          </a:p>
          <a:p>
            <a:pPr lvl="1"/>
            <a:r>
              <a:rPr lang="en-US" dirty="0" smtClean="0"/>
              <a:t>They update the current file offset which determines the position for the next read/write</a:t>
            </a:r>
          </a:p>
          <a:p>
            <a:r>
              <a:rPr lang="en-US" i="1" dirty="0" err="1" smtClean="0">
                <a:solidFill>
                  <a:srgbClr val="00B050"/>
                </a:solidFill>
              </a:rPr>
              <a:t>lseek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system call can be used to set the offset</a:t>
            </a:r>
          </a:p>
          <a:p>
            <a:r>
              <a:rPr lang="en-US" dirty="0" smtClean="0"/>
              <a:t>More than one process may open the same file</a:t>
            </a:r>
          </a:p>
          <a:p>
            <a:pPr lvl="1"/>
            <a:r>
              <a:rPr lang="en-US" dirty="0" smtClean="0"/>
              <a:t>i.e. each process needs its own offset</a:t>
            </a:r>
          </a:p>
          <a:p>
            <a:pPr lvl="1"/>
            <a:r>
              <a:rPr lang="en-US" dirty="0" smtClean="0"/>
              <a:t>i.e. each open system call allocates a new file entry (in the kernel table) which stores the offset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Open Files in UNIX: File Entries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Access Control Semantics is enforced at the file descriptor level.</a:t>
            </a:r>
          </a:p>
          <a:p>
            <a:pPr lvl="1"/>
            <a:r>
              <a:rPr lang="en-US" dirty="0" smtClean="0"/>
              <a:t>There are flags in the descriptor recording access permissions as “read”, “write”, or “read-write”</a:t>
            </a:r>
          </a:p>
          <a:p>
            <a:endParaRPr lang="en-US" dirty="0" smtClean="0"/>
          </a:p>
          <a:p>
            <a:r>
              <a:rPr lang="en-US" dirty="0" smtClean="0"/>
              <a:t>There is also an “append” flag in the descriptors</a:t>
            </a:r>
          </a:p>
          <a:p>
            <a:pPr lvl="1"/>
            <a:r>
              <a:rPr lang="en-US" dirty="0" smtClean="0"/>
              <a:t>Allows file to be treated as a FIFO stream</a:t>
            </a:r>
          </a:p>
          <a:p>
            <a:pPr lvl="2"/>
            <a:r>
              <a:rPr lang="en-US" dirty="0" smtClean="0"/>
              <a:t>E.g. Multiple processes may be writing to the same file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Open Files in UNIX: File Entries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Each “file entry” has a reference count</a:t>
            </a:r>
          </a:p>
          <a:p>
            <a:pPr lvl="1"/>
            <a:r>
              <a:rPr lang="en-US" dirty="0" smtClean="0"/>
              <a:t>Multiple descriptors may refer to the same file entry: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Single Process</a:t>
            </a:r>
            <a:r>
              <a:rPr lang="en-US" dirty="0" smtClean="0"/>
              <a:t>: dup system call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Multiple Processes</a:t>
            </a:r>
            <a:r>
              <a:rPr lang="en-US" dirty="0" smtClean="0"/>
              <a:t>: child process after a fork inherits file structures</a:t>
            </a:r>
          </a:p>
          <a:p>
            <a:pPr lvl="3"/>
            <a:r>
              <a:rPr lang="en-US" dirty="0" smtClean="0"/>
              <a:t>A read or write by either process (via the corresponding descriptor) will advance the file offset</a:t>
            </a:r>
          </a:p>
          <a:p>
            <a:pPr lvl="3"/>
            <a:r>
              <a:rPr lang="en-US" dirty="0" smtClean="0"/>
              <a:t>This allows interleaved input/output from/to  a file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6264696" cy="85010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Virtual File Systems and V-nodes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2453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File descriptors and file entries keep track of per process, per I/O (sequence) state.</a:t>
            </a:r>
          </a:p>
          <a:p>
            <a:r>
              <a:rPr lang="en-US" dirty="0" smtClean="0"/>
              <a:t>For each open file a virtual node (v-node) is also available in memory.</a:t>
            </a:r>
          </a:p>
          <a:p>
            <a:pPr lvl="1"/>
            <a:r>
              <a:rPr lang="en-US" dirty="0" smtClean="0"/>
              <a:t>All file entries corresponding to the file, point to the v-node and the v-node maintains a reference count.</a:t>
            </a:r>
          </a:p>
          <a:p>
            <a:pPr lvl="1"/>
            <a:r>
              <a:rPr lang="en-US" dirty="0" smtClean="0"/>
              <a:t>Buffers (for I/O on a file) are associated with the v-node.</a:t>
            </a:r>
          </a:p>
          <a:p>
            <a:pPr lvl="2"/>
            <a:r>
              <a:rPr lang="en-US" dirty="0" smtClean="0"/>
              <a:t>Each v-node has a clean buffers list and a dirty buffers list</a:t>
            </a:r>
          </a:p>
          <a:p>
            <a:pPr lvl="1"/>
            <a:r>
              <a:rPr lang="en-US" dirty="0" smtClean="0"/>
              <a:t>Each v-node is also associated with a mount data structure (that corresponds to a mounted file system)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Virtual File System and v-nodes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496944" cy="496855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v-node is an in-memory abstraction for a file </a:t>
            </a:r>
          </a:p>
          <a:p>
            <a:pPr lvl="1"/>
            <a:r>
              <a:rPr lang="en-US" dirty="0" smtClean="0"/>
              <a:t>i.e. it acts a proxy to a physical file store data structure that abstracts away from the details of the file store.</a:t>
            </a:r>
          </a:p>
          <a:p>
            <a:pPr lvl="2"/>
            <a:r>
              <a:rPr lang="en-US" dirty="0" smtClean="0"/>
              <a:t>For instance, irrespective of whether a file is stored remotely or locally, system call operations flow through a file entry to a v-node</a:t>
            </a:r>
          </a:p>
          <a:p>
            <a:r>
              <a:rPr lang="en-US" dirty="0" smtClean="0"/>
              <a:t>A v-node is similar to an interface in an object-oriented system where multiple implementations of the interface are possible.</a:t>
            </a:r>
          </a:p>
          <a:p>
            <a:pPr lvl="1"/>
            <a:r>
              <a:rPr lang="en-US" dirty="0" smtClean="0"/>
              <a:t>The underlying implementation would correspond to the physical file. </a:t>
            </a:r>
          </a:p>
          <a:p>
            <a:pPr lvl="2"/>
            <a:r>
              <a:rPr lang="en-US" dirty="0" smtClean="0"/>
              <a:t>For example, an </a:t>
            </a:r>
            <a:r>
              <a:rPr lang="en-US" dirty="0" err="1" smtClean="0"/>
              <a:t>i</a:t>
            </a:r>
            <a:r>
              <a:rPr lang="en-US" dirty="0" smtClean="0"/>
              <a:t>-node for a local file or </a:t>
            </a:r>
            <a:r>
              <a:rPr lang="en-US" dirty="0" err="1" smtClean="0"/>
              <a:t>nfs</a:t>
            </a:r>
            <a:r>
              <a:rPr lang="en-US" dirty="0" smtClean="0"/>
              <a:t>-node for a remote file.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11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Unix File System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060848"/>
            <a:ext cx="5837063" cy="377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File System and </a:t>
            </a:r>
            <a:r>
              <a:rPr lang="en-US" dirty="0" err="1" smtClean="0"/>
              <a:t>i</a:t>
            </a:r>
            <a:r>
              <a:rPr lang="en-US" dirty="0" smtClean="0"/>
              <a:t>-node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00200"/>
            <a:ext cx="8892480" cy="478112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For a local file system an index node (</a:t>
            </a:r>
            <a:r>
              <a:rPr lang="en-US" dirty="0" err="1" smtClean="0"/>
              <a:t>i</a:t>
            </a:r>
            <a:r>
              <a:rPr lang="en-US" dirty="0" smtClean="0"/>
              <a:t>-node) is an in memory copy of a file handle i.e.</a:t>
            </a:r>
          </a:p>
          <a:p>
            <a:pPr lvl="1"/>
            <a:r>
              <a:rPr lang="en-US" dirty="0" smtClean="0"/>
              <a:t>Each file stored in a local file system (e.g. a disk) has </a:t>
            </a:r>
            <a:r>
              <a:rPr lang="en-US" dirty="0" err="1" smtClean="0"/>
              <a:t>i</a:t>
            </a:r>
            <a:r>
              <a:rPr lang="en-US" dirty="0" smtClean="0"/>
              <a:t>-node associated with it.</a:t>
            </a:r>
          </a:p>
          <a:p>
            <a:pPr lvl="1"/>
            <a:r>
              <a:rPr lang="en-US" dirty="0" smtClean="0"/>
              <a:t>All </a:t>
            </a:r>
            <a:r>
              <a:rPr lang="en-US" dirty="0" err="1" smtClean="0"/>
              <a:t>i</a:t>
            </a:r>
            <a:r>
              <a:rPr lang="en-US" dirty="0" smtClean="0"/>
              <a:t>-nodes are stored (along with the file system) on disk. </a:t>
            </a:r>
          </a:p>
          <a:p>
            <a:pPr lvl="1"/>
            <a:r>
              <a:rPr lang="en-US" dirty="0" smtClean="0"/>
              <a:t>Copies of </a:t>
            </a:r>
            <a:r>
              <a:rPr lang="en-US" dirty="0" err="1" smtClean="0"/>
              <a:t>i</a:t>
            </a:r>
            <a:r>
              <a:rPr lang="en-US" dirty="0" smtClean="0"/>
              <a:t>-nodes for active (i.e. open) files are kept in memory in a hash table (</a:t>
            </a:r>
            <a:r>
              <a:rPr lang="en-US" dirty="0" err="1" smtClean="0"/>
              <a:t>i</a:t>
            </a:r>
            <a:r>
              <a:rPr lang="en-US" dirty="0" smtClean="0"/>
              <a:t>-node table) hashed by </a:t>
            </a:r>
            <a:r>
              <a:rPr lang="en-US" dirty="0" err="1" smtClean="0"/>
              <a:t>i</a:t>
            </a:r>
            <a:r>
              <a:rPr lang="en-US" dirty="0" smtClean="0"/>
              <a:t>-node number which is a unique identifier.</a:t>
            </a:r>
          </a:p>
          <a:p>
            <a:r>
              <a:rPr lang="en-US" dirty="0" smtClean="0"/>
              <a:t>Each </a:t>
            </a:r>
            <a:r>
              <a:rPr lang="en-US" dirty="0" err="1" smtClean="0"/>
              <a:t>i</a:t>
            </a:r>
            <a:r>
              <a:rPr lang="en-US" dirty="0" smtClean="0"/>
              <a:t>-node provides information for accessing a file data from a local store (e.g. a disk).</a:t>
            </a:r>
          </a:p>
          <a:p>
            <a:pPr lvl="1"/>
            <a:r>
              <a:rPr lang="en-US" dirty="0" smtClean="0"/>
              <a:t>It also stores file meta-data.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File 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482453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Each disk drive has one or more partitions</a:t>
            </a:r>
          </a:p>
          <a:p>
            <a:pPr lvl="1"/>
            <a:r>
              <a:rPr lang="en-US" dirty="0" smtClean="0"/>
              <a:t>Typical (1-1) mapping: file store &lt;==&gt; partition </a:t>
            </a:r>
          </a:p>
          <a:p>
            <a:r>
              <a:rPr lang="en-US" dirty="0" smtClean="0"/>
              <a:t>File store is responsible for</a:t>
            </a:r>
          </a:p>
          <a:p>
            <a:pPr lvl="1"/>
            <a:r>
              <a:rPr lang="en-US" dirty="0" smtClean="0"/>
              <a:t>Creation, storage, retrieval and removal of files</a:t>
            </a:r>
          </a:p>
          <a:p>
            <a:pPr lvl="2"/>
            <a:r>
              <a:rPr lang="en-US" dirty="0" smtClean="0"/>
              <a:t>New file creation – </a:t>
            </a:r>
            <a:r>
              <a:rPr lang="en-US" dirty="0" err="1" smtClean="0"/>
              <a:t>i</a:t>
            </a:r>
            <a:r>
              <a:rPr lang="en-US" dirty="0" smtClean="0"/>
              <a:t>-node allocation</a:t>
            </a:r>
          </a:p>
          <a:p>
            <a:pPr lvl="2"/>
            <a:r>
              <a:rPr lang="en-US" dirty="0" smtClean="0"/>
              <a:t>Flat name space</a:t>
            </a:r>
          </a:p>
          <a:p>
            <a:pPr lvl="2"/>
            <a:r>
              <a:rPr lang="en-US" dirty="0" smtClean="0"/>
              <a:t>Allocation of new blocks to files as files grow.</a:t>
            </a:r>
          </a:p>
          <a:p>
            <a:r>
              <a:rPr lang="en-US" dirty="0" smtClean="0"/>
              <a:t>Naming, access control, locking, attribute manipulation are all handled by the file system management layer above the file store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 of File 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8363272" cy="511256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Berkeley Fast File System (FFS) model:</a:t>
            </a:r>
          </a:p>
          <a:p>
            <a:pPr lvl="1"/>
            <a:r>
              <a:rPr lang="en-US" dirty="0" smtClean="0"/>
              <a:t>A file system is described by its superblock</a:t>
            </a:r>
          </a:p>
          <a:p>
            <a:pPr lvl="2"/>
            <a:r>
              <a:rPr lang="en-US" dirty="0" smtClean="0"/>
              <a:t>Located at the beginning of the file system</a:t>
            </a:r>
          </a:p>
          <a:p>
            <a:pPr lvl="2"/>
            <a:r>
              <a:rPr lang="en-US" dirty="0" smtClean="0"/>
              <a:t>Possibly replicated for redundancy</a:t>
            </a:r>
          </a:p>
          <a:p>
            <a:pPr lvl="1"/>
            <a:r>
              <a:rPr lang="en-US" dirty="0" smtClean="0"/>
              <a:t>A disk partition is divided into one or more cylinder groups i.e. a set of consecutive cylinders:</a:t>
            </a:r>
          </a:p>
          <a:p>
            <a:pPr lvl="2"/>
            <a:r>
              <a:rPr lang="en-US" dirty="0" smtClean="0"/>
              <a:t>Each group maintains book-keeping info. including</a:t>
            </a:r>
          </a:p>
          <a:p>
            <a:pPr lvl="3"/>
            <a:r>
              <a:rPr lang="en-US" dirty="0" smtClean="0"/>
              <a:t>a redundant copy of superblock</a:t>
            </a:r>
          </a:p>
          <a:p>
            <a:pPr lvl="3"/>
            <a:r>
              <a:rPr lang="en-US" dirty="0" smtClean="0"/>
              <a:t>Space for </a:t>
            </a:r>
            <a:r>
              <a:rPr lang="en-US" dirty="0" err="1" smtClean="0"/>
              <a:t>i</a:t>
            </a:r>
            <a:r>
              <a:rPr lang="en-US" dirty="0" smtClean="0"/>
              <a:t>-nodes</a:t>
            </a:r>
          </a:p>
          <a:p>
            <a:pPr lvl="3"/>
            <a:r>
              <a:rPr lang="en-US" dirty="0" smtClean="0"/>
              <a:t>A bitmap of available blocks and</a:t>
            </a:r>
          </a:p>
          <a:p>
            <a:pPr lvl="3"/>
            <a:r>
              <a:rPr lang="en-US" dirty="0" smtClean="0"/>
              <a:t>Summary usage info.</a:t>
            </a:r>
          </a:p>
          <a:p>
            <a:r>
              <a:rPr lang="en-US" dirty="0" smtClean="0"/>
              <a:t>Cylinder groups are used to create clusters of allocated blocks to improve locality.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Local File Store- Storage Utilization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496855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Data layout – Performance requirement</a:t>
            </a:r>
          </a:p>
          <a:p>
            <a:pPr lvl="1"/>
            <a:r>
              <a:rPr lang="en-US" dirty="0" smtClean="0"/>
              <a:t>Large blocks of data should be transferable in a single disk operation</a:t>
            </a:r>
          </a:p>
          <a:p>
            <a:r>
              <a:rPr lang="en-US" dirty="0" smtClean="0"/>
              <a:t>So, logical block size must be large.</a:t>
            </a:r>
          </a:p>
          <a:p>
            <a:pPr lvl="1"/>
            <a:r>
              <a:rPr lang="en-US" dirty="0" smtClean="0"/>
              <a:t>But, typical profiles primarily use small files.</a:t>
            </a:r>
          </a:p>
          <a:p>
            <a:r>
              <a:rPr lang="en-US" dirty="0" smtClean="0"/>
              <a:t>Internal Fragmentation:</a:t>
            </a:r>
          </a:p>
          <a:p>
            <a:pPr lvl="1"/>
            <a:r>
              <a:rPr lang="en-US" dirty="0" smtClean="0"/>
              <a:t>Increases from 1.1% for 512 bytes logical block size, 2.5% for 1KB, to 5.4% for 2KB, to an unacceptable 61% for 16KB</a:t>
            </a:r>
          </a:p>
          <a:p>
            <a:r>
              <a:rPr lang="en-US" dirty="0" smtClean="0"/>
              <a:t>I-nodes also add to the space overhead:</a:t>
            </a:r>
          </a:p>
          <a:p>
            <a:pPr lvl="1"/>
            <a:r>
              <a:rPr lang="en-US" dirty="0" smtClean="0"/>
              <a:t>But overhead due to </a:t>
            </a:r>
            <a:r>
              <a:rPr lang="en-US" dirty="0" err="1" smtClean="0"/>
              <a:t>i</a:t>
            </a:r>
            <a:r>
              <a:rPr lang="en-US" dirty="0" smtClean="0"/>
              <a:t>-nodes is about 6% for logical block sizes of 512B, 1KB and 2KB, reduces to about 3% for 4KB, and to 0.8% for 16KB.</a:t>
            </a:r>
          </a:p>
          <a:p>
            <a:r>
              <a:rPr lang="en-US" dirty="0" smtClean="0"/>
              <a:t>One option to balance internal fragmentation against improved I/O performance is </a:t>
            </a:r>
          </a:p>
          <a:p>
            <a:pPr lvl="1"/>
            <a:r>
              <a:rPr lang="en-US" dirty="0" smtClean="0"/>
              <a:t>to maintain large logical blocks made of smaller fragments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File Store – Layout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Global Policies:</a:t>
            </a:r>
          </a:p>
          <a:p>
            <a:pPr lvl="1"/>
            <a:r>
              <a:rPr lang="en-US" dirty="0" smtClean="0"/>
              <a:t>Use summary information to make decisions regarding placement of </a:t>
            </a:r>
            <a:r>
              <a:rPr lang="en-US" dirty="0" err="1" smtClean="0"/>
              <a:t>i</a:t>
            </a:r>
            <a:r>
              <a:rPr lang="en-US" dirty="0" smtClean="0"/>
              <a:t>-nodes and disk blocks.</a:t>
            </a:r>
          </a:p>
          <a:p>
            <a:pPr lvl="2"/>
            <a:r>
              <a:rPr lang="en-US" dirty="0" smtClean="0"/>
              <a:t>Routines responsible for deciding placement of new directories and files.</a:t>
            </a:r>
          </a:p>
          <a:p>
            <a:pPr lvl="1"/>
            <a:r>
              <a:rPr lang="en-US" dirty="0" smtClean="0"/>
              <a:t>Layout policies rely on locality to cluster information for improved performance.</a:t>
            </a:r>
          </a:p>
          <a:p>
            <a:pPr lvl="2"/>
            <a:r>
              <a:rPr lang="en-US" dirty="0" smtClean="0"/>
              <a:t>E.g. Cylinder group clustering</a:t>
            </a:r>
          </a:p>
          <a:p>
            <a:r>
              <a:rPr lang="en-US" dirty="0" smtClean="0"/>
              <a:t>Local Allocation Routines.</a:t>
            </a:r>
          </a:p>
          <a:p>
            <a:pPr lvl="1"/>
            <a:r>
              <a:rPr lang="en-US" dirty="0" smtClean="0"/>
              <a:t>Use locally optimal schemes for data block layouts.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File Store – Layout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Local allocators use a multi-level allocation strategy: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2060"/>
                </a:solidFill>
              </a:rPr>
              <a:t>1. Use the next available block that is rotationally closest to the requested block on the same cylinder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2. If no blocks are available in the same cylinder use a block within the same cylinder group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3. If the cylinder group is full, choose another group by quadratic hashing.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4. Search exhaustively.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 Support for I/O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489654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System calls form the interface between applications and  OS (kernel)</a:t>
            </a:r>
          </a:p>
          <a:p>
            <a:pPr lvl="1"/>
            <a:r>
              <a:rPr lang="en-US" sz="2400" dirty="0" smtClean="0"/>
              <a:t>File System and I/O system are responsible for</a:t>
            </a:r>
          </a:p>
          <a:p>
            <a:pPr lvl="2"/>
            <a:r>
              <a:rPr lang="en-US" sz="2000" dirty="0" smtClean="0"/>
              <a:t>Implementing system calls related to file management and handling input/output.</a:t>
            </a:r>
          </a:p>
          <a:p>
            <a:r>
              <a:rPr lang="en-US" sz="2800" dirty="0" smtClean="0"/>
              <a:t>Device drivers form the interface between the OS (kernel) and the hardware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4293096"/>
            <a:ext cx="477202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in UNIX 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4709120"/>
          </a:xfrm>
        </p:spPr>
        <p:txBody>
          <a:bodyPr/>
          <a:lstStyle/>
          <a:p>
            <a:r>
              <a:rPr lang="en-US" dirty="0" smtClean="0"/>
              <a:t>Application level operation</a:t>
            </a:r>
          </a:p>
          <a:p>
            <a:pPr lvl="1"/>
            <a:r>
              <a:rPr lang="en-US" dirty="0" smtClean="0"/>
              <a:t>E.g. </a:t>
            </a:r>
            <a:r>
              <a:rPr lang="en-US" dirty="0" err="1" smtClean="0"/>
              <a:t>printf</a:t>
            </a:r>
            <a:r>
              <a:rPr lang="en-US" dirty="0" smtClean="0"/>
              <a:t> call</a:t>
            </a:r>
          </a:p>
          <a:p>
            <a:r>
              <a:rPr lang="en-US" dirty="0" smtClean="0"/>
              <a:t>OS (kernel) level</a:t>
            </a:r>
          </a:p>
          <a:p>
            <a:pPr lvl="1"/>
            <a:r>
              <a:rPr lang="en-US" dirty="0" smtClean="0"/>
              <a:t>System call </a:t>
            </a:r>
            <a:r>
              <a:rPr lang="en-US" dirty="0" err="1" smtClean="0"/>
              <a:t>bwrite</a:t>
            </a:r>
            <a:endParaRPr lang="en-US" dirty="0" smtClean="0"/>
          </a:p>
          <a:p>
            <a:r>
              <a:rPr lang="en-US" dirty="0" smtClean="0"/>
              <a:t>Device Driver level</a:t>
            </a:r>
          </a:p>
          <a:p>
            <a:pPr lvl="1"/>
            <a:r>
              <a:rPr lang="en-US" dirty="0" smtClean="0"/>
              <a:t>Strategy entry point – code for write operation</a:t>
            </a:r>
          </a:p>
          <a:p>
            <a:r>
              <a:rPr lang="en-US" dirty="0" smtClean="0"/>
              <a:t>Device level</a:t>
            </a:r>
          </a:p>
          <a:p>
            <a:pPr lvl="1"/>
            <a:r>
              <a:rPr lang="en-US" dirty="0" smtClean="0"/>
              <a:t>E.g. SCSI protocol command for write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in UNIX - 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568952" cy="4968552"/>
          </a:xfrm>
        </p:spPr>
        <p:txBody>
          <a:bodyPr/>
          <a:lstStyle/>
          <a:p>
            <a:r>
              <a:rPr lang="en-US" dirty="0" smtClean="0"/>
              <a:t>I/O system is used for</a:t>
            </a:r>
          </a:p>
          <a:p>
            <a:pPr lvl="1"/>
            <a:r>
              <a:rPr lang="en-US" dirty="0" smtClean="0"/>
              <a:t>Network communication and virtual memory (Swap space)</a:t>
            </a:r>
          </a:p>
          <a:p>
            <a:r>
              <a:rPr lang="en-US" dirty="0" smtClean="0"/>
              <a:t>Two types of devices</a:t>
            </a:r>
          </a:p>
          <a:p>
            <a:pPr lvl="1"/>
            <a:r>
              <a:rPr lang="en-US" dirty="0" smtClean="0"/>
              <a:t>Character devices</a:t>
            </a:r>
          </a:p>
          <a:p>
            <a:pPr lvl="2"/>
            <a:r>
              <a:rPr lang="en-US" dirty="0" smtClean="0"/>
              <a:t>Terminals, line printers, main memory</a:t>
            </a:r>
          </a:p>
          <a:p>
            <a:pPr lvl="1"/>
            <a:r>
              <a:rPr lang="en-US" dirty="0" smtClean="0"/>
              <a:t>Block devices</a:t>
            </a:r>
          </a:p>
          <a:p>
            <a:pPr lvl="2"/>
            <a:r>
              <a:rPr lang="en-US" dirty="0" smtClean="0"/>
              <a:t>Disks and Tapes</a:t>
            </a:r>
          </a:p>
          <a:p>
            <a:pPr lvl="2"/>
            <a:r>
              <a:rPr lang="en-US" dirty="0" smtClean="0"/>
              <a:t>Buffering done by kernel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21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in UNIX – Device Drivers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496944" cy="489654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Device Driver Sections</a:t>
            </a:r>
          </a:p>
          <a:p>
            <a:pPr lvl="1"/>
            <a:r>
              <a:rPr lang="en-US" dirty="0" smtClean="0"/>
              <a:t>Auto-configuration and initialization Routines</a:t>
            </a:r>
          </a:p>
          <a:p>
            <a:pPr lvl="2"/>
            <a:r>
              <a:rPr lang="en-US" dirty="0" smtClean="0"/>
              <a:t>Probe and initialize the device</a:t>
            </a:r>
          </a:p>
          <a:p>
            <a:pPr lvl="1"/>
            <a:r>
              <a:rPr lang="en-US" dirty="0" smtClean="0"/>
              <a:t>Routines for servicing I/O requests</a:t>
            </a:r>
          </a:p>
          <a:p>
            <a:pPr lvl="2"/>
            <a:r>
              <a:rPr lang="en-US" dirty="0" smtClean="0"/>
              <a:t>Invoked because of system calls or VM requests</a:t>
            </a:r>
          </a:p>
          <a:p>
            <a:pPr lvl="2"/>
            <a:r>
              <a:rPr lang="en-US" dirty="0" smtClean="0"/>
              <a:t>Referred to as the “top-half” of the driver</a:t>
            </a:r>
          </a:p>
          <a:p>
            <a:pPr lvl="1"/>
            <a:r>
              <a:rPr lang="en-US" dirty="0" smtClean="0"/>
              <a:t>Interrupt service routines</a:t>
            </a:r>
          </a:p>
          <a:p>
            <a:pPr lvl="2"/>
            <a:r>
              <a:rPr lang="en-US" dirty="0" smtClean="0"/>
              <a:t>Invoked by interrupt from a device</a:t>
            </a:r>
          </a:p>
          <a:p>
            <a:pPr lvl="3"/>
            <a:r>
              <a:rPr lang="en-US" dirty="0" smtClean="0"/>
              <a:t>Can’t depend on per-process state</a:t>
            </a:r>
          </a:p>
          <a:p>
            <a:pPr lvl="3"/>
            <a:r>
              <a:rPr lang="en-US" dirty="0" smtClean="0"/>
              <a:t>Can’t block</a:t>
            </a:r>
          </a:p>
          <a:p>
            <a:pPr lvl="2"/>
            <a:r>
              <a:rPr lang="en-US" dirty="0" smtClean="0"/>
              <a:t>Referred to as the “bottom-half” of the driver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I/O Queuing and Interrupt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" y="1600200"/>
            <a:ext cx="8363272" cy="470912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Each device driver manages one or more queues for I/O requests</a:t>
            </a:r>
          </a:p>
          <a:p>
            <a:pPr lvl="1"/>
            <a:r>
              <a:rPr lang="en-US" dirty="0" smtClean="0"/>
              <a:t>Shared among asynchronous routines – must be synchronized.</a:t>
            </a:r>
          </a:p>
          <a:p>
            <a:pPr lvl="1"/>
            <a:r>
              <a:rPr lang="en-US" dirty="0" smtClean="0"/>
              <a:t>Multi-process synchronization also required.</a:t>
            </a:r>
          </a:p>
          <a:p>
            <a:r>
              <a:rPr lang="en-US" dirty="0" smtClean="0"/>
              <a:t>Interrupts are generated by devices</a:t>
            </a:r>
          </a:p>
          <a:p>
            <a:pPr lvl="1"/>
            <a:r>
              <a:rPr lang="en-US" dirty="0" smtClean="0"/>
              <a:t>Signal status change (or completion of operation)</a:t>
            </a:r>
          </a:p>
          <a:p>
            <a:pPr lvl="1"/>
            <a:r>
              <a:rPr lang="en-US" dirty="0" smtClean="0"/>
              <a:t>DD-ISR invoked through a glue routine that is responsible for saving volatile registers.</a:t>
            </a:r>
          </a:p>
          <a:p>
            <a:pPr lvl="1"/>
            <a:r>
              <a:rPr lang="en-US" dirty="0" smtClean="0"/>
              <a:t>ISR removes request from queue, notifies requestor that the command has been executed.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6336704" cy="850106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I/O in UNIX – Block Devices and I/O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Disk sector sized read/write</a:t>
            </a:r>
          </a:p>
          <a:p>
            <a:pPr lvl="1"/>
            <a:r>
              <a:rPr lang="en-US" dirty="0" smtClean="0"/>
              <a:t>Conversion of random access to disk sector read/write is known as block I/O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Kernel buffering reduces latency for multiple reads and writes.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Driver to Disk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504056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Disk Interface:</a:t>
            </a:r>
          </a:p>
          <a:p>
            <a:pPr lvl="1"/>
            <a:r>
              <a:rPr lang="en-US" dirty="0" smtClean="0"/>
              <a:t>Disk access requires an address: </a:t>
            </a:r>
          </a:p>
          <a:p>
            <a:pPr lvl="2"/>
            <a:r>
              <a:rPr lang="en-US" dirty="0" smtClean="0"/>
              <a:t>device id, LBA    OR</a:t>
            </a:r>
          </a:p>
          <a:p>
            <a:pPr lvl="2"/>
            <a:r>
              <a:rPr lang="en-US" dirty="0" smtClean="0"/>
              <a:t>device id, cylinder #, head#, sector #.</a:t>
            </a:r>
          </a:p>
          <a:p>
            <a:pPr lvl="1"/>
            <a:r>
              <a:rPr lang="en-US" dirty="0" smtClean="0"/>
              <a:t>Device drivers need to be aware of disk details for address translation:</a:t>
            </a:r>
          </a:p>
          <a:p>
            <a:pPr lvl="2"/>
            <a:r>
              <a:rPr lang="en-US" dirty="0" smtClean="0"/>
              <a:t>i.e. converting a logical address (say file system level address such as </a:t>
            </a:r>
            <a:r>
              <a:rPr lang="en-US" dirty="0" err="1" smtClean="0"/>
              <a:t>i</a:t>
            </a:r>
            <a:r>
              <a:rPr lang="en-US" dirty="0" smtClean="0"/>
              <a:t>-node number) to a physical address (i.e. CHS) on the disk;</a:t>
            </a:r>
          </a:p>
          <a:p>
            <a:pPr lvl="2"/>
            <a:r>
              <a:rPr lang="en-US" dirty="0" smtClean="0"/>
              <a:t>they need to be aware of complete disk geometry if CHS addressing is used.</a:t>
            </a:r>
          </a:p>
          <a:p>
            <a:pPr lvl="1"/>
            <a:r>
              <a:rPr lang="en-US" dirty="0" smtClean="0"/>
              <a:t>Early device drivers had hard-coded disk geometries.</a:t>
            </a:r>
          </a:p>
          <a:p>
            <a:pPr lvl="2"/>
            <a:r>
              <a:rPr lang="en-US" dirty="0" smtClean="0"/>
              <a:t>This results in reduced modularity –</a:t>
            </a:r>
          </a:p>
          <a:p>
            <a:pPr lvl="3"/>
            <a:r>
              <a:rPr lang="en-US" dirty="0" smtClean="0"/>
              <a:t>disks cannot be moved (data mapping is with the device driver);</a:t>
            </a:r>
          </a:p>
          <a:p>
            <a:pPr lvl="3"/>
            <a:r>
              <a:rPr lang="en-US" dirty="0" smtClean="0"/>
              <a:t>device driver upgrades would require shutdowns and data copies.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Disk Labels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709120"/>
          </a:xfrm>
        </p:spPr>
        <p:txBody>
          <a:bodyPr>
            <a:normAutofit/>
          </a:bodyPr>
          <a:lstStyle/>
          <a:p>
            <a:r>
              <a:rPr lang="en-US" dirty="0" smtClean="0"/>
              <a:t>Disk Geometry and Data mapping is stored on the disk itself.</a:t>
            </a:r>
          </a:p>
          <a:p>
            <a:pPr lvl="1"/>
            <a:r>
              <a:rPr lang="en-US" dirty="0" smtClean="0"/>
              <a:t>Known as disk label.</a:t>
            </a:r>
          </a:p>
          <a:p>
            <a:pPr lvl="1"/>
            <a:r>
              <a:rPr lang="en-US" dirty="0" smtClean="0"/>
              <a:t>Must be stored in a fixed location – usually 0th block i.e. 0th sector on head 0, cylinder 0.</a:t>
            </a:r>
          </a:p>
          <a:p>
            <a:pPr lvl="1"/>
            <a:r>
              <a:rPr lang="en-US" dirty="0" smtClean="0"/>
              <a:t>Usually this is where bootstrap code is stored</a:t>
            </a:r>
          </a:p>
          <a:p>
            <a:pPr lvl="2"/>
            <a:r>
              <a:rPr lang="en-US" dirty="0" smtClean="0"/>
              <a:t>In which case disk information is part of the bootstrap code, because booting may require disk access.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Buffering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496855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Buffer Cache</a:t>
            </a:r>
          </a:p>
          <a:p>
            <a:pPr lvl="1"/>
            <a:r>
              <a:rPr lang="en-US" dirty="0" smtClean="0"/>
              <a:t>Memory buffer for data being transferred to and from disks</a:t>
            </a:r>
          </a:p>
          <a:p>
            <a:pPr lvl="1"/>
            <a:r>
              <a:rPr lang="en-US" dirty="0" smtClean="0"/>
              <a:t>Cache for recently used blocks</a:t>
            </a:r>
          </a:p>
          <a:p>
            <a:pPr lvl="2"/>
            <a:r>
              <a:rPr lang="en-US" dirty="0" smtClean="0"/>
              <a:t>85% hit rate is typical</a:t>
            </a:r>
          </a:p>
          <a:p>
            <a:pPr lvl="2"/>
            <a:r>
              <a:rPr lang="en-US" dirty="0" smtClean="0"/>
              <a:t>Typical buffer size = 64KB virtual memory</a:t>
            </a:r>
          </a:p>
          <a:p>
            <a:pPr lvl="2"/>
            <a:r>
              <a:rPr lang="en-US" dirty="0" smtClean="0"/>
              <a:t>Buffer pool – hundreds of buffers</a:t>
            </a:r>
          </a:p>
          <a:p>
            <a:r>
              <a:rPr lang="en-US" dirty="0" smtClean="0"/>
              <a:t>Consistency issue</a:t>
            </a:r>
          </a:p>
          <a:p>
            <a:pPr lvl="1"/>
            <a:r>
              <a:rPr lang="en-US" dirty="0" smtClean="0"/>
              <a:t>Each disk block mapped to at most one buffer</a:t>
            </a:r>
          </a:p>
          <a:p>
            <a:pPr lvl="1"/>
            <a:r>
              <a:rPr lang="en-US" dirty="0" smtClean="0"/>
              <a:t>Buffers have dirty bits associated</a:t>
            </a:r>
          </a:p>
          <a:p>
            <a:pPr lvl="1"/>
            <a:r>
              <a:rPr lang="en-US" dirty="0" smtClean="0"/>
              <a:t>When a new buffer is allocated and if its disk blocks overlap with that of an existing buffer, then the old buffer must be purged.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Buffer Pool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504056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Buffer pool is maintained as a (separately chained) hash table indexed by a buffer id</a:t>
            </a:r>
          </a:p>
          <a:p>
            <a:r>
              <a:rPr lang="en-US" dirty="0" smtClean="0"/>
              <a:t>The buffers in the pool are also in one of four lists:</a:t>
            </a:r>
          </a:p>
          <a:p>
            <a:pPr lvl="1"/>
            <a:r>
              <a:rPr lang="en-US" dirty="0" smtClean="0"/>
              <a:t>Locked list: </a:t>
            </a:r>
          </a:p>
          <a:p>
            <a:pPr lvl="2"/>
            <a:r>
              <a:rPr lang="en-US" dirty="0" smtClean="0"/>
              <a:t>buffers that are currently used for I/O and therefore locked and cannot be released until operation is complete</a:t>
            </a:r>
          </a:p>
          <a:p>
            <a:pPr lvl="1"/>
            <a:r>
              <a:rPr lang="en-US" dirty="0" smtClean="0"/>
              <a:t>LRU list:</a:t>
            </a:r>
          </a:p>
          <a:p>
            <a:pPr lvl="2"/>
            <a:r>
              <a:rPr lang="en-US" dirty="0" smtClean="0"/>
              <a:t>A queue of buffers – a recently used item is added at the rear of the queue and when a buffer is needed one at the front of the queue is replaced.</a:t>
            </a:r>
          </a:p>
          <a:p>
            <a:pPr lvl="2"/>
            <a:r>
              <a:rPr lang="en-US" dirty="0" smtClean="0"/>
              <a:t>Buffers staying in this queue long enough are migrated to an Aged list</a:t>
            </a:r>
          </a:p>
          <a:p>
            <a:pPr lvl="1"/>
            <a:r>
              <a:rPr lang="en-US" dirty="0" smtClean="0"/>
              <a:t>Aged List:</a:t>
            </a:r>
          </a:p>
          <a:p>
            <a:pPr lvl="2"/>
            <a:r>
              <a:rPr lang="en-US" dirty="0" smtClean="0"/>
              <a:t>Maintained as a list and any element may be used for replacement.</a:t>
            </a:r>
          </a:p>
          <a:p>
            <a:pPr lvl="1"/>
            <a:r>
              <a:rPr lang="en-US" dirty="0" smtClean="0"/>
              <a:t>Empty List</a:t>
            </a:r>
          </a:p>
          <a:p>
            <a:r>
              <a:rPr lang="en-US" dirty="0" smtClean="0"/>
              <a:t>When a new buffer is needed check in the following order: </a:t>
            </a:r>
          </a:p>
          <a:p>
            <a:pPr lvl="1"/>
            <a:r>
              <a:rPr lang="en-US" dirty="0" smtClean="0"/>
              <a:t>Empty List, Aged List, LRU list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Flash Memory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853136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Flash chips are arranged into blocks which are typically 128KB on NOR  and 8KB on NAND flash</a:t>
            </a:r>
          </a:p>
          <a:p>
            <a:endParaRPr lang="en-US" dirty="0" smtClean="0"/>
          </a:p>
          <a:p>
            <a:r>
              <a:rPr lang="en-US" dirty="0" smtClean="0"/>
              <a:t>All flash cells are preset to </a:t>
            </a:r>
            <a:r>
              <a:rPr lang="en-US" i="1" dirty="0" smtClean="0"/>
              <a:t>one</a:t>
            </a:r>
            <a:r>
              <a:rPr lang="en-US" dirty="0" smtClean="0"/>
              <a:t>. These cells can be individually programmed to </a:t>
            </a:r>
            <a:r>
              <a:rPr lang="en-US" i="1" dirty="0" smtClean="0"/>
              <a:t>zero</a:t>
            </a:r>
            <a:r>
              <a:rPr lang="en-US" dirty="0" smtClean="0"/>
              <a:t>  </a:t>
            </a:r>
          </a:p>
          <a:p>
            <a:pPr lvl="1"/>
            <a:r>
              <a:rPr lang="en-US" dirty="0" smtClean="0"/>
              <a:t>Burt resetting bits from zero to one cannot be done individually, can be done only by resetting or erasing a complete block</a:t>
            </a:r>
          </a:p>
          <a:p>
            <a:endParaRPr lang="en-US" dirty="0" smtClean="0"/>
          </a:p>
          <a:p>
            <a:r>
              <a:rPr lang="en-US" dirty="0" smtClean="0"/>
              <a:t>The lifetime of a flash chip is measured in such erase cycles, with the typical lifetime being 100,000 erases per block</a:t>
            </a:r>
          </a:p>
          <a:p>
            <a:pPr lvl="1"/>
            <a:r>
              <a:rPr lang="en-US" dirty="0" smtClean="0"/>
              <a:t>Erase count per block should be evenly distributed across all the blocks for better life time of the flash chip</a:t>
            </a:r>
          </a:p>
          <a:p>
            <a:pPr lvl="1"/>
            <a:r>
              <a:rPr lang="en-US" dirty="0" smtClean="0"/>
              <a:t>Process is known as “wear leveling”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Traditional File System: Erase- Modify-Write back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496944" cy="489654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 1:1 mapping from the emulated block device to the flash chip</a:t>
            </a:r>
          </a:p>
          <a:p>
            <a:pPr lvl="1"/>
            <a:r>
              <a:rPr lang="en-US" dirty="0" smtClean="0"/>
              <a:t>read the whole erase block, modifying the appropriate part of the buffer, erase and rewrite the entire block</a:t>
            </a:r>
          </a:p>
          <a:p>
            <a:pPr lvl="2"/>
            <a:r>
              <a:rPr lang="en-US" dirty="0" smtClean="0"/>
              <a:t>No wear leveling…!</a:t>
            </a:r>
          </a:p>
          <a:p>
            <a:pPr lvl="2"/>
            <a:r>
              <a:rPr lang="en-US" dirty="0" smtClean="0"/>
              <a:t>Unsafe due to power loss between erase and write back</a:t>
            </a:r>
          </a:p>
          <a:p>
            <a:r>
              <a:rPr lang="en-US" dirty="0" smtClean="0"/>
              <a:t>Slightly better method</a:t>
            </a:r>
          </a:p>
          <a:p>
            <a:pPr lvl="1"/>
            <a:r>
              <a:rPr lang="en-US" dirty="0" smtClean="0"/>
              <a:t>by gathering writes to a single erase block and only performing the erase/modify/write back procedure when a write to a different erase block is requested.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Journaling File </a:t>
            </a:r>
            <a:r>
              <a:rPr lang="en-US" dirty="0" smtClean="0"/>
              <a:t>System(JFS)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496944" cy="4968552"/>
          </a:xfrm>
        </p:spPr>
        <p:txBody>
          <a:bodyPr/>
          <a:lstStyle/>
          <a:p>
            <a:r>
              <a:rPr lang="en-US" dirty="0" smtClean="0"/>
              <a:t>How to provide wear leveling…?</a:t>
            </a:r>
          </a:p>
          <a:p>
            <a:pPr lvl="1"/>
            <a:r>
              <a:rPr lang="en-US" dirty="0" smtClean="0"/>
              <a:t>emulated block device are stored in varying locations on the physical medium</a:t>
            </a:r>
          </a:p>
          <a:p>
            <a:pPr lvl="1"/>
            <a:r>
              <a:rPr lang="en-US" dirty="0" smtClean="0"/>
              <a:t>needs to keep track of the current location of each sector in the emulated block device</a:t>
            </a:r>
          </a:p>
          <a:p>
            <a:pPr lvl="2"/>
            <a:r>
              <a:rPr lang="en-US" dirty="0" smtClean="0"/>
              <a:t>Use of Translation Layer to keep track of current mapping</a:t>
            </a:r>
          </a:p>
          <a:p>
            <a:pPr lvl="3"/>
            <a:r>
              <a:rPr lang="en-US" dirty="0" smtClean="0"/>
              <a:t>It is a form of Journaling File System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31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JFFS Storage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/>
          <a:lstStyle/>
          <a:p>
            <a:r>
              <a:rPr lang="en-US" dirty="0" smtClean="0"/>
              <a:t>It is a log structured file system</a:t>
            </a:r>
          </a:p>
          <a:p>
            <a:r>
              <a:rPr lang="en-US" dirty="0" smtClean="0"/>
              <a:t>Nodes containing data and metadata are stored on the flash chips sequentially, progressing strictly linearly through the storage space available.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Wear Leveling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33</a:t>
            </a:fld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700808"/>
            <a:ext cx="285750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Flash Memory: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Out-place updating is usually done to avoid erasing operations on every write</a:t>
            </a:r>
          </a:p>
          <a:p>
            <a:pPr lvl="1"/>
            <a:r>
              <a:rPr lang="en-US" dirty="0" smtClean="0"/>
              <a:t>Latest copy of data is “live”</a:t>
            </a:r>
          </a:p>
          <a:p>
            <a:r>
              <a:rPr lang="en-US" dirty="0" smtClean="0"/>
              <a:t>Page meta-data</a:t>
            </a:r>
          </a:p>
          <a:p>
            <a:pPr lvl="1"/>
            <a:r>
              <a:rPr lang="en-US" dirty="0" smtClean="0"/>
              <a:t>“Live” </a:t>
            </a:r>
            <a:r>
              <a:rPr lang="en-US" dirty="0" err="1" smtClean="0"/>
              <a:t>vs</a:t>
            </a:r>
            <a:r>
              <a:rPr lang="en-US" dirty="0" smtClean="0"/>
              <a:t> “dead”</a:t>
            </a:r>
          </a:p>
          <a:p>
            <a:pPr lvl="1"/>
            <a:r>
              <a:rPr lang="en-US" dirty="0" smtClean="0"/>
              <a:t>“Free” pages are unused pages</a:t>
            </a:r>
          </a:p>
          <a:p>
            <a:r>
              <a:rPr lang="en-US" dirty="0" smtClean="0"/>
              <a:t>Cleaning </a:t>
            </a:r>
          </a:p>
          <a:p>
            <a:pPr lvl="1"/>
            <a:r>
              <a:rPr lang="en-US" dirty="0" smtClean="0"/>
              <a:t>Required when free pages are not available</a:t>
            </a:r>
          </a:p>
          <a:p>
            <a:pPr lvl="1"/>
            <a:r>
              <a:rPr lang="en-US" dirty="0" smtClean="0"/>
              <a:t>Erasure is done per block </a:t>
            </a:r>
          </a:p>
          <a:p>
            <a:pPr lvl="2"/>
            <a:r>
              <a:rPr lang="en-US" dirty="0" smtClean="0"/>
              <a:t>May require copying of live data</a:t>
            </a:r>
          </a:p>
          <a:p>
            <a:r>
              <a:rPr lang="en-US" dirty="0" smtClean="0"/>
              <a:t>Some blocks may be erased more than others</a:t>
            </a:r>
          </a:p>
          <a:p>
            <a:pPr lvl="1"/>
            <a:r>
              <a:rPr lang="en-US" dirty="0" smtClean="0"/>
              <a:t>“Worn” pages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 and Flash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363272" cy="489654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Although File Systems abstract out device details</a:t>
            </a:r>
          </a:p>
          <a:p>
            <a:pPr lvl="1"/>
            <a:r>
              <a:rPr lang="en-US" dirty="0" smtClean="0"/>
              <a:t>Most file system internals were designed for semi-random access models:</a:t>
            </a:r>
          </a:p>
          <a:p>
            <a:pPr lvl="2"/>
            <a:r>
              <a:rPr lang="en-US" dirty="0" smtClean="0"/>
              <a:t>i.e. notions of blocks/sectors, block addresses, and buffers tied to blocks are incorporated into many file systems</a:t>
            </a:r>
          </a:p>
          <a:p>
            <a:pPr lvl="3"/>
            <a:r>
              <a:rPr lang="en-US" dirty="0" smtClean="0"/>
              <a:t>E.g. Block devices in Unix file systems</a:t>
            </a:r>
          </a:p>
          <a:p>
            <a:r>
              <a:rPr lang="en-US" dirty="0" smtClean="0"/>
              <a:t>So, either file systems are redesigned for flash </a:t>
            </a:r>
          </a:p>
          <a:p>
            <a:r>
              <a:rPr lang="en-US" dirty="0" smtClean="0"/>
              <a:t>Or, device drivers handle flash memory access and file systems use the same access models</a:t>
            </a:r>
          </a:p>
          <a:p>
            <a:pPr lvl="1"/>
            <a:r>
              <a:rPr lang="en-US" dirty="0" smtClean="0"/>
              <a:t>Require a Flash Translation Layer that emulates a block device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35</a:t>
            </a:fld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I/O Techniques</a:t>
            </a:r>
          </a:p>
          <a:p>
            <a:pPr lvl="1"/>
            <a:r>
              <a:rPr lang="en-US" dirty="0" smtClean="0"/>
              <a:t>Polling</a:t>
            </a:r>
          </a:p>
          <a:p>
            <a:pPr lvl="1"/>
            <a:r>
              <a:rPr lang="en-US" dirty="0" smtClean="0"/>
              <a:t>Interrupt driven</a:t>
            </a:r>
          </a:p>
          <a:p>
            <a:pPr lvl="1"/>
            <a:r>
              <a:rPr lang="en-US" dirty="0" smtClean="0"/>
              <a:t>DMA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36</a:t>
            </a:fld>
            <a:endParaRPr lang="en-I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568952" cy="496855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Polling:</a:t>
            </a:r>
          </a:p>
          <a:p>
            <a:pPr lvl="1"/>
            <a:r>
              <a:rPr lang="en-US" dirty="0" smtClean="0"/>
              <a:t>CPU check on the status of an I/O device by reading a memory address which is associated with an I/O device  </a:t>
            </a:r>
          </a:p>
          <a:p>
            <a:pPr lvl="1"/>
            <a:r>
              <a:rPr lang="en-US" dirty="0" smtClean="0"/>
              <a:t>Pseudo-asynchronous</a:t>
            </a:r>
          </a:p>
          <a:p>
            <a:pPr lvl="2"/>
            <a:r>
              <a:rPr lang="en-US" dirty="0" smtClean="0"/>
              <a:t>Processor inspects (multiple) devices in rotation</a:t>
            </a:r>
          </a:p>
          <a:p>
            <a:pPr lvl="1"/>
            <a:r>
              <a:rPr lang="en-US" dirty="0" smtClean="0"/>
              <a:t>Cons</a:t>
            </a:r>
          </a:p>
          <a:p>
            <a:pPr lvl="2"/>
            <a:r>
              <a:rPr lang="en-US" dirty="0" smtClean="0"/>
              <a:t>Processor may still be forced to do useless work or wait or both</a:t>
            </a:r>
          </a:p>
          <a:p>
            <a:pPr lvl="1"/>
            <a:r>
              <a:rPr lang="en-US" dirty="0" smtClean="0"/>
              <a:t>Pros</a:t>
            </a:r>
          </a:p>
          <a:p>
            <a:pPr lvl="2"/>
            <a:r>
              <a:rPr lang="en-US" dirty="0" smtClean="0"/>
              <a:t>CPU can determines how often it needs to poll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412776"/>
            <a:ext cx="8568952" cy="496855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Interrupts:</a:t>
            </a:r>
          </a:p>
          <a:p>
            <a:pPr lvl="1"/>
            <a:r>
              <a:rPr lang="en-US" dirty="0" smtClean="0"/>
              <a:t>Processor initiates I/O by requesting an operation with the device.</a:t>
            </a:r>
          </a:p>
          <a:p>
            <a:pPr lvl="1"/>
            <a:r>
              <a:rPr lang="en-US" dirty="0" smtClean="0"/>
              <a:t>May disconnect if response can’t be immediate, which is usually the case</a:t>
            </a:r>
          </a:p>
          <a:p>
            <a:pPr lvl="1"/>
            <a:r>
              <a:rPr lang="en-US" dirty="0" smtClean="0"/>
              <a:t>When device is ready with a response it interrupts the processor.</a:t>
            </a:r>
          </a:p>
          <a:p>
            <a:pPr lvl="2"/>
            <a:r>
              <a:rPr lang="en-US" dirty="0" smtClean="0"/>
              <a:t>Processor finishes I/O with the device.</a:t>
            </a:r>
          </a:p>
          <a:p>
            <a:pPr lvl="1"/>
            <a:r>
              <a:rPr lang="en-US" dirty="0" smtClean="0"/>
              <a:t>Asynchronous but </a:t>
            </a:r>
          </a:p>
          <a:p>
            <a:pPr lvl="2"/>
            <a:r>
              <a:rPr lang="en-US" dirty="0" smtClean="0"/>
              <a:t>Data transfer between I/O device and memory still requires processor to execute instructions.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Techniques: Interrupts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39</a:t>
            </a:fld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556792"/>
            <a:ext cx="5229605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 l="14394" t="12746" r="28029" b="35559"/>
          <a:stretch>
            <a:fillRect/>
          </a:stretch>
        </p:blipFill>
        <p:spPr bwMode="auto">
          <a:xfrm>
            <a:off x="5412658" y="1628799"/>
            <a:ext cx="3426159" cy="237626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568952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Direct Memory Access</a:t>
            </a:r>
          </a:p>
          <a:p>
            <a:pPr lvl="1"/>
            <a:r>
              <a:rPr lang="en-US" dirty="0" smtClean="0"/>
              <a:t>Processor initiates I/O</a:t>
            </a:r>
          </a:p>
          <a:p>
            <a:pPr lvl="1"/>
            <a:r>
              <a:rPr lang="en-US" dirty="0" smtClean="0"/>
              <a:t>DMA controller acts as an intermediary: </a:t>
            </a:r>
          </a:p>
          <a:p>
            <a:pPr lvl="2"/>
            <a:r>
              <a:rPr lang="en-US" dirty="0" smtClean="0"/>
              <a:t>interacts with the device, </a:t>
            </a:r>
          </a:p>
          <a:p>
            <a:pPr lvl="2"/>
            <a:r>
              <a:rPr lang="en-US" dirty="0" smtClean="0"/>
              <a:t>transfers data to/from memory as appropriate, and</a:t>
            </a:r>
          </a:p>
          <a:p>
            <a:pPr lvl="2"/>
            <a:r>
              <a:rPr lang="en-US" dirty="0" smtClean="0"/>
              <a:t>interrupts processor to signal completion. </a:t>
            </a:r>
          </a:p>
          <a:p>
            <a:pPr lvl="1"/>
            <a:r>
              <a:rPr lang="en-US" dirty="0" smtClean="0"/>
              <a:t>From the processor’s perspective DMA controller is yet another device</a:t>
            </a:r>
          </a:p>
          <a:p>
            <a:pPr lvl="2"/>
            <a:r>
              <a:rPr lang="en-US" dirty="0" smtClean="0"/>
              <a:t>But one that works at semiconductor speeds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I/O Processor</a:t>
            </a:r>
          </a:p>
          <a:p>
            <a:pPr lvl="1"/>
            <a:r>
              <a:rPr lang="en-US" dirty="0" smtClean="0"/>
              <a:t>More sophisticated version of DMA controller with the ability to execute code: execute I/O routines, interact with the O/S etc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41</a:t>
            </a:fld>
            <a:endParaRPr lang="en-I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I/O Path From CPU to Storage</a:t>
            </a:r>
          </a:p>
          <a:p>
            <a:pPr lvl="1"/>
            <a:r>
              <a:rPr lang="en-US" dirty="0" smtClean="0"/>
              <a:t>BUSES</a:t>
            </a:r>
          </a:p>
          <a:p>
            <a:pPr lvl="1"/>
            <a:r>
              <a:rPr lang="en-US" dirty="0" smtClean="0"/>
              <a:t>PCI </a:t>
            </a:r>
            <a:r>
              <a:rPr lang="en-US" dirty="0" smtClean="0"/>
              <a:t>(Peripheral Component Interconnect)Bus </a:t>
            </a:r>
            <a:r>
              <a:rPr lang="en-US" dirty="0" smtClean="0"/>
              <a:t>as an 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Bus 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712968" cy="5040560"/>
          </a:xfrm>
        </p:spPr>
        <p:txBody>
          <a:bodyPr>
            <a:normAutofit/>
          </a:bodyPr>
          <a:lstStyle/>
          <a:p>
            <a:r>
              <a:rPr lang="en-US" dirty="0" smtClean="0"/>
              <a:t>A bus is 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a shared communication link between sub- systems of a computer and 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an associated protocol for communication </a:t>
            </a:r>
          </a:p>
          <a:p>
            <a:pPr lvl="2"/>
            <a:r>
              <a:rPr lang="en-US" dirty="0" smtClean="0"/>
              <a:t>Note: A protocol is a set of rules - often specified formally.</a:t>
            </a:r>
          </a:p>
          <a:p>
            <a:r>
              <a:rPr lang="en-US" dirty="0" smtClean="0"/>
              <a:t>E.g. </a:t>
            </a:r>
          </a:p>
          <a:p>
            <a:pPr lvl="1"/>
            <a:r>
              <a:rPr lang="en-US" dirty="0" smtClean="0"/>
              <a:t>Single Shared bus</a:t>
            </a:r>
          </a:p>
          <a:p>
            <a:pPr lvl="1"/>
            <a:r>
              <a:rPr lang="en-US" dirty="0" smtClean="0"/>
              <a:t>Separate system bus </a:t>
            </a:r>
          </a:p>
          <a:p>
            <a:pPr lvl="1">
              <a:buNone/>
            </a:pPr>
            <a:r>
              <a:rPr lang="en-US" dirty="0" smtClean="0"/>
              <a:t>   and I/O Bus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43</a:t>
            </a:fld>
            <a:endParaRPr lang="en-IN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645024"/>
            <a:ext cx="3960440" cy="2675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Bus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7056784" cy="187220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Multi bus architecture</a:t>
            </a:r>
          </a:p>
          <a:p>
            <a:pPr lvl="1"/>
            <a:r>
              <a:rPr lang="en-US" sz="2400" dirty="0" smtClean="0"/>
              <a:t>To avoid contention</a:t>
            </a:r>
          </a:p>
          <a:p>
            <a:pPr lvl="1"/>
            <a:r>
              <a:rPr lang="en-US" sz="2400" dirty="0" smtClean="0"/>
              <a:t>Better Performance</a:t>
            </a:r>
          </a:p>
          <a:p>
            <a:pPr lvl="1"/>
            <a:r>
              <a:rPr lang="en-US" sz="2400" dirty="0" smtClean="0"/>
              <a:t>Device requirements are different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44</a:t>
            </a:fld>
            <a:endParaRPr lang="en-IN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r="5608" b="62469"/>
          <a:stretch>
            <a:fillRect/>
          </a:stretch>
        </p:blipFill>
        <p:spPr bwMode="auto">
          <a:xfrm>
            <a:off x="251520" y="3140968"/>
            <a:ext cx="6048672" cy="3353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Arbitration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dirty="0" smtClean="0"/>
              <a:t>More than one module controlling the bus</a:t>
            </a:r>
          </a:p>
          <a:p>
            <a:pPr lvl="1">
              <a:lnSpc>
                <a:spcPct val="90000"/>
              </a:lnSpc>
            </a:pPr>
            <a:r>
              <a:rPr lang="en-GB" dirty="0" smtClean="0"/>
              <a:t>e.g. CPU and DMA controller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Only one module may control bus at one time</a:t>
            </a:r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r>
              <a:rPr lang="en-GB" dirty="0" smtClean="0"/>
              <a:t>Arbitration may be- </a:t>
            </a:r>
          </a:p>
          <a:p>
            <a:pPr lvl="1">
              <a:lnSpc>
                <a:spcPct val="90000"/>
              </a:lnSpc>
            </a:pPr>
            <a:r>
              <a:rPr lang="en-GB" dirty="0" smtClean="0"/>
              <a:t>Centralised</a:t>
            </a:r>
          </a:p>
          <a:p>
            <a:pPr lvl="2">
              <a:lnSpc>
                <a:spcPct val="90000"/>
              </a:lnSpc>
            </a:pPr>
            <a:r>
              <a:rPr lang="en-GB" dirty="0" smtClean="0"/>
              <a:t>Single hardware device controlling bus access</a:t>
            </a:r>
          </a:p>
          <a:p>
            <a:pPr lvl="1">
              <a:lnSpc>
                <a:spcPct val="90000"/>
              </a:lnSpc>
            </a:pPr>
            <a:r>
              <a:rPr lang="en-GB" dirty="0" smtClean="0"/>
              <a:t>Distributed</a:t>
            </a:r>
          </a:p>
          <a:p>
            <a:pPr lvl="1">
              <a:lnSpc>
                <a:spcPct val="90000"/>
              </a:lnSpc>
            </a:pPr>
            <a:r>
              <a:rPr lang="en-GB" dirty="0" smtClean="0"/>
              <a:t>Each module may claim the bus</a:t>
            </a:r>
          </a:p>
          <a:p>
            <a:pPr lvl="2">
              <a:lnSpc>
                <a:spcPct val="90000"/>
              </a:lnSpc>
            </a:pPr>
            <a:r>
              <a:rPr lang="en-GB" dirty="0" smtClean="0"/>
              <a:t>Control logic on all modules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424936" cy="4824536"/>
          </a:xfrm>
        </p:spPr>
        <p:txBody>
          <a:bodyPr/>
          <a:lstStyle/>
          <a:p>
            <a:r>
              <a:rPr lang="en-GB" dirty="0" smtClean="0"/>
              <a:t>Co-ordination of events on bus</a:t>
            </a:r>
          </a:p>
          <a:p>
            <a:r>
              <a:rPr lang="en-GB" dirty="0" smtClean="0"/>
              <a:t>Synchronous</a:t>
            </a:r>
          </a:p>
          <a:p>
            <a:pPr lvl="1"/>
            <a:r>
              <a:rPr lang="en-GB" dirty="0" smtClean="0"/>
              <a:t>Events determined by clock signals</a:t>
            </a:r>
          </a:p>
          <a:p>
            <a:pPr lvl="1"/>
            <a:r>
              <a:rPr lang="en-GB" dirty="0" smtClean="0"/>
              <a:t>Control Bus includes clock line</a:t>
            </a:r>
          </a:p>
          <a:p>
            <a:pPr lvl="1"/>
            <a:r>
              <a:rPr lang="en-GB" dirty="0" smtClean="0"/>
              <a:t>All devices can read clock line </a:t>
            </a:r>
          </a:p>
          <a:p>
            <a:pPr lvl="1"/>
            <a:r>
              <a:rPr lang="en-GB" dirty="0" smtClean="0"/>
              <a:t>Usually a single cycle for an event</a:t>
            </a:r>
          </a:p>
          <a:p>
            <a:r>
              <a:rPr lang="en-GB" dirty="0" smtClean="0"/>
              <a:t>Asynchronous</a:t>
            </a:r>
          </a:p>
          <a:p>
            <a:pPr lvl="1"/>
            <a:r>
              <a:rPr lang="en-GB" dirty="0" smtClean="0"/>
              <a:t>Events are not synchronized with clock signals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Bus Protocols: PCI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PCI Bus</a:t>
            </a:r>
          </a:p>
          <a:p>
            <a:pPr lvl="1"/>
            <a:r>
              <a:rPr lang="en-US" dirty="0" smtClean="0"/>
              <a:t>Created by INTEL in 1993</a:t>
            </a:r>
          </a:p>
          <a:p>
            <a:pPr lvl="1"/>
            <a:r>
              <a:rPr lang="en-US" dirty="0" smtClean="0"/>
              <a:t>Synchronous bus with 32 bits operating at a clock rate of 33 MHz</a:t>
            </a:r>
          </a:p>
          <a:p>
            <a:pPr lvl="1"/>
            <a:r>
              <a:rPr lang="en-US" dirty="0" smtClean="0"/>
              <a:t>Transfer rate 132 MB/s</a:t>
            </a:r>
          </a:p>
          <a:p>
            <a:pPr lvl="1"/>
            <a:r>
              <a:rPr lang="en-US" dirty="0" smtClean="0"/>
              <a:t>PCI-X extended the bus to 64 bits and either 66 MHz or 133 MHz for data rates of 528 MB/s or 1064 MB/s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PCI BUS 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/>
          <a:lstStyle/>
          <a:p>
            <a:r>
              <a:rPr lang="en-GB" sz="2000" dirty="0" smtClean="0"/>
              <a:t>PCI Bus Lines (50) (required)</a:t>
            </a:r>
          </a:p>
          <a:p>
            <a:r>
              <a:rPr lang="en-GB" sz="2200" dirty="0" smtClean="0"/>
              <a:t>Systems lines</a:t>
            </a:r>
          </a:p>
          <a:p>
            <a:pPr lvl="1"/>
            <a:r>
              <a:rPr lang="en-GB" sz="2000" dirty="0" smtClean="0"/>
              <a:t>Including clock and reset</a:t>
            </a:r>
          </a:p>
          <a:p>
            <a:r>
              <a:rPr lang="en-GB" sz="2200" dirty="0" smtClean="0"/>
              <a:t>Address &amp; Data</a:t>
            </a:r>
          </a:p>
          <a:p>
            <a:pPr lvl="1"/>
            <a:r>
              <a:rPr lang="en-GB" sz="2000" dirty="0" smtClean="0"/>
              <a:t>32 time </a:t>
            </a:r>
            <a:r>
              <a:rPr lang="en-GB" sz="2000" dirty="0" err="1" smtClean="0"/>
              <a:t>mux</a:t>
            </a:r>
            <a:r>
              <a:rPr lang="en-GB" sz="2000" dirty="0" smtClean="0"/>
              <a:t> lines for address/data</a:t>
            </a:r>
          </a:p>
          <a:p>
            <a:pPr lvl="1"/>
            <a:r>
              <a:rPr lang="en-GB" sz="2000" dirty="0" smtClean="0"/>
              <a:t>Interrupt &amp; validate lines</a:t>
            </a:r>
          </a:p>
          <a:p>
            <a:r>
              <a:rPr lang="en-GB" sz="2200" dirty="0" smtClean="0"/>
              <a:t>Interface Control</a:t>
            </a:r>
          </a:p>
          <a:p>
            <a:pPr lvl="1"/>
            <a:r>
              <a:rPr lang="en-GB" sz="2000" dirty="0" smtClean="0"/>
              <a:t>Control the timings of transactions</a:t>
            </a:r>
          </a:p>
          <a:p>
            <a:r>
              <a:rPr lang="en-GB" sz="2200" dirty="0" smtClean="0"/>
              <a:t>Arbitration</a:t>
            </a:r>
          </a:p>
          <a:p>
            <a:pPr lvl="1"/>
            <a:r>
              <a:rPr lang="en-GB" sz="2000" dirty="0" smtClean="0"/>
              <a:t>Not shared</a:t>
            </a:r>
          </a:p>
          <a:p>
            <a:pPr lvl="1"/>
            <a:r>
              <a:rPr lang="en-GB" sz="2000" dirty="0" smtClean="0"/>
              <a:t>Direct connection to PCI bus arbiter</a:t>
            </a:r>
          </a:p>
          <a:p>
            <a:r>
              <a:rPr lang="en-GB" sz="2000" dirty="0" smtClean="0"/>
              <a:t>Error lines</a:t>
            </a:r>
          </a:p>
          <a:p>
            <a:pPr lvl="1"/>
            <a:r>
              <a:rPr lang="en-GB" sz="1800" dirty="0" smtClean="0"/>
              <a:t>Used to report parity and other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PCI Operation Example: Read</a:t>
            </a:r>
            <a:endParaRPr lang="en-US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b="10757"/>
          <a:stretch>
            <a:fillRect/>
          </a:stretch>
        </p:blipFill>
        <p:spPr bwMode="auto">
          <a:xfrm>
            <a:off x="1218732" y="1729848"/>
            <a:ext cx="6706536" cy="4266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SCSI Bus Protocol</a:t>
            </a:r>
          </a:p>
          <a:p>
            <a:pPr lvl="1"/>
            <a:r>
              <a:rPr lang="en-US" dirty="0" smtClean="0"/>
              <a:t>Bus components</a:t>
            </a:r>
          </a:p>
          <a:p>
            <a:pPr lvl="1"/>
            <a:r>
              <a:rPr lang="en-US" dirty="0" smtClean="0"/>
              <a:t>SCSI Devices</a:t>
            </a:r>
          </a:p>
          <a:p>
            <a:pPr lvl="1"/>
            <a:r>
              <a:rPr lang="en-US" dirty="0" smtClean="0"/>
              <a:t>SCSI commands</a:t>
            </a:r>
          </a:p>
          <a:p>
            <a:pPr lvl="1"/>
            <a:r>
              <a:rPr lang="en-US" dirty="0" smtClean="0"/>
              <a:t>SCSI r/w operation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SCSI: I/O Path from CPU to Storage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Stands for Small Computer System Interface</a:t>
            </a:r>
          </a:p>
          <a:p>
            <a:pPr lvl="1"/>
            <a:r>
              <a:rPr lang="en-US" dirty="0" smtClean="0"/>
              <a:t>Asynchronous, parallel bus</a:t>
            </a:r>
          </a:p>
          <a:p>
            <a:pPr lvl="1"/>
            <a:r>
              <a:rPr lang="en-US" dirty="0" smtClean="0"/>
              <a:t>Allows multiple bus masters</a:t>
            </a:r>
          </a:p>
          <a:p>
            <a:pPr lvl="1"/>
            <a:r>
              <a:rPr lang="en-US" dirty="0" smtClean="0"/>
              <a:t>Commonly used for high-end Storage devices</a:t>
            </a:r>
          </a:p>
          <a:p>
            <a:r>
              <a:rPr lang="en-US" dirty="0" smtClean="0"/>
              <a:t>Several standards</a:t>
            </a:r>
          </a:p>
          <a:p>
            <a:pPr lvl="1"/>
            <a:r>
              <a:rPr lang="en-US" dirty="0" smtClean="0"/>
              <a:t>Earliest Standard</a:t>
            </a:r>
          </a:p>
          <a:p>
            <a:pPr lvl="2"/>
            <a:r>
              <a:rPr lang="en-US" dirty="0" smtClean="0"/>
              <a:t>No. of wires (50)</a:t>
            </a:r>
          </a:p>
          <a:p>
            <a:pPr lvl="2"/>
            <a:r>
              <a:rPr lang="en-US" dirty="0" smtClean="0"/>
              <a:t>8 data lines</a:t>
            </a:r>
          </a:p>
          <a:p>
            <a:pPr lvl="2"/>
            <a:r>
              <a:rPr lang="en-US" dirty="0" smtClean="0"/>
              <a:t>data transfer rate (5MB/s)</a:t>
            </a:r>
          </a:p>
          <a:p>
            <a:pPr lvl="2"/>
            <a:r>
              <a:rPr lang="en-US" dirty="0" smtClean="0"/>
              <a:t>wire length(25m)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51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 Bus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Fast SCSI</a:t>
            </a:r>
          </a:p>
          <a:p>
            <a:pPr lvl="1"/>
            <a:r>
              <a:rPr lang="en-US" dirty="0" smtClean="0"/>
              <a:t>Doubled clock rate, data transfer up to 10MB/s</a:t>
            </a:r>
          </a:p>
          <a:p>
            <a:r>
              <a:rPr lang="en-US" dirty="0" smtClean="0"/>
              <a:t>Wide SCSI</a:t>
            </a:r>
          </a:p>
          <a:p>
            <a:pPr lvl="1"/>
            <a:r>
              <a:rPr lang="en-US" dirty="0" smtClean="0"/>
              <a:t>16 data lines</a:t>
            </a:r>
          </a:p>
          <a:p>
            <a:pPr lvl="1"/>
            <a:r>
              <a:rPr lang="en-US" dirty="0" smtClean="0"/>
              <a:t>Fast Wide SCSI – 20 MB/s</a:t>
            </a:r>
          </a:p>
          <a:p>
            <a:r>
              <a:rPr lang="en-US" dirty="0" smtClean="0"/>
              <a:t>Ultra SCSI</a:t>
            </a:r>
          </a:p>
          <a:p>
            <a:pPr lvl="1"/>
            <a:r>
              <a:rPr lang="en-US" dirty="0" smtClean="0"/>
              <a:t>8 data lines – data transfer rate 20MB/s</a:t>
            </a:r>
          </a:p>
          <a:p>
            <a:pPr lvl="1"/>
            <a:r>
              <a:rPr lang="en-US" dirty="0" smtClean="0"/>
              <a:t>Ultra Wide SCSI – 16 data lines – data transfer 40 MB/s</a:t>
            </a:r>
          </a:p>
          <a:p>
            <a:pPr lvl="1"/>
            <a:r>
              <a:rPr lang="en-US" dirty="0" smtClean="0"/>
              <a:t>Ultra320 - 16 data lines – data transfer 320 MB/s</a:t>
            </a:r>
          </a:p>
          <a:p>
            <a:r>
              <a:rPr lang="en-US" dirty="0" smtClean="0"/>
              <a:t>Serial Attached SCSI (SAS) and </a:t>
            </a:r>
            <a:r>
              <a:rPr lang="en-US" dirty="0" err="1" smtClean="0"/>
              <a:t>iSCSI</a:t>
            </a:r>
            <a:r>
              <a:rPr lang="en-US" dirty="0" smtClean="0"/>
              <a:t> (IP over SCSI)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 – Components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496944" cy="489654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All devices are connected to a bus through a SCSI controller</a:t>
            </a:r>
          </a:p>
          <a:p>
            <a:pPr lvl="1"/>
            <a:r>
              <a:rPr lang="en-US" dirty="0" smtClean="0"/>
              <a:t>e.g. a host adaptor on the processor side</a:t>
            </a:r>
          </a:p>
          <a:p>
            <a:pPr lvl="1"/>
            <a:r>
              <a:rPr lang="en-US" dirty="0" smtClean="0"/>
              <a:t>e.g. a disk controller for a hard disk device</a:t>
            </a:r>
          </a:p>
          <a:p>
            <a:r>
              <a:rPr lang="en-US" dirty="0" smtClean="0"/>
              <a:t>2 types of devices</a:t>
            </a:r>
          </a:p>
          <a:p>
            <a:pPr lvl="1"/>
            <a:r>
              <a:rPr lang="en-US" dirty="0" smtClean="0"/>
              <a:t>Initiators or Targets</a:t>
            </a:r>
          </a:p>
          <a:p>
            <a:pPr lvl="2"/>
            <a:r>
              <a:rPr lang="en-US" dirty="0" smtClean="0"/>
              <a:t>Initiator has the ability to select a target and send commands specifying operations</a:t>
            </a:r>
          </a:p>
          <a:p>
            <a:pPr lvl="2"/>
            <a:r>
              <a:rPr lang="en-US" dirty="0" smtClean="0"/>
              <a:t>Target has the ability to execute the operations based on the commands received</a:t>
            </a:r>
          </a:p>
          <a:p>
            <a:pPr lvl="2"/>
            <a:r>
              <a:rPr lang="en-US" dirty="0" smtClean="0"/>
              <a:t>Data transfers are controlled by the targets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489654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Devices are identified through controllers</a:t>
            </a:r>
          </a:p>
          <a:p>
            <a:r>
              <a:rPr lang="en-US" dirty="0" smtClean="0"/>
              <a:t>Device Identification</a:t>
            </a:r>
          </a:p>
          <a:p>
            <a:pPr lvl="1"/>
            <a:r>
              <a:rPr lang="en-US" dirty="0" smtClean="0"/>
              <a:t>Identifiers: Narrow SCSI  (8 devices)</a:t>
            </a:r>
          </a:p>
          <a:p>
            <a:pPr lvl="2"/>
            <a:r>
              <a:rPr lang="en-US" dirty="0" smtClean="0"/>
              <a:t>0-7 in increasing order of priority </a:t>
            </a:r>
          </a:p>
          <a:p>
            <a:pPr lvl="1"/>
            <a:r>
              <a:rPr lang="en-US" dirty="0" smtClean="0"/>
              <a:t>Identifiers: Wide SCSI  (16 devices)</a:t>
            </a:r>
          </a:p>
          <a:p>
            <a:pPr lvl="2"/>
            <a:r>
              <a:rPr lang="en-US" dirty="0" smtClean="0"/>
              <a:t>8-15, 0-7 in increasing order of priority</a:t>
            </a:r>
          </a:p>
          <a:p>
            <a:pPr lvl="1"/>
            <a:r>
              <a:rPr lang="en-US" dirty="0" smtClean="0"/>
              <a:t>Identifier assignment is </a:t>
            </a:r>
          </a:p>
          <a:p>
            <a:pPr lvl="2"/>
            <a:r>
              <a:rPr lang="en-US" dirty="0" smtClean="0"/>
              <a:t>physical (through jumpers or switches), or</a:t>
            </a:r>
          </a:p>
          <a:p>
            <a:pPr lvl="2"/>
            <a:r>
              <a:rPr lang="en-US" dirty="0" smtClean="0"/>
              <a:t>programmatic (through BIOS firmware in adapter)</a:t>
            </a:r>
          </a:p>
          <a:p>
            <a:r>
              <a:rPr lang="en-US" dirty="0" smtClean="0"/>
              <a:t>Logical devices</a:t>
            </a:r>
          </a:p>
          <a:p>
            <a:pPr lvl="1"/>
            <a:r>
              <a:rPr lang="en-US" dirty="0" smtClean="0"/>
              <a:t>Each Drive/Disk is assigned a Logical Unit Number (LUN) for addressing</a:t>
            </a:r>
          </a:p>
          <a:p>
            <a:pPr lvl="1"/>
            <a:r>
              <a:rPr lang="en-US" dirty="0" smtClean="0"/>
              <a:t>A Single physical device may be divided into logical devices each with a LUN (Logical Unit Number)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 Command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Communication between initiator and target</a:t>
            </a:r>
          </a:p>
          <a:p>
            <a:pPr lvl="1"/>
            <a:r>
              <a:rPr lang="en-US" dirty="0" smtClean="0"/>
              <a:t>Command sent in a Command Descriptor Block</a:t>
            </a:r>
          </a:p>
          <a:p>
            <a:pPr lvl="2"/>
            <a:r>
              <a:rPr lang="en-US" dirty="0" smtClean="0"/>
              <a:t>1 byte of </a:t>
            </a:r>
            <a:r>
              <a:rPr lang="en-US" dirty="0" err="1" smtClean="0"/>
              <a:t>opcode</a:t>
            </a:r>
            <a:r>
              <a:rPr lang="en-US" dirty="0" smtClean="0"/>
              <a:t> followed by</a:t>
            </a:r>
          </a:p>
          <a:p>
            <a:pPr lvl="2"/>
            <a:r>
              <a:rPr lang="en-US" dirty="0" smtClean="0"/>
              <a:t>5+ bytes of command-specific parameters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Target (eventually) sends a status code byte</a:t>
            </a:r>
          </a:p>
          <a:p>
            <a:pPr lvl="2"/>
            <a:r>
              <a:rPr lang="en-US" dirty="0" smtClean="0"/>
              <a:t>Success, or busy, or Check Condition (i.e. error)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 Command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482453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Command Types</a:t>
            </a:r>
          </a:p>
          <a:p>
            <a:pPr lvl="1"/>
            <a:r>
              <a:rPr lang="en-US" dirty="0" smtClean="0"/>
              <a:t>Non-data, Write, Read, Bidirectional</a:t>
            </a:r>
          </a:p>
          <a:p>
            <a:pPr lvl="1"/>
            <a:r>
              <a:rPr lang="en-US" dirty="0" smtClean="0"/>
              <a:t>e.g. </a:t>
            </a:r>
          </a:p>
          <a:p>
            <a:pPr lvl="2"/>
            <a:r>
              <a:rPr lang="en-US" dirty="0" smtClean="0"/>
              <a:t>Test Unit Ready </a:t>
            </a:r>
          </a:p>
          <a:p>
            <a:pPr lvl="2"/>
            <a:r>
              <a:rPr lang="en-US" dirty="0" smtClean="0"/>
              <a:t>Inquiry</a:t>
            </a:r>
          </a:p>
          <a:p>
            <a:pPr lvl="2"/>
            <a:r>
              <a:rPr lang="en-US" dirty="0" smtClean="0"/>
              <a:t>Start/Stop Unit</a:t>
            </a:r>
          </a:p>
          <a:p>
            <a:pPr lvl="2"/>
            <a:r>
              <a:rPr lang="en-US" dirty="0" smtClean="0"/>
              <a:t>Request Sense (for error)</a:t>
            </a:r>
          </a:p>
          <a:p>
            <a:pPr lvl="2"/>
            <a:r>
              <a:rPr lang="en-US" dirty="0" smtClean="0"/>
              <a:t>Read Capacity</a:t>
            </a:r>
          </a:p>
          <a:p>
            <a:pPr lvl="2"/>
            <a:r>
              <a:rPr lang="en-US" dirty="0" smtClean="0"/>
              <a:t>Format Unit</a:t>
            </a:r>
          </a:p>
          <a:p>
            <a:pPr lvl="2"/>
            <a:r>
              <a:rPr lang="en-US" dirty="0" smtClean="0"/>
              <a:t>Read (4 variants)</a:t>
            </a:r>
          </a:p>
          <a:p>
            <a:pPr lvl="2"/>
            <a:r>
              <a:rPr lang="en-US" dirty="0" smtClean="0"/>
              <a:t>Write (4 variants)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Descriptor Block (CDB)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Opcode</a:t>
            </a:r>
            <a:endParaRPr lang="en-US" dirty="0" smtClean="0"/>
          </a:p>
          <a:p>
            <a:r>
              <a:rPr lang="en-US" dirty="0" smtClean="0"/>
              <a:t>LUN (3 bits)</a:t>
            </a:r>
          </a:p>
          <a:p>
            <a:r>
              <a:rPr lang="en-US" dirty="0" smtClean="0"/>
              <a:t>e.g. for Read</a:t>
            </a:r>
          </a:p>
          <a:p>
            <a:pPr lvl="1"/>
            <a:r>
              <a:rPr lang="en-US" dirty="0" smtClean="0"/>
              <a:t>Read (6): 21 bits LBA, 1 byte transfer length</a:t>
            </a:r>
          </a:p>
          <a:p>
            <a:pPr lvl="1"/>
            <a:r>
              <a:rPr lang="en-US" dirty="0" smtClean="0"/>
              <a:t>Read(10): 32 bit LBA, 2 byte transfer length</a:t>
            </a:r>
          </a:p>
          <a:p>
            <a:pPr lvl="1"/>
            <a:r>
              <a:rPr lang="en-US" dirty="0" smtClean="0"/>
              <a:t>Read(12): 32 bit LBA, 4 byte transfer length</a:t>
            </a:r>
          </a:p>
          <a:p>
            <a:pPr lvl="1"/>
            <a:r>
              <a:rPr lang="en-US" dirty="0" smtClean="0"/>
              <a:t>Read Long for ECC-Compliant data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SCSI – State Transition – Bus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Bus Free Phase</a:t>
            </a:r>
          </a:p>
          <a:p>
            <a:pPr lvl="1"/>
            <a:r>
              <a:rPr lang="en-US" dirty="0" smtClean="0"/>
              <a:t>Bus is not being used by anyone</a:t>
            </a:r>
          </a:p>
          <a:p>
            <a:r>
              <a:rPr lang="en-US" dirty="0" smtClean="0"/>
              <a:t>Arbitration Phase</a:t>
            </a:r>
          </a:p>
          <a:p>
            <a:pPr lvl="1"/>
            <a:r>
              <a:rPr lang="en-US" dirty="0" smtClean="0"/>
              <a:t>One or more initiators request use of the bus and</a:t>
            </a:r>
          </a:p>
          <a:p>
            <a:pPr lvl="2"/>
            <a:r>
              <a:rPr lang="en-US" dirty="0" smtClean="0"/>
              <a:t>the one with the highest priority (SCSI ID order) is allowed to proceed</a:t>
            </a:r>
          </a:p>
          <a:p>
            <a:r>
              <a:rPr lang="en-US" dirty="0" smtClean="0"/>
              <a:t>Selection / Reselection phase</a:t>
            </a:r>
          </a:p>
          <a:p>
            <a:pPr lvl="1"/>
            <a:r>
              <a:rPr lang="en-US" dirty="0" smtClean="0"/>
              <a:t>Initiator asserts BUS BUSY signal and </a:t>
            </a:r>
          </a:p>
          <a:p>
            <a:pPr lvl="2"/>
            <a:r>
              <a:rPr lang="en-US" dirty="0" smtClean="0"/>
              <a:t>places target’s address on the bus thus establishing a connection/session</a:t>
            </a:r>
          </a:p>
          <a:p>
            <a:pPr lvl="1"/>
            <a:r>
              <a:rPr lang="en-US" dirty="0" smtClean="0"/>
              <a:t>Re-selection applies for a target resuming an interrupted operation:</a:t>
            </a:r>
          </a:p>
          <a:p>
            <a:pPr lvl="2"/>
            <a:r>
              <a:rPr lang="en-US" dirty="0" smtClean="0"/>
              <a:t>target asserts BUS BUSY signal and places initiator’s address on the bus.</a:t>
            </a:r>
          </a:p>
          <a:p>
            <a:r>
              <a:rPr lang="en-US" dirty="0" smtClean="0"/>
              <a:t>Message</a:t>
            </a:r>
          </a:p>
          <a:p>
            <a:pPr lvl="1"/>
            <a:r>
              <a:rPr lang="en-US" dirty="0" smtClean="0"/>
              <a:t>Exchange of control messages between initiator and target</a:t>
            </a:r>
          </a:p>
          <a:p>
            <a:r>
              <a:rPr lang="en-US" dirty="0" smtClean="0"/>
              <a:t>Command</a:t>
            </a:r>
          </a:p>
          <a:p>
            <a:pPr lvl="1"/>
            <a:r>
              <a:rPr lang="en-US" dirty="0" smtClean="0"/>
              <a:t>Initiator sends command to target</a:t>
            </a:r>
          </a:p>
          <a:p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Data exchange (as part of a read/write operation)</a:t>
            </a:r>
          </a:p>
          <a:p>
            <a:r>
              <a:rPr lang="en-US" dirty="0" smtClean="0"/>
              <a:t>Status</a:t>
            </a:r>
          </a:p>
          <a:p>
            <a:pPr lvl="1"/>
            <a:r>
              <a:rPr lang="en-US" dirty="0" smtClean="0"/>
              <a:t>Status of a command.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SCSI – State Transition – Bus Phase Sequence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504056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For a read operation: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2060"/>
                </a:solidFill>
              </a:rPr>
              <a:t>1. When bus is free, initiator enters into arbitration (with other possible initiators)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2. On arbitration, initiator selects the bus and places target address on bus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3. Target acknowledges selection by a message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4. Initiator sends command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5. Target acknowledges command by a message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6. Target devices places (read) data on bus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7. Initiator acknowledges data by a message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8. Target sends status</a:t>
            </a:r>
          </a:p>
          <a:p>
            <a:r>
              <a:rPr lang="en-US" dirty="0" smtClean="0"/>
              <a:t>Assumption: </a:t>
            </a:r>
          </a:p>
          <a:p>
            <a:pPr lvl="1"/>
            <a:r>
              <a:rPr lang="en-US" dirty="0" smtClean="0"/>
              <a:t>Target holds the bus while it is reading – this acceptable only for simple devices and small read delays.</a:t>
            </a:r>
          </a:p>
          <a:p>
            <a:r>
              <a:rPr lang="en-US" dirty="0" smtClean="0"/>
              <a:t>Exercise: Modify the above sequence for a write operation.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SCSI – State Transition – Bus Phase Sequence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712968" cy="504056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For a read operation: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2060"/>
                </a:solidFill>
              </a:rPr>
              <a:t>1. When bus is free, initiator enters into arbitration (with other possible initiators)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2. On arbitration, initiator selects the bus and places target address on bus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3. Target acknowledges selection by a message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4. Initiator sends command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5. Target acknowledges command by a message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</a:t>
            </a:r>
            <a:r>
              <a:rPr lang="en-US" dirty="0" smtClean="0"/>
              <a:t>6. Target sends “Disconnect” message to initiator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smtClean="0"/>
              <a:t>7. Bus is released</a:t>
            </a:r>
          </a:p>
          <a:p>
            <a:pPr>
              <a:buNone/>
            </a:pPr>
            <a:r>
              <a:rPr lang="en-US" i="1" dirty="0" smtClean="0"/>
              <a:t>	8. When target is ready with (read) data, target reselects bus and places initiator address on bus</a:t>
            </a:r>
          </a:p>
          <a:p>
            <a:pPr>
              <a:buNone/>
            </a:pPr>
            <a:r>
              <a:rPr lang="en-US" i="1" dirty="0" smtClean="0"/>
              <a:t>	9. Initiator acknowledges selection by a message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10. Target sends data. 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11. Initiator acknowledges data by a message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</a:rPr>
              <a:t>	12. Target sends status</a:t>
            </a:r>
          </a:p>
          <a:p>
            <a:r>
              <a:rPr lang="en-US" dirty="0" smtClean="0"/>
              <a:t>Question: Modify the above sequence for a write operation.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SCSI – State Transition – Bus Phase Sequence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16" y="1412776"/>
            <a:ext cx="8892480" cy="504056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For a sequence of read-write operations:</a:t>
            </a:r>
          </a:p>
          <a:p>
            <a:pPr lvl="1"/>
            <a:r>
              <a:rPr lang="en-US" dirty="0" smtClean="0"/>
              <a:t>Commands can be chained – i.e. a sequence of I/O operations initiated by a single initiator on the same target.</a:t>
            </a:r>
          </a:p>
          <a:p>
            <a:pPr lvl="1"/>
            <a:r>
              <a:rPr lang="en-US" dirty="0" smtClean="0"/>
              <a:t>In this case, one arbitration step and one selection phase are enough.</a:t>
            </a:r>
          </a:p>
          <a:p>
            <a:endParaRPr lang="en-US" dirty="0" smtClean="0"/>
          </a:p>
          <a:p>
            <a:r>
              <a:rPr lang="en-US" dirty="0" smtClean="0"/>
              <a:t>For large data transfers:</a:t>
            </a:r>
          </a:p>
          <a:p>
            <a:pPr lvl="1"/>
            <a:r>
              <a:rPr lang="en-US" dirty="0" smtClean="0"/>
              <a:t>Target could “disconnect” multiple times i.e. data transfer may be interrupted more than once.</a:t>
            </a:r>
          </a:p>
          <a:p>
            <a:pPr lvl="2"/>
            <a:r>
              <a:rPr lang="en-US" dirty="0" smtClean="0"/>
              <a:t>If the target decides to disconnect, target sends a “</a:t>
            </a:r>
            <a:r>
              <a:rPr lang="en-US" b="1" dirty="0" smtClean="0">
                <a:solidFill>
                  <a:srgbClr val="00B050"/>
                </a:solidFill>
              </a:rPr>
              <a:t>save data pointer</a:t>
            </a:r>
            <a:r>
              <a:rPr lang="en-US" dirty="0" smtClean="0"/>
              <a:t>” message to the initiator before the “disconnect” message</a:t>
            </a:r>
          </a:p>
          <a:p>
            <a:pPr lvl="2">
              <a:buNone/>
            </a:pPr>
            <a:endParaRPr lang="en-US" dirty="0" smtClean="0"/>
          </a:p>
          <a:p>
            <a:pPr lvl="2"/>
            <a:r>
              <a:rPr lang="en-US" dirty="0" smtClean="0"/>
              <a:t>A corresponding “</a:t>
            </a:r>
            <a:r>
              <a:rPr lang="en-US" b="1" dirty="0" smtClean="0">
                <a:solidFill>
                  <a:srgbClr val="00B050"/>
                </a:solidFill>
              </a:rPr>
              <a:t>restore data pointer</a:t>
            </a:r>
            <a:r>
              <a:rPr lang="en-US" dirty="0" smtClean="0"/>
              <a:t>” message is required after bus has been reselected (i.e. data transfer is about to resume).</a:t>
            </a:r>
          </a:p>
          <a:p>
            <a:r>
              <a:rPr lang="en-US" dirty="0" smtClean="0"/>
              <a:t>SCSI controllers permit at most two sequences (i.e. connections/sessions) to be interleaved.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61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 – Command Queuing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SCSI enables target devices to accept multiple requests before finishing any of them</a:t>
            </a:r>
          </a:p>
          <a:p>
            <a:pPr lvl="1"/>
            <a:r>
              <a:rPr lang="en-US" dirty="0" smtClean="0"/>
              <a:t>Target devices must maintain queue outstanding requests </a:t>
            </a:r>
          </a:p>
          <a:p>
            <a:pPr lvl="1"/>
            <a:r>
              <a:rPr lang="en-US" dirty="0" smtClean="0"/>
              <a:t>Also referred to as Tagged Command Queuing</a:t>
            </a:r>
          </a:p>
          <a:p>
            <a:pPr lvl="1"/>
            <a:r>
              <a:rPr lang="en-US" dirty="0" smtClean="0"/>
              <a:t>In SATA this is referred to as Native Command Queuing</a:t>
            </a:r>
          </a:p>
          <a:p>
            <a:r>
              <a:rPr lang="en-US" dirty="0" smtClean="0"/>
              <a:t>SCSI-3 permits queue lengths up to 64</a:t>
            </a:r>
          </a:p>
          <a:p>
            <a:pPr lvl="1"/>
            <a:r>
              <a:rPr lang="en-US" dirty="0" smtClean="0"/>
              <a:t>In practice, most SCSI controllers (based on traditional parallel SCSI) support a queue length of 256</a:t>
            </a:r>
          </a:p>
          <a:p>
            <a:r>
              <a:rPr lang="en-US" dirty="0" smtClean="0"/>
              <a:t>ATA/SATA permits queue lengths up to 32.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SCSI – Command Queuing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568952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 Command Queuing is useful</a:t>
            </a:r>
          </a:p>
          <a:p>
            <a:pPr lvl="1"/>
            <a:r>
              <a:rPr lang="en-US" dirty="0" smtClean="0"/>
              <a:t>For initiator to offload I/O operations instead of sequencing them itself.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For amortizing seek and rotation times over multiple accesses thereby reducing the average access time:</a:t>
            </a:r>
          </a:p>
          <a:p>
            <a:pPr lvl="2"/>
            <a:r>
              <a:rPr lang="en-US" dirty="0" smtClean="0"/>
              <a:t>Controller must have support for ordering the accesses so that seek time is minimized or rotation time is minimized or both.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Correction -In channel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568952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SCSI supports read/write operations with error correction code (ECC)</a:t>
            </a:r>
          </a:p>
          <a:p>
            <a:pPr lvl="1"/>
            <a:r>
              <a:rPr lang="en-US" dirty="0" smtClean="0"/>
              <a:t>ECC uses redundant bits for error correction </a:t>
            </a:r>
          </a:p>
          <a:p>
            <a:pPr lvl="1"/>
            <a:r>
              <a:rPr lang="en-US" dirty="0" smtClean="0"/>
              <a:t>Most modern disks have “out-of-band” ECC per disk sector</a:t>
            </a:r>
          </a:p>
          <a:p>
            <a:pPr lvl="2"/>
            <a:r>
              <a:rPr lang="en-US" dirty="0" smtClean="0"/>
              <a:t>This is used internally by the controller to verify whether any bit errors have occurred during storage.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6093</TotalTime>
  <Words>3925</Words>
  <Application>Microsoft Office PowerPoint</Application>
  <PresentationFormat>On-screen Show (4:3)</PresentationFormat>
  <Paragraphs>579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DSTN Lecture 3</vt:lpstr>
      <vt:lpstr>Today’s Agenda</vt:lpstr>
      <vt:lpstr>Files and File Systems: Introduction</vt:lpstr>
      <vt:lpstr>Files and File Systems: Data Access Types</vt:lpstr>
      <vt:lpstr>Files in UNIX</vt:lpstr>
      <vt:lpstr>File Descriptors in UNIX</vt:lpstr>
      <vt:lpstr>Open Files in UNIX: File Entries [1]</vt:lpstr>
      <vt:lpstr>Open Files in UNIX: File Entries [2]</vt:lpstr>
      <vt:lpstr>Open Files in UNIX: File Entries [3]</vt:lpstr>
      <vt:lpstr>Virtual File Systems and V-nodes</vt:lpstr>
      <vt:lpstr>Virtual File System and v-nodes</vt:lpstr>
      <vt:lpstr>Unix File System</vt:lpstr>
      <vt:lpstr>Local File System and i-node</vt:lpstr>
      <vt:lpstr>Local File Store</vt:lpstr>
      <vt:lpstr>Organization of File store</vt:lpstr>
      <vt:lpstr>Local File Store- Storage Utilization</vt:lpstr>
      <vt:lpstr>Local File Store – Layout [1]</vt:lpstr>
      <vt:lpstr>Local File Store – Layout [2]</vt:lpstr>
      <vt:lpstr>OS Support for I/O</vt:lpstr>
      <vt:lpstr>I/O in UNIX - Example</vt:lpstr>
      <vt:lpstr>I/O in UNIX -  Devices</vt:lpstr>
      <vt:lpstr>I/O in UNIX – Device Drivers</vt:lpstr>
      <vt:lpstr>I/O Queuing and Interrupt Handling</vt:lpstr>
      <vt:lpstr>I/O in UNIX – Block Devices and I/O</vt:lpstr>
      <vt:lpstr>Device Driver to Disk Interface</vt:lpstr>
      <vt:lpstr> Disk Labels </vt:lpstr>
      <vt:lpstr>Buffering</vt:lpstr>
      <vt:lpstr>Buffer Pool Management</vt:lpstr>
      <vt:lpstr>Flash Memory </vt:lpstr>
      <vt:lpstr>Traditional File System: Erase- Modify-Write back</vt:lpstr>
      <vt:lpstr>Journaling File System(JFS)</vt:lpstr>
      <vt:lpstr>JFFS Storage Format</vt:lpstr>
      <vt:lpstr>Wear Leveling </vt:lpstr>
      <vt:lpstr>Flash Memory: Operations</vt:lpstr>
      <vt:lpstr>File System and Flash Access</vt:lpstr>
      <vt:lpstr>Topics</vt:lpstr>
      <vt:lpstr>I/O Techniques</vt:lpstr>
      <vt:lpstr>I/O Techniques</vt:lpstr>
      <vt:lpstr>I/O Techniques: Interrupts</vt:lpstr>
      <vt:lpstr>I/O Techniques</vt:lpstr>
      <vt:lpstr>I/O Techniques</vt:lpstr>
      <vt:lpstr>Topics</vt:lpstr>
      <vt:lpstr>What is a Bus  ?</vt:lpstr>
      <vt:lpstr>Traditional Bus Architecture</vt:lpstr>
      <vt:lpstr>Bus Arbitration</vt:lpstr>
      <vt:lpstr>Timing</vt:lpstr>
      <vt:lpstr>Common Bus Protocols: PCI</vt:lpstr>
      <vt:lpstr>PCI BUS Lines</vt:lpstr>
      <vt:lpstr>PCI Operation Example: Read</vt:lpstr>
      <vt:lpstr>Topics</vt:lpstr>
      <vt:lpstr>SCSI: I/O Path from CPU to Storage </vt:lpstr>
      <vt:lpstr>SCSI Bus Standard</vt:lpstr>
      <vt:lpstr>SCSI – Components Model</vt:lpstr>
      <vt:lpstr>SCSI Devices</vt:lpstr>
      <vt:lpstr>SCSI Command Protocol</vt:lpstr>
      <vt:lpstr>SCSI Command Protocol</vt:lpstr>
      <vt:lpstr>Command Descriptor Block (CDB)</vt:lpstr>
      <vt:lpstr>SCSI – State Transition – Bus Phases</vt:lpstr>
      <vt:lpstr>SCSI – State Transition – Bus Phase Sequence [1]</vt:lpstr>
      <vt:lpstr>SCSI – State Transition – Bus Phase Sequence [2]</vt:lpstr>
      <vt:lpstr>SCSI – State Transition – Bus Phase Sequence [3]</vt:lpstr>
      <vt:lpstr>SCSI – Command Queuing</vt:lpstr>
      <vt:lpstr>SCSI – Command Queuing</vt:lpstr>
      <vt:lpstr>Error Correction -In channel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lakshya</dc:creator>
  <cp:lastModifiedBy>Windows User</cp:lastModifiedBy>
  <cp:revision>136</cp:revision>
  <dcterms:created xsi:type="dcterms:W3CDTF">2012-01-02T05:05:52Z</dcterms:created>
  <dcterms:modified xsi:type="dcterms:W3CDTF">2019-04-18T23:51:25Z</dcterms:modified>
</cp:coreProperties>
</file>