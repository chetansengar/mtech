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8"/>
  </p:notesMasterIdLst>
  <p:sldIdLst>
    <p:sldId id="269" r:id="rId2"/>
    <p:sldId id="271" r:id="rId3"/>
    <p:sldId id="272" r:id="rId4"/>
    <p:sldId id="259" r:id="rId5"/>
    <p:sldId id="273" r:id="rId6"/>
    <p:sldId id="257" r:id="rId7"/>
    <p:sldId id="26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812" autoAdjust="0"/>
  </p:normalViewPr>
  <p:slideViewPr>
    <p:cSldViewPr>
      <p:cViewPr varScale="1">
        <p:scale>
          <a:sx n="86" d="100"/>
          <a:sy n="86" d="100"/>
        </p:scale>
        <p:origin x="-150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EDF0E-D803-4EAB-BDBA-8AD10AA7B24B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B9035-D268-48EC-A937-98AB68AEACC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17D127F8-F264-4308-9AC9-522DBF365072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59148174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B9BC-4E57-4D50-ABEB-1877A253E58A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28678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F54C2F0C-8150-4E59-B03E-31DBE5CB1467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68831271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E2F48-4BD2-48EF-9057-5C1EE4827C07}" type="datetime1">
              <a:rPr lang="en-US" smtClean="0"/>
              <a:t>7/28/2018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2966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0FC5-BE5D-424E-8338-3878497E8540}" type="datetime1">
              <a:rPr lang="en-US" smtClean="0"/>
              <a:t>7/28/2018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177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1D7-33C7-4222-9800-50B76F99E886}" type="datetime1">
              <a:rPr lang="en-US" smtClean="0"/>
              <a:t>7/28/2018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64224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C9EA-29B2-43F4-9201-F038C3396FFD}" type="datetime1">
              <a:rPr lang="en-US" smtClean="0"/>
              <a:t>7/28/2018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4260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50E2-0E17-45AC-BBA0-43B7BF10105D}" type="datetime1">
              <a:rPr lang="en-US" smtClean="0"/>
              <a:t>7/28/2018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7282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1F20F-5F8E-4238-8FA5-E5F0498737D6}" type="datetime1">
              <a:rPr lang="en-US" smtClean="0"/>
              <a:t>7/28/2018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0614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28AD-172F-4F85-915D-36A810114811}" type="datetime1">
              <a:rPr lang="en-US" smtClean="0"/>
              <a:t>7/28/2018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0236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72B5899A-7837-4FC4-9C95-334541985D20}" type="datetime1">
              <a:rPr lang="en-US" smtClean="0"/>
              <a:t>7/28/2018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59705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240C7FE2-124B-4527-ACB9-9CC5BF219875}" type="datetime1">
              <a:rPr lang="en-US" smtClean="0"/>
              <a:t>7/28/2018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570507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D1EF4123-49D1-4154-B9C5-D38E68FDB095}" type="datetime1">
              <a:rPr lang="en-US" smtClean="0"/>
              <a:t>7/28/2018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5905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1CB73-4D33-4ACA-A594-37C836084523}" type="datetime1">
              <a:rPr lang="en-US" smtClean="0"/>
              <a:t>7/28/2018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11447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DA558-D9B3-4233-9E79-72D32648E626}" type="datetime1">
              <a:rPr lang="en-US" smtClean="0"/>
              <a:t>7/28/2018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56604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D5BB-60B6-4A27-AD3B-00ECE1834F95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127492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01D9449E-4D5B-4325-A01A-8D85982F595D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66943138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3E49A-6A96-474D-A30D-F21007B25E49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92E19-6AB3-435A-9301-DF6B90199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93146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hf hdr="0" ftr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09800"/>
            <a:ext cx="795528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200" b="1" u="sng" dirty="0"/>
              <a:t>BIRLA INSTITUTE OF TECHNOLOGY &amp; SCIENCE, </a:t>
            </a:r>
            <a:r>
              <a:rPr lang="en-IN" sz="2200" b="1" u="sng" dirty="0" smtClean="0"/>
              <a:t>PILANI</a:t>
            </a:r>
            <a:br>
              <a:rPr lang="en-IN" sz="2200" b="1" u="sng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US" sz="6000" dirty="0" smtClean="0">
                <a:latin typeface="Arial Rounded MT Bold" panose="020F0704030504030204" pitchFamily="34" charset="0"/>
              </a:rPr>
              <a:t>School Admission </a:t>
            </a:r>
            <a:r>
              <a:rPr lang="en-US" sz="6000" dirty="0">
                <a:latin typeface="Arial Rounded MT Bold" panose="020F0704030504030204" pitchFamily="34" charset="0"/>
              </a:rPr>
              <a:t>management system</a:t>
            </a:r>
            <a:r>
              <a:rPr lang="en-IN" sz="6000" dirty="0">
                <a:latin typeface="Arial Rounded MT Bold" panose="020F0704030504030204" pitchFamily="34" charset="0"/>
              </a:rPr>
              <a:t/>
            </a:r>
            <a:br>
              <a:rPr lang="en-IN" sz="6000" dirty="0">
                <a:latin typeface="Arial Rounded MT Bold" panose="020F0704030504030204" pitchFamily="34" charset="0"/>
              </a:rPr>
            </a:br>
            <a:endParaRPr lang="en-IN" sz="6000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4495800"/>
            <a:ext cx="8397240" cy="2910840"/>
          </a:xfrm>
        </p:spPr>
        <p:txBody>
          <a:bodyPr/>
          <a:lstStyle/>
          <a:p>
            <a:pPr lvl="3"/>
            <a:r>
              <a:rPr lang="en-US" sz="1800" b="1" dirty="0">
                <a:latin typeface="Comic Sans MS" panose="030F0702030302020204" pitchFamily="66" charset="0"/>
              </a:rPr>
              <a:t>By-</a:t>
            </a:r>
            <a:r>
              <a:rPr lang="en-US" sz="1500" b="1" dirty="0">
                <a:latin typeface="Comic Sans MS" panose="030F0702030302020204" pitchFamily="66" charset="0"/>
              </a:rPr>
              <a:t> 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Lucida Fax" panose="02060602050505020204" pitchFamily="18" charset="0"/>
              </a:rPr>
              <a:t>Sonal</a:t>
            </a:r>
            <a:r>
              <a:rPr lang="en-US" sz="1500" b="1" dirty="0">
                <a:latin typeface="Lucida Fax" panose="02060602050505020204" pitchFamily="18" charset="0"/>
              </a:rPr>
              <a:t> Singh               	201619TW073  / 11007545</a:t>
            </a:r>
            <a:endParaRPr lang="en-IN" sz="1500" b="1" dirty="0">
              <a:latin typeface="Lucida Fax" panose="02060602050505020204" pitchFamily="18" charset="0"/>
            </a:endParaRP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Lucida Fax" panose="02060602050505020204" pitchFamily="18" charset="0"/>
              </a:rPr>
              <a:t>Harshali</a:t>
            </a:r>
            <a:r>
              <a:rPr lang="en-US" sz="1500" b="1" dirty="0">
                <a:latin typeface="Lucida Fax" panose="02060602050505020204" pitchFamily="18" charset="0"/>
              </a:rPr>
              <a:t> Jadhav          	201619TW032  / 11007423</a:t>
            </a:r>
            <a:endParaRPr lang="en-IN" sz="1500" b="1" dirty="0">
              <a:latin typeface="Lucida Fax" panose="02060602050505020204" pitchFamily="18" charset="0"/>
            </a:endParaRP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Lucida Fax" panose="02060602050505020204" pitchFamily="18" charset="0"/>
              </a:rPr>
              <a:t>Upasana</a:t>
            </a:r>
            <a:r>
              <a:rPr lang="en-US" sz="1500" b="1" dirty="0">
                <a:latin typeface="Lucida Fax" panose="02060602050505020204" pitchFamily="18" charset="0"/>
              </a:rPr>
              <a:t>  </a:t>
            </a:r>
            <a:r>
              <a:rPr lang="en-US" sz="1500" b="1" dirty="0" err="1">
                <a:latin typeface="Lucida Fax" panose="02060602050505020204" pitchFamily="18" charset="0"/>
              </a:rPr>
              <a:t>Deshmukh</a:t>
            </a:r>
            <a:r>
              <a:rPr lang="en-US" sz="1500" b="1" dirty="0">
                <a:latin typeface="Lucida Fax" panose="02060602050505020204" pitchFamily="18" charset="0"/>
              </a:rPr>
              <a:t>      	201619TW559  / 11007143</a:t>
            </a:r>
            <a:endParaRPr lang="en-IN" sz="1500" b="1" dirty="0">
              <a:latin typeface="Lucida Fax" panose="02060602050505020204" pitchFamily="18" charset="0"/>
            </a:endParaRP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Lucida Fax" panose="02060602050505020204" pitchFamily="18" charset="0"/>
              </a:rPr>
              <a:t>Tanvi</a:t>
            </a:r>
            <a:r>
              <a:rPr lang="en-US" sz="1500" b="1" dirty="0">
                <a:latin typeface="Lucida Fax" panose="02060602050505020204" pitchFamily="18" charset="0"/>
              </a:rPr>
              <a:t> </a:t>
            </a:r>
            <a:r>
              <a:rPr lang="en-US" sz="1500" b="1" dirty="0" err="1">
                <a:latin typeface="Lucida Fax" panose="02060602050505020204" pitchFamily="18" charset="0"/>
              </a:rPr>
              <a:t>Dhiman</a:t>
            </a:r>
            <a:r>
              <a:rPr lang="en-US" sz="1500" b="1" dirty="0">
                <a:latin typeface="Lucida Fax" panose="02060602050505020204" pitchFamily="18" charset="0"/>
              </a:rPr>
              <a:t>            	 201619TW118  / 11007557             </a:t>
            </a:r>
            <a:endParaRPr lang="en-IN" sz="1500" b="1" dirty="0">
              <a:latin typeface="Lucida Fax" panose="02060602050505020204" pitchFamily="18" charset="0"/>
            </a:endParaRP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Lucida Fax" panose="02060602050505020204" pitchFamily="18" charset="0"/>
              </a:rPr>
              <a:t>Kshitija</a:t>
            </a:r>
            <a:r>
              <a:rPr lang="en-US" sz="1500" b="1" dirty="0">
                <a:latin typeface="Lucida Fax" panose="02060602050505020204" pitchFamily="18" charset="0"/>
              </a:rPr>
              <a:t>  Jadhav         	 201619TW095  / 11007431</a:t>
            </a:r>
            <a:endParaRPr lang="en-IN" sz="1500" b="1" dirty="0">
              <a:latin typeface="Lucida Fax" panose="02060602050505020204" pitchFamily="18" charset="0"/>
            </a:endParaRPr>
          </a:p>
          <a:p>
            <a:r>
              <a:rPr lang="en-IN" sz="1500" b="1" dirty="0">
                <a:latin typeface="Comic Sans MS" panose="030F0702030302020204" pitchFamily="66" charset="0"/>
              </a:rPr>
              <a:t> 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7263-86FF-4C9C-ADB8-CCAE1811AA02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448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914400"/>
            <a:ext cx="7543800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u="sng" dirty="0">
                <a:latin typeface="Arial Rounded MT Bold" panose="020F0704030504030204" pitchFamily="34" charset="0"/>
              </a:rPr>
              <a:t>Problem definition : </a:t>
            </a:r>
            <a:endParaRPr lang="en-US" sz="5400" b="1" u="sng" dirty="0" smtClean="0">
              <a:latin typeface="Arial Rounded MT Bold" panose="020F0704030504030204" pitchFamily="34" charset="0"/>
            </a:endParaRPr>
          </a:p>
          <a:p>
            <a:endParaRPr lang="en-US" sz="5400" b="1" u="sng" dirty="0">
              <a:latin typeface="Arial Rounded MT Bold" panose="020F0704030504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Today all the work at the time of admission of the student is done manually by ink and paper, which is very slow and consuming much efforts and time</a:t>
            </a:r>
            <a:r>
              <a:rPr lang="en-US" sz="28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 is required to design of a computerized automated student admission system , to speed up and make it easy to use a system.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EE9CE-2663-4453-8852-207621FB666E}" type="datetime1">
              <a:rPr lang="en-US" smtClean="0"/>
              <a:t>7/28/2018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0200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524000"/>
            <a:ext cx="75438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u="sng" dirty="0">
                <a:latin typeface="Arial Rounded MT Bold" panose="020F0704030504030204" pitchFamily="34" charset="0"/>
              </a:rPr>
              <a:t>Purpose:</a:t>
            </a:r>
            <a:r>
              <a:rPr lang="en-US" sz="4800" b="1" u="sng" dirty="0">
                <a:latin typeface="Arial Rounded MT Bold" panose="020F0704030504030204" pitchFamily="34" charset="0"/>
              </a:rPr>
              <a:t> </a:t>
            </a:r>
            <a:endParaRPr lang="en-US" sz="4800" b="1" u="sng" dirty="0" smtClean="0">
              <a:latin typeface="Arial Rounded MT Bold" panose="020F0704030504030204" pitchFamily="34" charset="0"/>
            </a:endParaRPr>
          </a:p>
          <a:p>
            <a:endParaRPr lang="en-US" sz="4800" b="1" u="sng" dirty="0">
              <a:latin typeface="Arial Rounded MT Bold" panose="020F07040305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This document gives the detailed functional and non-functional requirements mentioned </a:t>
            </a:r>
            <a:r>
              <a:rPr lang="en-US" sz="28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 </a:t>
            </a:r>
            <a:r>
              <a:rPr 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should be utilized by software developer to implement the system.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4BF0-E81F-4C63-B0FA-24D32D941746}" type="datetime1">
              <a:rPr lang="en-US" smtClean="0"/>
              <a:t>7/28/2018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2469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609600"/>
            <a:ext cx="8092439" cy="1293028"/>
          </a:xfrm>
        </p:spPr>
        <p:txBody>
          <a:bodyPr>
            <a:noAutofit/>
          </a:bodyPr>
          <a:lstStyle/>
          <a:p>
            <a:pPr algn="l"/>
            <a:r>
              <a:rPr lang="en-US" sz="4800" b="1" dirty="0" smtClean="0">
                <a:latin typeface="Arial Rounded MT Bold" panose="020F0704030504030204" pitchFamily="34" charset="0"/>
              </a:rPr>
              <a:t>SRS of School Management system</a:t>
            </a:r>
            <a:endParaRPr lang="en-US" sz="48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51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School management system database contains data of multiple school.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51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Each School has a unique ID(SC-id), name(SC-name) and contact number (SC-contact)</a:t>
            </a:r>
            <a:endParaRPr lang="en-US" sz="51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51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Every school has only one management team.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51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management team manage different department where each department has its own unique department id(D-id) and department name (D-name).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51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Each department has staff which has their staff member’s id (ST-id) and staff member name (ST-name).</a:t>
            </a:r>
          </a:p>
          <a:p>
            <a:endParaRPr lang="en-US" sz="1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8FFA9-A989-4F4D-BDCA-F928076A5D2B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402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914400"/>
            <a:ext cx="71628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Every staff has their office where student can collect form, receipt and selection details.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Every department has admission committee which manage  he admission of student.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Student has student id(S-id) , student name (S-name), DOB(S-</a:t>
            </a:r>
            <a:r>
              <a:rPr lang="en-US" sz="28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dob</a:t>
            </a:r>
            <a:r>
              <a:rPr 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), Standard(S-standard) and contact number (S-contact).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Each student can gather information from office according to their department ad staff.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E17B-7378-46A3-BA90-EB01C05E05C0}" type="datetime1">
              <a:rPr lang="en-US" smtClean="0"/>
              <a:t>7/28/2018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4525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75183" y="649431"/>
            <a:ext cx="1600200" cy="4017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School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7" name="Flowchart: Decision 6"/>
          <p:cNvSpPr/>
          <p:nvPr/>
        </p:nvSpPr>
        <p:spPr>
          <a:xfrm>
            <a:off x="1908463" y="1416627"/>
            <a:ext cx="1115291" cy="616808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Has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8" name="Oval 7"/>
          <p:cNvSpPr/>
          <p:nvPr/>
        </p:nvSpPr>
        <p:spPr>
          <a:xfrm>
            <a:off x="240942" y="152400"/>
            <a:ext cx="1219200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S-name</a:t>
            </a:r>
          </a:p>
        </p:txBody>
      </p:sp>
      <p:sp>
        <p:nvSpPr>
          <p:cNvPr id="9" name="Oval 8"/>
          <p:cNvSpPr/>
          <p:nvPr/>
        </p:nvSpPr>
        <p:spPr>
          <a:xfrm>
            <a:off x="221673" y="713509"/>
            <a:ext cx="1219200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S-contact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10" name="Oval 9"/>
          <p:cNvSpPr/>
          <p:nvPr/>
        </p:nvSpPr>
        <p:spPr>
          <a:xfrm>
            <a:off x="221673" y="1416627"/>
            <a:ext cx="1219200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u="sng" dirty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S-id</a:t>
            </a:r>
          </a:p>
        </p:txBody>
      </p:sp>
      <p:sp>
        <p:nvSpPr>
          <p:cNvPr id="11" name="Flowchart: Decision 10"/>
          <p:cNvSpPr/>
          <p:nvPr/>
        </p:nvSpPr>
        <p:spPr>
          <a:xfrm>
            <a:off x="3733800" y="574963"/>
            <a:ext cx="1371600" cy="561110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Conduct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562600" y="671079"/>
            <a:ext cx="1600200" cy="387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Admission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13" name="Flowchart: Decision 12"/>
          <p:cNvSpPr/>
          <p:nvPr/>
        </p:nvSpPr>
        <p:spPr>
          <a:xfrm>
            <a:off x="6287529" y="1558636"/>
            <a:ext cx="1371600" cy="761999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Applies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09503" y="2625808"/>
            <a:ext cx="1600200" cy="4306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Student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19" name="Oval 18"/>
          <p:cNvSpPr/>
          <p:nvPr/>
        </p:nvSpPr>
        <p:spPr>
          <a:xfrm>
            <a:off x="7943335" y="3512409"/>
            <a:ext cx="1219200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Details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20" name="Oval 19"/>
          <p:cNvSpPr/>
          <p:nvPr/>
        </p:nvSpPr>
        <p:spPr>
          <a:xfrm>
            <a:off x="7943335" y="3024036"/>
            <a:ext cx="1219200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Standard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21" name="Oval 20"/>
          <p:cNvSpPr/>
          <p:nvPr/>
        </p:nvSpPr>
        <p:spPr>
          <a:xfrm>
            <a:off x="7943335" y="2459182"/>
            <a:ext cx="1219200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DOB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22" name="Oval 21"/>
          <p:cNvSpPr/>
          <p:nvPr/>
        </p:nvSpPr>
        <p:spPr>
          <a:xfrm>
            <a:off x="7943335" y="2090351"/>
            <a:ext cx="1219200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Name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23" name="Flowchart: Decision 22"/>
          <p:cNvSpPr/>
          <p:nvPr/>
        </p:nvSpPr>
        <p:spPr>
          <a:xfrm>
            <a:off x="3733800" y="2460117"/>
            <a:ext cx="1371600" cy="761999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M</a:t>
            </a:r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anage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31372" y="2590051"/>
            <a:ext cx="1600200" cy="4306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Management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25" name="Flowchart: Decision 24"/>
          <p:cNvSpPr/>
          <p:nvPr/>
        </p:nvSpPr>
        <p:spPr>
          <a:xfrm>
            <a:off x="2470696" y="3879507"/>
            <a:ext cx="1115291" cy="616808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Has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04386" y="3796427"/>
            <a:ext cx="1600200" cy="7724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Admission </a:t>
            </a:r>
          </a:p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Committee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09" y="3952103"/>
            <a:ext cx="16002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Department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29" name="Oval 28"/>
          <p:cNvSpPr/>
          <p:nvPr/>
        </p:nvSpPr>
        <p:spPr>
          <a:xfrm>
            <a:off x="0" y="4804813"/>
            <a:ext cx="1091139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D-name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30" name="Oval 29"/>
          <p:cNvSpPr/>
          <p:nvPr/>
        </p:nvSpPr>
        <p:spPr>
          <a:xfrm>
            <a:off x="1120439" y="4804813"/>
            <a:ext cx="1091139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u="sng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D-Id</a:t>
            </a:r>
            <a:endParaRPr lang="en-US" sz="1100" u="sng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372590" y="5124661"/>
            <a:ext cx="1302328" cy="304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Staff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33" name="Flowchart: Decision 32"/>
          <p:cNvSpPr/>
          <p:nvPr/>
        </p:nvSpPr>
        <p:spPr>
          <a:xfrm>
            <a:off x="2466109" y="5960496"/>
            <a:ext cx="1115291" cy="616808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Has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200267" y="6053592"/>
            <a:ext cx="1600200" cy="4306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Office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35" name="Oval 34"/>
          <p:cNvSpPr/>
          <p:nvPr/>
        </p:nvSpPr>
        <p:spPr>
          <a:xfrm>
            <a:off x="5463933" y="5461500"/>
            <a:ext cx="1091139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Selection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36" name="Oval 35"/>
          <p:cNvSpPr/>
          <p:nvPr/>
        </p:nvSpPr>
        <p:spPr>
          <a:xfrm>
            <a:off x="5254897" y="4918178"/>
            <a:ext cx="1091139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Receipt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37" name="Oval 36"/>
          <p:cNvSpPr/>
          <p:nvPr/>
        </p:nvSpPr>
        <p:spPr>
          <a:xfrm>
            <a:off x="3634197" y="5465372"/>
            <a:ext cx="1091139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Form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38" name="Flowchart: Decision 37"/>
          <p:cNvSpPr/>
          <p:nvPr/>
        </p:nvSpPr>
        <p:spPr>
          <a:xfrm>
            <a:off x="7162800" y="4528519"/>
            <a:ext cx="1770105" cy="1192285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Gather information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39" name="Flowchart: Decision 38"/>
          <p:cNvSpPr/>
          <p:nvPr/>
        </p:nvSpPr>
        <p:spPr>
          <a:xfrm>
            <a:off x="6073347" y="3795983"/>
            <a:ext cx="1269655" cy="761999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Selects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cxnSp>
        <p:nvCxnSpPr>
          <p:cNvPr id="50" name="Straight Connector 49"/>
          <p:cNvCxnSpPr>
            <a:stCxn id="6" idx="1"/>
            <a:endCxn id="8" idx="5"/>
          </p:cNvCxnSpPr>
          <p:nvPr/>
        </p:nvCxnSpPr>
        <p:spPr>
          <a:xfrm flipH="1" flipV="1">
            <a:off x="1281594" y="394825"/>
            <a:ext cx="393589" cy="455497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2" name="Straight Connector 51"/>
          <p:cNvCxnSpPr>
            <a:stCxn id="6" idx="1"/>
            <a:endCxn id="9" idx="6"/>
          </p:cNvCxnSpPr>
          <p:nvPr/>
        </p:nvCxnSpPr>
        <p:spPr>
          <a:xfrm flipH="1">
            <a:off x="1440873" y="850322"/>
            <a:ext cx="234310" cy="5196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4" name="Straight Connector 53"/>
          <p:cNvCxnSpPr>
            <a:stCxn id="6" idx="1"/>
            <a:endCxn id="10" idx="6"/>
          </p:cNvCxnSpPr>
          <p:nvPr/>
        </p:nvCxnSpPr>
        <p:spPr>
          <a:xfrm flipH="1">
            <a:off x="1440873" y="850322"/>
            <a:ext cx="234310" cy="708314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6" name="Straight Connector 55"/>
          <p:cNvCxnSpPr>
            <a:stCxn id="6" idx="3"/>
            <a:endCxn id="11" idx="1"/>
          </p:cNvCxnSpPr>
          <p:nvPr/>
        </p:nvCxnSpPr>
        <p:spPr>
          <a:xfrm>
            <a:off x="3275383" y="850322"/>
            <a:ext cx="458417" cy="5196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62" name="Straight Connector 61"/>
          <p:cNvCxnSpPr>
            <a:stCxn id="11" idx="3"/>
            <a:endCxn id="12" idx="1"/>
          </p:cNvCxnSpPr>
          <p:nvPr/>
        </p:nvCxnSpPr>
        <p:spPr>
          <a:xfrm>
            <a:off x="5105400" y="855518"/>
            <a:ext cx="457200" cy="9524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69" name="Straight Connector 68"/>
          <p:cNvCxnSpPr>
            <a:endCxn id="13" idx="0"/>
          </p:cNvCxnSpPr>
          <p:nvPr/>
        </p:nvCxnSpPr>
        <p:spPr>
          <a:xfrm>
            <a:off x="6973329" y="1308820"/>
            <a:ext cx="0" cy="249816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2" name="Straight Connector 71"/>
          <p:cNvCxnSpPr>
            <a:stCxn id="13" idx="2"/>
          </p:cNvCxnSpPr>
          <p:nvPr/>
        </p:nvCxnSpPr>
        <p:spPr>
          <a:xfrm>
            <a:off x="6973329" y="2320635"/>
            <a:ext cx="0" cy="258558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4" name="Straight Connector 73"/>
          <p:cNvCxnSpPr>
            <a:stCxn id="18" idx="3"/>
            <a:endCxn id="22" idx="2"/>
          </p:cNvCxnSpPr>
          <p:nvPr/>
        </p:nvCxnSpPr>
        <p:spPr>
          <a:xfrm flipV="1">
            <a:off x="7609703" y="2232360"/>
            <a:ext cx="333632" cy="608756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8" name="Straight Connector 77"/>
          <p:cNvCxnSpPr>
            <a:stCxn id="18" idx="3"/>
            <a:endCxn id="21" idx="2"/>
          </p:cNvCxnSpPr>
          <p:nvPr/>
        </p:nvCxnSpPr>
        <p:spPr>
          <a:xfrm flipV="1">
            <a:off x="7609703" y="2601191"/>
            <a:ext cx="333632" cy="239925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82" name="Straight Connector 81"/>
          <p:cNvCxnSpPr>
            <a:stCxn id="20" idx="2"/>
            <a:endCxn id="18" idx="3"/>
          </p:cNvCxnSpPr>
          <p:nvPr/>
        </p:nvCxnSpPr>
        <p:spPr>
          <a:xfrm flipH="1" flipV="1">
            <a:off x="7609703" y="2841116"/>
            <a:ext cx="333632" cy="32492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85" name="Straight Connector 84"/>
          <p:cNvCxnSpPr>
            <a:stCxn id="18" idx="3"/>
            <a:endCxn id="19" idx="2"/>
          </p:cNvCxnSpPr>
          <p:nvPr/>
        </p:nvCxnSpPr>
        <p:spPr>
          <a:xfrm>
            <a:off x="7609703" y="2841116"/>
            <a:ext cx="333632" cy="813302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87" name="Straight Connector 86"/>
          <p:cNvCxnSpPr>
            <a:stCxn id="39" idx="0"/>
          </p:cNvCxnSpPr>
          <p:nvPr/>
        </p:nvCxnSpPr>
        <p:spPr>
          <a:xfrm flipH="1" flipV="1">
            <a:off x="6708174" y="3024036"/>
            <a:ext cx="1" cy="771947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5638800" y="1059005"/>
            <a:ext cx="8238" cy="1782112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4" name="Straight Connector 93"/>
          <p:cNvCxnSpPr>
            <a:stCxn id="23" idx="3"/>
          </p:cNvCxnSpPr>
          <p:nvPr/>
        </p:nvCxnSpPr>
        <p:spPr>
          <a:xfrm flipV="1">
            <a:off x="5105400" y="2841116"/>
            <a:ext cx="541638" cy="1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9" name="Straight Connector 98"/>
          <p:cNvCxnSpPr>
            <a:stCxn id="12" idx="3"/>
          </p:cNvCxnSpPr>
          <p:nvPr/>
        </p:nvCxnSpPr>
        <p:spPr>
          <a:xfrm>
            <a:off x="7162800" y="865042"/>
            <a:ext cx="613719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7790935" y="865042"/>
            <a:ext cx="0" cy="443778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6973329" y="1308820"/>
            <a:ext cx="817606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05" name="Straight Connector 104"/>
          <p:cNvCxnSpPr>
            <a:stCxn id="6" idx="2"/>
            <a:endCxn id="7" idx="0"/>
          </p:cNvCxnSpPr>
          <p:nvPr/>
        </p:nvCxnSpPr>
        <p:spPr>
          <a:xfrm flipH="1">
            <a:off x="2466109" y="1051213"/>
            <a:ext cx="9174" cy="365414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07" name="Straight Connector 106"/>
          <p:cNvCxnSpPr>
            <a:stCxn id="7" idx="2"/>
            <a:endCxn id="24" idx="0"/>
          </p:cNvCxnSpPr>
          <p:nvPr/>
        </p:nvCxnSpPr>
        <p:spPr>
          <a:xfrm flipH="1">
            <a:off x="2431472" y="2033435"/>
            <a:ext cx="34637" cy="556616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11" name="Straight Connector 110"/>
          <p:cNvCxnSpPr>
            <a:stCxn id="24" idx="2"/>
          </p:cNvCxnSpPr>
          <p:nvPr/>
        </p:nvCxnSpPr>
        <p:spPr>
          <a:xfrm>
            <a:off x="2431472" y="3020667"/>
            <a:ext cx="0" cy="633751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2431472" y="3654418"/>
            <a:ext cx="592282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15" name="Straight Connector 114"/>
          <p:cNvCxnSpPr>
            <a:endCxn id="25" idx="0"/>
          </p:cNvCxnSpPr>
          <p:nvPr/>
        </p:nvCxnSpPr>
        <p:spPr>
          <a:xfrm>
            <a:off x="3023754" y="3654418"/>
            <a:ext cx="4588" cy="22508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17" name="Straight Connector 116"/>
          <p:cNvCxnSpPr>
            <a:stCxn id="25" idx="3"/>
            <a:endCxn id="26" idx="1"/>
          </p:cNvCxnSpPr>
          <p:nvPr/>
        </p:nvCxnSpPr>
        <p:spPr>
          <a:xfrm flipV="1">
            <a:off x="3585987" y="4182669"/>
            <a:ext cx="618399" cy="5242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19" name="Straight Connector 118"/>
          <p:cNvCxnSpPr>
            <a:stCxn id="25" idx="1"/>
            <a:endCxn id="27" idx="3"/>
          </p:cNvCxnSpPr>
          <p:nvPr/>
        </p:nvCxnSpPr>
        <p:spPr>
          <a:xfrm flipH="1" flipV="1">
            <a:off x="1666009" y="4180703"/>
            <a:ext cx="804687" cy="7208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7469659" y="3056424"/>
            <a:ext cx="0" cy="1166498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26" name="Straight Connector 125"/>
          <p:cNvCxnSpPr/>
          <p:nvPr/>
        </p:nvCxnSpPr>
        <p:spPr>
          <a:xfrm>
            <a:off x="7469659" y="4222922"/>
            <a:ext cx="578193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28" name="Straight Connector 127"/>
          <p:cNvCxnSpPr>
            <a:endCxn id="38" idx="0"/>
          </p:cNvCxnSpPr>
          <p:nvPr/>
        </p:nvCxnSpPr>
        <p:spPr>
          <a:xfrm>
            <a:off x="8047852" y="4222922"/>
            <a:ext cx="1" cy="305597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31" name="Straight Connector 130"/>
          <p:cNvCxnSpPr>
            <a:stCxn id="38" idx="2"/>
          </p:cNvCxnSpPr>
          <p:nvPr/>
        </p:nvCxnSpPr>
        <p:spPr>
          <a:xfrm>
            <a:off x="8047853" y="5720804"/>
            <a:ext cx="0" cy="548096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33" name="Straight Connector 132"/>
          <p:cNvCxnSpPr>
            <a:stCxn id="34" idx="3"/>
          </p:cNvCxnSpPr>
          <p:nvPr/>
        </p:nvCxnSpPr>
        <p:spPr>
          <a:xfrm>
            <a:off x="5800467" y="6268900"/>
            <a:ext cx="2247385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35" name="Straight Connector 134"/>
          <p:cNvCxnSpPr>
            <a:stCxn id="33" idx="3"/>
            <a:endCxn id="34" idx="1"/>
          </p:cNvCxnSpPr>
          <p:nvPr/>
        </p:nvCxnSpPr>
        <p:spPr>
          <a:xfrm>
            <a:off x="3581400" y="6268900"/>
            <a:ext cx="618867" cy="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38" name="Straight Connector 137"/>
          <p:cNvCxnSpPr>
            <a:stCxn id="37" idx="4"/>
            <a:endCxn id="34" idx="0"/>
          </p:cNvCxnSpPr>
          <p:nvPr/>
        </p:nvCxnSpPr>
        <p:spPr>
          <a:xfrm>
            <a:off x="4179767" y="5749390"/>
            <a:ext cx="820600" cy="304202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40" name="Straight Connector 139"/>
          <p:cNvCxnSpPr>
            <a:stCxn id="36" idx="4"/>
            <a:endCxn id="34" idx="0"/>
          </p:cNvCxnSpPr>
          <p:nvPr/>
        </p:nvCxnSpPr>
        <p:spPr>
          <a:xfrm flipH="1">
            <a:off x="5000367" y="5202196"/>
            <a:ext cx="800100" cy="851396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42" name="Straight Connector 141"/>
          <p:cNvCxnSpPr>
            <a:stCxn id="35" idx="4"/>
            <a:endCxn id="34" idx="0"/>
          </p:cNvCxnSpPr>
          <p:nvPr/>
        </p:nvCxnSpPr>
        <p:spPr>
          <a:xfrm flipH="1">
            <a:off x="5000367" y="5745518"/>
            <a:ext cx="1009136" cy="308074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44" name="Straight Connector 143"/>
          <p:cNvCxnSpPr>
            <a:stCxn id="25" idx="2"/>
            <a:endCxn id="31" idx="0"/>
          </p:cNvCxnSpPr>
          <p:nvPr/>
        </p:nvCxnSpPr>
        <p:spPr>
          <a:xfrm flipH="1">
            <a:off x="3023754" y="4496315"/>
            <a:ext cx="4588" cy="628346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47" name="Straight Connector 146"/>
          <p:cNvCxnSpPr>
            <a:stCxn id="31" idx="2"/>
            <a:endCxn id="33" idx="0"/>
          </p:cNvCxnSpPr>
          <p:nvPr/>
        </p:nvCxnSpPr>
        <p:spPr>
          <a:xfrm>
            <a:off x="3023754" y="5429461"/>
            <a:ext cx="1" cy="531035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49" name="Straight Connector 148"/>
          <p:cNvCxnSpPr>
            <a:stCxn id="27" idx="2"/>
            <a:endCxn id="30" idx="0"/>
          </p:cNvCxnSpPr>
          <p:nvPr/>
        </p:nvCxnSpPr>
        <p:spPr>
          <a:xfrm>
            <a:off x="865909" y="4409303"/>
            <a:ext cx="800100" cy="39551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51" name="Straight Connector 150"/>
          <p:cNvCxnSpPr>
            <a:stCxn id="27" idx="2"/>
            <a:endCxn id="29" idx="0"/>
          </p:cNvCxnSpPr>
          <p:nvPr/>
        </p:nvCxnSpPr>
        <p:spPr>
          <a:xfrm flipH="1">
            <a:off x="545570" y="4409303"/>
            <a:ext cx="320339" cy="39551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60" name="Straight Connector 159"/>
          <p:cNvCxnSpPr>
            <a:stCxn id="39" idx="1"/>
            <a:endCxn id="26" idx="3"/>
          </p:cNvCxnSpPr>
          <p:nvPr/>
        </p:nvCxnSpPr>
        <p:spPr>
          <a:xfrm flipH="1">
            <a:off x="5804586" y="4176983"/>
            <a:ext cx="268761" cy="5686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81" name="Rectangle 180"/>
          <p:cNvSpPr/>
          <p:nvPr/>
        </p:nvSpPr>
        <p:spPr>
          <a:xfrm>
            <a:off x="4300932" y="3136613"/>
            <a:ext cx="2776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endParaRPr lang="en-US" dirty="0"/>
          </a:p>
        </p:txBody>
      </p:sp>
      <p:sp>
        <p:nvSpPr>
          <p:cNvPr id="186" name="Rectangle 185"/>
          <p:cNvSpPr/>
          <p:nvPr/>
        </p:nvSpPr>
        <p:spPr>
          <a:xfrm>
            <a:off x="2895600" y="0"/>
            <a:ext cx="3659472" cy="394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ER- DIAGRAM</a:t>
            </a:r>
            <a:endParaRPr lang="en-US" dirty="0"/>
          </a:p>
        </p:txBody>
      </p:sp>
      <p:sp>
        <p:nvSpPr>
          <p:cNvPr id="73" name="Oval 72"/>
          <p:cNvSpPr/>
          <p:nvPr/>
        </p:nvSpPr>
        <p:spPr>
          <a:xfrm>
            <a:off x="7866877" y="1655617"/>
            <a:ext cx="1219200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u="sng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S-id</a:t>
            </a:r>
            <a:endParaRPr lang="en-US" sz="1100" u="sng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cxnSp>
        <p:nvCxnSpPr>
          <p:cNvPr id="14" name="Straight Connector 13"/>
          <p:cNvCxnSpPr>
            <a:stCxn id="73" idx="2"/>
            <a:endCxn id="18" idx="3"/>
          </p:cNvCxnSpPr>
          <p:nvPr/>
        </p:nvCxnSpPr>
        <p:spPr>
          <a:xfrm flipH="1">
            <a:off x="7609703" y="1797626"/>
            <a:ext cx="257174" cy="1043490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80" name="Oval 79"/>
          <p:cNvSpPr/>
          <p:nvPr/>
        </p:nvSpPr>
        <p:spPr>
          <a:xfrm>
            <a:off x="4033002" y="4840643"/>
            <a:ext cx="1091139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O-Id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cxnSp>
        <p:nvCxnSpPr>
          <p:cNvPr id="40" name="Straight Connector 39"/>
          <p:cNvCxnSpPr>
            <a:stCxn id="80" idx="4"/>
            <a:endCxn id="34" idx="0"/>
          </p:cNvCxnSpPr>
          <p:nvPr/>
        </p:nvCxnSpPr>
        <p:spPr>
          <a:xfrm>
            <a:off x="4578572" y="5124661"/>
            <a:ext cx="421795" cy="928931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84" name="Oval 83"/>
          <p:cNvSpPr/>
          <p:nvPr/>
        </p:nvSpPr>
        <p:spPr>
          <a:xfrm>
            <a:off x="1614053" y="5749390"/>
            <a:ext cx="1091139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ST-name</a:t>
            </a:r>
            <a:endParaRPr lang="en-US" sz="1100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86" name="Oval 85"/>
          <p:cNvSpPr/>
          <p:nvPr/>
        </p:nvSpPr>
        <p:spPr>
          <a:xfrm>
            <a:off x="705739" y="5415080"/>
            <a:ext cx="1091139" cy="28401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u="sng" dirty="0" smtClean="0">
                <a:ln>
                  <a:solidFill>
                    <a:schemeClr val="tx2">
                      <a:lumMod val="75000"/>
                    </a:schemeClr>
                  </a:solidFill>
                </a:ln>
              </a:rPr>
              <a:t>ST-id</a:t>
            </a:r>
            <a:endParaRPr lang="en-US" sz="1100" u="sng" dirty="0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cxnSp>
        <p:nvCxnSpPr>
          <p:cNvPr id="43" name="Straight Connector 42"/>
          <p:cNvCxnSpPr>
            <a:stCxn id="86" idx="6"/>
            <a:endCxn id="31" idx="1"/>
          </p:cNvCxnSpPr>
          <p:nvPr/>
        </p:nvCxnSpPr>
        <p:spPr>
          <a:xfrm flipV="1">
            <a:off x="1796878" y="5277061"/>
            <a:ext cx="575712" cy="280028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45" name="Straight Connector 44"/>
          <p:cNvCxnSpPr>
            <a:stCxn id="31" idx="1"/>
            <a:endCxn id="84" idx="0"/>
          </p:cNvCxnSpPr>
          <p:nvPr/>
        </p:nvCxnSpPr>
        <p:spPr>
          <a:xfrm flipH="1">
            <a:off x="2159623" y="5277061"/>
            <a:ext cx="212967" cy="47232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79" name="Date Placeholder 7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DABC-BE7D-446B-A089-09DFCEE5E774}" type="datetime1">
              <a:rPr lang="en-US" smtClean="0"/>
              <a:t>7/28/2018</a:t>
            </a:fld>
            <a:endParaRPr lang="en-US"/>
          </a:p>
        </p:txBody>
      </p:sp>
      <p:sp>
        <p:nvSpPr>
          <p:cNvPr id="81" name="Slide Number Placeholder 8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7905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2694" y="1130774"/>
            <a:ext cx="1828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 smtClean="0"/>
              <a:t>Student</a:t>
            </a:r>
            <a:endParaRPr lang="en-IN" sz="2200" dirty="0"/>
          </a:p>
        </p:txBody>
      </p:sp>
      <p:sp>
        <p:nvSpPr>
          <p:cNvPr id="3" name="Rectangle 2"/>
          <p:cNvSpPr/>
          <p:nvPr/>
        </p:nvSpPr>
        <p:spPr>
          <a:xfrm>
            <a:off x="3754272" y="1104900"/>
            <a:ext cx="1752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 smtClean="0"/>
              <a:t>Admission</a:t>
            </a:r>
            <a:endParaRPr lang="en-IN" sz="2200" dirty="0"/>
          </a:p>
        </p:txBody>
      </p:sp>
      <p:sp>
        <p:nvSpPr>
          <p:cNvPr id="4" name="Rectangle 3"/>
          <p:cNvSpPr/>
          <p:nvPr/>
        </p:nvSpPr>
        <p:spPr>
          <a:xfrm>
            <a:off x="6519650" y="1143000"/>
            <a:ext cx="1752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Management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519450" y="2286000"/>
            <a:ext cx="457200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03527" y="4277720"/>
            <a:ext cx="457200" cy="13556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4343400" y="2286000"/>
            <a:ext cx="457200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343400" y="4800600"/>
            <a:ext cx="45720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167350" y="2286000"/>
            <a:ext cx="457200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183273" y="4277720"/>
            <a:ext cx="457200" cy="13556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/>
          <p:cNvCxnSpPr/>
          <p:nvPr/>
        </p:nvCxnSpPr>
        <p:spPr>
          <a:xfrm flipH="1">
            <a:off x="1716206" y="1737175"/>
            <a:ext cx="15921" cy="579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5" idx="2"/>
            <a:endCxn id="6" idx="0"/>
          </p:cNvCxnSpPr>
          <p:nvPr/>
        </p:nvCxnSpPr>
        <p:spPr>
          <a:xfrm flipH="1">
            <a:off x="1732127" y="3695700"/>
            <a:ext cx="15923" cy="582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4572000" y="1752600"/>
            <a:ext cx="0" cy="5426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7" idx="2"/>
            <a:endCxn id="8" idx="0"/>
          </p:cNvCxnSpPr>
          <p:nvPr/>
        </p:nvCxnSpPr>
        <p:spPr>
          <a:xfrm>
            <a:off x="4572000" y="3695700"/>
            <a:ext cx="0" cy="1104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4" idx="2"/>
          </p:cNvCxnSpPr>
          <p:nvPr/>
        </p:nvCxnSpPr>
        <p:spPr>
          <a:xfrm>
            <a:off x="7395950" y="1752600"/>
            <a:ext cx="0" cy="564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9" idx="2"/>
            <a:endCxn id="10" idx="0"/>
          </p:cNvCxnSpPr>
          <p:nvPr/>
        </p:nvCxnSpPr>
        <p:spPr>
          <a:xfrm>
            <a:off x="7395950" y="3695700"/>
            <a:ext cx="15923" cy="582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ight Arrow 49"/>
          <p:cNvSpPr/>
          <p:nvPr/>
        </p:nvSpPr>
        <p:spPr>
          <a:xfrm>
            <a:off x="1994279" y="2911521"/>
            <a:ext cx="2286000" cy="1821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ight Arrow 50"/>
          <p:cNvSpPr/>
          <p:nvPr/>
        </p:nvSpPr>
        <p:spPr>
          <a:xfrm>
            <a:off x="4861447" y="2911521"/>
            <a:ext cx="2286000" cy="1981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Left Arrow 52"/>
          <p:cNvSpPr/>
          <p:nvPr/>
        </p:nvSpPr>
        <p:spPr>
          <a:xfrm>
            <a:off x="1959023" y="4465110"/>
            <a:ext cx="5188424" cy="19220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Left Arrow 55"/>
          <p:cNvSpPr/>
          <p:nvPr/>
        </p:nvSpPr>
        <p:spPr>
          <a:xfrm>
            <a:off x="4800599" y="5080770"/>
            <a:ext cx="2364475" cy="17703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/>
          <p:cNvSpPr txBox="1"/>
          <p:nvPr/>
        </p:nvSpPr>
        <p:spPr>
          <a:xfrm>
            <a:off x="2051999" y="2567140"/>
            <a:ext cx="2309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>Apply for admission</a:t>
            </a:r>
            <a:endParaRPr lang="en-IN" sz="1600" dirty="0"/>
          </a:p>
        </p:txBody>
      </p:sp>
      <p:sp>
        <p:nvSpPr>
          <p:cNvPr id="64" name="TextBox 63"/>
          <p:cNvSpPr txBox="1"/>
          <p:nvPr/>
        </p:nvSpPr>
        <p:spPr>
          <a:xfrm>
            <a:off x="4894429" y="2580014"/>
            <a:ext cx="175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>Collect Data</a:t>
            </a:r>
            <a:endParaRPr lang="en-IN" sz="1600" dirty="0"/>
          </a:p>
        </p:txBody>
      </p:sp>
      <p:sp>
        <p:nvSpPr>
          <p:cNvPr id="65" name="TextBox 64"/>
          <p:cNvSpPr txBox="1"/>
          <p:nvPr/>
        </p:nvSpPr>
        <p:spPr>
          <a:xfrm>
            <a:off x="5156861" y="4109316"/>
            <a:ext cx="2335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>Check for eligibility</a:t>
            </a:r>
            <a:endParaRPr lang="en-IN" sz="1600" dirty="0"/>
          </a:p>
        </p:txBody>
      </p:sp>
      <p:sp>
        <p:nvSpPr>
          <p:cNvPr id="66" name="TextBox 65"/>
          <p:cNvSpPr txBox="1"/>
          <p:nvPr/>
        </p:nvSpPr>
        <p:spPr>
          <a:xfrm>
            <a:off x="5386316" y="4729114"/>
            <a:ext cx="175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>Give admission</a:t>
            </a:r>
            <a:endParaRPr lang="en-IN" sz="1600" dirty="0"/>
          </a:p>
        </p:txBody>
      </p:sp>
      <p:sp>
        <p:nvSpPr>
          <p:cNvPr id="68" name="TextBox 67"/>
          <p:cNvSpPr txBox="1"/>
          <p:nvPr/>
        </p:nvSpPr>
        <p:spPr>
          <a:xfrm>
            <a:off x="1028700" y="6336067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 smtClean="0"/>
              <a:t>Figure:- Sequential diagram of school management system </a:t>
            </a:r>
            <a:endParaRPr lang="en-IN" b="1" i="1" dirty="0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F2F4B-9188-40BF-B61D-147F7096316A}" type="datetime1">
              <a:rPr lang="en-US" smtClean="0"/>
              <a:t>7/28/2018</a:t>
            </a:fld>
            <a:endParaRPr lang="en-US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4578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752600"/>
            <a:ext cx="7010400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90600" y="533400"/>
            <a:ext cx="7696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b="1" dirty="0" smtClean="0">
                <a:latin typeface="Arial Rounded MT Bold" pitchFamily="34" charset="0"/>
              </a:rPr>
              <a:t>Query for Creating and using  the database</a:t>
            </a:r>
            <a:r>
              <a:rPr lang="en-US" sz="2400" b="1" dirty="0" smtClean="0"/>
              <a:t>:</a:t>
            </a:r>
          </a:p>
          <a:p>
            <a:r>
              <a:rPr lang="en-US" dirty="0" smtClean="0"/>
              <a:t>	</a:t>
            </a:r>
            <a:r>
              <a:rPr lang="en-US" i="1" dirty="0" smtClean="0"/>
              <a:t> 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Create database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StuddyBuddy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 Use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StuddyBuddy</a:t>
            </a:r>
            <a:endParaRPr lang="en-US" sz="2000" i="1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EB8D0-5A3A-497D-822A-8E2B52EA8391}" type="datetime1">
              <a:rPr lang="en-US" smtClean="0"/>
              <a:t>7/28/2018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6912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728186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6962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400" b="1" dirty="0" smtClean="0">
                <a:latin typeface="Arial Rounded MT Bold" pitchFamily="34" charset="0"/>
              </a:rPr>
              <a:t>2) Query </a:t>
            </a:r>
            <a:r>
              <a:rPr lang="en-US" sz="2400" b="1" dirty="0" smtClean="0">
                <a:latin typeface="Arial Rounded MT Bold" pitchFamily="34" charset="0"/>
              </a:rPr>
              <a:t>for  Creation of school table :</a:t>
            </a:r>
          </a:p>
          <a:p>
            <a:pPr lvl="1"/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create table student(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ST_id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not null,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ST_name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varchar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(30) not 	null,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ST_contact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primary key(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ST_id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), unique(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ST_id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));</a:t>
            </a:r>
          </a:p>
          <a:p>
            <a:pPr marL="457200" indent="-457200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C7BC-F984-4ADC-A6FE-ABAB281960AA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7483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3312"/>
          <a:stretch>
            <a:fillRect/>
          </a:stretch>
        </p:blipFill>
        <p:spPr bwMode="auto">
          <a:xfrm>
            <a:off x="661672" y="1676400"/>
            <a:ext cx="7720327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3400" y="533400"/>
            <a:ext cx="8153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 Rounded MT Bold" pitchFamily="34" charset="0"/>
              </a:rPr>
              <a:t>3) Query </a:t>
            </a:r>
            <a:r>
              <a:rPr lang="en-US" sz="2400" b="1" dirty="0" smtClean="0">
                <a:latin typeface="Arial Rounded MT Bold" pitchFamily="34" charset="0"/>
              </a:rPr>
              <a:t>for Insertion into School </a:t>
            </a:r>
            <a:r>
              <a:rPr lang="en-US" sz="2400" b="1" dirty="0" smtClean="0">
                <a:latin typeface="Arial Rounded MT Bold" pitchFamily="34" charset="0"/>
              </a:rPr>
              <a:t>table:</a:t>
            </a:r>
          </a:p>
          <a:p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Insert 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into Student (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ST_id,ST_name,ST_contact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values(01, 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'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Harshali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', 995544),(02,'Kshitija',956622);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79BD-FB97-453C-9E10-299F323A5833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8313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47800"/>
            <a:ext cx="7086600" cy="5105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90600" y="533400"/>
            <a:ext cx="739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400" b="1" dirty="0" smtClean="0">
                <a:latin typeface="Arial Rounded MT Bold" pitchFamily="34" charset="0"/>
              </a:rPr>
              <a:t>4) Query </a:t>
            </a:r>
            <a:r>
              <a:rPr lang="en-US" sz="2400" b="1" dirty="0" smtClean="0">
                <a:latin typeface="Arial Rounded MT Bold" pitchFamily="34" charset="0"/>
              </a:rPr>
              <a:t>to show the data of the table :</a:t>
            </a:r>
          </a:p>
          <a:p>
            <a:pPr marL="857250" lvl="1" indent="-457200"/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select* from Student;</a:t>
            </a:r>
            <a:endParaRPr lang="en-US" sz="2000" i="1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FF29-77C4-48CB-AE59-83879CB86BF8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9397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00200"/>
            <a:ext cx="7086600" cy="4910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66800" y="457200"/>
            <a:ext cx="7620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 Rounded MT Bold" pitchFamily="34" charset="0"/>
              </a:rPr>
              <a:t>5) Query </a:t>
            </a:r>
            <a:r>
              <a:rPr lang="en-US" sz="2400" b="1" dirty="0" smtClean="0">
                <a:latin typeface="Arial Rounded MT Bold" pitchFamily="34" charset="0"/>
              </a:rPr>
              <a:t>to alter the table </a:t>
            </a:r>
            <a:r>
              <a:rPr lang="en-US" sz="2400" b="1" dirty="0" smtClean="0">
                <a:latin typeface="Arial Rounded MT Bold" pitchFamily="34" charset="0"/>
              </a:rPr>
              <a:t>schema:</a:t>
            </a:r>
          </a:p>
          <a:p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alter 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table Staff add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Dno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foreign key(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Dno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)references Department(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D_id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095E-5CF7-403D-BE34-A45D4FF47BD5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7549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52600"/>
            <a:ext cx="73342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14400" y="533400"/>
            <a:ext cx="73914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 Rounded MT Bold" pitchFamily="34" charset="0"/>
              </a:rPr>
              <a:t>6) Query </a:t>
            </a:r>
            <a:r>
              <a:rPr lang="en-US" sz="2400" b="1" dirty="0" smtClean="0">
                <a:latin typeface="Arial Rounded MT Bold" pitchFamily="34" charset="0"/>
              </a:rPr>
              <a:t>to update the value of any particular field:  </a:t>
            </a:r>
            <a:endParaRPr lang="en-US" sz="2400" b="1" dirty="0" smtClean="0">
              <a:latin typeface="Arial Rounded MT Bold" pitchFamily="34" charset="0"/>
            </a:endParaRPr>
          </a:p>
          <a:p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update 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Staff set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ST_name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='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Tanvi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' where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St_name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='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Harshali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';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4050-13B4-4AA7-A753-7CFCD7F0C21B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4102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28800"/>
            <a:ext cx="7086600" cy="4900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0" y="304800"/>
            <a:ext cx="80010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 Rounded MT Bold" pitchFamily="34" charset="0"/>
              </a:rPr>
              <a:t>7) Query </a:t>
            </a:r>
            <a:r>
              <a:rPr lang="en-US" sz="2400" b="1" dirty="0" smtClean="0">
                <a:latin typeface="Arial Rounded MT Bold" pitchFamily="34" charset="0"/>
              </a:rPr>
              <a:t>to show any particular row or field using two </a:t>
            </a:r>
            <a:r>
              <a:rPr lang="en-US" sz="2400" b="1" dirty="0" smtClean="0">
                <a:latin typeface="Arial Rounded MT Bold" pitchFamily="34" charset="0"/>
              </a:rPr>
              <a:t>different  </a:t>
            </a:r>
            <a:r>
              <a:rPr lang="en-US" sz="2400" b="1" dirty="0" smtClean="0">
                <a:latin typeface="Arial Rounded MT Bold" pitchFamily="34" charset="0"/>
              </a:rPr>
              <a:t>table(Relation of the</a:t>
            </a:r>
            <a:r>
              <a:rPr lang="en-US" sz="2400" dirty="0" smtClean="0">
                <a:latin typeface="Arial Rounded MT Bold" pitchFamily="34" charset="0"/>
              </a:rPr>
              <a:t> </a:t>
            </a:r>
            <a:r>
              <a:rPr lang="en-US" sz="2400" b="1" dirty="0" smtClean="0">
                <a:latin typeface="Arial Rounded MT Bold" pitchFamily="34" charset="0"/>
              </a:rPr>
              <a:t>table) :</a:t>
            </a:r>
          </a:p>
          <a:p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select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* from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Department,Staff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where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ST_name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='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Kshitija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' and 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Department.D_id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=</a:t>
            </a:r>
            <a:r>
              <a:rPr lang="en-US" sz="2000" i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Staff.Dno</a:t>
            </a:r>
            <a:r>
              <a:rPr lang="en-US" sz="2000" i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128E4-557F-41D1-B8E8-09B275BD7D00}" type="datetime1">
              <a:rPr lang="en-US" smtClean="0"/>
              <a:t>7/28/2018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762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3400"/>
            <a:ext cx="8085636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D303-3A7F-40C0-B90C-CD661F5029B9}" type="datetime1">
              <a:rPr lang="en-US" smtClean="0"/>
              <a:t>7/28/2018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953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600" y="228600"/>
            <a:ext cx="8740462" cy="64008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5782-7288-4E85-ADDF-3A5FAC55E4DF}" type="datetime1">
              <a:rPr lang="en-US" smtClean="0"/>
              <a:t>7/28/2018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92E19-6AB3-435A-9301-DF6B90199A14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1306</TotalTime>
  <Words>477</Words>
  <Application>Microsoft Office PowerPoint</Application>
  <PresentationFormat>On-screen Show (4:3)</PresentationFormat>
  <Paragraphs>116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Vapor Trail</vt:lpstr>
      <vt:lpstr>BIRLA INSTITUTE OF TECHNOLOGY &amp; SCIENCE, PILANI  School Admission management system </vt:lpstr>
      <vt:lpstr>Slide 2</vt:lpstr>
      <vt:lpstr>Slide 3</vt:lpstr>
      <vt:lpstr>SRS of School Management system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Levi Strauss &amp; Co.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temp</dc:creator>
  <cp:lastModifiedBy>Shree</cp:lastModifiedBy>
  <cp:revision>41</cp:revision>
  <dcterms:created xsi:type="dcterms:W3CDTF">2018-07-24T12:04:45Z</dcterms:created>
  <dcterms:modified xsi:type="dcterms:W3CDTF">2018-07-28T11:11:02Z</dcterms:modified>
</cp:coreProperties>
</file>