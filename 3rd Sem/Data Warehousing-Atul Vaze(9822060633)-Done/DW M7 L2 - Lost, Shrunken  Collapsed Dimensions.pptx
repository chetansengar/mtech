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68" r:id="rId4"/>
    <p:sldId id="258" r:id="rId5"/>
    <p:sldId id="266" r:id="rId6"/>
    <p:sldId id="264" r:id="rId7"/>
    <p:sldId id="267" r:id="rId8"/>
    <p:sldId id="262" r:id="rId9"/>
    <p:sldId id="270" r:id="rId10"/>
    <p:sldId id="259" r:id="rId11"/>
    <p:sldId id="260" r:id="rId12"/>
    <p:sldId id="261" r:id="rId13"/>
    <p:sldId id="269" r:id="rId14"/>
    <p:sldId id="263" r:id="rId15"/>
    <p:sldId id="271" r:id="rId16"/>
    <p:sldId id="272" r:id="rId17"/>
    <p:sldId id="265" r:id="rId18"/>
    <p:sldId id="273"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738"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1B17DB-0D7D-4D12-AD58-162FFEB2D3A3}" type="datetimeFigureOut">
              <a:rPr lang="en-US" smtClean="0"/>
              <a:t>5/26/2015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68E92F-BF3D-4B1F-BB33-8974ED3A480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Hrken</a:t>
            </a:r>
            <a:r>
              <a:rPr lang="en-US" dirty="0" smtClean="0"/>
              <a:t> </a:t>
            </a:r>
            <a:endParaRPr lang="en-US" dirty="0"/>
          </a:p>
        </p:txBody>
      </p:sp>
      <p:sp>
        <p:nvSpPr>
          <p:cNvPr id="4" name="Slide Number Placeholder 3"/>
          <p:cNvSpPr>
            <a:spLocks noGrp="1"/>
          </p:cNvSpPr>
          <p:nvPr>
            <p:ph type="sldNum" sz="quarter" idx="10"/>
          </p:nvPr>
        </p:nvSpPr>
        <p:spPr/>
        <p:txBody>
          <a:bodyPr/>
          <a:lstStyle/>
          <a:p>
            <a:fld id="{7C68E92F-BF3D-4B1F-BB33-8974ED3A480D}" type="slidenum">
              <a:rPr lang="en-US" smtClean="0"/>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 name="image1.jpg"/>
          <p:cNvPicPr>
            <a:picLocks noChangeAspect="1"/>
          </p:cNvPicPr>
          <p:nvPr/>
        </p:nvPicPr>
        <p:blipFill>
          <a:blip r:embed="rId2" cstate="print">
            <a:duotone>
              <a:schemeClr val="accent1"/>
              <a:srgbClr val="FFFFFF"/>
            </a:duotone>
          </a:blip>
          <a:stretch>
            <a:fillRect/>
          </a:stretch>
        </p:blipFill>
        <p:spPr>
          <a:xfrm>
            <a:off x="0" y="0"/>
            <a:ext cx="9144000" cy="6858000"/>
          </a:xfrm>
          <a:prstGeom prst="rect">
            <a:avLst/>
          </a:prstGeom>
          <a:noFill/>
          <a:ln>
            <a:noFill/>
          </a:ln>
        </p:spPr>
      </p:pic>
      <p:pic>
        <p:nvPicPr>
          <p:cNvPr id="7" name="image2.png"/>
          <p:cNvPicPr>
            <a:picLocks noChangeAspect="1"/>
          </p:cNvPicPr>
          <p:nvPr/>
        </p:nvPicPr>
        <p:blipFill>
          <a:blip r:embed="rId3" cstate="print">
            <a:duotone>
              <a:schemeClr val="accent1"/>
              <a:srgbClr val="FFFFFF"/>
            </a:duotone>
          </a:blip>
          <a:stretch>
            <a:fillRect/>
          </a:stretch>
        </p:blipFill>
        <p:spPr>
          <a:xfrm>
            <a:off x="571" y="428"/>
            <a:ext cx="9142858" cy="6857143"/>
          </a:xfrm>
          <a:prstGeom prst="rect">
            <a:avLst/>
          </a:prstGeom>
          <a:noFill/>
          <a:ln>
            <a:noFill/>
          </a:ln>
        </p:spPr>
      </p:pic>
      <p:pic>
        <p:nvPicPr>
          <p:cNvPr id="8" name="image3.png"/>
          <p:cNvPicPr>
            <a:picLocks noChangeAspect="1"/>
          </p:cNvPicPr>
          <p:nvPr/>
        </p:nvPicPr>
        <p:blipFill>
          <a:blip r:embed="rId4" cstate="print">
            <a:duotone>
              <a:schemeClr val="accent1"/>
              <a:srgbClr val="FFFFFF"/>
            </a:duotone>
          </a:blip>
          <a:stretch>
            <a:fillRect/>
          </a:stretch>
        </p:blipFill>
        <p:spPr>
          <a:xfrm>
            <a:off x="571" y="428"/>
            <a:ext cx="9142858" cy="6857143"/>
          </a:xfrm>
          <a:prstGeom prst="rect">
            <a:avLst/>
          </a:prstGeom>
          <a:noFill/>
          <a:ln>
            <a:noFill/>
          </a:ln>
        </p:spPr>
      </p:pic>
      <p:pic>
        <p:nvPicPr>
          <p:cNvPr id="9" name="image4.png"/>
          <p:cNvPicPr>
            <a:picLocks noChangeAspect="1"/>
          </p:cNvPicPr>
          <p:nvPr/>
        </p:nvPicPr>
        <p:blipFill>
          <a:blip r:embed="rId5" cstate="print"/>
          <a:stretch>
            <a:fillRect/>
          </a:stretch>
        </p:blipFill>
        <p:spPr>
          <a:xfrm>
            <a:off x="571" y="428"/>
            <a:ext cx="9142858" cy="6857143"/>
          </a:xfrm>
          <a:prstGeom prst="rect">
            <a:avLst/>
          </a:prstGeom>
          <a:noFill/>
          <a:ln>
            <a:noFill/>
          </a:ln>
        </p:spPr>
      </p:pic>
      <p:sp>
        <p:nvSpPr>
          <p:cNvPr id="31" name="Rectangle 31"/>
          <p:cNvSpPr>
            <a:spLocks noGrp="1"/>
          </p:cNvSpPr>
          <p:nvPr>
            <p:ph type="subTitle" idx="1"/>
          </p:nvPr>
        </p:nvSpPr>
        <p:spPr>
          <a:xfrm>
            <a:off x="2492734" y="5094577"/>
            <a:ext cx="6194066" cy="925223"/>
          </a:xfrm>
        </p:spPr>
        <p:txBody>
          <a:bodyPr/>
          <a:lstStyle>
            <a:lvl1pPr marL="0" indent="0" algn="r">
              <a:buNone/>
              <a:defRPr sz="28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5" name="Rectangle 5"/>
          <p:cNvSpPr>
            <a:spLocks noGrp="1"/>
          </p:cNvSpPr>
          <p:nvPr>
            <p:ph type="ctrTitle"/>
          </p:nvPr>
        </p:nvSpPr>
        <p:spPr>
          <a:xfrm>
            <a:off x="1108986" y="3606800"/>
            <a:ext cx="7577814" cy="1470025"/>
          </a:xfrm>
        </p:spPr>
        <p:txBody>
          <a:bodyPr anchor="b" anchorCtr="0"/>
          <a:lstStyle>
            <a:lvl1pPr algn="r">
              <a:defRPr sz="4000"/>
            </a:lvl1pPr>
          </a:lstStyle>
          <a:p>
            <a:r>
              <a:rPr lang="en-US" smtClean="0"/>
              <a:t>Click to edit Master title style</a:t>
            </a:r>
            <a:endParaRPr lang="en-US"/>
          </a:p>
        </p:txBody>
      </p:sp>
      <p:sp>
        <p:nvSpPr>
          <p:cNvPr id="10" name="Date Placeholder 9"/>
          <p:cNvSpPr>
            <a:spLocks noGrp="1"/>
          </p:cNvSpPr>
          <p:nvPr>
            <p:ph type="dt" sz="half" idx="10"/>
          </p:nvPr>
        </p:nvSpPr>
        <p:spPr/>
        <p:txBody>
          <a:bodyPr/>
          <a:lstStyle/>
          <a:p>
            <a:fld id="{1D8BD707-D9CF-40AE-B4C6-C98DA3205C09}" type="datetimeFigureOut">
              <a:rPr lang="en-US" smtClean="0"/>
              <a:pPr/>
              <a:t>5/25/2015</a:t>
            </a:fld>
            <a:endParaRPr lang="en-US"/>
          </a:p>
        </p:txBody>
      </p:sp>
      <p:sp>
        <p:nvSpPr>
          <p:cNvPr id="11" name="Slide Number Placeholder 10"/>
          <p:cNvSpPr>
            <a:spLocks noGrp="1"/>
          </p:cNvSpPr>
          <p:nvPr>
            <p:ph type="sldNum" sz="quarter" idx="11"/>
          </p:nvPr>
        </p:nvSpPr>
        <p:spPr/>
        <p:txBody>
          <a:bodyPr/>
          <a:lstStyle/>
          <a:p>
            <a:fld id="{B6F15528-21DE-4FAA-801E-634DDDAF4B2B}" type="slidenum">
              <a:rPr lang="en-US" smtClean="0"/>
              <a:pPr/>
              <a:t>‹#›</a:t>
            </a:fld>
            <a:endParaRPr lang="en-US"/>
          </a:p>
        </p:txBody>
      </p:sp>
      <p:sp>
        <p:nvSpPr>
          <p:cNvPr id="12" name="Footer Placeholder 11"/>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sp>
        <p:nvSpPr>
          <p:cNvPr id="7" name="Rectangle 7"/>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smtClean="0"/>
          </a:p>
        </p:txBody>
      </p:sp>
      <p:sp>
        <p:nvSpPr>
          <p:cNvPr id="9" name="Title 8"/>
          <p:cNvSpPr>
            <a:spLocks noGrp="1"/>
          </p:cNvSpPr>
          <p:nvPr>
            <p:ph type="title"/>
          </p:nvPr>
        </p:nvSpPr>
        <p:spPr>
          <a:xfrm>
            <a:off x="457200" y="359465"/>
            <a:ext cx="8229600" cy="1143000"/>
          </a:xfrm>
          <a:prstGeom prst="rect">
            <a:avLst/>
          </a:prstGeom>
        </p:spPr>
        <p:txBody>
          <a:bodyPr anchor="b" anchorCtr="0">
            <a:normAutofit/>
          </a:bodyPr>
          <a:lstStyle/>
          <a:p>
            <a:pPr algn="l"/>
            <a:r>
              <a:rPr lang="en-US" smtClean="0"/>
              <a:t>Click to edit Master title style</a:t>
            </a:r>
            <a:endParaRPr lang="en-US"/>
          </a:p>
        </p:txBody>
      </p:sp>
      <p:sp>
        <p:nvSpPr>
          <p:cNvPr id="8" name="Date Placeholder 7"/>
          <p:cNvSpPr>
            <a:spLocks noGrp="1"/>
          </p:cNvSpPr>
          <p:nvPr>
            <p:ph type="dt" sz="half" idx="10"/>
          </p:nvPr>
        </p:nvSpPr>
        <p:spPr/>
        <p:txBody>
          <a:bodyPr/>
          <a:lstStyle/>
          <a:p>
            <a:fld id="{1D8BD707-D9CF-40AE-B4C6-C98DA3205C09}" type="datetimeFigureOut">
              <a:rPr lang="en-US" smtClean="0"/>
              <a:pPr/>
              <a:t>5/25/2015</a:t>
            </a:fld>
            <a:endParaRPr lang="en-US"/>
          </a:p>
        </p:txBody>
      </p:sp>
      <p:sp>
        <p:nvSpPr>
          <p:cNvPr id="10" name="Slide Number Placeholder 9"/>
          <p:cNvSpPr>
            <a:spLocks noGrp="1"/>
          </p:cNvSpPr>
          <p:nvPr>
            <p:ph type="sldNum" sz="quarter" idx="11"/>
          </p:nvPr>
        </p:nvSpPr>
        <p:spPr/>
        <p:txBody>
          <a:bodyPr/>
          <a:lstStyle/>
          <a:p>
            <a:fld id="{B6F15528-21DE-4FAA-801E-634DDDAF4B2B}" type="slidenum">
              <a:rPr lang="en-US" smtClean="0"/>
              <a:pPr/>
              <a:t>‹#›</a:t>
            </a:fld>
            <a:endParaRPr lang="en-US"/>
          </a:p>
        </p:txBody>
      </p:sp>
      <p:sp>
        <p:nvSpPr>
          <p:cNvPr id="11" name="Footer Placeholder 10"/>
          <p:cNvSpPr>
            <a:spLocks noGrp="1"/>
          </p:cNvSpPr>
          <p:nvPr>
            <p:ph type="ftr"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a:xfrm>
            <a:off x="457200" y="359465"/>
            <a:ext cx="8229600" cy="1143000"/>
          </a:xfrm>
          <a:prstGeom prst="rect">
            <a:avLst/>
          </a:prstGeom>
        </p:spPr>
        <p:txBody>
          <a:bodyPr anchor="b" anchorCtr="0">
            <a:normAutofit/>
          </a:bodyPr>
          <a:lstStyle/>
          <a:p>
            <a:pPr algn="l"/>
            <a:r>
              <a:rPr lang="en-US" smtClean="0"/>
              <a:t>Click to edit Master title style</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5/25/2015</a:t>
            </a:fld>
            <a:endParaRPr lang="en-US"/>
          </a:p>
        </p:txBody>
      </p:sp>
      <p:sp>
        <p:nvSpPr>
          <p:cNvPr id="8" name="Slide Number Placeholder 7"/>
          <p:cNvSpPr>
            <a:spLocks noGrp="1"/>
          </p:cNvSpPr>
          <p:nvPr>
            <p:ph type="sldNum" sz="quarter" idx="11"/>
          </p:nvPr>
        </p:nvSpPr>
        <p:spPr/>
        <p:txBody>
          <a:bodyPr/>
          <a:lstStyle/>
          <a:p>
            <a:fld id="{B6F15528-21DE-4FAA-801E-634DDDAF4B2B}"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pPr/>
              <a:t>5/25/2015</a:t>
            </a:fld>
            <a:endParaRPr lang="en-US"/>
          </a:p>
        </p:txBody>
      </p:sp>
      <p:sp>
        <p:nvSpPr>
          <p:cNvPr id="6" name="Slide Number Placeholder 5"/>
          <p:cNvSpPr>
            <a:spLocks noGrp="1"/>
          </p:cNvSpPr>
          <p:nvPr>
            <p:ph type="sldNum" sz="quarter" idx="11"/>
          </p:nvPr>
        </p:nvSpPr>
        <p:spPr/>
        <p:txBody>
          <a:bodyPr/>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2-Column Text">
    <p:spTree>
      <p:nvGrpSpPr>
        <p:cNvPr id="1" name=""/>
        <p:cNvGrpSpPr/>
        <p:nvPr/>
      </p:nvGrpSpPr>
      <p:grpSpPr>
        <a:xfrm>
          <a:off x="0" y="0"/>
          <a:ext cx="0" cy="0"/>
          <a:chOff x="0" y="0"/>
          <a:chExt cx="0" cy="0"/>
        </a:xfrm>
      </p:grpSpPr>
      <p:sp>
        <p:nvSpPr>
          <p:cNvPr id="4" name="Rectangle 4"/>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smtClean="0"/>
          </a:p>
        </p:txBody>
      </p:sp>
      <p:sp>
        <p:nvSpPr>
          <p:cNvPr id="11" name="Rectangle 11"/>
          <p:cNvSpPr>
            <a:spLocks noGrp="1"/>
          </p:cNvSpPr>
          <p:nvPr>
            <p:ph type="body"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smtClean="0"/>
          </a:p>
        </p:txBody>
      </p:sp>
      <p:sp>
        <p:nvSpPr>
          <p:cNvPr id="8" name="Title 7"/>
          <p:cNvSpPr>
            <a:spLocks noGrp="1"/>
          </p:cNvSpPr>
          <p:nvPr>
            <p:ph type="title"/>
          </p:nvPr>
        </p:nvSpPr>
        <p:spPr>
          <a:xfrm>
            <a:off x="457200" y="359465"/>
            <a:ext cx="8229600" cy="1143000"/>
          </a:xfrm>
          <a:prstGeom prst="rect">
            <a:avLst/>
          </a:prstGeom>
        </p:spPr>
        <p:txBody>
          <a:bodyPr anchor="b" anchorCtr="0">
            <a:normAutofit/>
          </a:bodyPr>
          <a:lstStyle/>
          <a:p>
            <a:pPr algn="l"/>
            <a:r>
              <a:rPr lang="en-US" smtClean="0"/>
              <a:t>Click to edit Master title style</a:t>
            </a:r>
            <a:endParaRPr lang="en-US"/>
          </a:p>
        </p:txBody>
      </p:sp>
      <p:sp>
        <p:nvSpPr>
          <p:cNvPr id="10" name="Date Placeholder 9"/>
          <p:cNvSpPr>
            <a:spLocks noGrp="1"/>
          </p:cNvSpPr>
          <p:nvPr>
            <p:ph type="dt" sz="half" idx="10"/>
          </p:nvPr>
        </p:nvSpPr>
        <p:spPr/>
        <p:txBody>
          <a:bodyPr/>
          <a:lstStyle/>
          <a:p>
            <a:fld id="{1D8BD707-D9CF-40AE-B4C6-C98DA3205C09}" type="datetimeFigureOut">
              <a:rPr lang="en-US" smtClean="0"/>
              <a:pPr/>
              <a:t>5/25/2015</a:t>
            </a:fld>
            <a:endParaRPr lang="en-US"/>
          </a:p>
        </p:txBody>
      </p:sp>
      <p:sp>
        <p:nvSpPr>
          <p:cNvPr id="12" name="Slide Number Placeholder 11"/>
          <p:cNvSpPr>
            <a:spLocks noGrp="1"/>
          </p:cNvSpPr>
          <p:nvPr>
            <p:ph type="sldNum" sz="quarter" idx="11"/>
          </p:nvPr>
        </p:nvSpPr>
        <p:spPr/>
        <p:txBody>
          <a:bodyPr/>
          <a:lstStyle/>
          <a:p>
            <a:fld id="{B6F15528-21DE-4FAA-801E-634DDDAF4B2B}" type="slidenum">
              <a:rPr lang="en-US" smtClean="0"/>
              <a:pPr/>
              <a:t>‹#›</a:t>
            </a:fld>
            <a:endParaRPr lang="en-US"/>
          </a:p>
        </p:txBody>
      </p:sp>
      <p:sp>
        <p:nvSpPr>
          <p:cNvPr id="13" name="Footer Placeholder 12"/>
          <p:cNvSpPr>
            <a:spLocks noGrp="1"/>
          </p:cNvSpPr>
          <p:nvPr>
            <p:ph type="ftr"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6" name="Rectangle 16"/>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smtClean="0"/>
          </a:p>
        </p:txBody>
      </p:sp>
      <p:sp>
        <p:nvSpPr>
          <p:cNvPr id="7" name="Title 6"/>
          <p:cNvSpPr>
            <a:spLocks noGrp="1"/>
          </p:cNvSpPr>
          <p:nvPr>
            <p:ph type="title"/>
          </p:nvPr>
        </p:nvSpPr>
        <p:spPr>
          <a:xfrm>
            <a:off x="457200" y="359465"/>
            <a:ext cx="8229600" cy="1143000"/>
          </a:xfrm>
          <a:prstGeom prst="rect">
            <a:avLst/>
          </a:prstGeom>
        </p:spPr>
        <p:txBody>
          <a:bodyPr anchor="b" anchorCtr="0">
            <a:normAutofit/>
          </a:bodyPr>
          <a:lstStyle/>
          <a:p>
            <a:pPr algn="l"/>
            <a:r>
              <a:rPr lang="en-US" smtClean="0"/>
              <a:t>Click to edit Master title style</a:t>
            </a:r>
            <a:endParaRPr lang="en-US"/>
          </a:p>
        </p:txBody>
      </p:sp>
      <p:sp>
        <p:nvSpPr>
          <p:cNvPr id="8" name="Date Placeholder 7"/>
          <p:cNvSpPr>
            <a:spLocks noGrp="1"/>
          </p:cNvSpPr>
          <p:nvPr>
            <p:ph type="dt" sz="half" idx="10"/>
          </p:nvPr>
        </p:nvSpPr>
        <p:spPr/>
        <p:txBody>
          <a:bodyPr/>
          <a:lstStyle/>
          <a:p>
            <a:fld id="{1D8BD707-D9CF-40AE-B4C6-C98DA3205C09}" type="datetimeFigureOut">
              <a:rPr lang="en-US" smtClean="0"/>
              <a:pPr/>
              <a:t>5/25/2015</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2 Content">
    <p:spTree>
      <p:nvGrpSpPr>
        <p:cNvPr id="1" name=""/>
        <p:cNvGrpSpPr/>
        <p:nvPr/>
      </p:nvGrpSpPr>
      <p:grpSpPr>
        <a:xfrm>
          <a:off x="0" y="0"/>
          <a:ext cx="0" cy="0"/>
          <a:chOff x="0" y="0"/>
          <a:chExt cx="0" cy="0"/>
        </a:xfrm>
      </p:grpSpPr>
      <p:sp>
        <p:nvSpPr>
          <p:cNvPr id="30" name="Rectangle 30"/>
          <p:cNvSpPr>
            <a:spLocks noGrp="1"/>
          </p:cNvSpPr>
          <p:nvPr>
            <p:ph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smtClean="0"/>
          </a:p>
        </p:txBody>
      </p:sp>
      <p:sp>
        <p:nvSpPr>
          <p:cNvPr id="17" name="Rectangle 17"/>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smtClean="0"/>
          </a:p>
        </p:txBody>
      </p:sp>
      <p:sp>
        <p:nvSpPr>
          <p:cNvPr id="8" name="Title 7"/>
          <p:cNvSpPr>
            <a:spLocks noGrp="1"/>
          </p:cNvSpPr>
          <p:nvPr>
            <p:ph type="title"/>
          </p:nvPr>
        </p:nvSpPr>
        <p:spPr>
          <a:xfrm>
            <a:off x="457200" y="359465"/>
            <a:ext cx="8229600" cy="1143000"/>
          </a:xfrm>
          <a:prstGeom prst="rect">
            <a:avLst/>
          </a:prstGeom>
        </p:spPr>
        <p:txBody>
          <a:bodyPr anchor="b" anchorCtr="0">
            <a:normAutofit/>
          </a:bodyPr>
          <a:lstStyle/>
          <a:p>
            <a:pPr algn="l"/>
            <a:r>
              <a:rPr lang="en-US" smtClean="0"/>
              <a:t>Click to edit Master title style</a:t>
            </a:r>
            <a:endParaRPr lang="en-US"/>
          </a:p>
        </p:txBody>
      </p:sp>
      <p:sp>
        <p:nvSpPr>
          <p:cNvPr id="9" name="Date Placeholder 8"/>
          <p:cNvSpPr>
            <a:spLocks noGrp="1"/>
          </p:cNvSpPr>
          <p:nvPr>
            <p:ph type="dt" sz="half" idx="10"/>
          </p:nvPr>
        </p:nvSpPr>
        <p:spPr/>
        <p:txBody>
          <a:bodyPr/>
          <a:lstStyle/>
          <a:p>
            <a:fld id="{1D8BD707-D9CF-40AE-B4C6-C98DA3205C09}" type="datetimeFigureOut">
              <a:rPr lang="en-US" smtClean="0"/>
              <a:pPr/>
              <a:t>5/25/2015</a:t>
            </a:fld>
            <a:endParaRPr lang="en-US"/>
          </a:p>
        </p:txBody>
      </p:sp>
      <p:sp>
        <p:nvSpPr>
          <p:cNvPr id="10" name="Slide Number Placeholder 9"/>
          <p:cNvSpPr>
            <a:spLocks noGrp="1"/>
          </p:cNvSpPr>
          <p:nvPr>
            <p:ph type="sldNum" sz="quarter" idx="11"/>
          </p:nvPr>
        </p:nvSpPr>
        <p:spPr/>
        <p:txBody>
          <a:bodyPr/>
          <a:lstStyle/>
          <a:p>
            <a:fld id="{B6F15528-21DE-4FAA-801E-634DDDAF4B2B}" type="slidenum">
              <a:rPr lang="en-US" smtClean="0"/>
              <a:pPr/>
              <a:t>‹#›</a:t>
            </a:fld>
            <a:endParaRPr lang="en-US"/>
          </a:p>
        </p:txBody>
      </p:sp>
      <p:sp>
        <p:nvSpPr>
          <p:cNvPr id="11" name="Footer Placeholder 10"/>
          <p:cNvSpPr>
            <a:spLocks noGrp="1"/>
          </p:cNvSpPr>
          <p:nvPr>
            <p:ph type="ftr" sz="quarter" idx="12"/>
          </p:nvPr>
        </p:nvSpPr>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hade val="85000"/>
          </a:schemeClr>
        </a:solidFill>
        <a:effectLst/>
      </p:bgPr>
    </p:bg>
    <p:spTree>
      <p:nvGrpSpPr>
        <p:cNvPr id="1" name=""/>
        <p:cNvGrpSpPr/>
        <p:nvPr/>
      </p:nvGrpSpPr>
      <p:grpSpPr>
        <a:xfrm>
          <a:off x="0" y="0"/>
          <a:ext cx="0" cy="0"/>
          <a:chOff x="0" y="0"/>
          <a:chExt cx="0" cy="0"/>
        </a:xfrm>
      </p:grpSpPr>
      <p:pic>
        <p:nvPicPr>
          <p:cNvPr id="8" name="image5.png"/>
          <p:cNvPicPr>
            <a:picLocks noChangeAspect="1"/>
          </p:cNvPicPr>
          <p:nvPr/>
        </p:nvPicPr>
        <p:blipFill>
          <a:blip r:embed="rId9" cstate="print">
            <a:duotone>
              <a:schemeClr val="accent1"/>
              <a:srgbClr val="FFFFFF"/>
            </a:duotone>
          </a:blip>
          <a:stretch>
            <a:fillRect/>
          </a:stretch>
        </p:blipFill>
        <p:spPr>
          <a:xfrm>
            <a:off x="571" y="428"/>
            <a:ext cx="9142858" cy="6857143"/>
          </a:xfrm>
          <a:prstGeom prst="rect">
            <a:avLst/>
          </a:prstGeom>
          <a:noFill/>
          <a:ln>
            <a:noFill/>
          </a:ln>
        </p:spPr>
      </p:pic>
      <p:pic>
        <p:nvPicPr>
          <p:cNvPr id="9" name="image6.png"/>
          <p:cNvPicPr>
            <a:picLocks noChangeAspect="1"/>
          </p:cNvPicPr>
          <p:nvPr/>
        </p:nvPicPr>
        <p:blipFill>
          <a:blip r:embed="rId10" cstate="print"/>
          <a:stretch>
            <a:fillRect/>
          </a:stretch>
        </p:blipFill>
        <p:spPr>
          <a:xfrm>
            <a:off x="571" y="428"/>
            <a:ext cx="9142858" cy="6857143"/>
          </a:xfrm>
          <a:prstGeom prst="rect">
            <a:avLst/>
          </a:prstGeom>
          <a:noFill/>
          <a:ln>
            <a:noFill/>
          </a:ln>
        </p:spPr>
      </p:pic>
      <p:sp>
        <p:nvSpPr>
          <p:cNvPr id="30" name="Rectangle 30"/>
          <p:cNvSpPr>
            <a:spLocks noGrp="1"/>
          </p:cNvSpPr>
          <p:nvPr>
            <p:ph type="title"/>
          </p:nvPr>
        </p:nvSpPr>
        <p:spPr>
          <a:xfrm>
            <a:off x="457200" y="359465"/>
            <a:ext cx="8229600" cy="1143000"/>
          </a:xfrm>
          <a:prstGeom prst="rect">
            <a:avLst/>
          </a:prstGeom>
        </p:spPr>
        <p:txBody>
          <a:bodyPr anchor="b" anchorCtr="0">
            <a:normAutofit/>
          </a:bodyPr>
          <a:lstStyle/>
          <a:p>
            <a:pPr algn="l"/>
            <a:r>
              <a:rPr lang="en-US" smtClean="0"/>
              <a:t>Click to edit Master title style</a:t>
            </a:r>
            <a:endParaRPr lang="en-US"/>
          </a:p>
        </p:txBody>
      </p:sp>
      <p:sp>
        <p:nvSpPr>
          <p:cNvPr id="12" name="Rectangle 12"/>
          <p:cNvSpPr>
            <a:spLocks noGrp="1"/>
          </p:cNvSpPr>
          <p:nvPr>
            <p:ph type="body" idx="1"/>
          </p:nvPr>
        </p:nvSpPr>
        <p:spPr>
          <a:xfrm>
            <a:off x="457200" y="1600200"/>
            <a:ext cx="8229600" cy="4525963"/>
          </a:xfrm>
          <a:prstGeom prst="rect">
            <a:avLst/>
          </a:prstGeo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6" name="Rectangle 6"/>
          <p:cNvSpPr>
            <a:spLocks noGrp="1"/>
          </p:cNvSpPr>
          <p:nvPr>
            <p:ph type="dt" sz="half" idx="2"/>
          </p:nvPr>
        </p:nvSpPr>
        <p:spPr>
          <a:xfrm>
            <a:off x="457200" y="6245225"/>
            <a:ext cx="2133600" cy="476250"/>
          </a:xfrm>
          <a:prstGeom prst="rect">
            <a:avLst/>
          </a:prstGeom>
        </p:spPr>
        <p:txBody>
          <a:bodyPr/>
          <a:lstStyle>
            <a:lvl1pPr>
              <a:defRPr sz="1000">
                <a:latin typeface="+mn-lt"/>
              </a:defRPr>
            </a:lvl1pPr>
          </a:lstStyle>
          <a:p>
            <a:fld id="{1D8BD707-D9CF-40AE-B4C6-C98DA3205C09}" type="datetimeFigureOut">
              <a:rPr lang="en-US" smtClean="0"/>
              <a:pPr/>
              <a:t>5/25/2015</a:t>
            </a:fld>
            <a:endParaRPr lang="en-US"/>
          </a:p>
        </p:txBody>
      </p:sp>
      <p:sp>
        <p:nvSpPr>
          <p:cNvPr id="20" name="Rectangle 20"/>
          <p:cNvSpPr>
            <a:spLocks noGrp="1"/>
          </p:cNvSpPr>
          <p:nvPr>
            <p:ph type="ftr" sz="quarter" idx="3"/>
          </p:nvPr>
        </p:nvSpPr>
        <p:spPr>
          <a:xfrm>
            <a:off x="3124200" y="6245225"/>
            <a:ext cx="2895600" cy="476250"/>
          </a:xfrm>
          <a:prstGeom prst="rect">
            <a:avLst/>
          </a:prstGeom>
        </p:spPr>
        <p:txBody>
          <a:bodyPr/>
          <a:lstStyle>
            <a:lvl1pPr algn="ctr">
              <a:defRPr sz="1000">
                <a:latin typeface="+mn-lt"/>
              </a:defRPr>
            </a:lvl1pPr>
          </a:lstStyle>
          <a:p>
            <a:endParaRPr lang="en-US"/>
          </a:p>
        </p:txBody>
      </p:sp>
      <p:sp>
        <p:nvSpPr>
          <p:cNvPr id="21" name="Rectangle 21"/>
          <p:cNvSpPr>
            <a:spLocks noGrp="1"/>
          </p:cNvSpPr>
          <p:nvPr>
            <p:ph type="sldNum" sz="quarter" idx="4"/>
          </p:nvPr>
        </p:nvSpPr>
        <p:spPr>
          <a:xfrm>
            <a:off x="6553200" y="6245225"/>
            <a:ext cx="2133600" cy="476250"/>
          </a:xfrm>
          <a:prstGeom prst="rect">
            <a:avLst/>
          </a:prstGeom>
        </p:spPr>
        <p:txBody>
          <a:bodyPr/>
          <a:lstStyle>
            <a:lvl1pPr>
              <a:defRPr sz="1000">
                <a:latin typeface="+mn-lt"/>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defPPr>
        <a:defRPr sz="4400">
          <a:solidFill>
            <a:schemeClr val="tx1"/>
          </a:solidFill>
          <a:latin typeface="+mj-lt"/>
          <a:ea typeface="+mj-ea"/>
          <a:cs typeface="+mj-cs"/>
        </a:defRPr>
      </a:defPPr>
      <a:lvl1pPr algn="l" eaLnBrk="1" hangingPunct="1">
        <a:buNone/>
        <a:defRPr sz="3600">
          <a:solidFill>
            <a:schemeClr val="tx1">
              <a:alpha val="100000"/>
            </a:schemeClr>
          </a:solidFill>
          <a:latin typeface="+mj-lt"/>
        </a:defRPr>
      </a:lvl1pPr>
    </p:titleStyle>
    <p:bodyStyle>
      <a:defPPr>
        <a:defRPr>
          <a:solidFill>
            <a:schemeClr val="tx1"/>
          </a:solidFill>
          <a:latin typeface="+mn-lt"/>
          <a:ea typeface="+mn-ea"/>
          <a:cs typeface="+mn-cs"/>
        </a:defRPr>
      </a:defPPr>
      <a:lvl1pPr marL="342900" indent="-342900" eaLnBrk="1" hangingPunct="1">
        <a:buChar char="•"/>
        <a:defRPr sz="2800">
          <a:latin typeface="+mn-lt"/>
        </a:defRPr>
      </a:lvl1pPr>
      <a:lvl2pPr marL="742950" indent="-285750" eaLnBrk="1" hangingPunct="1">
        <a:buChar char="–"/>
        <a:defRPr sz="2400">
          <a:latin typeface="+mn-lt"/>
        </a:defRPr>
      </a:lvl2pPr>
      <a:lvl3pPr marL="1143000" indent="-228600" eaLnBrk="1" hangingPunct="1">
        <a:buChar char="•"/>
        <a:defRPr sz="2400">
          <a:latin typeface="+mn-lt"/>
        </a:defRPr>
      </a:lvl3pPr>
      <a:lvl4pPr marL="1600200" indent="-228600" eaLnBrk="1" hangingPunct="1">
        <a:buChar char="–"/>
        <a:defRPr sz="2000">
          <a:latin typeface="+mn-lt"/>
        </a:defRPr>
      </a:lvl4pPr>
      <a:lvl5pPr marL="2057400" indent="-228600" eaLnBrk="1" hangingPunct="1">
        <a:buChar char="»"/>
        <a:defRPr sz="2000">
          <a:latin typeface="+mn-lt"/>
        </a:defRPr>
      </a:lvl5pPr>
      <a:lvl6pPr marL="2514600" indent="-228600" eaLnBrk="1" hangingPunct="1">
        <a:buChar char="•"/>
        <a:defRPr sz="2000"/>
      </a:lvl6pPr>
      <a:lvl7pPr marL="2971800" indent="-228600" eaLnBrk="1" hangingPunct="1">
        <a:buChar char="•"/>
        <a:defRPr sz="2000"/>
      </a:lvl7pPr>
      <a:lvl8pPr marL="3429000" indent="-228600" eaLnBrk="1" hangingPunct="1">
        <a:buChar char="•"/>
        <a:defRPr sz="2000"/>
      </a:lvl8pPr>
      <a:lvl9pPr marL="3886200" indent="-228600" eaLnBrk="1" hangingPunct="1">
        <a:buChar char="•"/>
        <a:defRPr sz="2000"/>
      </a:lvl9pPr>
    </p:bodyStyle>
    <p:otherStyle>
      <a:defPPr>
        <a:defRPr>
          <a:solidFill>
            <a:schemeClr val="tx1"/>
          </a:solidFill>
          <a:latin typeface="+mn-lt"/>
          <a:ea typeface="+mn-ea"/>
          <a:cs typeface="+mn-cs"/>
        </a:defRPr>
      </a:defPPr>
      <a:lvl1pPr marL="0" eaLnBrk="1" hangingPunct="1"/>
      <a:lvl2pPr marL="457200" eaLnBrk="1" hangingPunct="1"/>
      <a:lvl3pPr marL="914400" eaLnBrk="1" hangingPunct="1"/>
      <a:lvl4pPr marL="1371600" eaLnBrk="1" hangingPunct="1"/>
      <a:lvl5pPr marL="1828800" eaLnBrk="1" hangingPunct="1"/>
      <a:lvl6pPr marL="2286000" eaLnBrk="1" hangingPunct="1"/>
      <a:lvl7pPr marL="2743200" eaLnBrk="1" hangingPunct="1"/>
      <a:lvl8pPr marL="3200400" eaLnBrk="1" hangingPunct="1"/>
      <a:lvl9pPr marL="3657600" eaLnBrk="1" hangingPunct="1"/>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http://www.intelligententerprise.com/020101/gifs/501warehouse_fig1.gif" TargetMode="External"/></Relationships>
</file>

<file path=ppt/slides/_rels/slide7.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http://www.intelligententerprise.com/020101/gifs/501warehouse_fig2.gif" TargetMode="External"/><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http://www.dbmsmag.com/9608d541.gif" TargetMode="External"/><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http://www.dbmsmag.com/9608d542.gif" TargetMode="External"/><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http://www.dbmsmag.com/9608d543.gif" TargetMode="External"/><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http://www.intelligententerprise.com/020101/gifs/501warehouse_fig3.gif" TargetMode="External"/><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slide" Target="slide13.xml"/></Relationships>
</file>

<file path=ppt/slides/_rels/slide15.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http://www.intelligententerprise.com/020101/gifs/501warehouse_fig4.gif" TargetMode="External"/><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lnSpcReduction="10000"/>
          </a:bodyPr>
          <a:lstStyle/>
          <a:p>
            <a:r>
              <a:rPr lang="en-US" dirty="0" smtClean="0"/>
              <a:t>Prof. </a:t>
            </a:r>
            <a:r>
              <a:rPr lang="en-US" dirty="0" err="1" smtClean="0"/>
              <a:t>Navneet</a:t>
            </a:r>
            <a:r>
              <a:rPr lang="en-US" dirty="0" smtClean="0"/>
              <a:t> </a:t>
            </a:r>
            <a:r>
              <a:rPr lang="en-US" dirty="0" err="1" smtClean="0"/>
              <a:t>Goyal</a:t>
            </a:r>
            <a:endParaRPr lang="en-US" dirty="0" smtClean="0"/>
          </a:p>
          <a:p>
            <a:r>
              <a:rPr lang="en-US" dirty="0" smtClean="0"/>
              <a:t>BITS-</a:t>
            </a:r>
            <a:r>
              <a:rPr lang="en-US" dirty="0" err="1" smtClean="0"/>
              <a:t>Pilani</a:t>
            </a:r>
            <a:endParaRPr lang="en-US" dirty="0"/>
          </a:p>
        </p:txBody>
      </p:sp>
      <p:sp>
        <p:nvSpPr>
          <p:cNvPr id="2" name="Title 1"/>
          <p:cNvSpPr>
            <a:spLocks noGrp="1"/>
          </p:cNvSpPr>
          <p:nvPr>
            <p:ph type="ctrTitle"/>
          </p:nvPr>
        </p:nvSpPr>
        <p:spPr/>
        <p:txBody>
          <a:bodyPr/>
          <a:lstStyle/>
          <a:p>
            <a:r>
              <a:rPr lang="en-US" dirty="0" smtClean="0"/>
              <a:t> </a:t>
            </a:r>
            <a:r>
              <a:rPr lang="en-US" dirty="0" smtClean="0"/>
              <a:t>Lost</a:t>
            </a:r>
            <a:r>
              <a:rPr lang="en-US" dirty="0" smtClean="0"/>
              <a:t>, </a:t>
            </a:r>
            <a:r>
              <a:rPr lang="en-US" dirty="0" smtClean="0"/>
              <a:t>Shrunken, &amp; </a:t>
            </a:r>
            <a:r>
              <a:rPr lang="en-US" dirty="0" smtClean="0"/>
              <a:t>Collapsed </a:t>
            </a:r>
            <a:r>
              <a:rPr lang="en-US" dirty="0" smtClean="0"/>
              <a:t>Dimension Aggregates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smtClean="0"/>
              <a:t>While discussing aggregates, we mainly focused on fact tables</a:t>
            </a:r>
          </a:p>
          <a:p>
            <a:r>
              <a:rPr lang="en-US" dirty="0" smtClean="0"/>
              <a:t>Need to understand what happens to dimension tables when we create aggregates</a:t>
            </a:r>
          </a:p>
          <a:p>
            <a:r>
              <a:rPr lang="en-US" dirty="0" smtClean="0"/>
              <a:t>Lost, shrunken, &amp; collapsed dimensions*</a:t>
            </a:r>
          </a:p>
        </p:txBody>
      </p:sp>
      <p:sp>
        <p:nvSpPr>
          <p:cNvPr id="3" name="Title 2"/>
          <p:cNvSpPr>
            <a:spLocks noGrp="1"/>
          </p:cNvSpPr>
          <p:nvPr>
            <p:ph type="title"/>
          </p:nvPr>
        </p:nvSpPr>
        <p:spPr/>
        <p:txBody>
          <a:bodyPr/>
          <a:lstStyle/>
          <a:p>
            <a:r>
              <a:rPr lang="en-US" dirty="0" smtClean="0"/>
              <a:t>Introduction</a:t>
            </a:r>
            <a:endParaRPr lang="en-US" dirty="0"/>
          </a:p>
        </p:txBody>
      </p:sp>
      <p:sp>
        <p:nvSpPr>
          <p:cNvPr id="5" name="TextBox 8"/>
          <p:cNvSpPr txBox="1">
            <a:spLocks noChangeArrowheads="1"/>
          </p:cNvSpPr>
          <p:nvPr/>
        </p:nvSpPr>
        <p:spPr bwMode="auto">
          <a:xfrm>
            <a:off x="1219200" y="6334780"/>
            <a:ext cx="6934200" cy="523220"/>
          </a:xfrm>
          <a:prstGeom prst="rect">
            <a:avLst/>
          </a:prstGeom>
          <a:noFill/>
          <a:ln w="9525">
            <a:noFill/>
            <a:miter lim="800000"/>
            <a:headEnd/>
            <a:tailEnd/>
          </a:ln>
        </p:spPr>
        <p:txBody>
          <a:bodyPr>
            <a:spAutoFit/>
          </a:bodyPr>
          <a:lstStyle/>
          <a:p>
            <a:r>
              <a:rPr lang="en-US" sz="1400" i="1" dirty="0" smtClean="0"/>
              <a:t>* Most of the material for this presentation has been taken from Lawrence </a:t>
            </a:r>
            <a:r>
              <a:rPr lang="en-US" sz="1400" i="1" dirty="0" err="1" smtClean="0"/>
              <a:t>Corr’s</a:t>
            </a:r>
            <a:r>
              <a:rPr lang="en-US" sz="1400" i="1" dirty="0" smtClean="0"/>
              <a:t> article  “Lost , Shrunken, and  Collapsed”</a:t>
            </a:r>
            <a:endParaRPr lang="en-US" sz="1400" i="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pPr>
              <a:buNone/>
            </a:pPr>
            <a:r>
              <a:rPr lang="en-US" dirty="0" smtClean="0"/>
              <a:t>Three ways of creating aggregates:</a:t>
            </a:r>
          </a:p>
          <a:p>
            <a:r>
              <a:rPr lang="en-US" dirty="0" smtClean="0"/>
              <a:t>Lost Dimension Aggregate</a:t>
            </a:r>
          </a:p>
          <a:p>
            <a:r>
              <a:rPr lang="en-US" dirty="0" smtClean="0"/>
              <a:t>Shrunken Dimension</a:t>
            </a:r>
            <a:r>
              <a:rPr lang="en-US" dirty="0" smtClean="0"/>
              <a:t> Aggregate</a:t>
            </a:r>
            <a:endParaRPr lang="en-US" dirty="0" smtClean="0"/>
          </a:p>
          <a:p>
            <a:r>
              <a:rPr lang="en-US" dirty="0" smtClean="0"/>
              <a:t>Collapsed Dimension</a:t>
            </a:r>
            <a:r>
              <a:rPr lang="en-US" dirty="0" smtClean="0"/>
              <a:t> Aggregate</a:t>
            </a:r>
            <a:endParaRPr lang="en-US" dirty="0" smtClean="0"/>
          </a:p>
          <a:p>
            <a:pPr>
              <a:buNone/>
            </a:pPr>
            <a:endParaRPr lang="en-US" dirty="0" smtClean="0"/>
          </a:p>
          <a:p>
            <a:pPr>
              <a:buNone/>
            </a:pPr>
            <a:r>
              <a:rPr lang="en-US" dirty="0" smtClean="0"/>
              <a:t>	When we create aggregates, dimensions either get lost, shrunken, or collapsed!!</a:t>
            </a:r>
            <a:endParaRPr lang="en-US" dirty="0" smtClean="0"/>
          </a:p>
        </p:txBody>
      </p:sp>
      <p:sp>
        <p:nvSpPr>
          <p:cNvPr id="3" name="Title 2"/>
          <p:cNvSpPr>
            <a:spLocks noGrp="1"/>
          </p:cNvSpPr>
          <p:nvPr>
            <p:ph type="title"/>
          </p:nvPr>
        </p:nvSpPr>
        <p:spPr/>
        <p:txBody>
          <a:bodyPr/>
          <a:lstStyle/>
          <a:p>
            <a:r>
              <a:rPr lang="en-US" dirty="0" smtClean="0"/>
              <a:t>Introduction</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fontScale="70000" lnSpcReduction="20000"/>
          </a:bodyPr>
          <a:lstStyle/>
          <a:p>
            <a:r>
              <a:rPr lang="en-US" sz="4200" dirty="0" smtClean="0"/>
              <a:t>Lost dimension aggregates are created when one or more dimensions is(are) completely excluded while summarizing a fact table</a:t>
            </a:r>
          </a:p>
          <a:p>
            <a:r>
              <a:rPr lang="en-US" sz="4200" dirty="0" smtClean="0"/>
              <a:t>In SQL, you can create lost dimension aggregates by grouping directly on a subset of the dimensional surrogate keys in the fact </a:t>
            </a:r>
            <a:r>
              <a:rPr lang="en-US" sz="4200" dirty="0" smtClean="0"/>
              <a:t>table</a:t>
            </a:r>
          </a:p>
          <a:p>
            <a:r>
              <a:rPr lang="en-US" sz="4200" dirty="0" smtClean="0"/>
              <a:t>Simplest aggregate to create and maintain as it requires no join</a:t>
            </a:r>
          </a:p>
          <a:p>
            <a:r>
              <a:rPr lang="en-US" sz="4200" dirty="0" smtClean="0"/>
              <a:t>This type of aggregate can be very </a:t>
            </a:r>
            <a:r>
              <a:rPr lang="en-US" sz="4200" dirty="0" smtClean="0"/>
              <a:t>small</a:t>
            </a:r>
          </a:p>
          <a:p>
            <a:r>
              <a:rPr lang="en-US" sz="4200" dirty="0" smtClean="0"/>
              <a:t>Offers </a:t>
            </a:r>
            <a:r>
              <a:rPr lang="en-US" sz="4200" dirty="0" smtClean="0"/>
              <a:t>significant performance gains over the base fact table if several high-cardinality dimensions are lost and therefore </a:t>
            </a:r>
            <a:r>
              <a:rPr lang="en-US" sz="4200" dirty="0" smtClean="0"/>
              <a:t>aggregated</a:t>
            </a:r>
          </a:p>
        </p:txBody>
      </p:sp>
      <p:sp>
        <p:nvSpPr>
          <p:cNvPr id="3" name="Title 2"/>
          <p:cNvSpPr>
            <a:spLocks noGrp="1"/>
          </p:cNvSpPr>
          <p:nvPr>
            <p:ph type="title"/>
          </p:nvPr>
        </p:nvSpPr>
        <p:spPr/>
        <p:txBody>
          <a:bodyPr/>
          <a:lstStyle/>
          <a:p>
            <a:r>
              <a:rPr lang="en-US" dirty="0" smtClean="0"/>
              <a:t>Lost </a:t>
            </a:r>
            <a:r>
              <a:rPr lang="en-US" dirty="0" smtClean="0"/>
              <a:t>Dimension Aggregates</a:t>
            </a:r>
            <a:endParaRPr lang="en-US"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rPr lang="en-US" sz="3200" dirty="0" smtClean="0"/>
              <a:t>Reduced </a:t>
            </a:r>
            <a:r>
              <a:rPr lang="en-US" sz="3200" dirty="0" smtClean="0"/>
              <a:t>dimensionality of such an aggregate significantly affects its applicability for accelerating a broad range of queries. </a:t>
            </a:r>
            <a:endParaRPr lang="en-US" sz="3200" dirty="0" smtClean="0"/>
          </a:p>
          <a:p>
            <a:r>
              <a:rPr lang="en-US" sz="3200" dirty="0" smtClean="0"/>
              <a:t>For </a:t>
            </a:r>
            <a:r>
              <a:rPr lang="en-US" sz="3200" dirty="0" smtClean="0"/>
              <a:t>example, an aggregate that lost the time dimension would be of little use. </a:t>
            </a:r>
          </a:p>
          <a:p>
            <a:endParaRPr lang="en-US" dirty="0"/>
          </a:p>
        </p:txBody>
      </p:sp>
      <p:sp>
        <p:nvSpPr>
          <p:cNvPr id="3" name="Title 2"/>
          <p:cNvSpPr>
            <a:spLocks noGrp="1"/>
          </p:cNvSpPr>
          <p:nvPr>
            <p:ph type="title"/>
          </p:nvPr>
        </p:nvSpPr>
        <p:spPr/>
        <p:txBody>
          <a:bodyPr/>
          <a:lstStyle/>
          <a:p>
            <a:r>
              <a:rPr lang="en-US" dirty="0" smtClean="0"/>
              <a:t>Lost </a:t>
            </a:r>
            <a:r>
              <a:rPr lang="en-US" dirty="0" smtClean="0"/>
              <a:t>Dimension Aggregates</a:t>
            </a:r>
            <a:endParaRPr lang="en-US"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descr="http://www.intelligententerprise.com/020101/gifs/501warehouse_fig1.gif"/>
          <p:cNvPicPr>
            <a:picLocks noGrp="1" noChangeAspect="1" noChangeArrowheads="1"/>
          </p:cNvPicPr>
          <p:nvPr>
            <p:ph idx="1"/>
          </p:nvPr>
        </p:nvPicPr>
        <p:blipFill>
          <a:blip r:embed="rId3" r:link="rId4" cstate="print"/>
          <a:srcRect/>
          <a:stretch>
            <a:fillRect/>
          </a:stretch>
        </p:blipFill>
        <p:spPr>
          <a:xfrm>
            <a:off x="609600" y="2057400"/>
            <a:ext cx="7924800" cy="3443288"/>
          </a:xfrm>
        </p:spPr>
      </p:pic>
      <p:sp>
        <p:nvSpPr>
          <p:cNvPr id="37891" name="Rectangle 2"/>
          <p:cNvSpPr>
            <a:spLocks noGrp="1" noChangeArrowheads="1"/>
          </p:cNvSpPr>
          <p:nvPr>
            <p:ph type="title"/>
          </p:nvPr>
        </p:nvSpPr>
        <p:spPr>
          <a:xfrm>
            <a:off x="457200" y="381000"/>
            <a:ext cx="8229600" cy="1066800"/>
          </a:xfrm>
        </p:spPr>
        <p:txBody>
          <a:bodyPr/>
          <a:lstStyle/>
          <a:p>
            <a:r>
              <a:rPr lang="en-US" sz="4800" b="1" dirty="0" smtClean="0"/>
              <a:t>Lost Dimensions</a:t>
            </a:r>
          </a:p>
        </p:txBody>
      </p:sp>
      <p:sp>
        <p:nvSpPr>
          <p:cNvPr id="6" name="Slide Number Placeholder 5"/>
          <p:cNvSpPr>
            <a:spLocks noGrp="1"/>
          </p:cNvSpPr>
          <p:nvPr>
            <p:ph type="sldNum" sz="quarter" idx="12"/>
          </p:nvPr>
        </p:nvSpPr>
        <p:spPr/>
        <p:txBody>
          <a:bodyPr/>
          <a:lstStyle/>
          <a:p>
            <a:pPr>
              <a:defRPr/>
            </a:pPr>
            <a:fld id="{77C33D3D-D524-47EC-8134-8F989B589650}" type="slidenum">
              <a:rPr lang="en-US"/>
              <a:pPr>
                <a:defRPr/>
              </a:pPr>
              <a:t>6</a:t>
            </a:fld>
            <a:endParaRPr lang="en-US"/>
          </a:p>
        </p:txBody>
      </p:sp>
      <p:sp>
        <p:nvSpPr>
          <p:cNvPr id="37895" name="TextBox 6"/>
          <p:cNvSpPr txBox="1">
            <a:spLocks noChangeArrowheads="1"/>
          </p:cNvSpPr>
          <p:nvPr/>
        </p:nvSpPr>
        <p:spPr bwMode="auto">
          <a:xfrm>
            <a:off x="1600200" y="6488113"/>
            <a:ext cx="6934200" cy="307975"/>
          </a:xfrm>
          <a:prstGeom prst="rect">
            <a:avLst/>
          </a:prstGeom>
          <a:noFill/>
          <a:ln w="9525">
            <a:noFill/>
            <a:miter lim="800000"/>
            <a:headEnd/>
            <a:tailEnd/>
          </a:ln>
        </p:spPr>
        <p:txBody>
          <a:bodyPr>
            <a:spAutoFit/>
          </a:bodyPr>
          <a:lstStyle/>
          <a:p>
            <a:r>
              <a:rPr lang="en-US" sz="1400" i="1" dirty="0"/>
              <a:t>Figure taken from </a:t>
            </a:r>
            <a:r>
              <a:rPr lang="en-US" sz="1400" i="1" dirty="0" smtClean="0"/>
              <a:t>Lawrence </a:t>
            </a:r>
            <a:r>
              <a:rPr lang="en-US" sz="1400" i="1" dirty="0" err="1" smtClean="0"/>
              <a:t>Corr’s</a:t>
            </a:r>
            <a:r>
              <a:rPr lang="en-US" sz="1400" i="1" dirty="0" smtClean="0"/>
              <a:t> article  “Lost , Shrunken, and  Collapsed”</a:t>
            </a:r>
            <a:endParaRPr lang="en-US" sz="1400" i="1" dirty="0"/>
          </a:p>
        </p:txBody>
      </p:sp>
      <p:sp>
        <p:nvSpPr>
          <p:cNvPr id="8" name="Oval 7"/>
          <p:cNvSpPr/>
          <p:nvPr/>
        </p:nvSpPr>
        <p:spPr>
          <a:xfrm>
            <a:off x="119743" y="1918063"/>
            <a:ext cx="1600200" cy="1600200"/>
          </a:xfrm>
          <a:prstGeom prst="ellipse">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590800" y="3886200"/>
            <a:ext cx="1600200" cy="1600200"/>
          </a:xfrm>
          <a:prstGeom prst="ellipse">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191000" y="4800600"/>
            <a:ext cx="1371600" cy="646331"/>
          </a:xfrm>
          <a:prstGeom prst="rect">
            <a:avLst/>
          </a:prstGeom>
          <a:solidFill>
            <a:srgbClr val="FF0000">
              <a:alpha val="12000"/>
            </a:srgbClr>
          </a:solidFill>
        </p:spPr>
        <p:txBody>
          <a:bodyPr wrap="square" rtlCol="0">
            <a:spAutoFit/>
          </a:bodyPr>
          <a:lstStyle/>
          <a:p>
            <a:r>
              <a:rPr lang="en-US" dirty="0" smtClean="0"/>
              <a:t>Shrunken Dimension</a:t>
            </a:r>
            <a:endParaRPr lang="en-US" dirty="0"/>
          </a:p>
        </p:txBody>
      </p:sp>
      <p:sp>
        <p:nvSpPr>
          <p:cNvPr id="11" name="TextBox 10"/>
          <p:cNvSpPr txBox="1"/>
          <p:nvPr/>
        </p:nvSpPr>
        <p:spPr>
          <a:xfrm>
            <a:off x="1219200" y="1371600"/>
            <a:ext cx="1371600" cy="646331"/>
          </a:xfrm>
          <a:prstGeom prst="rect">
            <a:avLst/>
          </a:prstGeom>
          <a:solidFill>
            <a:srgbClr val="FF0000">
              <a:alpha val="12000"/>
            </a:srgbClr>
          </a:solidFill>
        </p:spPr>
        <p:txBody>
          <a:bodyPr wrap="square" rtlCol="0">
            <a:spAutoFit/>
          </a:bodyPr>
          <a:lstStyle/>
          <a:p>
            <a:r>
              <a:rPr lang="en-US" dirty="0" smtClean="0"/>
              <a:t>Shrunken Dimension</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81000" y="1524000"/>
            <a:ext cx="8229600" cy="4525963"/>
          </a:xfrm>
        </p:spPr>
        <p:txBody>
          <a:bodyPr>
            <a:noAutofit/>
          </a:bodyPr>
          <a:lstStyle/>
          <a:p>
            <a:r>
              <a:rPr lang="en-US" sz="2400" dirty="0" smtClean="0"/>
              <a:t>Shrunken dimension aggregates have one or more dimensions replaced by shrunken or rolled versions of themselves. </a:t>
            </a:r>
            <a:endParaRPr lang="en-US" sz="2400" dirty="0" smtClean="0"/>
          </a:p>
          <a:p>
            <a:r>
              <a:rPr lang="en-US" sz="2400" dirty="0" smtClean="0"/>
              <a:t>This </a:t>
            </a:r>
            <a:r>
              <a:rPr lang="en-US" sz="2400" dirty="0" smtClean="0"/>
              <a:t>technique </a:t>
            </a:r>
            <a:r>
              <a:rPr lang="en-US" sz="2400" dirty="0" smtClean="0"/>
              <a:t>can be combined with </a:t>
            </a:r>
            <a:r>
              <a:rPr lang="en-US" sz="2400" dirty="0" smtClean="0"/>
              <a:t>lost dimensions as </a:t>
            </a:r>
            <a:r>
              <a:rPr lang="en-US" sz="2400" dirty="0" smtClean="0"/>
              <a:t>well (</a:t>
            </a:r>
            <a:r>
              <a:rPr lang="en-US" sz="2400" dirty="0" smtClean="0">
                <a:hlinkClick r:id="rId2" action="ppaction://hlinksldjump"/>
              </a:rPr>
              <a:t>see </a:t>
            </a:r>
            <a:r>
              <a:rPr lang="en-US" sz="2400" b="1" dirty="0" smtClean="0">
                <a:hlinkClick r:id="rId2" action="ppaction://hlinksldjump"/>
              </a:rPr>
              <a:t>Figure on slide #6</a:t>
            </a:r>
            <a:r>
              <a:rPr lang="en-US" sz="2400" b="1" dirty="0" smtClean="0"/>
              <a:t>) </a:t>
            </a:r>
          </a:p>
          <a:p>
            <a:r>
              <a:rPr lang="en-US" sz="2400" dirty="0" smtClean="0"/>
              <a:t>One </a:t>
            </a:r>
            <a:r>
              <a:rPr lang="en-US" sz="2400" dirty="0" smtClean="0"/>
              <a:t>shrunken dimension and one lost </a:t>
            </a:r>
            <a:r>
              <a:rPr lang="en-US" sz="2400" dirty="0" smtClean="0"/>
              <a:t>dimension</a:t>
            </a:r>
          </a:p>
          <a:p>
            <a:r>
              <a:rPr lang="en-US" sz="2400" dirty="0" smtClean="0"/>
              <a:t> Could represent </a:t>
            </a:r>
            <a:r>
              <a:rPr lang="en-US" sz="2400" dirty="0" smtClean="0"/>
              <a:t>a monthly-product-sales-by-store summary of the original fact table. In this example, a monthly-grain time dimension replaces the daily-grain time </a:t>
            </a:r>
            <a:r>
              <a:rPr lang="en-US" sz="2400" dirty="0" smtClean="0"/>
              <a:t>dimension</a:t>
            </a:r>
          </a:p>
          <a:p>
            <a:r>
              <a:rPr lang="en-US" sz="2400" dirty="0" smtClean="0"/>
              <a:t>The </a:t>
            </a:r>
            <a:r>
              <a:rPr lang="en-US" sz="2400" dirty="0" smtClean="0"/>
              <a:t>aggregate would be significantly smaller than the fact table (though probably not by the full factor of 30 you might expect, because not every product is sold every day) but would still allow dimensional analysis by time at the month, quarter, and year </a:t>
            </a:r>
            <a:r>
              <a:rPr lang="en-US" sz="2400" dirty="0" smtClean="0"/>
              <a:t>levels</a:t>
            </a:r>
            <a:endParaRPr lang="en-US" dirty="0" smtClean="0"/>
          </a:p>
        </p:txBody>
      </p:sp>
      <p:sp>
        <p:nvSpPr>
          <p:cNvPr id="3" name="Title 2"/>
          <p:cNvSpPr>
            <a:spLocks noGrp="1"/>
          </p:cNvSpPr>
          <p:nvPr>
            <p:ph type="title"/>
          </p:nvPr>
        </p:nvSpPr>
        <p:spPr/>
        <p:txBody>
          <a:bodyPr/>
          <a:lstStyle/>
          <a:p>
            <a:r>
              <a:rPr lang="en-US" dirty="0" smtClean="0"/>
              <a:t>Shrunken Dimension Aggregates</a:t>
            </a:r>
            <a:endParaRPr lang="en-US"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457200" y="358775"/>
            <a:ext cx="8229600" cy="1143000"/>
          </a:xfrm>
        </p:spPr>
        <p:txBody>
          <a:bodyPr>
            <a:normAutofit fontScale="90000"/>
          </a:bodyPr>
          <a:lstStyle/>
          <a:p>
            <a:pPr fontAlgn="auto">
              <a:spcBef>
                <a:spcPts val="0"/>
              </a:spcBef>
              <a:spcAft>
                <a:spcPts val="0"/>
              </a:spcAft>
              <a:defRPr/>
            </a:pPr>
            <a:r>
              <a:rPr lang="en-US" b="1">
                <a:solidFill>
                  <a:schemeClr val="tx1">
                    <a:alpha val="100000"/>
                  </a:schemeClr>
                </a:solidFill>
              </a:rPr>
              <a:t>Aggregates:</a:t>
            </a:r>
            <a:br>
              <a:rPr lang="en-US" b="1">
                <a:solidFill>
                  <a:schemeClr val="tx1">
                    <a:alpha val="100000"/>
                  </a:schemeClr>
                </a:solidFill>
              </a:rPr>
            </a:br>
            <a:r>
              <a:rPr lang="en-US" b="1">
                <a:solidFill>
                  <a:schemeClr val="tx1">
                    <a:alpha val="100000"/>
                  </a:schemeClr>
                </a:solidFill>
              </a:rPr>
              <a:t>Shrunken Dimensions</a:t>
            </a:r>
          </a:p>
        </p:txBody>
      </p:sp>
      <p:sp>
        <p:nvSpPr>
          <p:cNvPr id="8" name="Slide Number Placeholder 5"/>
          <p:cNvSpPr>
            <a:spLocks noGrp="1"/>
          </p:cNvSpPr>
          <p:nvPr>
            <p:ph type="sldNum" sz="quarter" idx="12"/>
          </p:nvPr>
        </p:nvSpPr>
        <p:spPr/>
        <p:txBody>
          <a:bodyPr/>
          <a:lstStyle/>
          <a:p>
            <a:pPr>
              <a:defRPr/>
            </a:pPr>
            <a:fld id="{F8052525-4707-49DB-9E90-A334C2D16963}" type="slidenum">
              <a:rPr lang="en-US"/>
              <a:pPr>
                <a:defRPr/>
              </a:pPr>
              <a:t>8</a:t>
            </a:fld>
            <a:endParaRPr lang="en-US"/>
          </a:p>
        </p:txBody>
      </p:sp>
      <p:sp>
        <p:nvSpPr>
          <p:cNvPr id="28678" name="Rectangle 3"/>
          <p:cNvSpPr>
            <a:spLocks noChangeArrowheads="1"/>
          </p:cNvSpPr>
          <p:nvPr/>
        </p:nvSpPr>
        <p:spPr bwMode="auto">
          <a:xfrm>
            <a:off x="3048000" y="2500313"/>
            <a:ext cx="9144000" cy="0"/>
          </a:xfrm>
          <a:prstGeom prst="rect">
            <a:avLst/>
          </a:prstGeom>
          <a:noFill/>
          <a:ln w="9525">
            <a:noFill/>
            <a:miter lim="800000"/>
            <a:headEnd/>
            <a:tailEnd/>
          </a:ln>
        </p:spPr>
        <p:txBody>
          <a:bodyPr>
            <a:spAutoFit/>
          </a:bodyPr>
          <a:lstStyle/>
          <a:p>
            <a:endParaRPr lang="en-US"/>
          </a:p>
        </p:txBody>
      </p:sp>
      <p:sp>
        <p:nvSpPr>
          <p:cNvPr id="28679" name="Rectangle 6"/>
          <p:cNvSpPr>
            <a:spLocks noChangeArrowheads="1"/>
          </p:cNvSpPr>
          <p:nvPr/>
        </p:nvSpPr>
        <p:spPr bwMode="auto">
          <a:xfrm>
            <a:off x="2667000" y="2667000"/>
            <a:ext cx="9144000" cy="0"/>
          </a:xfrm>
          <a:prstGeom prst="rect">
            <a:avLst/>
          </a:prstGeom>
          <a:noFill/>
          <a:ln w="9525">
            <a:noFill/>
            <a:miter lim="800000"/>
            <a:headEnd/>
            <a:tailEnd/>
          </a:ln>
        </p:spPr>
        <p:txBody>
          <a:bodyPr>
            <a:spAutoFit/>
          </a:bodyPr>
          <a:lstStyle/>
          <a:p>
            <a:endParaRPr lang="en-US"/>
          </a:p>
        </p:txBody>
      </p:sp>
      <p:pic>
        <p:nvPicPr>
          <p:cNvPr id="28680" name="Picture 5" descr="http://www.intelligententerprise.com/020101/gifs/501warehouse_fig2.gif"/>
          <p:cNvPicPr>
            <a:picLocks noChangeAspect="1" noChangeArrowheads="1"/>
          </p:cNvPicPr>
          <p:nvPr/>
        </p:nvPicPr>
        <p:blipFill>
          <a:blip r:embed="rId2" r:link="rId3" cstate="print"/>
          <a:srcRect/>
          <a:stretch>
            <a:fillRect/>
          </a:stretch>
        </p:blipFill>
        <p:spPr bwMode="auto">
          <a:xfrm>
            <a:off x="1066800" y="2514600"/>
            <a:ext cx="6846888" cy="2738438"/>
          </a:xfrm>
          <a:prstGeom prst="rect">
            <a:avLst/>
          </a:prstGeom>
          <a:solidFill>
            <a:srgbClr val="FF0000"/>
          </a:solidFill>
          <a:ln w="9525">
            <a:noFill/>
            <a:miter lim="800000"/>
            <a:headEnd/>
            <a:tailEnd/>
          </a:ln>
        </p:spPr>
      </p:pic>
      <p:sp>
        <p:nvSpPr>
          <p:cNvPr id="28681" name="TextBox 8"/>
          <p:cNvSpPr txBox="1">
            <a:spLocks noChangeArrowheads="1"/>
          </p:cNvSpPr>
          <p:nvPr/>
        </p:nvSpPr>
        <p:spPr bwMode="auto">
          <a:xfrm>
            <a:off x="1600200" y="6488113"/>
            <a:ext cx="6934200" cy="307975"/>
          </a:xfrm>
          <a:prstGeom prst="rect">
            <a:avLst/>
          </a:prstGeom>
          <a:noFill/>
          <a:ln w="9525">
            <a:noFill/>
            <a:miter lim="800000"/>
            <a:headEnd/>
            <a:tailEnd/>
          </a:ln>
        </p:spPr>
        <p:txBody>
          <a:bodyPr>
            <a:spAutoFit/>
          </a:bodyPr>
          <a:lstStyle/>
          <a:p>
            <a:r>
              <a:rPr lang="en-US" sz="1400" i="1" dirty="0" smtClean="0"/>
              <a:t>Figure taken from Lawrence </a:t>
            </a:r>
            <a:r>
              <a:rPr lang="en-US" sz="1400" i="1" dirty="0" err="1" smtClean="0"/>
              <a:t>Corr’s</a:t>
            </a:r>
            <a:r>
              <a:rPr lang="en-US" sz="1400" i="1" dirty="0" smtClean="0"/>
              <a:t> article  “Lost , Shrunken, and  Collapsed”</a:t>
            </a:r>
            <a:endParaRPr lang="en-US" sz="1400" i="1" dirty="0"/>
          </a:p>
        </p:txBody>
      </p:sp>
      <p:sp>
        <p:nvSpPr>
          <p:cNvPr id="10" name="TextBox 9"/>
          <p:cNvSpPr txBox="1"/>
          <p:nvPr/>
        </p:nvSpPr>
        <p:spPr>
          <a:xfrm>
            <a:off x="1905000" y="5410200"/>
            <a:ext cx="5334000" cy="461665"/>
          </a:xfrm>
          <a:prstGeom prst="rect">
            <a:avLst/>
          </a:prstGeom>
          <a:noFill/>
        </p:spPr>
        <p:txBody>
          <a:bodyPr wrap="square" rtlCol="0">
            <a:spAutoFit/>
          </a:bodyPr>
          <a:lstStyle/>
          <a:p>
            <a:pPr algn="ctr"/>
            <a:r>
              <a:rPr lang="en-US" sz="2400" b="1" dirty="0" smtClean="0"/>
              <a:t>A lost and a Shrunken Dimension</a:t>
            </a:r>
            <a:endParaRPr lang="en-US" sz="2400" b="1" dirty="0"/>
          </a:p>
        </p:txBody>
      </p:sp>
      <p:sp>
        <p:nvSpPr>
          <p:cNvPr id="11" name="TextBox 10"/>
          <p:cNvSpPr txBox="1"/>
          <p:nvPr/>
        </p:nvSpPr>
        <p:spPr>
          <a:xfrm>
            <a:off x="228600" y="6019800"/>
            <a:ext cx="1371600" cy="400110"/>
          </a:xfrm>
          <a:prstGeom prst="rect">
            <a:avLst/>
          </a:prstGeom>
          <a:noFill/>
        </p:spPr>
        <p:txBody>
          <a:bodyPr wrap="square" rtlCol="0">
            <a:spAutoFit/>
          </a:bodyPr>
          <a:lstStyle/>
          <a:p>
            <a:r>
              <a:rPr lang="en-US" sz="2000" dirty="0" smtClean="0">
                <a:hlinkClick r:id="rId4" action="ppaction://hlinksldjump"/>
              </a:rPr>
              <a:t>Back</a:t>
            </a:r>
            <a:endParaRPr lang="en-US" sz="2000" dirty="0"/>
          </a:p>
        </p:txBody>
      </p:sp>
      <p:sp>
        <p:nvSpPr>
          <p:cNvPr id="12" name="Oval 11"/>
          <p:cNvSpPr/>
          <p:nvPr/>
        </p:nvSpPr>
        <p:spPr>
          <a:xfrm>
            <a:off x="5410200" y="2438400"/>
            <a:ext cx="1371600" cy="1219200"/>
          </a:xfrm>
          <a:prstGeom prst="ellipse">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819400" y="4114800"/>
            <a:ext cx="1371600" cy="1219200"/>
          </a:xfrm>
          <a:prstGeom prst="ellipse">
            <a:avLst/>
          </a:prstGeom>
          <a:solidFill>
            <a:srgbClr val="92D05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038600" y="2667000"/>
            <a:ext cx="1371600" cy="646331"/>
          </a:xfrm>
          <a:prstGeom prst="rect">
            <a:avLst/>
          </a:prstGeom>
          <a:solidFill>
            <a:srgbClr val="FF0000">
              <a:alpha val="12000"/>
            </a:srgbClr>
          </a:solidFill>
        </p:spPr>
        <p:txBody>
          <a:bodyPr wrap="square" rtlCol="0">
            <a:spAutoFit/>
          </a:bodyPr>
          <a:lstStyle/>
          <a:p>
            <a:r>
              <a:rPr lang="en-US" dirty="0" smtClean="0"/>
              <a:t>Shrunken Dimension</a:t>
            </a:r>
            <a:endParaRPr lang="en-US" dirty="0"/>
          </a:p>
        </p:txBody>
      </p:sp>
      <p:sp>
        <p:nvSpPr>
          <p:cNvPr id="16" name="TextBox 15"/>
          <p:cNvSpPr txBox="1"/>
          <p:nvPr/>
        </p:nvSpPr>
        <p:spPr>
          <a:xfrm>
            <a:off x="4191000" y="4572000"/>
            <a:ext cx="1371600" cy="646331"/>
          </a:xfrm>
          <a:prstGeom prst="rect">
            <a:avLst/>
          </a:prstGeom>
          <a:solidFill>
            <a:srgbClr val="92D050">
              <a:alpha val="34000"/>
            </a:srgbClr>
          </a:solidFill>
        </p:spPr>
        <p:txBody>
          <a:bodyPr wrap="square" rtlCol="0">
            <a:spAutoFit/>
          </a:bodyPr>
          <a:lstStyle/>
          <a:p>
            <a:r>
              <a:rPr lang="en-US" dirty="0" smtClean="0"/>
              <a:t>Lost Dimension</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81000" y="1524000"/>
            <a:ext cx="8229600" cy="4525963"/>
          </a:xfrm>
        </p:spPr>
        <p:txBody>
          <a:bodyPr>
            <a:noAutofit/>
          </a:bodyPr>
          <a:lstStyle/>
          <a:p>
            <a:r>
              <a:rPr lang="en-US" sz="2400" dirty="0" smtClean="0"/>
              <a:t>Before you can build a shrunken dimension aggregate, one or more shrunken dimension keys must replace original surrogate keys in the fact table. </a:t>
            </a:r>
            <a:endParaRPr lang="en-US" sz="2400" dirty="0" smtClean="0"/>
          </a:p>
          <a:p>
            <a:r>
              <a:rPr lang="en-US" sz="2400" dirty="0" smtClean="0"/>
              <a:t>If </a:t>
            </a:r>
            <a:r>
              <a:rPr lang="en-US" sz="2400" dirty="0" smtClean="0"/>
              <a:t>the shrunken dimension keys are carried in the original dimensions, the aggregate can be populated by a SQL query that joins the fact table to these dimensions and groups on a combination of shrunken dimension keys and surviving atomic-level surrogate keys.</a:t>
            </a:r>
            <a:endParaRPr lang="en-US" dirty="0" smtClean="0"/>
          </a:p>
        </p:txBody>
      </p:sp>
      <p:sp>
        <p:nvSpPr>
          <p:cNvPr id="3" name="Title 2"/>
          <p:cNvSpPr>
            <a:spLocks noGrp="1"/>
          </p:cNvSpPr>
          <p:nvPr>
            <p:ph type="title"/>
          </p:nvPr>
        </p:nvSpPr>
        <p:spPr/>
        <p:txBody>
          <a:bodyPr/>
          <a:lstStyle/>
          <a:p>
            <a:r>
              <a:rPr lang="en-US" dirty="0" smtClean="0"/>
              <a:t>Shrunken Dimension Aggregates</a:t>
            </a:r>
            <a:endParaRPr lang="en-US"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533400" y="304800"/>
            <a:ext cx="7772400" cy="1066800"/>
          </a:xfrm>
        </p:spPr>
        <p:txBody>
          <a:bodyPr>
            <a:normAutofit/>
          </a:bodyPr>
          <a:lstStyle/>
          <a:p>
            <a:pPr fontAlgn="auto">
              <a:spcBef>
                <a:spcPts val="0"/>
              </a:spcBef>
              <a:spcAft>
                <a:spcPts val="0"/>
              </a:spcAft>
              <a:defRPr/>
            </a:pPr>
            <a:r>
              <a:rPr lang="en-US" sz="4800" b="1" dirty="0" smtClean="0"/>
              <a:t>Sales Star Schema</a:t>
            </a:r>
            <a:endParaRPr lang="en-US" sz="4800" b="1" dirty="0">
              <a:solidFill>
                <a:schemeClr val="tx1">
                  <a:alpha val="100000"/>
                </a:schemeClr>
              </a:solidFill>
            </a:endParaRPr>
          </a:p>
        </p:txBody>
      </p:sp>
      <p:sp>
        <p:nvSpPr>
          <p:cNvPr id="7" name="Slide Number Placeholder 5"/>
          <p:cNvSpPr>
            <a:spLocks noGrp="1"/>
          </p:cNvSpPr>
          <p:nvPr>
            <p:ph type="sldNum" sz="quarter" idx="12"/>
          </p:nvPr>
        </p:nvSpPr>
        <p:spPr/>
        <p:txBody>
          <a:bodyPr/>
          <a:lstStyle/>
          <a:p>
            <a:pPr>
              <a:defRPr/>
            </a:pPr>
            <a:fld id="{132ED71A-3B3B-4C0B-A608-636F2EB2061F}" type="slidenum">
              <a:rPr lang="en-US"/>
              <a:pPr>
                <a:defRPr/>
              </a:pPr>
              <a:t>10</a:t>
            </a:fld>
            <a:endParaRPr lang="en-US"/>
          </a:p>
        </p:txBody>
      </p:sp>
      <p:sp>
        <p:nvSpPr>
          <p:cNvPr id="25606" name="Rectangle 6"/>
          <p:cNvSpPr>
            <a:spLocks noChangeArrowheads="1"/>
          </p:cNvSpPr>
          <p:nvPr/>
        </p:nvSpPr>
        <p:spPr bwMode="auto">
          <a:xfrm>
            <a:off x="3048000" y="2500313"/>
            <a:ext cx="9144000" cy="0"/>
          </a:xfrm>
          <a:prstGeom prst="rect">
            <a:avLst/>
          </a:prstGeom>
          <a:noFill/>
          <a:ln w="9525">
            <a:noFill/>
            <a:miter lim="800000"/>
            <a:headEnd/>
            <a:tailEnd/>
          </a:ln>
        </p:spPr>
        <p:txBody>
          <a:bodyPr>
            <a:spAutoFit/>
          </a:bodyPr>
          <a:lstStyle/>
          <a:p>
            <a:endParaRPr lang="en-US"/>
          </a:p>
        </p:txBody>
      </p:sp>
      <p:pic>
        <p:nvPicPr>
          <p:cNvPr id="25607" name="Picture 5" descr="http://www.dbmsmag.com/9608d541.gif"/>
          <p:cNvPicPr>
            <a:picLocks noChangeAspect="1" noChangeArrowheads="1"/>
          </p:cNvPicPr>
          <p:nvPr/>
        </p:nvPicPr>
        <p:blipFill>
          <a:blip r:embed="rId2" r:link="rId3" cstate="print"/>
          <a:srcRect/>
          <a:stretch>
            <a:fillRect/>
          </a:stretch>
        </p:blipFill>
        <p:spPr bwMode="auto">
          <a:xfrm>
            <a:off x="838200" y="1447800"/>
            <a:ext cx="7391400" cy="4837113"/>
          </a:xfrm>
          <a:prstGeom prst="rect">
            <a:avLst/>
          </a:prstGeom>
          <a:noFill/>
          <a:ln w="9525">
            <a:noFill/>
            <a:miter lim="800000"/>
            <a:headEnd/>
            <a:tailEnd/>
          </a:ln>
        </p:spPr>
      </p:pic>
      <p:sp>
        <p:nvSpPr>
          <p:cNvPr id="25608" name="TextBox 7"/>
          <p:cNvSpPr txBox="1">
            <a:spLocks noChangeArrowheads="1"/>
          </p:cNvSpPr>
          <p:nvPr/>
        </p:nvSpPr>
        <p:spPr bwMode="auto">
          <a:xfrm>
            <a:off x="1600200" y="6488113"/>
            <a:ext cx="6934200" cy="307975"/>
          </a:xfrm>
          <a:prstGeom prst="rect">
            <a:avLst/>
          </a:prstGeom>
          <a:noFill/>
          <a:ln w="9525">
            <a:noFill/>
            <a:miter lim="800000"/>
            <a:headEnd/>
            <a:tailEnd/>
          </a:ln>
        </p:spPr>
        <p:txBody>
          <a:bodyPr>
            <a:spAutoFit/>
          </a:bodyPr>
          <a:lstStyle/>
          <a:p>
            <a:r>
              <a:rPr lang="en-US" sz="1400" i="1"/>
              <a:t>Figure taken from Kimball’s articles on Aggregate Navigator</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26"/>
          <p:cNvSpPr>
            <a:spLocks noGrp="1" noChangeArrowheads="1"/>
          </p:cNvSpPr>
          <p:nvPr>
            <p:ph type="title"/>
          </p:nvPr>
        </p:nvSpPr>
        <p:spPr>
          <a:xfrm>
            <a:off x="457200" y="358775"/>
            <a:ext cx="8229600" cy="1143000"/>
          </a:xfrm>
        </p:spPr>
        <p:txBody>
          <a:bodyPr>
            <a:normAutofit fontScale="90000"/>
          </a:bodyPr>
          <a:lstStyle/>
          <a:p>
            <a:pPr fontAlgn="auto">
              <a:spcBef>
                <a:spcPts val="0"/>
              </a:spcBef>
              <a:spcAft>
                <a:spcPts val="0"/>
              </a:spcAft>
              <a:defRPr/>
            </a:pPr>
            <a:r>
              <a:rPr lang="en-US" b="1">
                <a:solidFill>
                  <a:schemeClr val="tx1">
                    <a:alpha val="100000"/>
                  </a:schemeClr>
                </a:solidFill>
              </a:rPr>
              <a:t>Aggregates:</a:t>
            </a:r>
            <a:br>
              <a:rPr lang="en-US" b="1">
                <a:solidFill>
                  <a:schemeClr val="tx1">
                    <a:alpha val="100000"/>
                  </a:schemeClr>
                </a:solidFill>
              </a:rPr>
            </a:br>
            <a:r>
              <a:rPr lang="en-US" b="1">
                <a:solidFill>
                  <a:schemeClr val="tx1">
                    <a:alpha val="100000"/>
                  </a:schemeClr>
                </a:solidFill>
              </a:rPr>
              <a:t>Shrunken Dimensions</a:t>
            </a:r>
          </a:p>
        </p:txBody>
      </p:sp>
      <p:sp>
        <p:nvSpPr>
          <p:cNvPr id="6" name="Date Placeholder 3"/>
          <p:cNvSpPr>
            <a:spLocks noGrp="1"/>
          </p:cNvSpPr>
          <p:nvPr>
            <p:ph type="dt" sz="quarter" idx="10"/>
          </p:nvPr>
        </p:nvSpPr>
        <p:spPr/>
        <p:txBody>
          <a:bodyPr/>
          <a:lstStyle/>
          <a:p>
            <a:pPr>
              <a:defRPr/>
            </a:pPr>
            <a:fld id="{2B6CB6C4-6F58-49BD-AA60-AC0E35C966DC}" type="datetime1">
              <a:rPr lang="en-US"/>
              <a:pPr>
                <a:defRPr/>
              </a:pPr>
              <a:t>5/25/2015</a:t>
            </a:fld>
            <a:endParaRPr lang="en-US"/>
          </a:p>
        </p:txBody>
      </p:sp>
      <p:sp>
        <p:nvSpPr>
          <p:cNvPr id="8" name="Slide Number Placeholder 5"/>
          <p:cNvSpPr>
            <a:spLocks noGrp="1"/>
          </p:cNvSpPr>
          <p:nvPr>
            <p:ph type="sldNum" sz="quarter" idx="12"/>
          </p:nvPr>
        </p:nvSpPr>
        <p:spPr/>
        <p:txBody>
          <a:bodyPr/>
          <a:lstStyle/>
          <a:p>
            <a:pPr>
              <a:defRPr/>
            </a:pPr>
            <a:fld id="{82609135-F4A7-470E-83B2-CD29C2292FAD}" type="slidenum">
              <a:rPr lang="en-US"/>
              <a:pPr>
                <a:defRPr/>
              </a:pPr>
              <a:t>11</a:t>
            </a:fld>
            <a:endParaRPr lang="en-US"/>
          </a:p>
        </p:txBody>
      </p:sp>
      <p:sp>
        <p:nvSpPr>
          <p:cNvPr id="7" name="Footer Placeholder 4"/>
          <p:cNvSpPr>
            <a:spLocks noGrp="1"/>
          </p:cNvSpPr>
          <p:nvPr>
            <p:ph type="ftr" sz="quarter" idx="11"/>
          </p:nvPr>
        </p:nvSpPr>
        <p:spPr/>
        <p:txBody>
          <a:bodyPr/>
          <a:lstStyle/>
          <a:p>
            <a:pPr>
              <a:defRPr/>
            </a:pPr>
            <a:r>
              <a:rPr lang="en-US"/>
              <a:t>Dr. Navneet Goyal, BITS, Pilani</a:t>
            </a:r>
          </a:p>
        </p:txBody>
      </p:sp>
      <p:sp>
        <p:nvSpPr>
          <p:cNvPr id="26630" name="Rectangle 1027"/>
          <p:cNvSpPr>
            <a:spLocks noChangeArrowheads="1"/>
          </p:cNvSpPr>
          <p:nvPr/>
        </p:nvSpPr>
        <p:spPr bwMode="auto">
          <a:xfrm>
            <a:off x="3048000" y="2500313"/>
            <a:ext cx="9144000" cy="0"/>
          </a:xfrm>
          <a:prstGeom prst="rect">
            <a:avLst/>
          </a:prstGeom>
          <a:noFill/>
          <a:ln w="9525">
            <a:noFill/>
            <a:miter lim="800000"/>
            <a:headEnd/>
            <a:tailEnd/>
          </a:ln>
        </p:spPr>
        <p:txBody>
          <a:bodyPr>
            <a:spAutoFit/>
          </a:bodyPr>
          <a:lstStyle/>
          <a:p>
            <a:endParaRPr lang="en-US"/>
          </a:p>
        </p:txBody>
      </p:sp>
      <p:sp>
        <p:nvSpPr>
          <p:cNvPr id="26631" name="Rectangle 1030"/>
          <p:cNvSpPr>
            <a:spLocks noChangeArrowheads="1"/>
          </p:cNvSpPr>
          <p:nvPr/>
        </p:nvSpPr>
        <p:spPr bwMode="auto">
          <a:xfrm>
            <a:off x="3048000" y="2552700"/>
            <a:ext cx="9144000" cy="0"/>
          </a:xfrm>
          <a:prstGeom prst="rect">
            <a:avLst/>
          </a:prstGeom>
          <a:noFill/>
          <a:ln w="9525">
            <a:noFill/>
            <a:miter lim="800000"/>
            <a:headEnd/>
            <a:tailEnd/>
          </a:ln>
        </p:spPr>
        <p:txBody>
          <a:bodyPr>
            <a:spAutoFit/>
          </a:bodyPr>
          <a:lstStyle/>
          <a:p>
            <a:endParaRPr lang="en-US"/>
          </a:p>
        </p:txBody>
      </p:sp>
      <p:pic>
        <p:nvPicPr>
          <p:cNvPr id="26632" name="Picture 1029" descr="http://www.dbmsmag.com/9608d542.gif"/>
          <p:cNvPicPr>
            <a:picLocks noChangeAspect="1" noChangeArrowheads="1"/>
          </p:cNvPicPr>
          <p:nvPr/>
        </p:nvPicPr>
        <p:blipFill>
          <a:blip r:embed="rId2" r:link="rId3" cstate="print"/>
          <a:srcRect/>
          <a:stretch>
            <a:fillRect/>
          </a:stretch>
        </p:blipFill>
        <p:spPr bwMode="auto">
          <a:xfrm>
            <a:off x="990600" y="1676400"/>
            <a:ext cx="6732499" cy="4143375"/>
          </a:xfrm>
          <a:prstGeom prst="rect">
            <a:avLst/>
          </a:prstGeom>
          <a:noFill/>
          <a:ln w="9525">
            <a:noFill/>
            <a:miter lim="800000"/>
            <a:headEnd/>
            <a:tailEnd/>
          </a:ln>
        </p:spPr>
      </p:pic>
      <p:sp>
        <p:nvSpPr>
          <p:cNvPr id="26633" name="TextBox 8"/>
          <p:cNvSpPr txBox="1">
            <a:spLocks noChangeArrowheads="1"/>
          </p:cNvSpPr>
          <p:nvPr/>
        </p:nvSpPr>
        <p:spPr bwMode="auto">
          <a:xfrm>
            <a:off x="1600200" y="6488113"/>
            <a:ext cx="6934200" cy="307975"/>
          </a:xfrm>
          <a:prstGeom prst="rect">
            <a:avLst/>
          </a:prstGeom>
          <a:noFill/>
          <a:ln w="9525">
            <a:noFill/>
            <a:miter lim="800000"/>
            <a:headEnd/>
            <a:tailEnd/>
          </a:ln>
        </p:spPr>
        <p:txBody>
          <a:bodyPr>
            <a:spAutoFit/>
          </a:bodyPr>
          <a:lstStyle/>
          <a:p>
            <a:r>
              <a:rPr lang="en-US" sz="1400" i="1"/>
              <a:t>Figure taken from Kimball’s articles on Aggregate Navigator</a:t>
            </a:r>
          </a:p>
        </p:txBody>
      </p:sp>
      <p:sp>
        <p:nvSpPr>
          <p:cNvPr id="10" name="Oval 9"/>
          <p:cNvSpPr/>
          <p:nvPr/>
        </p:nvSpPr>
        <p:spPr>
          <a:xfrm>
            <a:off x="5791200" y="1981200"/>
            <a:ext cx="1905000" cy="1752600"/>
          </a:xfrm>
          <a:prstGeom prst="ellipse">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733800" y="2438400"/>
            <a:ext cx="1143000" cy="228600"/>
          </a:xfrm>
          <a:prstGeom prst="rect">
            <a:avLst/>
          </a:prstGeom>
          <a:solidFill>
            <a:srgbClr val="FF0000">
              <a:alpha val="1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457200" y="358775"/>
            <a:ext cx="8229600" cy="1143000"/>
          </a:xfrm>
        </p:spPr>
        <p:txBody>
          <a:bodyPr>
            <a:normAutofit fontScale="90000"/>
          </a:bodyPr>
          <a:lstStyle/>
          <a:p>
            <a:pPr fontAlgn="auto">
              <a:spcBef>
                <a:spcPts val="0"/>
              </a:spcBef>
              <a:spcAft>
                <a:spcPts val="0"/>
              </a:spcAft>
              <a:defRPr/>
            </a:pPr>
            <a:r>
              <a:rPr lang="en-US" b="1">
                <a:solidFill>
                  <a:schemeClr val="tx1">
                    <a:alpha val="100000"/>
                  </a:schemeClr>
                </a:solidFill>
              </a:rPr>
              <a:t>Aggregates:</a:t>
            </a:r>
            <a:br>
              <a:rPr lang="en-US" b="1">
                <a:solidFill>
                  <a:schemeClr val="tx1">
                    <a:alpha val="100000"/>
                  </a:schemeClr>
                </a:solidFill>
              </a:rPr>
            </a:br>
            <a:r>
              <a:rPr lang="en-US" b="1">
                <a:solidFill>
                  <a:schemeClr val="tx1">
                    <a:alpha val="100000"/>
                  </a:schemeClr>
                </a:solidFill>
              </a:rPr>
              <a:t>Shrunken Dimensions</a:t>
            </a:r>
          </a:p>
        </p:txBody>
      </p:sp>
      <p:sp>
        <p:nvSpPr>
          <p:cNvPr id="5" name="Date Placeholder 2"/>
          <p:cNvSpPr>
            <a:spLocks noGrp="1"/>
          </p:cNvSpPr>
          <p:nvPr>
            <p:ph type="dt" sz="quarter" idx="10"/>
          </p:nvPr>
        </p:nvSpPr>
        <p:spPr/>
        <p:txBody>
          <a:bodyPr/>
          <a:lstStyle/>
          <a:p>
            <a:pPr>
              <a:defRPr/>
            </a:pPr>
            <a:fld id="{038B8B16-C705-424B-B366-606E52FB4993}" type="datetime1">
              <a:rPr lang="en-US"/>
              <a:pPr>
                <a:defRPr/>
              </a:pPr>
              <a:t>5/25/2015</a:t>
            </a:fld>
            <a:endParaRPr lang="en-US"/>
          </a:p>
        </p:txBody>
      </p:sp>
      <p:sp>
        <p:nvSpPr>
          <p:cNvPr id="7" name="Slide Number Placeholder 4"/>
          <p:cNvSpPr>
            <a:spLocks noGrp="1"/>
          </p:cNvSpPr>
          <p:nvPr>
            <p:ph type="sldNum" sz="quarter" idx="12"/>
          </p:nvPr>
        </p:nvSpPr>
        <p:spPr/>
        <p:txBody>
          <a:bodyPr/>
          <a:lstStyle/>
          <a:p>
            <a:pPr>
              <a:defRPr/>
            </a:pPr>
            <a:fld id="{2D0D867F-A91C-4C42-9CFF-23FBC8F3C10E}" type="slidenum">
              <a:rPr lang="en-US"/>
              <a:pPr>
                <a:defRPr/>
              </a:pPr>
              <a:t>12</a:t>
            </a:fld>
            <a:endParaRPr lang="en-US"/>
          </a:p>
        </p:txBody>
      </p:sp>
      <p:sp>
        <p:nvSpPr>
          <p:cNvPr id="6" name="Footer Placeholder 3"/>
          <p:cNvSpPr>
            <a:spLocks noGrp="1"/>
          </p:cNvSpPr>
          <p:nvPr>
            <p:ph type="ftr" sz="quarter" idx="11"/>
          </p:nvPr>
        </p:nvSpPr>
        <p:spPr/>
        <p:txBody>
          <a:bodyPr/>
          <a:lstStyle/>
          <a:p>
            <a:pPr>
              <a:defRPr/>
            </a:pPr>
            <a:r>
              <a:rPr lang="en-US"/>
              <a:t>Dr. Navneet Goyal, BITS, Pilani</a:t>
            </a:r>
          </a:p>
        </p:txBody>
      </p:sp>
      <p:sp>
        <p:nvSpPr>
          <p:cNvPr id="27654" name="Rectangle 4"/>
          <p:cNvSpPr>
            <a:spLocks noChangeArrowheads="1"/>
          </p:cNvSpPr>
          <p:nvPr/>
        </p:nvSpPr>
        <p:spPr bwMode="auto">
          <a:xfrm>
            <a:off x="3048000" y="2671763"/>
            <a:ext cx="9144000" cy="0"/>
          </a:xfrm>
          <a:prstGeom prst="rect">
            <a:avLst/>
          </a:prstGeom>
          <a:noFill/>
          <a:ln w="9525">
            <a:noFill/>
            <a:miter lim="800000"/>
            <a:headEnd/>
            <a:tailEnd/>
          </a:ln>
        </p:spPr>
        <p:txBody>
          <a:bodyPr>
            <a:spAutoFit/>
          </a:bodyPr>
          <a:lstStyle/>
          <a:p>
            <a:endParaRPr lang="en-US"/>
          </a:p>
        </p:txBody>
      </p:sp>
      <p:pic>
        <p:nvPicPr>
          <p:cNvPr id="27655" name="Picture 3" descr="http://www.dbmsmag.com/9608d543.gif"/>
          <p:cNvPicPr>
            <a:picLocks noChangeAspect="1" noChangeArrowheads="1"/>
          </p:cNvPicPr>
          <p:nvPr/>
        </p:nvPicPr>
        <p:blipFill>
          <a:blip r:embed="rId2" r:link="rId3" cstate="print"/>
          <a:srcRect/>
          <a:stretch>
            <a:fillRect/>
          </a:stretch>
        </p:blipFill>
        <p:spPr bwMode="auto">
          <a:xfrm>
            <a:off x="609600" y="1600200"/>
            <a:ext cx="7859108" cy="4585806"/>
          </a:xfrm>
          <a:prstGeom prst="rect">
            <a:avLst/>
          </a:prstGeom>
          <a:noFill/>
          <a:ln w="9525">
            <a:noFill/>
            <a:miter lim="800000"/>
            <a:headEnd/>
            <a:tailEnd/>
          </a:ln>
        </p:spPr>
      </p:pic>
      <p:sp>
        <p:nvSpPr>
          <p:cNvPr id="27656" name="TextBox 7"/>
          <p:cNvSpPr txBox="1">
            <a:spLocks noChangeArrowheads="1"/>
          </p:cNvSpPr>
          <p:nvPr/>
        </p:nvSpPr>
        <p:spPr bwMode="auto">
          <a:xfrm>
            <a:off x="1600200" y="6488113"/>
            <a:ext cx="6934200" cy="307975"/>
          </a:xfrm>
          <a:prstGeom prst="rect">
            <a:avLst/>
          </a:prstGeom>
          <a:noFill/>
          <a:ln w="9525">
            <a:noFill/>
            <a:miter lim="800000"/>
            <a:headEnd/>
            <a:tailEnd/>
          </a:ln>
        </p:spPr>
        <p:txBody>
          <a:bodyPr>
            <a:spAutoFit/>
          </a:bodyPr>
          <a:lstStyle/>
          <a:p>
            <a:r>
              <a:rPr lang="en-US" sz="1400" i="1"/>
              <a:t>Figure taken from Kimball’s articles on Aggregate Navigator</a:t>
            </a:r>
          </a:p>
        </p:txBody>
      </p:sp>
      <p:sp>
        <p:nvSpPr>
          <p:cNvPr id="9" name="Oval 8"/>
          <p:cNvSpPr/>
          <p:nvPr/>
        </p:nvSpPr>
        <p:spPr>
          <a:xfrm>
            <a:off x="6248400" y="2057400"/>
            <a:ext cx="2133600" cy="1828800"/>
          </a:xfrm>
          <a:prstGeom prst="ellipse">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96537" y="1992086"/>
            <a:ext cx="2133600" cy="1905000"/>
          </a:xfrm>
          <a:prstGeom prst="ellipse">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810000" y="2438400"/>
            <a:ext cx="1447800" cy="304800"/>
          </a:xfrm>
          <a:prstGeom prst="rect">
            <a:avLst/>
          </a:prstGeom>
          <a:solidFill>
            <a:srgbClr val="FF0000">
              <a:alpha val="1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810000" y="2743200"/>
            <a:ext cx="1447800" cy="304800"/>
          </a:xfrm>
          <a:prstGeom prst="rect">
            <a:avLst/>
          </a:prstGeom>
          <a:solidFill>
            <a:srgbClr val="FF0000">
              <a:alpha val="1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09600" y="4114800"/>
            <a:ext cx="2133600" cy="1905000"/>
          </a:xfrm>
          <a:prstGeom prst="ellipse">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810000" y="3048000"/>
            <a:ext cx="1447800" cy="228600"/>
          </a:xfrm>
          <a:prstGeom prst="rect">
            <a:avLst/>
          </a:prstGeom>
          <a:solidFill>
            <a:srgbClr val="FF0000">
              <a:alpha val="1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81000" y="1524000"/>
            <a:ext cx="8229600" cy="4525963"/>
          </a:xfrm>
        </p:spPr>
        <p:txBody>
          <a:bodyPr>
            <a:noAutofit/>
          </a:bodyPr>
          <a:lstStyle/>
          <a:p>
            <a:r>
              <a:rPr lang="en-US" sz="2400" dirty="0" smtClean="0"/>
              <a:t>For a snowflake schema, you can often create a shrunken aggregate by replacing the surrogate key of a </a:t>
            </a:r>
            <a:r>
              <a:rPr lang="en-US" sz="2400" dirty="0" err="1" smtClean="0"/>
              <a:t>snowflaked</a:t>
            </a:r>
            <a:r>
              <a:rPr lang="en-US" sz="2400" dirty="0" smtClean="0"/>
              <a:t> dimension with the key to one of the dimensions' outriggers. </a:t>
            </a:r>
            <a:endParaRPr lang="en-US" sz="2400" dirty="0" smtClean="0"/>
          </a:p>
          <a:p>
            <a:pPr>
              <a:buNone/>
            </a:pPr>
            <a:r>
              <a:rPr lang="en-US" sz="2400" dirty="0" smtClean="0"/>
              <a:t>	(</a:t>
            </a:r>
            <a:r>
              <a:rPr lang="en-US" sz="2400" dirty="0" smtClean="0">
                <a:hlinkClick r:id="rId2" action="ppaction://hlinksldjump"/>
              </a:rPr>
              <a:t>see </a:t>
            </a:r>
            <a:r>
              <a:rPr lang="en-US" sz="2400" b="1" dirty="0" smtClean="0">
                <a:hlinkClick r:id="rId2" action="ppaction://hlinksldjump"/>
              </a:rPr>
              <a:t>Figure on slide </a:t>
            </a:r>
            <a:r>
              <a:rPr lang="en-US" sz="2400" b="1" dirty="0" smtClean="0">
                <a:hlinkClick r:id="rId2" action="ppaction://hlinksldjump"/>
              </a:rPr>
              <a:t>#</a:t>
            </a:r>
            <a:r>
              <a:rPr lang="en-US" sz="2400" b="1" dirty="0" smtClean="0">
                <a:hlinkClick r:id="rId2" action="ppaction://hlinksldjump"/>
              </a:rPr>
              <a:t> </a:t>
            </a:r>
            <a:r>
              <a:rPr lang="en-US" sz="2400" b="1" dirty="0" smtClean="0">
                <a:hlinkClick r:id="rId2" action="ppaction://hlinksldjump"/>
              </a:rPr>
              <a:t>14</a:t>
            </a:r>
            <a:r>
              <a:rPr lang="en-US" sz="2400" b="1" dirty="0" smtClean="0"/>
              <a:t>) </a:t>
            </a:r>
            <a:endParaRPr lang="en-US" sz="2400" b="1" dirty="0" smtClean="0"/>
          </a:p>
          <a:p>
            <a:endParaRPr lang="en-US" sz="2400" b="1" dirty="0" smtClean="0"/>
          </a:p>
          <a:p>
            <a:r>
              <a:rPr lang="en-US" sz="2400" dirty="0" smtClean="0"/>
              <a:t>Notice </a:t>
            </a:r>
            <a:r>
              <a:rPr lang="en-US" sz="2400" dirty="0" smtClean="0"/>
              <a:t>how an outrigger of the fact table becomes a directly attached shrunken dimension of the </a:t>
            </a:r>
            <a:r>
              <a:rPr lang="en-US" sz="2400" dirty="0" smtClean="0"/>
              <a:t>aggregate</a:t>
            </a:r>
          </a:p>
        </p:txBody>
      </p:sp>
      <p:sp>
        <p:nvSpPr>
          <p:cNvPr id="3" name="Title 2"/>
          <p:cNvSpPr>
            <a:spLocks noGrp="1"/>
          </p:cNvSpPr>
          <p:nvPr>
            <p:ph type="title"/>
          </p:nvPr>
        </p:nvSpPr>
        <p:spPr/>
        <p:txBody>
          <a:bodyPr>
            <a:normAutofit fontScale="90000"/>
          </a:bodyPr>
          <a:lstStyle/>
          <a:p>
            <a:r>
              <a:rPr lang="en-US" dirty="0" smtClean="0"/>
              <a:t>Shrunken Dimension: </a:t>
            </a:r>
            <a:r>
              <a:rPr lang="en-US" dirty="0" err="1" smtClean="0"/>
              <a:t>Snowflaked</a:t>
            </a:r>
            <a:r>
              <a:rPr lang="en-US" dirty="0" smtClean="0"/>
              <a:t> Schemas</a:t>
            </a:r>
            <a:endParaRPr lang="en-US"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457200" y="358775"/>
            <a:ext cx="8229600" cy="1143000"/>
          </a:xfrm>
        </p:spPr>
        <p:txBody>
          <a:bodyPr>
            <a:normAutofit fontScale="90000"/>
          </a:bodyPr>
          <a:lstStyle/>
          <a:p>
            <a:pPr fontAlgn="auto">
              <a:spcBef>
                <a:spcPts val="0"/>
              </a:spcBef>
              <a:spcAft>
                <a:spcPts val="0"/>
              </a:spcAft>
              <a:defRPr/>
            </a:pPr>
            <a:r>
              <a:rPr lang="en-US" b="1">
                <a:solidFill>
                  <a:schemeClr val="tx1">
                    <a:alpha val="100000"/>
                  </a:schemeClr>
                </a:solidFill>
              </a:rPr>
              <a:t>Aggregates:</a:t>
            </a:r>
            <a:br>
              <a:rPr lang="en-US" b="1">
                <a:solidFill>
                  <a:schemeClr val="tx1">
                    <a:alpha val="100000"/>
                  </a:schemeClr>
                </a:solidFill>
              </a:rPr>
            </a:br>
            <a:r>
              <a:rPr lang="en-US" b="1">
                <a:solidFill>
                  <a:schemeClr val="tx1">
                    <a:alpha val="100000"/>
                  </a:schemeClr>
                </a:solidFill>
              </a:rPr>
              <a:t>Shrunken Dimensions</a:t>
            </a:r>
          </a:p>
        </p:txBody>
      </p:sp>
      <p:sp>
        <p:nvSpPr>
          <p:cNvPr id="29702" name="Rectangle 3"/>
          <p:cNvSpPr>
            <a:spLocks noChangeArrowheads="1"/>
          </p:cNvSpPr>
          <p:nvPr/>
        </p:nvSpPr>
        <p:spPr bwMode="auto">
          <a:xfrm>
            <a:off x="3048000" y="2500313"/>
            <a:ext cx="9144000" cy="0"/>
          </a:xfrm>
          <a:prstGeom prst="rect">
            <a:avLst/>
          </a:prstGeom>
          <a:noFill/>
          <a:ln w="9525">
            <a:noFill/>
            <a:miter lim="800000"/>
            <a:headEnd/>
            <a:tailEnd/>
          </a:ln>
        </p:spPr>
        <p:txBody>
          <a:bodyPr>
            <a:spAutoFit/>
          </a:bodyPr>
          <a:lstStyle/>
          <a:p>
            <a:endParaRPr lang="en-US"/>
          </a:p>
        </p:txBody>
      </p:sp>
      <p:sp>
        <p:nvSpPr>
          <p:cNvPr id="29703" name="Rectangle 4"/>
          <p:cNvSpPr>
            <a:spLocks noChangeArrowheads="1"/>
          </p:cNvSpPr>
          <p:nvPr/>
        </p:nvSpPr>
        <p:spPr bwMode="auto">
          <a:xfrm>
            <a:off x="2667000" y="2667000"/>
            <a:ext cx="9144000" cy="0"/>
          </a:xfrm>
          <a:prstGeom prst="rect">
            <a:avLst/>
          </a:prstGeom>
          <a:noFill/>
          <a:ln w="9525">
            <a:noFill/>
            <a:miter lim="800000"/>
            <a:headEnd/>
            <a:tailEnd/>
          </a:ln>
        </p:spPr>
        <p:txBody>
          <a:bodyPr>
            <a:spAutoFit/>
          </a:bodyPr>
          <a:lstStyle/>
          <a:p>
            <a:endParaRPr lang="en-US"/>
          </a:p>
        </p:txBody>
      </p:sp>
      <p:sp>
        <p:nvSpPr>
          <p:cNvPr id="29704" name="Rectangle 7"/>
          <p:cNvSpPr>
            <a:spLocks noChangeArrowheads="1"/>
          </p:cNvSpPr>
          <p:nvPr/>
        </p:nvSpPr>
        <p:spPr bwMode="auto">
          <a:xfrm>
            <a:off x="2667000" y="2714625"/>
            <a:ext cx="9144000" cy="0"/>
          </a:xfrm>
          <a:prstGeom prst="rect">
            <a:avLst/>
          </a:prstGeom>
          <a:noFill/>
          <a:ln w="9525">
            <a:noFill/>
            <a:miter lim="800000"/>
            <a:headEnd/>
            <a:tailEnd/>
          </a:ln>
        </p:spPr>
        <p:txBody>
          <a:bodyPr>
            <a:spAutoFit/>
          </a:bodyPr>
          <a:lstStyle/>
          <a:p>
            <a:endParaRPr lang="en-US"/>
          </a:p>
        </p:txBody>
      </p:sp>
      <p:pic>
        <p:nvPicPr>
          <p:cNvPr id="29705" name="Picture 6" descr="http://www.intelligententerprise.com/020101/gifs/501warehouse_fig3.gif"/>
          <p:cNvPicPr>
            <a:picLocks noChangeAspect="1" noChangeArrowheads="1"/>
          </p:cNvPicPr>
          <p:nvPr/>
        </p:nvPicPr>
        <p:blipFill>
          <a:blip r:embed="rId2" r:link="rId3" cstate="print"/>
          <a:srcRect/>
          <a:stretch>
            <a:fillRect/>
          </a:stretch>
        </p:blipFill>
        <p:spPr bwMode="auto">
          <a:xfrm>
            <a:off x="1219200" y="2590800"/>
            <a:ext cx="6864350" cy="3124200"/>
          </a:xfrm>
          <a:prstGeom prst="rect">
            <a:avLst/>
          </a:prstGeom>
          <a:noFill/>
          <a:ln w="9525">
            <a:noFill/>
            <a:miter lim="800000"/>
            <a:headEnd/>
            <a:tailEnd/>
          </a:ln>
        </p:spPr>
      </p:pic>
      <p:sp>
        <p:nvSpPr>
          <p:cNvPr id="11" name="TextBox 10"/>
          <p:cNvSpPr txBox="1"/>
          <p:nvPr/>
        </p:nvSpPr>
        <p:spPr>
          <a:xfrm>
            <a:off x="152400" y="5715000"/>
            <a:ext cx="1143000" cy="369332"/>
          </a:xfrm>
          <a:prstGeom prst="rect">
            <a:avLst/>
          </a:prstGeom>
          <a:noFill/>
        </p:spPr>
        <p:txBody>
          <a:bodyPr wrap="square" rtlCol="0">
            <a:spAutoFit/>
          </a:bodyPr>
          <a:lstStyle/>
          <a:p>
            <a:r>
              <a:rPr lang="en-US" dirty="0" smtClean="0">
                <a:hlinkClick r:id="rId4" action="ppaction://hlinksldjump"/>
              </a:rPr>
              <a:t>Back</a:t>
            </a:r>
            <a:endParaRPr lang="en-US" dirty="0"/>
          </a:p>
        </p:txBody>
      </p:sp>
      <p:sp>
        <p:nvSpPr>
          <p:cNvPr id="12" name="TextBox 8"/>
          <p:cNvSpPr txBox="1">
            <a:spLocks noChangeArrowheads="1"/>
          </p:cNvSpPr>
          <p:nvPr/>
        </p:nvSpPr>
        <p:spPr bwMode="auto">
          <a:xfrm>
            <a:off x="1600200" y="6488113"/>
            <a:ext cx="6934200" cy="307975"/>
          </a:xfrm>
          <a:prstGeom prst="rect">
            <a:avLst/>
          </a:prstGeom>
          <a:noFill/>
          <a:ln w="9525">
            <a:noFill/>
            <a:miter lim="800000"/>
            <a:headEnd/>
            <a:tailEnd/>
          </a:ln>
        </p:spPr>
        <p:txBody>
          <a:bodyPr>
            <a:spAutoFit/>
          </a:bodyPr>
          <a:lstStyle/>
          <a:p>
            <a:r>
              <a:rPr lang="en-US" sz="1400" i="1" dirty="0" smtClean="0"/>
              <a:t>Figure taken from Lawrence </a:t>
            </a:r>
            <a:r>
              <a:rPr lang="en-US" sz="1400" i="1" dirty="0" err="1" smtClean="0"/>
              <a:t>Corr’s</a:t>
            </a:r>
            <a:r>
              <a:rPr lang="en-US" sz="1400" i="1" dirty="0" smtClean="0"/>
              <a:t> article  “Lost , Shrunken, and  Collapsed”</a:t>
            </a:r>
            <a:endParaRPr lang="en-US" sz="1400" i="1"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81000" y="1524000"/>
            <a:ext cx="8534400" cy="4953000"/>
          </a:xfrm>
        </p:spPr>
        <p:txBody>
          <a:bodyPr>
            <a:noAutofit/>
          </a:bodyPr>
          <a:lstStyle/>
          <a:p>
            <a:r>
              <a:rPr lang="en-US" sz="2400" dirty="0" smtClean="0"/>
              <a:t>Collapsed dimension aggregates are created when dimensional keys have been replaced with high-level dimensional attributes, resulting in a single, fully </a:t>
            </a:r>
            <a:r>
              <a:rPr lang="en-US" sz="2400" dirty="0" err="1" smtClean="0"/>
              <a:t>denormalized</a:t>
            </a:r>
            <a:r>
              <a:rPr lang="en-US" sz="2400" dirty="0" smtClean="0"/>
              <a:t> summary table. </a:t>
            </a:r>
            <a:endParaRPr lang="en-US" sz="2400" dirty="0" smtClean="0"/>
          </a:p>
          <a:p>
            <a:r>
              <a:rPr lang="en-US" sz="2400" b="1" dirty="0" smtClean="0">
                <a:hlinkClick r:id="rId2" action="ppaction://hlinksldjump"/>
              </a:rPr>
              <a:t>Figure on slide #17</a:t>
            </a:r>
            <a:r>
              <a:rPr lang="en-US" sz="2400" dirty="0" smtClean="0">
                <a:hlinkClick r:id="rId2" action="ppaction://hlinksldjump"/>
              </a:rPr>
              <a:t> </a:t>
            </a:r>
            <a:r>
              <a:rPr lang="en-US" sz="2400" dirty="0" smtClean="0"/>
              <a:t>shows a collapsed aggregate with a small number of surviving dimensional attributes from two dimensions. </a:t>
            </a:r>
            <a:endParaRPr lang="en-US" sz="2400" dirty="0" smtClean="0"/>
          </a:p>
          <a:p>
            <a:r>
              <a:rPr lang="en-US" sz="2400" dirty="0" smtClean="0"/>
              <a:t>This </a:t>
            </a:r>
            <a:r>
              <a:rPr lang="en-US" sz="2400" dirty="0" smtClean="0"/>
              <a:t>example could be a quarterly product category sales summary</a:t>
            </a:r>
            <a:r>
              <a:rPr lang="en-US" sz="2400" dirty="0" smtClean="0"/>
              <a:t>.</a:t>
            </a:r>
          </a:p>
          <a:p>
            <a:r>
              <a:rPr lang="en-US" sz="2400" dirty="0" smtClean="0"/>
              <a:t>Collapsed </a:t>
            </a:r>
            <a:r>
              <a:rPr lang="en-US" sz="2400" dirty="0" smtClean="0"/>
              <a:t>dimension aggregates have the performance and usability advantages of shrunken dimension aggregates, without requiring you to maintain shrunken physical dimensions and keys. </a:t>
            </a:r>
            <a:endParaRPr lang="en-US" sz="2400" dirty="0" smtClean="0"/>
          </a:p>
          <a:p>
            <a:r>
              <a:rPr lang="en-US" sz="2400" dirty="0" smtClean="0"/>
              <a:t>In </a:t>
            </a:r>
            <a:r>
              <a:rPr lang="en-US" sz="2400" dirty="0" smtClean="0"/>
              <a:t>addition, they can offer further query acceleration because they cut out join processing for rewritten queries. </a:t>
            </a:r>
            <a:endParaRPr lang="en-US" sz="2400" dirty="0" smtClean="0"/>
          </a:p>
        </p:txBody>
      </p:sp>
      <p:sp>
        <p:nvSpPr>
          <p:cNvPr id="3" name="Title 2"/>
          <p:cNvSpPr>
            <a:spLocks noGrp="1"/>
          </p:cNvSpPr>
          <p:nvPr>
            <p:ph type="title"/>
          </p:nvPr>
        </p:nvSpPr>
        <p:spPr/>
        <p:txBody>
          <a:bodyPr>
            <a:normAutofit/>
          </a:bodyPr>
          <a:lstStyle/>
          <a:p>
            <a:r>
              <a:rPr lang="en-US" dirty="0" smtClean="0"/>
              <a:t>Collapsed Dimension</a:t>
            </a:r>
            <a:endParaRPr lang="en-US"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81000" y="1524000"/>
            <a:ext cx="8763000" cy="5105400"/>
          </a:xfrm>
        </p:spPr>
        <p:txBody>
          <a:bodyPr>
            <a:noAutofit/>
          </a:bodyPr>
          <a:lstStyle/>
          <a:p>
            <a:r>
              <a:rPr lang="en-US" sz="2400" dirty="0" smtClean="0"/>
              <a:t>Can only be considered for high-level summaries only where few dimensional attributes remain and those attributes are relatively short. </a:t>
            </a:r>
          </a:p>
          <a:p>
            <a:r>
              <a:rPr lang="en-US" sz="2400" dirty="0" smtClean="0"/>
              <a:t>Otherwise, the increased record length may contribute to the collapsed table being too large, especially if many attributes are included. </a:t>
            </a:r>
          </a:p>
          <a:p>
            <a:r>
              <a:rPr lang="en-US" sz="2400" dirty="0" smtClean="0"/>
              <a:t>A collapsed dimension aggregate might well have 10 times fewer records than the fact table but its record length could easily be three to five times longer, leaving the overall performance gain at only two or three times.</a:t>
            </a:r>
          </a:p>
          <a:p>
            <a:r>
              <a:rPr lang="en-US" sz="2400" dirty="0" smtClean="0"/>
              <a:t>Collapsed </a:t>
            </a:r>
            <a:r>
              <a:rPr lang="en-US" sz="2400" dirty="0" smtClean="0"/>
              <a:t>dimension aggregates would be tenable only for high-level summaries built from already moderately sized aggregates</a:t>
            </a:r>
            <a:r>
              <a:rPr lang="en-US" sz="2400" dirty="0" smtClean="0"/>
              <a:t>.</a:t>
            </a:r>
          </a:p>
        </p:txBody>
      </p:sp>
      <p:sp>
        <p:nvSpPr>
          <p:cNvPr id="3" name="Title 2"/>
          <p:cNvSpPr>
            <a:spLocks noGrp="1"/>
          </p:cNvSpPr>
          <p:nvPr>
            <p:ph type="title"/>
          </p:nvPr>
        </p:nvSpPr>
        <p:spPr/>
        <p:txBody>
          <a:bodyPr>
            <a:normAutofit/>
          </a:bodyPr>
          <a:lstStyle/>
          <a:p>
            <a:r>
              <a:rPr lang="en-US" dirty="0" smtClean="0"/>
              <a:t>Collapsed Dimension</a:t>
            </a:r>
            <a:endParaRPr lang="en-US"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685800" y="533400"/>
            <a:ext cx="8229600" cy="1066800"/>
          </a:xfrm>
        </p:spPr>
        <p:txBody>
          <a:bodyPr/>
          <a:lstStyle/>
          <a:p>
            <a:r>
              <a:rPr lang="en-US" sz="4800" b="1" smtClean="0"/>
              <a:t>Collapsed Dimensions</a:t>
            </a:r>
          </a:p>
        </p:txBody>
      </p:sp>
      <p:sp>
        <p:nvSpPr>
          <p:cNvPr id="38918" name="Rectangle 1030"/>
          <p:cNvSpPr>
            <a:spLocks noChangeArrowheads="1"/>
          </p:cNvSpPr>
          <p:nvPr/>
        </p:nvSpPr>
        <p:spPr bwMode="auto">
          <a:xfrm>
            <a:off x="2667000" y="2538413"/>
            <a:ext cx="9144000" cy="0"/>
          </a:xfrm>
          <a:prstGeom prst="rect">
            <a:avLst/>
          </a:prstGeom>
          <a:noFill/>
          <a:ln w="9525">
            <a:noFill/>
            <a:miter lim="800000"/>
            <a:headEnd/>
            <a:tailEnd/>
          </a:ln>
        </p:spPr>
        <p:txBody>
          <a:bodyPr>
            <a:spAutoFit/>
          </a:bodyPr>
          <a:lstStyle/>
          <a:p>
            <a:endParaRPr lang="en-US"/>
          </a:p>
        </p:txBody>
      </p:sp>
      <p:pic>
        <p:nvPicPr>
          <p:cNvPr id="38919" name="Picture 1029" descr="http://www.intelligententerprise.com/020101/gifs/501warehouse_fig4.gif"/>
          <p:cNvPicPr>
            <a:picLocks noChangeAspect="1" noChangeArrowheads="1"/>
          </p:cNvPicPr>
          <p:nvPr/>
        </p:nvPicPr>
        <p:blipFill>
          <a:blip r:embed="rId2" r:link="rId3" cstate="print"/>
          <a:srcRect/>
          <a:stretch>
            <a:fillRect/>
          </a:stretch>
        </p:blipFill>
        <p:spPr bwMode="auto">
          <a:xfrm>
            <a:off x="1143000" y="2362200"/>
            <a:ext cx="6864350" cy="3208338"/>
          </a:xfrm>
          <a:prstGeom prst="rect">
            <a:avLst/>
          </a:prstGeom>
          <a:noFill/>
          <a:ln w="9525">
            <a:noFill/>
            <a:miter lim="800000"/>
            <a:headEnd/>
            <a:tailEnd/>
          </a:ln>
        </p:spPr>
      </p:pic>
      <p:sp>
        <p:nvSpPr>
          <p:cNvPr id="10" name="TextBox 8"/>
          <p:cNvSpPr txBox="1">
            <a:spLocks noChangeArrowheads="1"/>
          </p:cNvSpPr>
          <p:nvPr/>
        </p:nvSpPr>
        <p:spPr bwMode="auto">
          <a:xfrm>
            <a:off x="1600200" y="6488113"/>
            <a:ext cx="6934200" cy="307975"/>
          </a:xfrm>
          <a:prstGeom prst="rect">
            <a:avLst/>
          </a:prstGeom>
          <a:noFill/>
          <a:ln w="9525">
            <a:noFill/>
            <a:miter lim="800000"/>
            <a:headEnd/>
            <a:tailEnd/>
          </a:ln>
        </p:spPr>
        <p:txBody>
          <a:bodyPr>
            <a:spAutoFit/>
          </a:bodyPr>
          <a:lstStyle/>
          <a:p>
            <a:r>
              <a:rPr lang="en-US" sz="1400" i="1" dirty="0" smtClean="0"/>
              <a:t>Figure taken from Lawrence </a:t>
            </a:r>
            <a:r>
              <a:rPr lang="en-US" sz="1400" i="1" dirty="0" err="1" smtClean="0"/>
              <a:t>Corr’s</a:t>
            </a:r>
            <a:r>
              <a:rPr lang="en-US" sz="1400" i="1" dirty="0" smtClean="0"/>
              <a:t> article  “Lost , Shrunken, and  Collapsed”</a:t>
            </a:r>
            <a:endParaRPr lang="en-US" sz="1400" i="1"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ctrTitle"/>
          </p:nvPr>
        </p:nvSpPr>
        <p:spPr>
          <a:xfrm>
            <a:off x="685800" y="2246313"/>
            <a:ext cx="7772400" cy="1335087"/>
          </a:xfrm>
        </p:spPr>
        <p:txBody>
          <a:bodyPr>
            <a:normAutofit fontScale="90000"/>
          </a:bodyPr>
          <a:lstStyle/>
          <a:p>
            <a:pPr eaLnBrk="1" hangingPunct="1">
              <a:defRPr/>
            </a:pPr>
            <a:r>
              <a:rPr lang="en-US" sz="8300" b="1" smtClean="0">
                <a:solidFill>
                  <a:srgbClr val="000000"/>
                </a:solidFill>
                <a:effectLst>
                  <a:outerShdw blurRad="38100" dist="38100" dir="2700000" algn="tl">
                    <a:srgbClr val="FFFFFF"/>
                  </a:outerShdw>
                </a:effectLst>
              </a:rPr>
              <a:t>Q &amp; A</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ctrTitle"/>
          </p:nvPr>
        </p:nvSpPr>
        <p:spPr>
          <a:xfrm>
            <a:off x="685800" y="2246313"/>
            <a:ext cx="7772400" cy="1335087"/>
          </a:xfrm>
        </p:spPr>
        <p:txBody>
          <a:bodyPr>
            <a:normAutofit fontScale="90000"/>
          </a:bodyPr>
          <a:lstStyle/>
          <a:p>
            <a:pPr eaLnBrk="1" hangingPunct="1">
              <a:defRPr/>
            </a:pPr>
            <a:r>
              <a:rPr lang="en-US" sz="8300" b="1" smtClean="0">
                <a:solidFill>
                  <a:srgbClr val="000000"/>
                </a:solidFill>
                <a:effectLst>
                  <a:outerShdw blurRad="38100" dist="38100" dir="2700000" algn="tl">
                    <a:srgbClr val="FFFFFF"/>
                  </a:outerShdw>
                </a:effectLst>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ue circl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odule">
      <a:majorFont>
        <a:latin typeface="Corbel"/>
        <a:ea typeface=""/>
        <a:cs typeface=""/>
        <a:font script="Jpan" typeface="HGｺﾞｼｯｸM"/>
        <a:font script="Hang" typeface="HY엽서L"/>
        <a:font script="Hans" typeface="楷体_GB2312"/>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楷体_GB2312"/>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Effects">
      <a:fillStyleLst>
        <a:solidFill>
          <a:schemeClr val="phClr">
            <a:tint val="100000"/>
            <a:shade val="100000"/>
            <a:satMod val="100000"/>
          </a:schemeClr>
        </a:solidFill>
        <a:gradFill rotWithShape="1">
          <a:gsLst>
            <a:gs pos="0">
              <a:schemeClr val="phClr">
                <a:tint val="65000"/>
                <a:shade val="100000"/>
                <a:satMod val="133000"/>
              </a:schemeClr>
            </a:gs>
            <a:gs pos="15000">
              <a:schemeClr val="phClr">
                <a:tint val="50000"/>
                <a:shade val="100000"/>
                <a:satMod val="140000"/>
              </a:schemeClr>
            </a:gs>
            <a:gs pos="100000">
              <a:schemeClr val="phClr">
                <a:tint val="10000"/>
                <a:shade val="100000"/>
                <a:satMod val="135000"/>
              </a:schemeClr>
            </a:gs>
          </a:gsLst>
          <a:lin ang="16200000" scaled="1"/>
        </a:gradFill>
        <a:gradFill rotWithShape="1">
          <a:gsLst>
            <a:gs pos="0">
              <a:schemeClr val="phClr">
                <a:tint val="100000"/>
                <a:shade val="75000"/>
                <a:satMod val="160000"/>
              </a:schemeClr>
            </a:gs>
            <a:gs pos="62000">
              <a:schemeClr val="phClr">
                <a:tint val="100000"/>
                <a:shade val="100000"/>
                <a:satMod val="125000"/>
              </a:schemeClr>
            </a:gs>
            <a:gs pos="100000">
              <a:schemeClr val="phClr">
                <a:tint val="80000"/>
                <a:shade val="100000"/>
                <a:satMod val="140000"/>
              </a:schemeClr>
            </a:gs>
          </a:gsLst>
          <a:lin ang="16200000" scaled="1"/>
        </a:gradFill>
      </a:fillStyleLst>
      <a:lnStyleLst>
        <a:ln w="12700">
          <a:solidFill>
            <a:schemeClr val="phClr"/>
          </a:solidFill>
          <a:prstDash val="solid"/>
        </a:ln>
        <a:ln w="25400">
          <a:solidFill>
            <a:schemeClr val="phClr"/>
          </a:solidFill>
          <a:prstDash val="solid"/>
        </a:ln>
        <a:ln w="38100">
          <a:solidFill>
            <a:schemeClr val="phClr"/>
          </a:solidFill>
          <a:prstDash val="solid"/>
        </a:ln>
      </a:lnStyleLst>
      <a:effectStyleLst>
        <a:effectStyle>
          <a:effectLst>
            <a:outerShdw blurRad="50800" dist="25400" dir="5400000">
              <a:srgbClr val="000000">
                <a:alpha val="43137"/>
              </a:srgbClr>
            </a:outerShdw>
          </a:effectLst>
        </a:effectStyle>
        <a:effectStyle>
          <a:effectLst>
            <a:outerShdw blurRad="50800" dist="38100" dir="5400000">
              <a:srgbClr val="000000">
                <a:alpha val="61176"/>
              </a:srgbClr>
            </a:outerShdw>
          </a:effectLst>
          <a:scene3d>
            <a:camera prst="orthographicFront" fov="0">
              <a:rot lat="0" lon="0" rev="0"/>
            </a:camera>
            <a:lightRig rig="contrasting" dir="t">
              <a:rot lat="0" lon="0" rev="16500000"/>
            </a:lightRig>
          </a:scene3d>
          <a:sp3d contourW="12700" prstMaterial="powder">
            <a:bevelT h="50800"/>
            <a:contourClr>
              <a:schemeClr val="phClr">
                <a:tint val="100000"/>
                <a:shade val="100000"/>
                <a:satMod val="100000"/>
              </a:schemeClr>
            </a:contourClr>
          </a:sp3d>
        </a:effectStyle>
        <a:effectStyle>
          <a:effectLst>
            <a:reflection blurRad="12700" stA="25000" endPos="28000" dist="38100" dir="5400000" sy="-100000" rotWithShape="0"/>
          </a:effectLst>
          <a:scene3d>
            <a:camera prst="orthographicFront" fov="0">
              <a:rot lat="0" lon="0" rev="0"/>
            </a:camera>
            <a:lightRig rig="threePt" dir="t">
              <a:rot lat="0" lon="0" rev="0"/>
            </a:lightRig>
          </a:scene3d>
          <a:sp3d>
            <a:bevelT w="139700" h="38100"/>
            <a:contourClr>
              <a:schemeClr val="phClr">
                <a:tint val="100000"/>
                <a:shade val="100000"/>
                <a:satMod val="100000"/>
              </a:schemeClr>
            </a:contourClr>
          </a:sp3d>
        </a:effectStyle>
      </a:effectStyleLst>
      <a:bgFillStyleLst>
        <a:solidFill>
          <a:schemeClr val="phClr">
            <a:tint val="100000"/>
            <a:shade val="100000"/>
            <a:satMod val="100000"/>
          </a:schemeClr>
        </a:solidFill>
        <a:gradFill rotWithShape="1">
          <a:gsLst>
            <a:gs pos="0">
              <a:schemeClr val="phClr">
                <a:tint val="100000"/>
                <a:shade val="50000"/>
                <a:satMod val="145000"/>
              </a:schemeClr>
            </a:gs>
            <a:gs pos="40000">
              <a:schemeClr val="phClr">
                <a:tint val="100000"/>
                <a:shade val="70000"/>
                <a:satMod val="145000"/>
              </a:schemeClr>
            </a:gs>
            <a:gs pos="100000">
              <a:schemeClr val="phClr">
                <a:tint val="85000"/>
                <a:shade val="100000"/>
                <a:satMod val="155000"/>
              </a:schemeClr>
            </a:gs>
          </a:gsLst>
          <a:lin ang="16200000" scaled="1"/>
        </a:gradFill>
        <a:gradFill rotWithShape="1">
          <a:gsLst>
            <a:gs pos="0">
              <a:schemeClr val="phClr">
                <a:tint val="100000"/>
                <a:shade val="50000"/>
                <a:satMod val="145000"/>
              </a:schemeClr>
            </a:gs>
            <a:gs pos="30000">
              <a:schemeClr val="phClr">
                <a:tint val="100000"/>
                <a:shade val="65000"/>
                <a:satMod val="155000"/>
              </a:schemeClr>
            </a:gs>
            <a:gs pos="100000">
              <a:schemeClr val="phClr">
                <a:tint val="60000"/>
                <a:shade val="100000"/>
                <a:satMod val="170000"/>
              </a:schemeClr>
            </a:gs>
          </a:gsLst>
          <a:lin ang="16200000" scaled="1"/>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blue circles</Template>
  <TotalTime>1104</TotalTime>
  <Words>780</Words>
  <Application>Microsoft Office PowerPoint</Application>
  <PresentationFormat>On-screen Show (4:3)</PresentationFormat>
  <Paragraphs>83</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blue circles</vt:lpstr>
      <vt:lpstr> Lost, Shrunken, &amp; Collapsed Dimension Aggregates</vt:lpstr>
      <vt:lpstr>Introduction</vt:lpstr>
      <vt:lpstr>Introduction</vt:lpstr>
      <vt:lpstr>Lost Dimension Aggregates</vt:lpstr>
      <vt:lpstr>Lost Dimension Aggregates</vt:lpstr>
      <vt:lpstr>Lost Dimensions</vt:lpstr>
      <vt:lpstr>Shrunken Dimension Aggregates</vt:lpstr>
      <vt:lpstr>Aggregates: Shrunken Dimensions</vt:lpstr>
      <vt:lpstr>Shrunken Dimension Aggregates</vt:lpstr>
      <vt:lpstr>Sales Star Schema</vt:lpstr>
      <vt:lpstr>Aggregates: Shrunken Dimensions</vt:lpstr>
      <vt:lpstr>Aggregates: Shrunken Dimensions</vt:lpstr>
      <vt:lpstr>Shrunken Dimension: Snowflaked Schemas</vt:lpstr>
      <vt:lpstr>Aggregates: Shrunken Dimensions</vt:lpstr>
      <vt:lpstr>Collapsed Dimension</vt:lpstr>
      <vt:lpstr>Collapsed Dimension</vt:lpstr>
      <vt:lpstr>Collapsed Dimensions</vt:lpstr>
      <vt:lpstr>Q &amp; A</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Lost, Shrunken &amp; Collapsed Dimensions</dc:title>
  <dc:creator>Navneet Goyal</dc:creator>
  <cp:lastModifiedBy>Dell</cp:lastModifiedBy>
  <cp:revision>39</cp:revision>
  <dcterms:created xsi:type="dcterms:W3CDTF">2006-08-16T00:00:00Z</dcterms:created>
  <dcterms:modified xsi:type="dcterms:W3CDTF">2015-05-26T05:16:30Z</dcterms:modified>
</cp:coreProperties>
</file>