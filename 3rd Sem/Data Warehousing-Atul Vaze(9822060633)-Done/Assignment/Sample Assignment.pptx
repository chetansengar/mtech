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22"/>
  </p:notesMasterIdLst>
  <p:sldIdLst>
    <p:sldId id="258" r:id="rId2"/>
    <p:sldId id="276" r:id="rId3"/>
    <p:sldId id="259" r:id="rId4"/>
    <p:sldId id="260" r:id="rId5"/>
    <p:sldId id="261" r:id="rId6"/>
    <p:sldId id="262" r:id="rId7"/>
    <p:sldId id="279" r:id="rId8"/>
    <p:sldId id="280" r:id="rId9"/>
    <p:sldId id="281" r:id="rId10"/>
    <p:sldId id="264" r:id="rId11"/>
    <p:sldId id="265" r:id="rId12"/>
    <p:sldId id="267" r:id="rId13"/>
    <p:sldId id="268" r:id="rId14"/>
    <p:sldId id="269" r:id="rId15"/>
    <p:sldId id="270" r:id="rId16"/>
    <p:sldId id="271" r:id="rId17"/>
    <p:sldId id="272" r:id="rId18"/>
    <p:sldId id="273" r:id="rId19"/>
    <p:sldId id="274" r:id="rId20"/>
    <p:sldId id="27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56" d="100"/>
          <a:sy n="56" d="100"/>
        </p:scale>
        <p:origin x="72" y="324"/>
      </p:cViewPr>
      <p:guideLst>
        <p:guide orient="horz" pos="2160"/>
        <p:guide pos="2880"/>
      </p:guideLst>
    </p:cSldViewPr>
  </p:slideViewPr>
  <p:outlineViewPr>
    <p:cViewPr>
      <p:scale>
        <a:sx n="33" d="100"/>
        <a:sy n="33" d="100"/>
      </p:scale>
      <p:origin x="48" y="194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C6D519-9839-4897-955E-A9D3658D8032}" type="datetimeFigureOut">
              <a:rPr lang="en-US" smtClean="0"/>
              <a:pPr/>
              <a:t>7/25/2019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772D7D-F7B0-417E-9AD3-B3A4EACF119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43A0B85-C038-4E91-8DC9-FBFFE4E7680D}" type="datetimeFigureOut">
              <a:rPr lang="en-US" smtClean="0"/>
              <a:pPr/>
              <a:t>7/25/2019</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41920DF4-F128-45A2-B80C-AAC0D241EB4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C43A0B85-C038-4E91-8DC9-FBFFE4E7680D}" type="datetimeFigureOut">
              <a:rPr lang="en-US" smtClean="0"/>
              <a:pPr/>
              <a:t>7/25/2019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1920DF4-F128-45A2-B80C-AAC0D241EB45}"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C43A0B85-C038-4E91-8DC9-FBFFE4E7680D}" type="datetimeFigureOut">
              <a:rPr lang="en-US" smtClean="0"/>
              <a:pPr/>
              <a:t>7/25/2019</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1920DF4-F128-45A2-B80C-AAC0D241EB45}"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C43A0B85-C038-4E91-8DC9-FBFFE4E7680D}" type="datetimeFigureOut">
              <a:rPr lang="en-US" smtClean="0"/>
              <a:pPr/>
              <a:t>7/25/2019</a:t>
            </a:fld>
            <a:endParaRPr lang="en-US"/>
          </a:p>
        </p:txBody>
      </p:sp>
      <p:sp>
        <p:nvSpPr>
          <p:cNvPr id="10" name="Slide Number Placeholder 9"/>
          <p:cNvSpPr>
            <a:spLocks noGrp="1"/>
          </p:cNvSpPr>
          <p:nvPr>
            <p:ph type="sldNum" sz="quarter" idx="16"/>
          </p:nvPr>
        </p:nvSpPr>
        <p:spPr/>
        <p:txBody>
          <a:bodyPr rtlCol="0"/>
          <a:lstStyle/>
          <a:p>
            <a:fld id="{41920DF4-F128-45A2-B80C-AAC0D241EB45}"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C43A0B85-C038-4E91-8DC9-FBFFE4E7680D}" type="datetimeFigureOut">
              <a:rPr lang="en-US" smtClean="0"/>
              <a:pPr/>
              <a:t>7/25/2019</a:t>
            </a:fld>
            <a:endParaRPr lang="en-US"/>
          </a:p>
        </p:txBody>
      </p:sp>
      <p:sp>
        <p:nvSpPr>
          <p:cNvPr id="12" name="Slide Number Placeholder 11"/>
          <p:cNvSpPr>
            <a:spLocks noGrp="1"/>
          </p:cNvSpPr>
          <p:nvPr>
            <p:ph type="sldNum" sz="quarter" idx="16"/>
          </p:nvPr>
        </p:nvSpPr>
        <p:spPr/>
        <p:txBody>
          <a:bodyPr rtlCol="0"/>
          <a:lstStyle/>
          <a:p>
            <a:fld id="{41920DF4-F128-45A2-B80C-AAC0D241EB45}"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C43A0B85-C038-4E91-8DC9-FBFFE4E7680D}" type="datetimeFigureOut">
              <a:rPr lang="en-US" smtClean="0"/>
              <a:pPr/>
              <a:t>7/25/2019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41920DF4-F128-45A2-B80C-AAC0D241EB4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3A0B85-C038-4E91-8DC9-FBFFE4E7680D}" type="datetimeFigureOut">
              <a:rPr lang="en-US" smtClean="0"/>
              <a:pPr/>
              <a:t>7/25/2019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41920DF4-F128-45A2-B80C-AAC0D241EB4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C43A0B85-C038-4E91-8DC9-FBFFE4E7680D}" type="datetimeFigureOut">
              <a:rPr lang="en-US" smtClean="0"/>
              <a:pPr/>
              <a:t>7/25/2019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1920DF4-F128-45A2-B80C-AAC0D241EB45}"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43A0B85-C038-4E91-8DC9-FBFFE4E7680D}" type="datetimeFigureOut">
              <a:rPr lang="en-US" smtClean="0"/>
              <a:pPr/>
              <a:t>7/25/2019</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1920DF4-F128-45A2-B80C-AAC0D241EB45}"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43A0B85-C038-4E91-8DC9-FBFFE4E7680D}" type="datetimeFigureOut">
              <a:rPr lang="en-US" smtClean="0"/>
              <a:pPr/>
              <a:t>7/25/2019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20DF4-F128-45A2-B80C-AAC0D241EB4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C43A0B85-C038-4E91-8DC9-FBFFE4E7680D}" type="datetimeFigureOut">
              <a:rPr lang="en-US" smtClean="0"/>
              <a:pPr/>
              <a:t>7/25/2019</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41920DF4-F128-45A2-B80C-AAC0D241EB4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C43A0B85-C038-4E91-8DC9-FBFFE4E7680D}" type="datetimeFigureOut">
              <a:rPr lang="en-US" smtClean="0"/>
              <a:pPr/>
              <a:t>7/25/2019</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41920DF4-F128-45A2-B80C-AAC0D241EB4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Data_warehouse" TargetMode="External"/><Relationship Id="rId2" Type="http://schemas.openxmlformats.org/officeDocument/2006/relationships/hyperlink" Target="https://en.wikipedia.org/wiki/Dimensional_modeling" TargetMode="External"/><Relationship Id="rId1" Type="http://schemas.openxmlformats.org/officeDocument/2006/relationships/slideLayout" Target="../slideLayouts/slideLayout2.xml"/><Relationship Id="rId5" Type="http://schemas.openxmlformats.org/officeDocument/2006/relationships/hyperlink" Target="https://en.wikipedia.org/wiki/Group_by" TargetMode="External"/><Relationship Id="rId4" Type="http://schemas.openxmlformats.org/officeDocument/2006/relationships/hyperlink" Target="https://en.wikipedia.org/wiki/Data_(comput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u="sng" dirty="0">
                <a:solidFill>
                  <a:srgbClr val="FF0000"/>
                </a:solidFill>
                <a:latin typeface="Algerian" pitchFamily="82" charset="0"/>
              </a:rPr>
              <a:t>DATAWAREHOUSE ASSIGNMENT</a:t>
            </a:r>
          </a:p>
        </p:txBody>
      </p:sp>
      <p:sp>
        <p:nvSpPr>
          <p:cNvPr id="3" name="Content Placeholder 2"/>
          <p:cNvSpPr>
            <a:spLocks noGrp="1"/>
          </p:cNvSpPr>
          <p:nvPr>
            <p:ph sz="quarter" idx="1"/>
          </p:nvPr>
        </p:nvSpPr>
        <p:spPr/>
        <p:txBody>
          <a:bodyPr numCol="1">
            <a:normAutofit/>
          </a:bodyPr>
          <a:lstStyle/>
          <a:p>
            <a:pPr algn="ctr">
              <a:buNone/>
            </a:pPr>
            <a:r>
              <a:rPr lang="en-US" sz="2800" u="sng" dirty="0">
                <a:solidFill>
                  <a:srgbClr val="FF0000"/>
                </a:solidFill>
                <a:latin typeface="Algerian" pitchFamily="82" charset="0"/>
              </a:rPr>
              <a:t>TOPIC – Travel and hospitality</a:t>
            </a:r>
          </a:p>
        </p:txBody>
      </p:sp>
      <p:graphicFrame>
        <p:nvGraphicFramePr>
          <p:cNvPr id="6" name="Table 5"/>
          <p:cNvGraphicFramePr>
            <a:graphicFrameLocks noGrp="1"/>
          </p:cNvGraphicFramePr>
          <p:nvPr>
            <p:extLst>
              <p:ext uri="{D42A27DB-BD31-4B8C-83A1-F6EECF244321}">
                <p14:modId xmlns:p14="http://schemas.microsoft.com/office/powerpoint/2010/main" val="3142838645"/>
              </p:ext>
            </p:extLst>
          </p:nvPr>
        </p:nvGraphicFramePr>
        <p:xfrm>
          <a:off x="1295400" y="2895598"/>
          <a:ext cx="6629400" cy="2384422"/>
        </p:xfrm>
        <a:graphic>
          <a:graphicData uri="http://schemas.openxmlformats.org/drawingml/2006/table">
            <a:tbl>
              <a:tblPr firstRow="1" bandRow="1">
                <a:tableStyleId>{21E4AEA4-8DFA-4A89-87EB-49C32662AFE0}</a:tableStyleId>
              </a:tblPr>
              <a:tblGrid>
                <a:gridCol w="2568893">
                  <a:extLst>
                    <a:ext uri="{9D8B030D-6E8A-4147-A177-3AD203B41FA5}">
                      <a16:colId xmlns:a16="http://schemas.microsoft.com/office/drawing/2014/main" val="20000"/>
                    </a:ext>
                  </a:extLst>
                </a:gridCol>
                <a:gridCol w="1983827">
                  <a:extLst>
                    <a:ext uri="{9D8B030D-6E8A-4147-A177-3AD203B41FA5}">
                      <a16:colId xmlns:a16="http://schemas.microsoft.com/office/drawing/2014/main" val="20001"/>
                    </a:ext>
                  </a:extLst>
                </a:gridCol>
                <a:gridCol w="2076680">
                  <a:extLst>
                    <a:ext uri="{9D8B030D-6E8A-4147-A177-3AD203B41FA5}">
                      <a16:colId xmlns:a16="http://schemas.microsoft.com/office/drawing/2014/main" val="20002"/>
                    </a:ext>
                  </a:extLst>
                </a:gridCol>
              </a:tblGrid>
              <a:tr h="374843">
                <a:tc>
                  <a:txBody>
                    <a:bodyPr/>
                    <a:lstStyle/>
                    <a:p>
                      <a:pPr algn="ctr"/>
                      <a:r>
                        <a:rPr lang="en-US" dirty="0"/>
                        <a:t>NAME</a:t>
                      </a:r>
                    </a:p>
                  </a:txBody>
                  <a:tcPr/>
                </a:tc>
                <a:tc>
                  <a:txBody>
                    <a:bodyPr/>
                    <a:lstStyle/>
                    <a:p>
                      <a:r>
                        <a:rPr lang="en-US" dirty="0"/>
                        <a:t>BITS ID</a:t>
                      </a:r>
                    </a:p>
                  </a:txBody>
                  <a:tcPr/>
                </a:tc>
                <a:tc>
                  <a:txBody>
                    <a:bodyPr/>
                    <a:lstStyle/>
                    <a:p>
                      <a:r>
                        <a:rPr lang="en-US" dirty="0"/>
                        <a:t>EMPLOYEE ID</a:t>
                      </a:r>
                    </a:p>
                  </a:txBody>
                  <a:tcPr/>
                </a:tc>
                <a:extLst>
                  <a:ext uri="{0D108BD9-81ED-4DB2-BD59-A6C34878D82A}">
                    <a16:rowId xmlns:a16="http://schemas.microsoft.com/office/drawing/2014/main" val="10000"/>
                  </a:ext>
                </a:extLst>
              </a:tr>
              <a:tr h="489379">
                <a:tc>
                  <a:txBody>
                    <a:bodyPr/>
                    <a:lstStyle/>
                    <a:p>
                      <a:r>
                        <a:rPr lang="en-US" dirty="0"/>
                        <a:t>Chetan</a:t>
                      </a:r>
                    </a:p>
                  </a:txBody>
                  <a:tcPr/>
                </a:tc>
                <a:tc>
                  <a:txBody>
                    <a:bodyPr/>
                    <a:lstStyle/>
                    <a:p>
                      <a:r>
                        <a:rPr lang="en-US" dirty="0"/>
                        <a:t>2017HW86656</a:t>
                      </a:r>
                    </a:p>
                  </a:txBody>
                  <a:tcPr/>
                </a:tc>
                <a:tc>
                  <a:txBody>
                    <a:bodyPr/>
                    <a:lstStyle/>
                    <a:p>
                      <a:r>
                        <a:rPr lang="en-US" dirty="0"/>
                        <a:t>954245</a:t>
                      </a:r>
                    </a:p>
                  </a:txBody>
                  <a:tcPr/>
                </a:tc>
                <a:extLst>
                  <a:ext uri="{0D108BD9-81ED-4DB2-BD59-A6C34878D82A}">
                    <a16:rowId xmlns:a16="http://schemas.microsoft.com/office/drawing/2014/main" val="10001"/>
                  </a:ext>
                </a:extLst>
              </a:tr>
              <a:tr h="380050">
                <a:tc>
                  <a:txBody>
                    <a:bodyPr/>
                    <a:lstStyle/>
                    <a:p>
                      <a:r>
                        <a:rPr lang="en-US" dirty="0"/>
                        <a:t>Chanchal </a:t>
                      </a:r>
                    </a:p>
                  </a:txBody>
                  <a:tcPr/>
                </a:tc>
                <a:tc>
                  <a:txBody>
                    <a:bodyPr/>
                    <a:lstStyle/>
                    <a:p>
                      <a:pPr algn="l" fontAlgn="b"/>
                      <a:r>
                        <a:rPr lang="en-US" sz="1800" b="0" i="0" u="none" strike="noStrike" dirty="0">
                          <a:solidFill>
                            <a:srgbClr val="000000"/>
                          </a:solidFill>
                          <a:effectLst/>
                          <a:latin typeface="+mj-lt"/>
                        </a:rPr>
                        <a:t> 2017HW86716</a:t>
                      </a:r>
                    </a:p>
                  </a:txBody>
                  <a:tcPr marL="9525" marR="9525" marT="9525" marB="0" anchor="b"/>
                </a:tc>
                <a:tc>
                  <a:txBody>
                    <a:bodyPr/>
                    <a:lstStyle/>
                    <a:p>
                      <a:endParaRPr lang="en-US" dirty="0"/>
                    </a:p>
                  </a:txBody>
                  <a:tcPr/>
                </a:tc>
                <a:extLst>
                  <a:ext uri="{0D108BD9-81ED-4DB2-BD59-A6C34878D82A}">
                    <a16:rowId xmlns:a16="http://schemas.microsoft.com/office/drawing/2014/main" val="10002"/>
                  </a:ext>
                </a:extLst>
              </a:tr>
              <a:tr h="380050">
                <a:tc>
                  <a:txBody>
                    <a:bodyPr/>
                    <a:lstStyle/>
                    <a:p>
                      <a:r>
                        <a:rPr lang="en-US" dirty="0"/>
                        <a:t>Ashutosh</a:t>
                      </a:r>
                    </a:p>
                  </a:txBody>
                  <a:tcPr/>
                </a:tc>
                <a:tc>
                  <a:txBody>
                    <a:bodyPr/>
                    <a:lstStyle/>
                    <a:p>
                      <a:r>
                        <a:rPr lang="en-US" dirty="0"/>
                        <a:t>2017HW86512</a:t>
                      </a:r>
                    </a:p>
                  </a:txBody>
                  <a:tcPr/>
                </a:tc>
                <a:tc>
                  <a:txBody>
                    <a:bodyPr/>
                    <a:lstStyle/>
                    <a:p>
                      <a:endParaRPr lang="en-US" dirty="0"/>
                    </a:p>
                  </a:txBody>
                  <a:tcPr/>
                </a:tc>
                <a:extLst>
                  <a:ext uri="{0D108BD9-81ED-4DB2-BD59-A6C34878D82A}">
                    <a16:rowId xmlns:a16="http://schemas.microsoft.com/office/drawing/2014/main" val="10003"/>
                  </a:ext>
                </a:extLst>
              </a:tr>
              <a:tr h="380050">
                <a:tc>
                  <a:txBody>
                    <a:bodyPr/>
                    <a:lstStyle/>
                    <a:p>
                      <a:r>
                        <a:rPr lang="en-US" dirty="0"/>
                        <a:t>Pratibha</a:t>
                      </a:r>
                    </a:p>
                  </a:txBody>
                  <a:tcPr/>
                </a:tc>
                <a:tc>
                  <a:txBody>
                    <a:bodyPr/>
                    <a:lstStyle/>
                    <a:p>
                      <a:r>
                        <a:rPr lang="en-US" dirty="0"/>
                        <a:t>2017HW86771</a:t>
                      </a:r>
                    </a:p>
                  </a:txBody>
                  <a:tcPr/>
                </a:tc>
                <a:tc>
                  <a:txBody>
                    <a:bodyPr/>
                    <a:lstStyle/>
                    <a:p>
                      <a:endParaRPr lang="en-US" dirty="0"/>
                    </a:p>
                  </a:txBody>
                  <a:tcPr/>
                </a:tc>
                <a:extLst>
                  <a:ext uri="{0D108BD9-81ED-4DB2-BD59-A6C34878D82A}">
                    <a16:rowId xmlns:a16="http://schemas.microsoft.com/office/drawing/2014/main" val="10004"/>
                  </a:ext>
                </a:extLst>
              </a:tr>
              <a:tr h="380050">
                <a:tc>
                  <a:txBody>
                    <a:bodyPr/>
                    <a:lstStyle/>
                    <a:p>
                      <a:r>
                        <a:rPr lang="en-US" dirty="0"/>
                        <a:t>Urvashi</a:t>
                      </a:r>
                    </a:p>
                  </a:txBody>
                  <a:tcPr/>
                </a:tc>
                <a:tc>
                  <a:txBody>
                    <a:bodyPr/>
                    <a:lstStyle/>
                    <a:p>
                      <a:r>
                        <a:rPr lang="en-US" dirty="0"/>
                        <a:t>2017HW86739</a:t>
                      </a:r>
                    </a:p>
                  </a:txBody>
                  <a:tcPr/>
                </a:tc>
                <a:tc>
                  <a:txBody>
                    <a:bodyPr/>
                    <a:lstStyle/>
                    <a:p>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b="1" dirty="0">
                <a:solidFill>
                  <a:schemeClr val="accent1"/>
                </a:solidFill>
                <a:latin typeface="Algerian" pitchFamily="82" charset="0"/>
              </a:rPr>
              <a:t>INTRODUCTION :</a:t>
            </a:r>
            <a:br>
              <a:rPr lang="en-US" sz="4800" dirty="0"/>
            </a:br>
            <a:endParaRPr lang="en-US" sz="4800" dirty="0"/>
          </a:p>
        </p:txBody>
      </p:sp>
      <p:sp>
        <p:nvSpPr>
          <p:cNvPr id="3" name="Content Placeholder 2"/>
          <p:cNvSpPr>
            <a:spLocks noGrp="1"/>
          </p:cNvSpPr>
          <p:nvPr>
            <p:ph sz="quarter" idx="1"/>
          </p:nvPr>
        </p:nvSpPr>
        <p:spPr/>
        <p:txBody>
          <a:bodyPr>
            <a:normAutofit fontScale="55000" lnSpcReduction="20000"/>
          </a:bodyPr>
          <a:lstStyle/>
          <a:p>
            <a:r>
              <a:rPr lang="en-US" sz="3200" dirty="0"/>
              <a:t> Hotel business process involves Big Data Warehouse (BDW), in order to be used by the analytical components in a context of Business Intelligence (BI) and support the different kinds of management in a hotel business. In addition, in a BDW some tasks must be performed: (</a:t>
            </a:r>
            <a:r>
              <a:rPr lang="en-US" sz="3200" dirty="0" err="1"/>
              <a:t>i</a:t>
            </a:r>
            <a:r>
              <a:rPr lang="en-US" sz="3200" dirty="0"/>
              <a:t>) integration of the information collected from different internet sources. (ii) Update and maintenance of the new information gathered from the internet (once the information about accommodation is constantly changing), e.g., the rooms prices or the promotions offered in according with the customer profile. (iii) Maintenance of the historical data, which will be relevant to the hotel big data analytics, in order to achieve the business intelligence systems </a:t>
            </a:r>
            <a:r>
              <a:rPr lang="en-US" sz="3200" dirty="0" err="1"/>
              <a:t>requirements.Dimensional</a:t>
            </a:r>
            <a:r>
              <a:rPr lang="en-US" sz="3200" dirty="0"/>
              <a:t> modeling is a data warehouse design technique that uses a data structure similar to the easily understood entity-relationship (ER) model but is sophisticated in that it supports high-performance data access. Dimensional modeling refers to the process of designing the structure of a data warehouse through illustrations that show relationships between data tables. An example of dimensional modeling, also known as “star </a:t>
            </a:r>
            <a:r>
              <a:rPr lang="en-US" sz="3200" dirty="0" err="1"/>
              <a:t>schema”.Hotel</a:t>
            </a:r>
            <a:r>
              <a:rPr lang="en-US" sz="3200" dirty="0"/>
              <a:t> is well behind in the area of data warehouse management and decision support and needs to move forward in this direction.</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t>
            </a:r>
            <a:r>
              <a:rPr lang="en-US" sz="4000" b="1" dirty="0">
                <a:solidFill>
                  <a:schemeClr val="accent1"/>
                </a:solidFill>
                <a:latin typeface="Algerian" pitchFamily="82" charset="0"/>
              </a:rPr>
              <a:t>Business processes of interest to senior management </a:t>
            </a:r>
            <a:endParaRPr lang="en-US" sz="4000" dirty="0">
              <a:solidFill>
                <a:schemeClr val="accent1"/>
              </a:solidFill>
              <a:latin typeface="Algerian" pitchFamily="82" charset="0"/>
            </a:endParaRPr>
          </a:p>
        </p:txBody>
      </p:sp>
      <p:sp>
        <p:nvSpPr>
          <p:cNvPr id="3" name="Content Placeholder 2"/>
          <p:cNvSpPr>
            <a:spLocks noGrp="1"/>
          </p:cNvSpPr>
          <p:nvPr>
            <p:ph sz="quarter" idx="1"/>
          </p:nvPr>
        </p:nvSpPr>
        <p:spPr/>
        <p:txBody>
          <a:bodyPr>
            <a:normAutofit fontScale="62500" lnSpcReduction="20000"/>
          </a:bodyPr>
          <a:lstStyle/>
          <a:p>
            <a:pPr>
              <a:buNone/>
            </a:pPr>
            <a:endParaRPr lang="en-US" dirty="0"/>
          </a:p>
          <a:p>
            <a:pPr lvl="0"/>
            <a:r>
              <a:rPr lang="en-US" dirty="0"/>
              <a:t>This framework will encourage hotel and lodging enterprises to see their activities from a cross-industry process viewpoint instead of a narrow functional viewpoint. </a:t>
            </a:r>
          </a:p>
          <a:p>
            <a:pPr lvl="0"/>
            <a:r>
              <a:rPr lang="en-US" dirty="0"/>
              <a:t>The transformation of a hotel organization towards a business process management system with horizontal or process management point out the need to leave functional organizational in a hotel, and directs attention of its managers to different types of business processes: operating processes, management processes and support processes.</a:t>
            </a:r>
          </a:p>
          <a:p>
            <a:pPr lvl="0"/>
            <a:r>
              <a:rPr lang="en-US" dirty="0"/>
              <a:t>The proposed framework for operating processes are very useful for hotel managers , since they point out the relevance of more consistent application of business process management system in day-to-day business activities with the aim of effective decision-making</a:t>
            </a:r>
          </a:p>
          <a:p>
            <a:pPr lvl="0"/>
            <a:r>
              <a:rPr lang="en-US" dirty="0"/>
              <a:t>Business processes are one of the important elements of hotel management system. If they are not developed, documented and implemented, we can fairly ask whether the hotel management system is capable of meeting requests of interested parties, primarily hotel guests.</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a:solidFill>
                  <a:schemeClr val="accent1"/>
                </a:solidFill>
                <a:latin typeface="Algerian" pitchFamily="82" charset="0"/>
              </a:rPr>
              <a:t>Questions that would be raised for process/profitability/operations improvement</a:t>
            </a:r>
            <a:endParaRPr lang="en-US" sz="2400" dirty="0">
              <a:solidFill>
                <a:schemeClr val="accent1"/>
              </a:solidFill>
              <a:latin typeface="Algerian" pitchFamily="82" charset="0"/>
            </a:endParaRPr>
          </a:p>
        </p:txBody>
      </p:sp>
      <p:sp>
        <p:nvSpPr>
          <p:cNvPr id="3" name="Content Placeholder 2"/>
          <p:cNvSpPr>
            <a:spLocks noGrp="1"/>
          </p:cNvSpPr>
          <p:nvPr>
            <p:ph sz="quarter" idx="1"/>
          </p:nvPr>
        </p:nvSpPr>
        <p:spPr/>
        <p:txBody>
          <a:bodyPr>
            <a:normAutofit fontScale="55000" lnSpcReduction="20000"/>
          </a:bodyPr>
          <a:lstStyle/>
          <a:p>
            <a:pPr lvl="0"/>
            <a:r>
              <a:rPr lang="en-US" dirty="0"/>
              <a:t>Four key operating processes in the hotel are: 1) the process of hotel housekeeping, 2) the process of supplying necessary inputs, 3) the process of guests arrivals and departures and 4) the process of producing and serving food and beverage.</a:t>
            </a:r>
          </a:p>
          <a:p>
            <a:pPr lvl="0"/>
            <a:r>
              <a:rPr lang="en-US" dirty="0"/>
              <a:t> Supporting processes are: understand markets and services, develop vision and strategy, design hotel products and services and market and sell. Understand markets and services comprised of three activities: determine customer needs and wants, measure customer satisfaction and monitor changes in market or customer expectations. </a:t>
            </a:r>
          </a:p>
          <a:p>
            <a:pPr lvl="0"/>
            <a:r>
              <a:rPr lang="en-US" dirty="0"/>
              <a:t>Main activities within a process of develop vision and strategy are: monitor the external environment, define business concept and organizational strategy, design the organizational structure and relationships between organizational units and develop and set organizational goals.</a:t>
            </a:r>
          </a:p>
          <a:p>
            <a:r>
              <a:rPr lang="en-US" dirty="0"/>
              <a:t> Design products and services activities are: develop new product/service concept and plans, design, build and evaluate prototype products and services, refine existing products/services, test effectiveness of new or revised products or services, prepare for production and manage the product/ service development process. And, the last support process is market and sell, which comprised of next activities: market product or services to relevant customer segments and process customer orders.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latin typeface="Algerian" pitchFamily="82" charset="0"/>
              </a:rPr>
              <a:t>DW Architecture</a:t>
            </a:r>
          </a:p>
        </p:txBody>
      </p:sp>
      <p:pic>
        <p:nvPicPr>
          <p:cNvPr id="1026" name="Picture 2"/>
          <p:cNvPicPr>
            <a:picLocks noGrp="1" noChangeAspect="1" noChangeArrowheads="1"/>
          </p:cNvPicPr>
          <p:nvPr>
            <p:ph sz="quarter" idx="1"/>
          </p:nvPr>
        </p:nvPicPr>
        <p:blipFill>
          <a:blip r:embed="rId2" cstate="print"/>
          <a:stretch>
            <a:fillRect/>
          </a:stretch>
        </p:blipFill>
        <p:spPr bwMode="auto">
          <a:xfrm>
            <a:off x="612775" y="1882874"/>
            <a:ext cx="8153400" cy="3930451"/>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latin typeface="Algerian" pitchFamily="82" charset="0"/>
              </a:rPr>
              <a:t>EXPLANATION</a:t>
            </a:r>
            <a:r>
              <a:rPr lang="en-US" dirty="0"/>
              <a:t> </a:t>
            </a:r>
          </a:p>
        </p:txBody>
      </p:sp>
      <p:sp>
        <p:nvSpPr>
          <p:cNvPr id="3" name="Content Placeholder 2"/>
          <p:cNvSpPr>
            <a:spLocks noGrp="1"/>
          </p:cNvSpPr>
          <p:nvPr>
            <p:ph sz="quarter" idx="1"/>
          </p:nvPr>
        </p:nvSpPr>
        <p:spPr/>
        <p:txBody>
          <a:bodyPr>
            <a:normAutofit fontScale="32500" lnSpcReduction="20000"/>
          </a:bodyPr>
          <a:lstStyle/>
          <a:p>
            <a:pPr marL="285750" indent="-285750"/>
            <a:r>
              <a:rPr lang="en-US" sz="5200" dirty="0"/>
              <a:t>In </a:t>
            </a:r>
            <a:r>
              <a:rPr lang="en-US" sz="5200" dirty="0" err="1"/>
              <a:t>dataware</a:t>
            </a:r>
            <a:r>
              <a:rPr lang="en-US" sz="5200" dirty="0"/>
              <a:t> house architecture, data is collected from different so and then various </a:t>
            </a:r>
            <a:r>
              <a:rPr lang="en-US" sz="5200" dirty="0" err="1"/>
              <a:t>opeartions</a:t>
            </a:r>
            <a:r>
              <a:rPr lang="en-US" sz="5200" dirty="0"/>
              <a:t> are applied on it.</a:t>
            </a:r>
          </a:p>
          <a:p>
            <a:pPr marL="285750" indent="-285750"/>
            <a:r>
              <a:rPr lang="en-US" sz="5200" dirty="0"/>
              <a:t>The data sourcing, transformation, and migration tools are used for performing all the conversions, summarizations, and all the changes needed to transform data into a unified format in the </a:t>
            </a:r>
            <a:r>
              <a:rPr lang="en-US" sz="5200" dirty="0" err="1"/>
              <a:t>dataware</a:t>
            </a:r>
            <a:r>
              <a:rPr lang="en-US" sz="5200" dirty="0"/>
              <a:t> house. They are also called Extract, Transform and Load (ETL) Tools.</a:t>
            </a:r>
          </a:p>
          <a:p>
            <a:pPr marL="285750" indent="-285750"/>
            <a:r>
              <a:rPr lang="en-US" sz="5200" dirty="0"/>
              <a:t>The name Meta Data suggests some high- level technological concept. However, it is quite simple. Metadata is data about data which defines the data warehouse. It is used for building, maintaining and managing the data warehouse. </a:t>
            </a:r>
          </a:p>
          <a:p>
            <a:pPr marL="285750" indent="-285750"/>
            <a:r>
              <a:rPr lang="en-US" sz="5200" dirty="0"/>
              <a:t>In the Data Warehouse Architecture, meta-data plays an important role as it specifies the source, usage, values, and features of data warehouse data. It also defines how data can be changed and processed. It is closely connected to the data warehouse.</a:t>
            </a:r>
          </a:p>
          <a:p>
            <a:pPr marL="285750" indent="-285750"/>
            <a:r>
              <a:rPr lang="en-US" sz="5200" dirty="0"/>
              <a:t>One of the primary objects of data warehousing is to provide information to businesses to make strategic decisions. Query tools allow users to interact with the data warehouse system.</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66468" y="2590800"/>
            <a:ext cx="155448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Hotel</a:t>
            </a:r>
          </a:p>
        </p:txBody>
      </p:sp>
      <p:sp>
        <p:nvSpPr>
          <p:cNvPr id="3" name="Flowchart: Connector 2"/>
          <p:cNvSpPr/>
          <p:nvPr/>
        </p:nvSpPr>
        <p:spPr>
          <a:xfrm>
            <a:off x="762000" y="20574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p:cNvCxnSpPr>
            <a:stCxn id="3" idx="4"/>
          </p:cNvCxnSpPr>
          <p:nvPr/>
        </p:nvCxnSpPr>
        <p:spPr>
          <a:xfrm rot="5400000">
            <a:off x="647700" y="24003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a:endCxn id="3" idx="0"/>
          </p:cNvCxnSpPr>
          <p:nvPr/>
        </p:nvCxnSpPr>
        <p:spPr>
          <a:xfrm rot="5400000">
            <a:off x="571500" y="1790700"/>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152400" y="1143000"/>
            <a:ext cx="15240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Address</a:t>
            </a:r>
          </a:p>
        </p:txBody>
      </p:sp>
      <p:cxnSp>
        <p:nvCxnSpPr>
          <p:cNvPr id="7" name="Straight Connector 6"/>
          <p:cNvCxnSpPr/>
          <p:nvPr/>
        </p:nvCxnSpPr>
        <p:spPr>
          <a:xfrm>
            <a:off x="609600" y="1828800"/>
            <a:ext cx="381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8" name="Flowchart: Connector 7"/>
          <p:cNvSpPr/>
          <p:nvPr/>
        </p:nvSpPr>
        <p:spPr>
          <a:xfrm>
            <a:off x="1981200" y="12954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1600200" y="1371600"/>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12" idx="1"/>
            <a:endCxn id="11" idx="6"/>
          </p:cNvCxnSpPr>
          <p:nvPr/>
        </p:nvCxnSpPr>
        <p:spPr>
          <a:xfrm rot="10800000">
            <a:off x="2362200" y="1371600"/>
            <a:ext cx="609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Flowchart: Connector 10"/>
          <p:cNvSpPr/>
          <p:nvPr/>
        </p:nvSpPr>
        <p:spPr>
          <a:xfrm>
            <a:off x="2209800" y="12954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2971800" y="1143000"/>
            <a:ext cx="13716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Guests</a:t>
            </a:r>
          </a:p>
        </p:txBody>
      </p:sp>
      <p:cxnSp>
        <p:nvCxnSpPr>
          <p:cNvPr id="13" name="Straight Connector 12"/>
          <p:cNvCxnSpPr>
            <a:stCxn id="12" idx="3"/>
          </p:cNvCxnSpPr>
          <p:nvPr/>
        </p:nvCxnSpPr>
        <p:spPr>
          <a:xfrm>
            <a:off x="4343400" y="1371600"/>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a:off x="4495800" y="1371600"/>
            <a:ext cx="305594" cy="794"/>
          </a:xfrm>
          <a:prstGeom prst="line">
            <a:avLst/>
          </a:prstGeom>
        </p:spPr>
        <p:style>
          <a:lnRef idx="1">
            <a:schemeClr val="accent1"/>
          </a:lnRef>
          <a:fillRef idx="0">
            <a:schemeClr val="accent1"/>
          </a:fillRef>
          <a:effectRef idx="0">
            <a:schemeClr val="accent1"/>
          </a:effectRef>
          <a:fontRef idx="minor">
            <a:schemeClr val="tx1"/>
          </a:fontRef>
        </p:style>
      </p:cxnSp>
      <p:sp>
        <p:nvSpPr>
          <p:cNvPr id="15" name="Flowchart: Connector 14"/>
          <p:cNvSpPr/>
          <p:nvPr/>
        </p:nvSpPr>
        <p:spPr>
          <a:xfrm>
            <a:off x="4876800" y="12954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a:stCxn id="20" idx="1"/>
            <a:endCxn id="15" idx="0"/>
          </p:cNvCxnSpPr>
          <p:nvPr/>
        </p:nvCxnSpPr>
        <p:spPr>
          <a:xfrm rot="10800000">
            <a:off x="4953000" y="1295400"/>
            <a:ext cx="6858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5029200" y="1371600"/>
            <a:ext cx="6858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15" idx="1"/>
          </p:cNvCxnSpPr>
          <p:nvPr/>
        </p:nvCxnSpPr>
        <p:spPr>
          <a:xfrm rot="10800000" flipV="1">
            <a:off x="4899118" y="1144588"/>
            <a:ext cx="739682" cy="173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endCxn id="12" idx="2"/>
          </p:cNvCxnSpPr>
          <p:nvPr/>
        </p:nvCxnSpPr>
        <p:spPr>
          <a:xfrm rot="5400000" flipH="1" flipV="1">
            <a:off x="3276600" y="1981200"/>
            <a:ext cx="762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a:off x="5638800" y="990600"/>
            <a:ext cx="28956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Payment_Mode</a:t>
            </a:r>
            <a:endParaRPr lang="en-US" sz="2400" dirty="0"/>
          </a:p>
        </p:txBody>
      </p:sp>
      <p:cxnSp>
        <p:nvCxnSpPr>
          <p:cNvPr id="21" name="Straight Connector 20"/>
          <p:cNvCxnSpPr/>
          <p:nvPr/>
        </p:nvCxnSpPr>
        <p:spPr>
          <a:xfrm>
            <a:off x="3429000" y="1752600"/>
            <a:ext cx="381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2" name="Flowchart: Connector 21"/>
          <p:cNvSpPr/>
          <p:nvPr/>
        </p:nvSpPr>
        <p:spPr>
          <a:xfrm>
            <a:off x="3581400" y="20574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rot="5400000">
            <a:off x="3467894" y="2323306"/>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3238500" y="2171700"/>
            <a:ext cx="403318" cy="327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3657600" y="2209800"/>
            <a:ext cx="403318" cy="250918"/>
          </a:xfrm>
          <a:prstGeom prst="line">
            <a:avLst/>
          </a:prstGeom>
        </p:spPr>
        <p:style>
          <a:lnRef idx="1">
            <a:schemeClr val="accent1"/>
          </a:lnRef>
          <a:fillRef idx="0">
            <a:schemeClr val="accent1"/>
          </a:fillRef>
          <a:effectRef idx="0">
            <a:schemeClr val="accent1"/>
          </a:effectRef>
          <a:fontRef idx="minor">
            <a:schemeClr val="tx1"/>
          </a:fontRef>
        </p:style>
      </p:cxnSp>
      <p:sp>
        <p:nvSpPr>
          <p:cNvPr id="26" name="Rounded Rectangle 25"/>
          <p:cNvSpPr/>
          <p:nvPr/>
        </p:nvSpPr>
        <p:spPr>
          <a:xfrm>
            <a:off x="2590800" y="2514600"/>
            <a:ext cx="3200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Hotel_Reservations</a:t>
            </a:r>
            <a:endParaRPr lang="en-US" sz="2400" dirty="0"/>
          </a:p>
        </p:txBody>
      </p:sp>
      <p:cxnSp>
        <p:nvCxnSpPr>
          <p:cNvPr id="27" name="Straight Connector 26"/>
          <p:cNvCxnSpPr/>
          <p:nvPr/>
        </p:nvCxnSpPr>
        <p:spPr>
          <a:xfrm rot="10800000" flipV="1">
            <a:off x="2286000" y="1143000"/>
            <a:ext cx="838200" cy="150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endCxn id="11" idx="5"/>
          </p:cNvCxnSpPr>
          <p:nvPr/>
        </p:nvCxnSpPr>
        <p:spPr>
          <a:xfrm rot="10800000">
            <a:off x="2339882" y="1425482"/>
            <a:ext cx="708118" cy="985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32" idx="7"/>
          </p:cNvCxnSpPr>
          <p:nvPr/>
        </p:nvCxnSpPr>
        <p:spPr>
          <a:xfrm rot="16200000" flipV="1">
            <a:off x="5883182" y="2346418"/>
            <a:ext cx="98518" cy="587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32" idx="6"/>
          </p:cNvCxnSpPr>
          <p:nvPr/>
        </p:nvCxnSpPr>
        <p:spPr>
          <a:xfrm flipH="1">
            <a:off x="5486400" y="2743200"/>
            <a:ext cx="762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0800000" flipV="1">
            <a:off x="5562600" y="2743200"/>
            <a:ext cx="609600" cy="228600"/>
          </a:xfrm>
          <a:prstGeom prst="line">
            <a:avLst/>
          </a:prstGeom>
        </p:spPr>
        <p:style>
          <a:lnRef idx="1">
            <a:schemeClr val="accent1"/>
          </a:lnRef>
          <a:fillRef idx="0">
            <a:schemeClr val="accent1"/>
          </a:fillRef>
          <a:effectRef idx="0">
            <a:schemeClr val="accent1"/>
          </a:effectRef>
          <a:fontRef idx="minor">
            <a:schemeClr val="tx1"/>
          </a:fontRef>
        </p:style>
      </p:cxnSp>
      <p:sp>
        <p:nvSpPr>
          <p:cNvPr id="32" name="Flowchart: Connector 31"/>
          <p:cNvSpPr/>
          <p:nvPr/>
        </p:nvSpPr>
        <p:spPr>
          <a:xfrm>
            <a:off x="6096000" y="26670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p:cNvSpPr/>
          <p:nvPr/>
        </p:nvSpPr>
        <p:spPr>
          <a:xfrm>
            <a:off x="6400800" y="26670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a:off x="6553200" y="2743200"/>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7086600" y="2438400"/>
            <a:ext cx="19050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Staff</a:t>
            </a:r>
          </a:p>
        </p:txBody>
      </p:sp>
      <p:cxnSp>
        <p:nvCxnSpPr>
          <p:cNvPr id="36" name="Straight Connector 35"/>
          <p:cNvCxnSpPr/>
          <p:nvPr/>
        </p:nvCxnSpPr>
        <p:spPr>
          <a:xfrm>
            <a:off x="1676400" y="2819400"/>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a:off x="1752600" y="2819400"/>
            <a:ext cx="305594" cy="794"/>
          </a:xfrm>
          <a:prstGeom prst="line">
            <a:avLst/>
          </a:prstGeom>
        </p:spPr>
        <p:style>
          <a:lnRef idx="1">
            <a:schemeClr val="accent1"/>
          </a:lnRef>
          <a:fillRef idx="0">
            <a:schemeClr val="accent1"/>
          </a:fillRef>
          <a:effectRef idx="0">
            <a:schemeClr val="accent1"/>
          </a:effectRef>
          <a:fontRef idx="minor">
            <a:schemeClr val="tx1"/>
          </a:fontRef>
        </p:style>
      </p:cxnSp>
      <p:sp>
        <p:nvSpPr>
          <p:cNvPr id="38" name="Flowchart: Connector 37"/>
          <p:cNvSpPr/>
          <p:nvPr/>
        </p:nvSpPr>
        <p:spPr>
          <a:xfrm>
            <a:off x="2133600" y="27432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p:nvPr/>
        </p:nvCxnSpPr>
        <p:spPr>
          <a:xfrm rot="10800000" flipV="1">
            <a:off x="2209800" y="2590800"/>
            <a:ext cx="838200" cy="1508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0800000">
            <a:off x="2209800" y="2819400"/>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38" idx="5"/>
          </p:cNvCxnSpPr>
          <p:nvPr/>
        </p:nvCxnSpPr>
        <p:spPr>
          <a:xfrm rot="10800000">
            <a:off x="2263682" y="2873282"/>
            <a:ext cx="327118" cy="9851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572294" y="3390106"/>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09600" y="3276600"/>
            <a:ext cx="381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4" name="Flowchart: Connector 43"/>
          <p:cNvSpPr/>
          <p:nvPr/>
        </p:nvSpPr>
        <p:spPr>
          <a:xfrm>
            <a:off x="762000" y="35814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p:cNvCxnSpPr/>
          <p:nvPr/>
        </p:nvCxnSpPr>
        <p:spPr>
          <a:xfrm rot="5400000">
            <a:off x="419100" y="3695700"/>
            <a:ext cx="403318" cy="327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534194" y="3885406"/>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4" idx="5"/>
          </p:cNvCxnSpPr>
          <p:nvPr/>
        </p:nvCxnSpPr>
        <p:spPr>
          <a:xfrm rot="16200000" flipH="1">
            <a:off x="892082" y="3711482"/>
            <a:ext cx="403318" cy="403318"/>
          </a:xfrm>
          <a:prstGeom prst="line">
            <a:avLst/>
          </a:prstGeom>
        </p:spPr>
        <p:style>
          <a:lnRef idx="1">
            <a:schemeClr val="accent1"/>
          </a:lnRef>
          <a:fillRef idx="0">
            <a:schemeClr val="accent1"/>
          </a:fillRef>
          <a:effectRef idx="0">
            <a:schemeClr val="accent1"/>
          </a:effectRef>
          <a:fontRef idx="minor">
            <a:schemeClr val="tx1"/>
          </a:fontRef>
        </p:style>
      </p:cxnSp>
      <p:sp>
        <p:nvSpPr>
          <p:cNvPr id="48" name="Rounded Rectangle 47"/>
          <p:cNvSpPr/>
          <p:nvPr/>
        </p:nvSpPr>
        <p:spPr>
          <a:xfrm>
            <a:off x="228600" y="4038600"/>
            <a:ext cx="17526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Rooms</a:t>
            </a:r>
          </a:p>
        </p:txBody>
      </p:sp>
      <p:cxnSp>
        <p:nvCxnSpPr>
          <p:cNvPr id="49" name="Straight Connector 48"/>
          <p:cNvCxnSpPr/>
          <p:nvPr/>
        </p:nvCxnSpPr>
        <p:spPr>
          <a:xfrm>
            <a:off x="1676400" y="4343400"/>
            <a:ext cx="685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752600" y="4343400"/>
            <a:ext cx="305594" cy="794"/>
          </a:xfrm>
          <a:prstGeom prst="line">
            <a:avLst/>
          </a:prstGeom>
        </p:spPr>
        <p:style>
          <a:lnRef idx="1">
            <a:schemeClr val="accent1"/>
          </a:lnRef>
          <a:fillRef idx="0">
            <a:schemeClr val="accent1"/>
          </a:fillRef>
          <a:effectRef idx="0">
            <a:schemeClr val="accent1"/>
          </a:effectRef>
          <a:fontRef idx="minor">
            <a:schemeClr val="tx1"/>
          </a:fontRef>
        </p:style>
      </p:cxnSp>
      <p:sp>
        <p:nvSpPr>
          <p:cNvPr id="51" name="Flowchart: Connector 50"/>
          <p:cNvSpPr/>
          <p:nvPr/>
        </p:nvSpPr>
        <p:spPr>
          <a:xfrm>
            <a:off x="2209800" y="42672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p:cNvCxnSpPr>
            <a:endCxn id="51" idx="7"/>
          </p:cNvCxnSpPr>
          <p:nvPr/>
        </p:nvCxnSpPr>
        <p:spPr>
          <a:xfrm rot="10800000" flipV="1">
            <a:off x="2339882" y="4191000"/>
            <a:ext cx="479518" cy="98518"/>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55" idx="1"/>
          </p:cNvCxnSpPr>
          <p:nvPr/>
        </p:nvCxnSpPr>
        <p:spPr>
          <a:xfrm rot="10800000">
            <a:off x="2362200" y="4341812"/>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endCxn id="51" idx="5"/>
          </p:cNvCxnSpPr>
          <p:nvPr/>
        </p:nvCxnSpPr>
        <p:spPr>
          <a:xfrm rot="10800000">
            <a:off x="2339882" y="4397282"/>
            <a:ext cx="479518" cy="174718"/>
          </a:xfrm>
          <a:prstGeom prst="line">
            <a:avLst/>
          </a:prstGeom>
        </p:spPr>
        <p:style>
          <a:lnRef idx="1">
            <a:schemeClr val="accent1"/>
          </a:lnRef>
          <a:fillRef idx="0">
            <a:schemeClr val="accent1"/>
          </a:fillRef>
          <a:effectRef idx="0">
            <a:schemeClr val="accent1"/>
          </a:effectRef>
          <a:fontRef idx="minor">
            <a:schemeClr val="tx1"/>
          </a:fontRef>
        </p:style>
      </p:cxnSp>
      <p:sp>
        <p:nvSpPr>
          <p:cNvPr id="55" name="Rounded Rectangle 54"/>
          <p:cNvSpPr/>
          <p:nvPr/>
        </p:nvSpPr>
        <p:spPr>
          <a:xfrm>
            <a:off x="2819400" y="3886200"/>
            <a:ext cx="27432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Reserved_Room</a:t>
            </a:r>
            <a:endParaRPr lang="en-US" sz="2400" dirty="0"/>
          </a:p>
        </p:txBody>
      </p:sp>
      <p:cxnSp>
        <p:nvCxnSpPr>
          <p:cNvPr id="56" name="Straight Connector 55"/>
          <p:cNvCxnSpPr/>
          <p:nvPr/>
        </p:nvCxnSpPr>
        <p:spPr>
          <a:xfrm rot="5400000" flipH="1" flipV="1">
            <a:off x="3391694" y="3466306"/>
            <a:ext cx="838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581400" y="3276600"/>
            <a:ext cx="381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58" name="Flowchart: Connector 57"/>
          <p:cNvSpPr/>
          <p:nvPr/>
        </p:nvSpPr>
        <p:spPr>
          <a:xfrm>
            <a:off x="3733800" y="35052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a:stCxn id="58" idx="3"/>
          </p:cNvCxnSpPr>
          <p:nvPr/>
        </p:nvCxnSpPr>
        <p:spPr>
          <a:xfrm rot="5400000">
            <a:off x="3543300" y="3673382"/>
            <a:ext cx="250918" cy="174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58" idx="1"/>
          </p:cNvCxnSpPr>
          <p:nvPr/>
        </p:nvCxnSpPr>
        <p:spPr>
          <a:xfrm rot="16200000" flipH="1">
            <a:off x="3718018" y="3565618"/>
            <a:ext cx="358682" cy="282482"/>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304800" y="304800"/>
            <a:ext cx="8229600" cy="400110"/>
          </a:xfrm>
          <a:prstGeom prst="rect">
            <a:avLst/>
          </a:prstGeom>
          <a:noFill/>
        </p:spPr>
        <p:txBody>
          <a:bodyPr wrap="square" rtlCol="0">
            <a:spAutoFit/>
          </a:bodyPr>
          <a:lstStyle/>
          <a:p>
            <a:r>
              <a:rPr lang="en-US" sz="2000" dirty="0">
                <a:solidFill>
                  <a:schemeClr val="accent1"/>
                </a:solidFill>
                <a:latin typeface="Algerian" pitchFamily="82" charset="0"/>
              </a:rPr>
              <a:t>DW schema(below diagram is 3</a:t>
            </a:r>
            <a:r>
              <a:rPr lang="en-US" sz="2000" baseline="30000" dirty="0">
                <a:solidFill>
                  <a:schemeClr val="accent1"/>
                </a:solidFill>
                <a:latin typeface="Algerian" pitchFamily="82" charset="0"/>
              </a:rPr>
              <a:t>rd</a:t>
            </a:r>
            <a:r>
              <a:rPr lang="en-US" sz="2000" dirty="0">
                <a:solidFill>
                  <a:schemeClr val="accent1"/>
                </a:solidFill>
                <a:latin typeface="Algerian" pitchFamily="82" charset="0"/>
              </a:rPr>
              <a:t> normal form</a:t>
            </a:r>
            <a:endParaRPr lang="en-US" sz="2000" i="1" u="sng" dirty="0">
              <a:latin typeface="Aharoni" pitchFamily="2" charset="-79"/>
              <a:cs typeface="Aharoni" pitchFamily="2" charset="-79"/>
            </a:endParaRPr>
          </a:p>
        </p:txBody>
      </p:sp>
      <p:sp>
        <p:nvSpPr>
          <p:cNvPr id="62" name="Flowchart: Connector 61"/>
          <p:cNvSpPr/>
          <p:nvPr/>
        </p:nvSpPr>
        <p:spPr>
          <a:xfrm>
            <a:off x="6629400" y="41148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p:cNvCxnSpPr/>
          <p:nvPr/>
        </p:nvCxnSpPr>
        <p:spPr>
          <a:xfrm rot="5400000" flipH="1" flipV="1">
            <a:off x="5106194" y="3580606"/>
            <a:ext cx="1219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a:endCxn id="62" idx="6"/>
          </p:cNvCxnSpPr>
          <p:nvPr/>
        </p:nvCxnSpPr>
        <p:spPr>
          <a:xfrm>
            <a:off x="5715000" y="4191000"/>
            <a:ext cx="1066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5" name="Rounded Rectangle 64"/>
          <p:cNvSpPr/>
          <p:nvPr/>
        </p:nvSpPr>
        <p:spPr>
          <a:xfrm>
            <a:off x="6934200" y="3886200"/>
            <a:ext cx="1905000" cy="76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Calendar</a:t>
            </a:r>
          </a:p>
        </p:txBody>
      </p:sp>
      <p:cxnSp>
        <p:nvCxnSpPr>
          <p:cNvPr id="66" name="Straight Connector 65"/>
          <p:cNvCxnSpPr/>
          <p:nvPr/>
        </p:nvCxnSpPr>
        <p:spPr>
          <a:xfrm>
            <a:off x="5867400" y="4343400"/>
            <a:ext cx="1371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67" name="Flowchart: Connector 66"/>
          <p:cNvSpPr/>
          <p:nvPr/>
        </p:nvSpPr>
        <p:spPr>
          <a:xfrm>
            <a:off x="5791200" y="42672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p:cNvCxnSpPr/>
          <p:nvPr/>
        </p:nvCxnSpPr>
        <p:spPr>
          <a:xfrm rot="10800000" flipV="1">
            <a:off x="6553200" y="3962400"/>
            <a:ext cx="6096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0800000">
            <a:off x="6705600" y="4191000"/>
            <a:ext cx="228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a:endCxn id="62" idx="2"/>
          </p:cNvCxnSpPr>
          <p:nvPr/>
        </p:nvCxnSpPr>
        <p:spPr>
          <a:xfrm rot="10800000">
            <a:off x="6629400" y="4191000"/>
            <a:ext cx="381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5105400" y="4343400"/>
            <a:ext cx="685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72" name="Flowchart: Connector 71"/>
          <p:cNvSpPr/>
          <p:nvPr/>
        </p:nvSpPr>
        <p:spPr>
          <a:xfrm>
            <a:off x="6324600" y="4267200"/>
            <a:ext cx="152400" cy="1524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81000" y="914400"/>
          <a:ext cx="2286000" cy="3153358"/>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tblGrid>
              <a:tr h="304800">
                <a:tc>
                  <a:txBody>
                    <a:bodyPr/>
                    <a:lstStyle/>
                    <a:p>
                      <a:r>
                        <a:rPr lang="en-US" sz="1800" dirty="0">
                          <a:latin typeface="Algerian" pitchFamily="82" charset="0"/>
                        </a:rPr>
                        <a:t>Hotel</a:t>
                      </a:r>
                    </a:p>
                  </a:txBody>
                  <a:tcPr/>
                </a:tc>
                <a:extLst>
                  <a:ext uri="{0D108BD9-81ED-4DB2-BD59-A6C34878D82A}">
                    <a16:rowId xmlns:a16="http://schemas.microsoft.com/office/drawing/2014/main" val="10000"/>
                  </a:ext>
                </a:extLst>
              </a:tr>
              <a:tr h="352508">
                <a:tc>
                  <a:txBody>
                    <a:bodyPr/>
                    <a:lstStyle/>
                    <a:p>
                      <a:r>
                        <a:rPr lang="en-US" sz="1400" dirty="0"/>
                        <a:t>PK</a:t>
                      </a:r>
                      <a:r>
                        <a:rPr lang="en-US" sz="1400" baseline="0" dirty="0"/>
                        <a:t>     </a:t>
                      </a:r>
                      <a:r>
                        <a:rPr lang="en-US" sz="1400" dirty="0" err="1"/>
                        <a:t>Hotel_ID</a:t>
                      </a:r>
                      <a:r>
                        <a:rPr lang="en-US" sz="1400" dirty="0"/>
                        <a:t>               </a:t>
                      </a:r>
                      <a:r>
                        <a:rPr lang="en-US" sz="1400" dirty="0" err="1"/>
                        <a:t>int</a:t>
                      </a:r>
                      <a:endParaRPr lang="en-US" sz="1400" dirty="0"/>
                    </a:p>
                  </a:txBody>
                  <a:tcPr/>
                </a:tc>
                <a:extLst>
                  <a:ext uri="{0D108BD9-81ED-4DB2-BD59-A6C34878D82A}">
                    <a16:rowId xmlns:a16="http://schemas.microsoft.com/office/drawing/2014/main" val="10001"/>
                  </a:ext>
                </a:extLst>
              </a:tr>
              <a:tr h="347870">
                <a:tc>
                  <a:txBody>
                    <a:bodyPr/>
                    <a:lstStyle/>
                    <a:p>
                      <a:r>
                        <a:rPr lang="en-US" sz="1400" dirty="0"/>
                        <a:t>FK     </a:t>
                      </a:r>
                      <a:r>
                        <a:rPr lang="en-US" sz="1400" dirty="0" err="1"/>
                        <a:t>Cedit_Card_ID</a:t>
                      </a:r>
                      <a:r>
                        <a:rPr lang="en-US" sz="1400" dirty="0"/>
                        <a:t>     </a:t>
                      </a:r>
                      <a:r>
                        <a:rPr lang="en-US" sz="1400" dirty="0" err="1"/>
                        <a:t>int</a:t>
                      </a:r>
                      <a:endParaRPr lang="en-US" sz="1400" dirty="0"/>
                    </a:p>
                  </a:txBody>
                  <a:tcPr/>
                </a:tc>
                <a:extLst>
                  <a:ext uri="{0D108BD9-81ED-4DB2-BD59-A6C34878D82A}">
                    <a16:rowId xmlns:a16="http://schemas.microsoft.com/office/drawing/2014/main" val="10002"/>
                  </a:ext>
                </a:extLst>
              </a:tr>
              <a:tr h="347870">
                <a:tc>
                  <a:txBody>
                    <a:bodyPr/>
                    <a:lstStyle/>
                    <a:p>
                      <a:r>
                        <a:rPr lang="en-US" sz="1400" dirty="0"/>
                        <a:t>FK     </a:t>
                      </a:r>
                      <a:r>
                        <a:rPr lang="en-US" sz="1400" dirty="0" err="1"/>
                        <a:t>Guest_ID</a:t>
                      </a:r>
                      <a:r>
                        <a:rPr lang="en-US" sz="1400" dirty="0"/>
                        <a:t>              </a:t>
                      </a:r>
                      <a:r>
                        <a:rPr lang="en-US" sz="1400" dirty="0" err="1"/>
                        <a:t>int</a:t>
                      </a:r>
                      <a:endParaRPr lang="en-US" sz="1400" dirty="0"/>
                    </a:p>
                  </a:txBody>
                  <a:tcPr/>
                </a:tc>
                <a:extLst>
                  <a:ext uri="{0D108BD9-81ED-4DB2-BD59-A6C34878D82A}">
                    <a16:rowId xmlns:a16="http://schemas.microsoft.com/office/drawing/2014/main" val="10003"/>
                  </a:ext>
                </a:extLst>
              </a:tr>
              <a:tr h="347870">
                <a:tc>
                  <a:txBody>
                    <a:bodyPr/>
                    <a:lstStyle/>
                    <a:p>
                      <a:r>
                        <a:rPr lang="en-US" sz="1400" dirty="0"/>
                        <a:t>FK</a:t>
                      </a:r>
                      <a:r>
                        <a:rPr lang="en-US" sz="1400" baseline="0" dirty="0"/>
                        <a:t>     Date_From          date</a:t>
                      </a:r>
                      <a:endParaRPr lang="en-US" sz="1400" dirty="0"/>
                    </a:p>
                  </a:txBody>
                  <a:tcPr/>
                </a:tc>
                <a:extLst>
                  <a:ext uri="{0D108BD9-81ED-4DB2-BD59-A6C34878D82A}">
                    <a16:rowId xmlns:a16="http://schemas.microsoft.com/office/drawing/2014/main" val="10004"/>
                  </a:ext>
                </a:extLst>
              </a:tr>
              <a:tr h="347870">
                <a:tc>
                  <a:txBody>
                    <a:bodyPr/>
                    <a:lstStyle/>
                    <a:p>
                      <a:r>
                        <a:rPr lang="en-US" sz="1400" dirty="0"/>
                        <a:t>FK     </a:t>
                      </a:r>
                      <a:r>
                        <a:rPr lang="en-US" sz="1400" dirty="0" err="1"/>
                        <a:t>Date_To</a:t>
                      </a:r>
                      <a:r>
                        <a:rPr lang="en-US" sz="1400" dirty="0"/>
                        <a:t>               date</a:t>
                      </a:r>
                    </a:p>
                  </a:txBody>
                  <a:tcPr/>
                </a:tc>
                <a:extLst>
                  <a:ext uri="{0D108BD9-81ED-4DB2-BD59-A6C34878D82A}">
                    <a16:rowId xmlns:a16="http://schemas.microsoft.com/office/drawing/2014/main" val="10005"/>
                  </a:ext>
                </a:extLst>
              </a:tr>
              <a:tr h="347870">
                <a:tc>
                  <a:txBody>
                    <a:bodyPr/>
                    <a:lstStyle/>
                    <a:p>
                      <a:r>
                        <a:rPr lang="en-US" sz="1400" dirty="0"/>
                        <a:t>FK     </a:t>
                      </a:r>
                      <a:r>
                        <a:rPr lang="en-US" sz="1400" dirty="0" err="1"/>
                        <a:t>Reservation_ID</a:t>
                      </a:r>
                      <a:r>
                        <a:rPr lang="en-US" sz="1400" dirty="0"/>
                        <a:t>   </a:t>
                      </a:r>
                      <a:r>
                        <a:rPr lang="en-US" sz="1400" dirty="0" err="1"/>
                        <a:t>int</a:t>
                      </a:r>
                      <a:endParaRPr lang="en-US" sz="1400" dirty="0"/>
                    </a:p>
                  </a:txBody>
                  <a:tcPr/>
                </a:tc>
                <a:extLst>
                  <a:ext uri="{0D108BD9-81ED-4DB2-BD59-A6C34878D82A}">
                    <a16:rowId xmlns:a16="http://schemas.microsoft.com/office/drawing/2014/main" val="10006"/>
                  </a:ext>
                </a:extLst>
              </a:tr>
              <a:tr h="347870">
                <a:tc>
                  <a:txBody>
                    <a:bodyPr/>
                    <a:lstStyle/>
                    <a:p>
                      <a:r>
                        <a:rPr lang="en-US" sz="1400" dirty="0"/>
                        <a:t>FK     </a:t>
                      </a:r>
                      <a:r>
                        <a:rPr lang="en-US" sz="1400" dirty="0" err="1"/>
                        <a:t>Staff_ID</a:t>
                      </a:r>
                      <a:r>
                        <a:rPr lang="en-US" sz="1400" dirty="0"/>
                        <a:t>                </a:t>
                      </a:r>
                      <a:r>
                        <a:rPr lang="en-US" sz="1400" dirty="0" err="1"/>
                        <a:t>int</a:t>
                      </a:r>
                      <a:endParaRPr lang="en-US" sz="1400" dirty="0"/>
                    </a:p>
                  </a:txBody>
                  <a:tcPr/>
                </a:tc>
                <a:extLst>
                  <a:ext uri="{0D108BD9-81ED-4DB2-BD59-A6C34878D82A}">
                    <a16:rowId xmlns:a16="http://schemas.microsoft.com/office/drawing/2014/main" val="10007"/>
                  </a:ext>
                </a:extLst>
              </a:tr>
              <a:tr h="347870">
                <a:tc>
                  <a:txBody>
                    <a:bodyPr/>
                    <a:lstStyle/>
                    <a:p>
                      <a:r>
                        <a:rPr lang="en-US" sz="1400" dirty="0"/>
                        <a:t>FK     </a:t>
                      </a:r>
                      <a:r>
                        <a:rPr lang="en-US" sz="1400" dirty="0" err="1"/>
                        <a:t>Room_ID</a:t>
                      </a:r>
                      <a:r>
                        <a:rPr lang="en-US" sz="1400" dirty="0"/>
                        <a:t>             </a:t>
                      </a:r>
                      <a:r>
                        <a:rPr lang="en-US" sz="1400" dirty="0" err="1"/>
                        <a:t>int</a:t>
                      </a:r>
                      <a:endParaRPr lang="en-US" sz="1400" dirty="0"/>
                    </a:p>
                  </a:txBody>
                  <a:tcPr/>
                </a:tc>
                <a:extLst>
                  <a:ext uri="{0D108BD9-81ED-4DB2-BD59-A6C34878D82A}">
                    <a16:rowId xmlns:a16="http://schemas.microsoft.com/office/drawing/2014/main" val="10008"/>
                  </a:ext>
                </a:extLst>
              </a:tr>
            </a:tbl>
          </a:graphicData>
        </a:graphic>
      </p:graphicFrame>
      <p:sp>
        <p:nvSpPr>
          <p:cNvPr id="3" name="TextBox 2"/>
          <p:cNvSpPr txBox="1"/>
          <p:nvPr/>
        </p:nvSpPr>
        <p:spPr>
          <a:xfrm>
            <a:off x="381000" y="381000"/>
            <a:ext cx="7772400" cy="369332"/>
          </a:xfrm>
          <a:prstGeom prst="rect">
            <a:avLst/>
          </a:prstGeom>
          <a:noFill/>
        </p:spPr>
        <p:txBody>
          <a:bodyPr wrap="square" rtlCol="0">
            <a:spAutoFit/>
          </a:bodyPr>
          <a:lstStyle/>
          <a:p>
            <a:r>
              <a:rPr lang="en-US" dirty="0">
                <a:solidFill>
                  <a:schemeClr val="accent1"/>
                </a:solidFill>
                <a:latin typeface="Algerian" pitchFamily="82" charset="0"/>
              </a:rPr>
              <a:t>Details Of All The Tables:- </a:t>
            </a:r>
            <a:endParaRPr lang="en-US" b="1" i="1" dirty="0"/>
          </a:p>
        </p:txBody>
      </p:sp>
      <p:graphicFrame>
        <p:nvGraphicFramePr>
          <p:cNvPr id="4" name="Table 3"/>
          <p:cNvGraphicFramePr>
            <a:graphicFrameLocks noGrp="1"/>
          </p:cNvGraphicFramePr>
          <p:nvPr/>
        </p:nvGraphicFramePr>
        <p:xfrm>
          <a:off x="3276600" y="990600"/>
          <a:ext cx="2362200" cy="2330052"/>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50937">
                <a:tc>
                  <a:txBody>
                    <a:bodyPr/>
                    <a:lstStyle/>
                    <a:p>
                      <a:pPr marL="0" algn="l" defTabSz="914400" rtl="0" eaLnBrk="1" latinLnBrk="0" hangingPunct="1"/>
                      <a:r>
                        <a:rPr lang="en-US" sz="1600" b="1" kern="1200" dirty="0" err="1">
                          <a:solidFill>
                            <a:schemeClr val="lt1"/>
                          </a:solidFill>
                          <a:latin typeface="Algerian" pitchFamily="82" charset="0"/>
                          <a:ea typeface="+mn-ea"/>
                          <a:cs typeface="+mn-cs"/>
                        </a:rPr>
                        <a:t>Hotel_Reservation</a:t>
                      </a:r>
                      <a:endParaRPr lang="en-US" sz="1600" b="1" kern="1200" dirty="0">
                        <a:solidFill>
                          <a:schemeClr val="lt1"/>
                        </a:solidFill>
                        <a:latin typeface="Algerian" pitchFamily="82" charset="0"/>
                        <a:ea typeface="+mn-ea"/>
                        <a:cs typeface="+mn-cs"/>
                      </a:endParaRPr>
                    </a:p>
                  </a:txBody>
                  <a:tcPr/>
                </a:tc>
                <a:extLst>
                  <a:ext uri="{0D108BD9-81ED-4DB2-BD59-A6C34878D82A}">
                    <a16:rowId xmlns:a16="http://schemas.microsoft.com/office/drawing/2014/main" val="10000"/>
                  </a:ext>
                </a:extLst>
              </a:tr>
              <a:tr h="395823">
                <a:tc>
                  <a:txBody>
                    <a:bodyPr/>
                    <a:lstStyle/>
                    <a:p>
                      <a:pPr marL="0" algn="l" defTabSz="914400" rtl="0" eaLnBrk="1" latinLnBrk="0" hangingPunct="1"/>
                      <a:r>
                        <a:rPr lang="en-US" sz="1400" kern="1200" dirty="0">
                          <a:solidFill>
                            <a:schemeClr val="dk1"/>
                          </a:solidFill>
                          <a:latin typeface="+mn-lt"/>
                          <a:ea typeface="+mn-ea"/>
                          <a:cs typeface="+mn-cs"/>
                        </a:rPr>
                        <a:t>PK   </a:t>
                      </a:r>
                      <a:r>
                        <a:rPr lang="en-US" sz="1400" kern="1200" dirty="0" err="1">
                          <a:solidFill>
                            <a:schemeClr val="dk1"/>
                          </a:solidFill>
                          <a:latin typeface="+mn-lt"/>
                          <a:ea typeface="+mn-ea"/>
                          <a:cs typeface="+mn-cs"/>
                        </a:rPr>
                        <a:t>Reservation_ID</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int</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95823">
                <a:tc>
                  <a:txBody>
                    <a:bodyPr/>
                    <a:lstStyle/>
                    <a:p>
                      <a:pPr marL="0" algn="l" defTabSz="914400" rtl="0" eaLnBrk="1" latinLnBrk="0" hangingPunct="1"/>
                      <a:r>
                        <a:rPr lang="en-US" sz="1400" kern="1200" dirty="0">
                          <a:solidFill>
                            <a:schemeClr val="dk1"/>
                          </a:solidFill>
                          <a:latin typeface="+mn-lt"/>
                          <a:ea typeface="+mn-ea"/>
                          <a:cs typeface="+mn-cs"/>
                        </a:rPr>
                        <a:t>           Date_From       date</a:t>
                      </a:r>
                    </a:p>
                  </a:txBody>
                  <a:tcPr/>
                </a:tc>
                <a:extLst>
                  <a:ext uri="{0D108BD9-81ED-4DB2-BD59-A6C34878D82A}">
                    <a16:rowId xmlns:a16="http://schemas.microsoft.com/office/drawing/2014/main" val="10002"/>
                  </a:ext>
                </a:extLst>
              </a:tr>
              <a:tr h="395823">
                <a:tc>
                  <a:txBody>
                    <a:bodyPr/>
                    <a:lstStyle/>
                    <a:p>
                      <a:pPr marL="0" algn="l" defTabSz="914400" rtl="0" eaLnBrk="1" latinLnBrk="0" hangingPunct="1"/>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Date_To</a:t>
                      </a:r>
                      <a:r>
                        <a:rPr lang="en-US" sz="1400" kern="1200" dirty="0">
                          <a:solidFill>
                            <a:schemeClr val="dk1"/>
                          </a:solidFill>
                          <a:latin typeface="+mn-lt"/>
                          <a:ea typeface="+mn-ea"/>
                          <a:cs typeface="+mn-cs"/>
                        </a:rPr>
                        <a:t>            date</a:t>
                      </a:r>
                    </a:p>
                  </a:txBody>
                  <a:tcPr/>
                </a:tc>
                <a:extLst>
                  <a:ext uri="{0D108BD9-81ED-4DB2-BD59-A6C34878D82A}">
                    <a16:rowId xmlns:a16="http://schemas.microsoft.com/office/drawing/2014/main" val="10003"/>
                  </a:ext>
                </a:extLst>
              </a:tr>
              <a:tr h="395823">
                <a:tc>
                  <a:txBody>
                    <a:bodyPr/>
                    <a:lstStyle/>
                    <a:p>
                      <a:pPr marL="0" algn="l" defTabSz="914400" rtl="0" eaLnBrk="1" latinLnBrk="0" hangingPunct="1"/>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Made_By</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varchar</a:t>
                      </a:r>
                      <a:r>
                        <a:rPr lang="en-US" sz="1400" kern="1200" dirty="0">
                          <a:solidFill>
                            <a:schemeClr val="dk1"/>
                          </a:solidFill>
                          <a:latin typeface="+mn-lt"/>
                          <a:ea typeface="+mn-ea"/>
                          <a:cs typeface="+mn-cs"/>
                        </a:rPr>
                        <a:t>(40)</a:t>
                      </a:r>
                    </a:p>
                  </a:txBody>
                  <a:tcPr/>
                </a:tc>
                <a:extLst>
                  <a:ext uri="{0D108BD9-81ED-4DB2-BD59-A6C34878D82A}">
                    <a16:rowId xmlns:a16="http://schemas.microsoft.com/office/drawing/2014/main" val="10004"/>
                  </a:ext>
                </a:extLst>
              </a:tr>
              <a:tr h="395823">
                <a:tc>
                  <a:txBody>
                    <a:bodyPr/>
                    <a:lstStyle/>
                    <a:p>
                      <a:pPr marL="0" algn="l" defTabSz="914400" rtl="0" eaLnBrk="1" latinLnBrk="0" hangingPunct="1"/>
                      <a:r>
                        <a:rPr lang="en-US" sz="1400" kern="1200" dirty="0">
                          <a:solidFill>
                            <a:schemeClr val="dk1"/>
                          </a:solidFill>
                          <a:latin typeface="+mn-lt"/>
                          <a:ea typeface="+mn-ea"/>
                          <a:cs typeface="+mn-cs"/>
                        </a:rPr>
                        <a:t> FK      </a:t>
                      </a:r>
                      <a:r>
                        <a:rPr lang="en-US" sz="1400" kern="1200" dirty="0" err="1">
                          <a:solidFill>
                            <a:schemeClr val="dk1"/>
                          </a:solidFill>
                          <a:latin typeface="+mn-lt"/>
                          <a:ea typeface="+mn-ea"/>
                          <a:cs typeface="+mn-cs"/>
                        </a:rPr>
                        <a:t>Guest_ID</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int</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nvGraphicFramePr>
        <p:xfrm>
          <a:off x="6096000" y="990600"/>
          <a:ext cx="2438400" cy="2245894"/>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406667">
                <a:tc>
                  <a:txBody>
                    <a:bodyPr/>
                    <a:lstStyle/>
                    <a:p>
                      <a:r>
                        <a:rPr lang="en-US" sz="1600" b="1" kern="1200" dirty="0" err="1">
                          <a:solidFill>
                            <a:schemeClr val="lt1"/>
                          </a:solidFill>
                          <a:latin typeface="Algerian" pitchFamily="82" charset="0"/>
                          <a:ea typeface="+mn-ea"/>
                          <a:cs typeface="+mn-cs"/>
                        </a:rPr>
                        <a:t>Reserved_Room</a:t>
                      </a:r>
                      <a:endParaRPr lang="en-US" sz="1600" b="1" kern="1200" dirty="0">
                        <a:solidFill>
                          <a:schemeClr val="lt1"/>
                        </a:solidFill>
                        <a:latin typeface="Algerian" pitchFamily="82" charset="0"/>
                        <a:ea typeface="+mn-ea"/>
                        <a:cs typeface="+mn-cs"/>
                      </a:endParaRPr>
                    </a:p>
                  </a:txBody>
                  <a:tcPr/>
                </a:tc>
                <a:extLst>
                  <a:ext uri="{0D108BD9-81ED-4DB2-BD59-A6C34878D82A}">
                    <a16:rowId xmlns:a16="http://schemas.microsoft.com/office/drawing/2014/main" val="10000"/>
                  </a:ext>
                </a:extLst>
              </a:tr>
              <a:tr h="291966">
                <a:tc>
                  <a:txBody>
                    <a:bodyPr/>
                    <a:lstStyle/>
                    <a:p>
                      <a:r>
                        <a:rPr lang="en-US" sz="1400" dirty="0"/>
                        <a:t>PK</a:t>
                      </a:r>
                      <a:r>
                        <a:rPr lang="en-US" sz="1400" baseline="0" dirty="0"/>
                        <a:t>     ID                          </a:t>
                      </a:r>
                      <a:r>
                        <a:rPr lang="en-US" sz="1400" baseline="0" dirty="0" err="1"/>
                        <a:t>int</a:t>
                      </a:r>
                      <a:endParaRPr lang="en-US" sz="1400" baseline="0" dirty="0"/>
                    </a:p>
                  </a:txBody>
                  <a:tcPr/>
                </a:tc>
                <a:extLst>
                  <a:ext uri="{0D108BD9-81ED-4DB2-BD59-A6C34878D82A}">
                    <a16:rowId xmlns:a16="http://schemas.microsoft.com/office/drawing/2014/main" val="10001"/>
                  </a:ext>
                </a:extLst>
              </a:tr>
              <a:tr h="291966">
                <a:tc>
                  <a:txBody>
                    <a:bodyPr/>
                    <a:lstStyle/>
                    <a:p>
                      <a:r>
                        <a:rPr lang="en-US" sz="1400" baseline="0" dirty="0"/>
                        <a:t>         Status                 </a:t>
                      </a:r>
                      <a:r>
                        <a:rPr lang="en-US" sz="1400" baseline="0" dirty="0" err="1"/>
                        <a:t>Varchar</a:t>
                      </a:r>
                      <a:endParaRPr lang="en-US" sz="1400" baseline="0" dirty="0"/>
                    </a:p>
                  </a:txBody>
                  <a:tcPr/>
                </a:tc>
                <a:extLst>
                  <a:ext uri="{0D108BD9-81ED-4DB2-BD59-A6C34878D82A}">
                    <a16:rowId xmlns:a16="http://schemas.microsoft.com/office/drawing/2014/main" val="10002"/>
                  </a:ext>
                </a:extLst>
              </a:tr>
              <a:tr h="291966">
                <a:tc>
                  <a:txBody>
                    <a:bodyPr/>
                    <a:lstStyle/>
                    <a:p>
                      <a:r>
                        <a:rPr lang="en-US" sz="1400" dirty="0"/>
                        <a:t>         </a:t>
                      </a:r>
                      <a:r>
                        <a:rPr lang="en-US" sz="1400" dirty="0" err="1"/>
                        <a:t>No.of</a:t>
                      </a:r>
                      <a:r>
                        <a:rPr lang="en-US" sz="1400" baseline="0" dirty="0"/>
                        <a:t> rooms       </a:t>
                      </a:r>
                      <a:r>
                        <a:rPr lang="en-US" sz="1400" baseline="0" dirty="0" err="1"/>
                        <a:t>int</a:t>
                      </a:r>
                      <a:endParaRPr lang="en-US" sz="1400" dirty="0"/>
                    </a:p>
                  </a:txBody>
                  <a:tcPr/>
                </a:tc>
                <a:extLst>
                  <a:ext uri="{0D108BD9-81ED-4DB2-BD59-A6C34878D82A}">
                    <a16:rowId xmlns:a16="http://schemas.microsoft.com/office/drawing/2014/main" val="10003"/>
                  </a:ext>
                </a:extLst>
              </a:tr>
              <a:tr h="291966">
                <a:tc>
                  <a:txBody>
                    <a:bodyPr/>
                    <a:lstStyle/>
                    <a:p>
                      <a:r>
                        <a:rPr lang="en-US" sz="1400" dirty="0"/>
                        <a:t>FK     </a:t>
                      </a:r>
                      <a:r>
                        <a:rPr lang="en-US" sz="1400" dirty="0" err="1"/>
                        <a:t>Room_id</a:t>
                      </a:r>
                      <a:r>
                        <a:rPr lang="en-US" sz="1400" baseline="0" dirty="0"/>
                        <a:t>             </a:t>
                      </a:r>
                      <a:r>
                        <a:rPr lang="en-US" sz="1400" baseline="0" dirty="0" err="1"/>
                        <a:t>int</a:t>
                      </a:r>
                      <a:endParaRPr lang="en-US" sz="1400" dirty="0"/>
                    </a:p>
                  </a:txBody>
                  <a:tcPr/>
                </a:tc>
                <a:extLst>
                  <a:ext uri="{0D108BD9-81ED-4DB2-BD59-A6C34878D82A}">
                    <a16:rowId xmlns:a16="http://schemas.microsoft.com/office/drawing/2014/main" val="10004"/>
                  </a:ext>
                </a:extLst>
              </a:tr>
              <a:tr h="406667">
                <a:tc>
                  <a:txBody>
                    <a:bodyPr/>
                    <a:lstStyle/>
                    <a:p>
                      <a:r>
                        <a:rPr lang="en-US" sz="1400" dirty="0"/>
                        <a:t>FK</a:t>
                      </a:r>
                      <a:r>
                        <a:rPr lang="en-US" sz="1400" baseline="0" dirty="0"/>
                        <a:t>     </a:t>
                      </a:r>
                      <a:r>
                        <a:rPr lang="en-US" sz="1400" baseline="0" dirty="0" err="1"/>
                        <a:t>Reservation_ID</a:t>
                      </a:r>
                      <a:r>
                        <a:rPr lang="en-US" sz="1400" baseline="0" dirty="0"/>
                        <a:t>  </a:t>
                      </a:r>
                      <a:r>
                        <a:rPr lang="en-US" sz="1400" baseline="0" dirty="0" err="1"/>
                        <a:t>int</a:t>
                      </a:r>
                      <a:endParaRPr lang="en-US" sz="1400" dirty="0"/>
                    </a:p>
                  </a:txBody>
                  <a:tcPr/>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nvGraphicFramePr>
        <p:xfrm>
          <a:off x="609600" y="4572000"/>
          <a:ext cx="1981200" cy="157480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0000"/>
                    </a:ext>
                  </a:extLst>
                </a:gridCol>
              </a:tblGrid>
              <a:tr h="330200">
                <a:tc>
                  <a:txBody>
                    <a:bodyPr/>
                    <a:lstStyle/>
                    <a:p>
                      <a:r>
                        <a:rPr lang="en-US" sz="1400" b="1" kern="1200" dirty="0">
                          <a:solidFill>
                            <a:schemeClr val="lt1"/>
                          </a:solidFill>
                          <a:latin typeface="Algerian" pitchFamily="82" charset="0"/>
                          <a:ea typeface="+mn-ea"/>
                          <a:cs typeface="+mn-cs"/>
                        </a:rPr>
                        <a:t>ADDRESS</a:t>
                      </a:r>
                    </a:p>
                  </a:txBody>
                  <a:tcPr/>
                </a:tc>
                <a:extLst>
                  <a:ext uri="{0D108BD9-81ED-4DB2-BD59-A6C34878D82A}">
                    <a16:rowId xmlns:a16="http://schemas.microsoft.com/office/drawing/2014/main" val="10000"/>
                  </a:ext>
                </a:extLst>
              </a:tr>
              <a:tr h="279400">
                <a:tc>
                  <a:txBody>
                    <a:bodyPr/>
                    <a:lstStyle/>
                    <a:p>
                      <a:r>
                        <a:rPr lang="en-US" sz="1400" baseline="0" dirty="0"/>
                        <a:t>    City         </a:t>
                      </a:r>
                      <a:r>
                        <a:rPr lang="en-US" sz="1400" baseline="0" dirty="0" err="1"/>
                        <a:t>Varchar</a:t>
                      </a:r>
                      <a:r>
                        <a:rPr lang="en-US" sz="1400" baseline="0" dirty="0"/>
                        <a:t>(10)</a:t>
                      </a:r>
                      <a:endParaRPr lang="en-US" sz="1400" dirty="0"/>
                    </a:p>
                  </a:txBody>
                  <a:tcPr/>
                </a:tc>
                <a:extLst>
                  <a:ext uri="{0D108BD9-81ED-4DB2-BD59-A6C34878D82A}">
                    <a16:rowId xmlns:a16="http://schemas.microsoft.com/office/drawing/2014/main" val="10001"/>
                  </a:ext>
                </a:extLst>
              </a:tr>
              <a:tr h="279400">
                <a:tc>
                  <a:txBody>
                    <a:bodyPr/>
                    <a:lstStyle/>
                    <a:p>
                      <a:r>
                        <a:rPr lang="en-US" sz="1400" dirty="0"/>
                        <a:t>    State       </a:t>
                      </a:r>
                      <a:r>
                        <a:rPr lang="en-US" sz="1400" dirty="0" err="1"/>
                        <a:t>Varchar</a:t>
                      </a:r>
                      <a:r>
                        <a:rPr lang="en-US" sz="1400" dirty="0"/>
                        <a:t>(15)</a:t>
                      </a:r>
                    </a:p>
                  </a:txBody>
                  <a:tcPr/>
                </a:tc>
                <a:extLst>
                  <a:ext uri="{0D108BD9-81ED-4DB2-BD59-A6C34878D82A}">
                    <a16:rowId xmlns:a16="http://schemas.microsoft.com/office/drawing/2014/main" val="10002"/>
                  </a:ext>
                </a:extLst>
              </a:tr>
              <a:tr h="279400">
                <a:tc>
                  <a:txBody>
                    <a:bodyPr/>
                    <a:lstStyle/>
                    <a:p>
                      <a:r>
                        <a:rPr lang="en-US" sz="1400" dirty="0"/>
                        <a:t>    </a:t>
                      </a:r>
                      <a:r>
                        <a:rPr lang="en-US" sz="1400" dirty="0" err="1"/>
                        <a:t>Zipcode</a:t>
                      </a:r>
                      <a:r>
                        <a:rPr lang="en-US" sz="1400" dirty="0"/>
                        <a:t>   </a:t>
                      </a:r>
                      <a:r>
                        <a:rPr lang="en-US" sz="1400" dirty="0" err="1"/>
                        <a:t>int</a:t>
                      </a:r>
                      <a:endParaRPr lang="en-US" sz="1400" dirty="0"/>
                    </a:p>
                  </a:txBody>
                  <a:tcPr/>
                </a:tc>
                <a:extLst>
                  <a:ext uri="{0D108BD9-81ED-4DB2-BD59-A6C34878D82A}">
                    <a16:rowId xmlns:a16="http://schemas.microsoft.com/office/drawing/2014/main" val="10003"/>
                  </a:ext>
                </a:extLst>
              </a:tr>
              <a:tr h="330200">
                <a:tc>
                  <a:txBody>
                    <a:bodyPr/>
                    <a:lstStyle/>
                    <a:p>
                      <a:r>
                        <a:rPr lang="en-US" sz="1400" dirty="0"/>
                        <a:t>    Country</a:t>
                      </a:r>
                      <a:r>
                        <a:rPr lang="en-US" sz="1400" baseline="0" dirty="0"/>
                        <a:t>    </a:t>
                      </a:r>
                      <a:r>
                        <a:rPr lang="en-US" sz="1400" baseline="0" dirty="0" err="1"/>
                        <a:t>Varchar</a:t>
                      </a:r>
                      <a:r>
                        <a:rPr lang="en-US" sz="1400" baseline="0" dirty="0"/>
                        <a:t>(30)</a:t>
                      </a:r>
                      <a:endParaRPr lang="en-US" sz="1400" dirty="0"/>
                    </a:p>
                  </a:txBody>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6172200" y="4343400"/>
          <a:ext cx="2438400" cy="14325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267478">
                <a:tc>
                  <a:txBody>
                    <a:bodyPr/>
                    <a:lstStyle/>
                    <a:p>
                      <a:pPr marL="0" algn="l" defTabSz="914400" rtl="0" eaLnBrk="1" latinLnBrk="0" hangingPunct="1"/>
                      <a:r>
                        <a:rPr lang="en-US" sz="1400" b="1" kern="1200" dirty="0">
                          <a:solidFill>
                            <a:schemeClr val="lt1"/>
                          </a:solidFill>
                          <a:latin typeface="Algerian" pitchFamily="82" charset="0"/>
                          <a:ea typeface="+mn-ea"/>
                          <a:cs typeface="+mn-cs"/>
                        </a:rPr>
                        <a:t>Staff</a:t>
                      </a:r>
                    </a:p>
                  </a:txBody>
                  <a:tcPr/>
                </a:tc>
                <a:extLst>
                  <a:ext uri="{0D108BD9-81ED-4DB2-BD59-A6C34878D82A}">
                    <a16:rowId xmlns:a16="http://schemas.microsoft.com/office/drawing/2014/main" val="10000"/>
                  </a:ext>
                </a:extLst>
              </a:tr>
              <a:tr h="267478">
                <a:tc>
                  <a:txBody>
                    <a:bodyPr/>
                    <a:lstStyle/>
                    <a:p>
                      <a:r>
                        <a:rPr lang="en-US" sz="1400" dirty="0"/>
                        <a:t>PK      </a:t>
                      </a:r>
                      <a:r>
                        <a:rPr lang="en-US" sz="1400" dirty="0" err="1"/>
                        <a:t>Staff_ID</a:t>
                      </a:r>
                      <a:r>
                        <a:rPr lang="en-US" sz="1400" dirty="0"/>
                        <a:t>      </a:t>
                      </a:r>
                      <a:r>
                        <a:rPr lang="en-US" sz="1400" dirty="0" err="1"/>
                        <a:t>int</a:t>
                      </a:r>
                      <a:endParaRPr lang="en-US" sz="1400" dirty="0"/>
                    </a:p>
                  </a:txBody>
                  <a:tcPr/>
                </a:tc>
                <a:extLst>
                  <a:ext uri="{0D108BD9-81ED-4DB2-BD59-A6C34878D82A}">
                    <a16:rowId xmlns:a16="http://schemas.microsoft.com/office/drawing/2014/main" val="10001"/>
                  </a:ext>
                </a:extLst>
              </a:tr>
              <a:tr h="289767">
                <a:tc>
                  <a:txBody>
                    <a:bodyPr/>
                    <a:lstStyle/>
                    <a:p>
                      <a:r>
                        <a:rPr lang="en-US" sz="1400" dirty="0"/>
                        <a:t>FK       </a:t>
                      </a:r>
                      <a:r>
                        <a:rPr lang="en-US" sz="1400" dirty="0" err="1"/>
                        <a:t>Room_ID</a:t>
                      </a:r>
                      <a:r>
                        <a:rPr lang="en-US" sz="1400" baseline="0" dirty="0"/>
                        <a:t>   </a:t>
                      </a:r>
                      <a:r>
                        <a:rPr lang="en-US" sz="1400" baseline="0" dirty="0" err="1"/>
                        <a:t>int</a:t>
                      </a:r>
                      <a:endParaRPr lang="en-US" sz="1400" dirty="0"/>
                    </a:p>
                  </a:txBody>
                  <a:tcPr/>
                </a:tc>
                <a:extLst>
                  <a:ext uri="{0D108BD9-81ED-4DB2-BD59-A6C34878D82A}">
                    <a16:rowId xmlns:a16="http://schemas.microsoft.com/office/drawing/2014/main" val="10002"/>
                  </a:ext>
                </a:extLst>
              </a:tr>
              <a:tr h="267478">
                <a:tc>
                  <a:txBody>
                    <a:bodyPr/>
                    <a:lstStyle/>
                    <a:p>
                      <a:r>
                        <a:rPr lang="en-US" sz="1400" dirty="0"/>
                        <a:t>           </a:t>
                      </a:r>
                      <a:r>
                        <a:rPr lang="en-US" sz="1400" dirty="0" err="1"/>
                        <a:t>Staff_Name</a:t>
                      </a:r>
                      <a:r>
                        <a:rPr lang="en-US" sz="1400" dirty="0"/>
                        <a:t>   </a:t>
                      </a:r>
                      <a:r>
                        <a:rPr lang="en-US" sz="1400" baseline="0" dirty="0" err="1"/>
                        <a:t>varchar</a:t>
                      </a:r>
                      <a:r>
                        <a:rPr lang="en-US" sz="1400" baseline="0" dirty="0"/>
                        <a:t>(30)</a:t>
                      </a:r>
                      <a:endParaRPr lang="en-US" sz="1400" dirty="0"/>
                    </a:p>
                  </a:txBody>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3352800" y="4495800"/>
          <a:ext cx="2362200" cy="1354526"/>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259691">
                <a:tc>
                  <a:txBody>
                    <a:bodyPr/>
                    <a:lstStyle/>
                    <a:p>
                      <a:r>
                        <a:rPr lang="en-US" sz="1400" b="1" kern="1200" dirty="0">
                          <a:solidFill>
                            <a:schemeClr val="lt1"/>
                          </a:solidFill>
                          <a:latin typeface="Algerian" pitchFamily="82" charset="0"/>
                          <a:ea typeface="+mn-ea"/>
                          <a:cs typeface="+mn-cs"/>
                        </a:rPr>
                        <a:t>ROOMs</a:t>
                      </a:r>
                    </a:p>
                  </a:txBody>
                  <a:tcPr/>
                </a:tc>
                <a:extLst>
                  <a:ext uri="{0D108BD9-81ED-4DB2-BD59-A6C34878D82A}">
                    <a16:rowId xmlns:a16="http://schemas.microsoft.com/office/drawing/2014/main" val="10000"/>
                  </a:ext>
                </a:extLst>
              </a:tr>
              <a:tr h="259691">
                <a:tc>
                  <a:txBody>
                    <a:bodyPr/>
                    <a:lstStyle/>
                    <a:p>
                      <a:r>
                        <a:rPr lang="en-US" sz="1400" dirty="0"/>
                        <a:t>PK</a:t>
                      </a:r>
                      <a:r>
                        <a:rPr lang="en-US" sz="1400" baseline="0" dirty="0"/>
                        <a:t>     </a:t>
                      </a:r>
                      <a:r>
                        <a:rPr lang="en-US" sz="1400" baseline="0" dirty="0" err="1"/>
                        <a:t>Room_ID</a:t>
                      </a:r>
                      <a:r>
                        <a:rPr lang="en-US" sz="1400" baseline="0" dirty="0"/>
                        <a:t>   </a:t>
                      </a:r>
                      <a:r>
                        <a:rPr lang="en-US" sz="1400" baseline="0" dirty="0" err="1"/>
                        <a:t>int</a:t>
                      </a:r>
                      <a:endParaRPr lang="en-US" sz="1400" dirty="0"/>
                    </a:p>
                  </a:txBody>
                  <a:tcPr/>
                </a:tc>
                <a:extLst>
                  <a:ext uri="{0D108BD9-81ED-4DB2-BD59-A6C34878D82A}">
                    <a16:rowId xmlns:a16="http://schemas.microsoft.com/office/drawing/2014/main" val="10001"/>
                  </a:ext>
                </a:extLst>
              </a:tr>
              <a:tr h="259691">
                <a:tc>
                  <a:txBody>
                    <a:bodyPr/>
                    <a:lstStyle/>
                    <a:p>
                      <a:r>
                        <a:rPr lang="en-US" sz="1400" dirty="0"/>
                        <a:t>PK     </a:t>
                      </a:r>
                      <a:r>
                        <a:rPr lang="en-US" sz="1400" dirty="0" err="1"/>
                        <a:t>Room_Type</a:t>
                      </a:r>
                      <a:r>
                        <a:rPr lang="en-US" sz="1400" dirty="0"/>
                        <a:t> </a:t>
                      </a:r>
                      <a:r>
                        <a:rPr lang="en-US" sz="1400" dirty="0" err="1"/>
                        <a:t>varchar</a:t>
                      </a:r>
                      <a:r>
                        <a:rPr lang="en-US" sz="1400" dirty="0"/>
                        <a:t>(20)</a:t>
                      </a:r>
                    </a:p>
                  </a:txBody>
                  <a:tcPr/>
                </a:tc>
                <a:extLst>
                  <a:ext uri="{0D108BD9-81ED-4DB2-BD59-A6C34878D82A}">
                    <a16:rowId xmlns:a16="http://schemas.microsoft.com/office/drawing/2014/main" val="10002"/>
                  </a:ext>
                </a:extLst>
              </a:tr>
              <a:tr h="440126">
                <a:tc>
                  <a:txBody>
                    <a:bodyPr/>
                    <a:lstStyle/>
                    <a:p>
                      <a:r>
                        <a:rPr lang="en-US" sz="1400" dirty="0"/>
                        <a:t>         Smoke</a:t>
                      </a:r>
                      <a:r>
                        <a:rPr lang="en-US" sz="1400" baseline="0" dirty="0"/>
                        <a:t>  </a:t>
                      </a:r>
                      <a:r>
                        <a:rPr lang="en-US" sz="1400" baseline="0" dirty="0" err="1"/>
                        <a:t>boolean</a:t>
                      </a:r>
                      <a:endParaRPr lang="en-US" sz="1400"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14400" y="685800"/>
          <a:ext cx="3505200" cy="2133599"/>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tblGrid>
              <a:tr h="431623">
                <a:tc>
                  <a:txBody>
                    <a:bodyPr/>
                    <a:lstStyle/>
                    <a:p>
                      <a:pPr marL="0" algn="l" defTabSz="914400" rtl="0" eaLnBrk="1" latinLnBrk="0" hangingPunct="1"/>
                      <a:r>
                        <a:rPr lang="en-US" sz="1400" b="1" kern="1200" dirty="0">
                          <a:solidFill>
                            <a:schemeClr val="lt1"/>
                          </a:solidFill>
                          <a:latin typeface="Algerian" pitchFamily="82" charset="0"/>
                          <a:ea typeface="+mn-ea"/>
                          <a:cs typeface="+mn-cs"/>
                        </a:rPr>
                        <a:t>GUESTS</a:t>
                      </a:r>
                    </a:p>
                  </a:txBody>
                  <a:tcPr/>
                </a:tc>
                <a:extLst>
                  <a:ext uri="{0D108BD9-81ED-4DB2-BD59-A6C34878D82A}">
                    <a16:rowId xmlns:a16="http://schemas.microsoft.com/office/drawing/2014/main" val="10000"/>
                  </a:ext>
                </a:extLst>
              </a:tr>
              <a:tr h="413505">
                <a:tc>
                  <a:txBody>
                    <a:bodyPr/>
                    <a:lstStyle/>
                    <a:p>
                      <a:r>
                        <a:rPr lang="en-US" sz="1400" dirty="0"/>
                        <a:t>PK</a:t>
                      </a:r>
                      <a:r>
                        <a:rPr lang="en-US" sz="1400" baseline="0" dirty="0"/>
                        <a:t>    </a:t>
                      </a:r>
                      <a:r>
                        <a:rPr lang="en-US" sz="1400" baseline="0" dirty="0" err="1"/>
                        <a:t>Guest_id</a:t>
                      </a:r>
                      <a:r>
                        <a:rPr lang="en-US" sz="1400" baseline="0" dirty="0"/>
                        <a:t>           </a:t>
                      </a:r>
                      <a:r>
                        <a:rPr lang="en-US" sz="1400" baseline="0" dirty="0" err="1"/>
                        <a:t>int</a:t>
                      </a:r>
                      <a:endParaRPr lang="en-US" sz="1400" dirty="0"/>
                    </a:p>
                  </a:txBody>
                  <a:tcPr/>
                </a:tc>
                <a:extLst>
                  <a:ext uri="{0D108BD9-81ED-4DB2-BD59-A6C34878D82A}">
                    <a16:rowId xmlns:a16="http://schemas.microsoft.com/office/drawing/2014/main" val="10001"/>
                  </a:ext>
                </a:extLst>
              </a:tr>
              <a:tr h="413505">
                <a:tc>
                  <a:txBody>
                    <a:bodyPr/>
                    <a:lstStyle/>
                    <a:p>
                      <a:r>
                        <a:rPr lang="en-US" sz="1400" dirty="0"/>
                        <a:t>         </a:t>
                      </a:r>
                      <a:r>
                        <a:rPr lang="en-US" sz="1400" dirty="0" err="1"/>
                        <a:t>First_Name</a:t>
                      </a:r>
                      <a:r>
                        <a:rPr lang="en-US" sz="1400" baseline="0" dirty="0"/>
                        <a:t>      </a:t>
                      </a:r>
                      <a:r>
                        <a:rPr lang="en-US" sz="1400" baseline="0" dirty="0" err="1"/>
                        <a:t>varchar</a:t>
                      </a:r>
                      <a:r>
                        <a:rPr lang="en-US" sz="1400" baseline="0" dirty="0"/>
                        <a:t>(20)</a:t>
                      </a:r>
                      <a:endParaRPr lang="en-US" sz="1400" dirty="0"/>
                    </a:p>
                  </a:txBody>
                  <a:tcPr/>
                </a:tc>
                <a:extLst>
                  <a:ext uri="{0D108BD9-81ED-4DB2-BD59-A6C34878D82A}">
                    <a16:rowId xmlns:a16="http://schemas.microsoft.com/office/drawing/2014/main" val="10002"/>
                  </a:ext>
                </a:extLst>
              </a:tr>
              <a:tr h="413505">
                <a:tc>
                  <a:txBody>
                    <a:bodyPr/>
                    <a:lstStyle/>
                    <a:p>
                      <a:r>
                        <a:rPr lang="en-US" sz="1400" dirty="0"/>
                        <a:t>         </a:t>
                      </a:r>
                      <a:r>
                        <a:rPr lang="en-US" sz="1400" dirty="0" err="1"/>
                        <a:t>Last_Name</a:t>
                      </a:r>
                      <a:r>
                        <a:rPr lang="en-US" sz="1400" baseline="0" dirty="0"/>
                        <a:t>      </a:t>
                      </a:r>
                      <a:r>
                        <a:rPr lang="en-US" sz="1400" baseline="0" dirty="0" err="1"/>
                        <a:t>varchar</a:t>
                      </a:r>
                      <a:r>
                        <a:rPr lang="en-US" sz="1400" baseline="0" dirty="0"/>
                        <a:t>(15)</a:t>
                      </a:r>
                      <a:endParaRPr lang="en-US" sz="1400" dirty="0"/>
                    </a:p>
                  </a:txBody>
                  <a:tcPr/>
                </a:tc>
                <a:extLst>
                  <a:ext uri="{0D108BD9-81ED-4DB2-BD59-A6C34878D82A}">
                    <a16:rowId xmlns:a16="http://schemas.microsoft.com/office/drawing/2014/main" val="10003"/>
                  </a:ext>
                </a:extLst>
              </a:tr>
              <a:tr h="461461">
                <a:tc>
                  <a:txBody>
                    <a:bodyPr/>
                    <a:lstStyle/>
                    <a:p>
                      <a:r>
                        <a:rPr lang="en-US" sz="1400" dirty="0"/>
                        <a:t>FK     </a:t>
                      </a:r>
                      <a:r>
                        <a:rPr lang="en-US" sz="1400" dirty="0" err="1"/>
                        <a:t>Resrvation_ID</a:t>
                      </a:r>
                      <a:r>
                        <a:rPr lang="en-US" sz="1400" baseline="0" dirty="0"/>
                        <a:t>   </a:t>
                      </a:r>
                      <a:r>
                        <a:rPr lang="en-US" sz="1400" baseline="0" dirty="0" err="1"/>
                        <a:t>int</a:t>
                      </a:r>
                      <a:endParaRPr lang="en-US" sz="1400" dirty="0"/>
                    </a:p>
                  </a:txBody>
                  <a:tcPr/>
                </a:tc>
                <a:extLst>
                  <a:ext uri="{0D108BD9-81ED-4DB2-BD59-A6C34878D82A}">
                    <a16:rowId xmlns:a16="http://schemas.microsoft.com/office/drawing/2014/main" val="10004"/>
                  </a:ext>
                </a:extLst>
              </a:tr>
            </a:tbl>
          </a:graphicData>
        </a:graphic>
      </p:graphicFrame>
      <p:graphicFrame>
        <p:nvGraphicFramePr>
          <p:cNvPr id="3" name="Table 2"/>
          <p:cNvGraphicFramePr>
            <a:graphicFrameLocks noGrp="1"/>
          </p:cNvGraphicFramePr>
          <p:nvPr/>
        </p:nvGraphicFramePr>
        <p:xfrm>
          <a:off x="5334000" y="685800"/>
          <a:ext cx="3124200" cy="205740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tblGrid>
              <a:tr h="475413">
                <a:tc>
                  <a:txBody>
                    <a:bodyPr/>
                    <a:lstStyle/>
                    <a:p>
                      <a:pPr marL="0" algn="l" defTabSz="914400" rtl="0" eaLnBrk="1" latinLnBrk="0" hangingPunct="1"/>
                      <a:r>
                        <a:rPr lang="en-US" sz="1400" b="1" kern="1200" dirty="0" err="1">
                          <a:solidFill>
                            <a:schemeClr val="lt1"/>
                          </a:solidFill>
                          <a:latin typeface="Algerian" pitchFamily="82" charset="0"/>
                          <a:ea typeface="+mn-ea"/>
                          <a:cs typeface="+mn-cs"/>
                        </a:rPr>
                        <a:t>Payment_Mode</a:t>
                      </a:r>
                      <a:endParaRPr lang="en-US" sz="1400" b="1" kern="1200" dirty="0">
                        <a:solidFill>
                          <a:schemeClr val="lt1"/>
                        </a:solidFill>
                        <a:latin typeface="Algerian" pitchFamily="82" charset="0"/>
                        <a:ea typeface="+mn-ea"/>
                        <a:cs typeface="+mn-cs"/>
                      </a:endParaRPr>
                    </a:p>
                  </a:txBody>
                  <a:tcPr/>
                </a:tc>
                <a:extLst>
                  <a:ext uri="{0D108BD9-81ED-4DB2-BD59-A6C34878D82A}">
                    <a16:rowId xmlns:a16="http://schemas.microsoft.com/office/drawing/2014/main" val="10000"/>
                  </a:ext>
                </a:extLst>
              </a:tr>
              <a:tr h="486765">
                <a:tc>
                  <a:txBody>
                    <a:bodyPr/>
                    <a:lstStyle/>
                    <a:p>
                      <a:r>
                        <a:rPr lang="en-US" sz="1400" dirty="0"/>
                        <a:t>PK</a:t>
                      </a:r>
                      <a:r>
                        <a:rPr lang="en-US" sz="1400" baseline="0" dirty="0"/>
                        <a:t>       </a:t>
                      </a:r>
                      <a:r>
                        <a:rPr lang="en-US" sz="1400" baseline="0" dirty="0" err="1"/>
                        <a:t>Payment_ID</a:t>
                      </a:r>
                      <a:r>
                        <a:rPr lang="en-US" sz="1400" baseline="0" dirty="0"/>
                        <a:t>      </a:t>
                      </a:r>
                      <a:r>
                        <a:rPr lang="en-US" sz="1400" baseline="0" dirty="0" err="1"/>
                        <a:t>int</a:t>
                      </a:r>
                      <a:endParaRPr lang="en-US" sz="1400" dirty="0"/>
                    </a:p>
                  </a:txBody>
                  <a:tcPr/>
                </a:tc>
                <a:extLst>
                  <a:ext uri="{0D108BD9-81ED-4DB2-BD59-A6C34878D82A}">
                    <a16:rowId xmlns:a16="http://schemas.microsoft.com/office/drawing/2014/main" val="10001"/>
                  </a:ext>
                </a:extLst>
              </a:tr>
              <a:tr h="5029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FK</a:t>
                      </a:r>
                      <a:r>
                        <a:rPr lang="en-US" sz="1400" baseline="0" dirty="0"/>
                        <a:t>       </a:t>
                      </a:r>
                      <a:r>
                        <a:rPr lang="en-US" sz="1400" baseline="0" dirty="0" err="1"/>
                        <a:t>Guest_ID</a:t>
                      </a:r>
                      <a:r>
                        <a:rPr lang="en-US" sz="1400" baseline="0" dirty="0"/>
                        <a:t>           </a:t>
                      </a:r>
                      <a:r>
                        <a:rPr lang="en-US" sz="1400" baseline="0" dirty="0" err="1"/>
                        <a:t>int</a:t>
                      </a:r>
                      <a:r>
                        <a:rPr lang="en-US" sz="1400" dirty="0"/>
                        <a:t> </a:t>
                      </a:r>
                    </a:p>
                  </a:txBody>
                  <a:tcPr/>
                </a:tc>
                <a:extLst>
                  <a:ext uri="{0D108BD9-81ED-4DB2-BD59-A6C34878D82A}">
                    <a16:rowId xmlns:a16="http://schemas.microsoft.com/office/drawing/2014/main" val="10002"/>
                  </a:ext>
                </a:extLst>
              </a:tr>
              <a:tr h="592231">
                <a:tc>
                  <a:txBody>
                    <a:bodyPr/>
                    <a:lstStyle/>
                    <a:p>
                      <a:r>
                        <a:rPr lang="en-US" sz="1400" dirty="0"/>
                        <a:t>           </a:t>
                      </a:r>
                      <a:r>
                        <a:rPr lang="en-US" sz="1400" dirty="0" err="1"/>
                        <a:t>Other_Details</a:t>
                      </a:r>
                      <a:r>
                        <a:rPr lang="en-US" sz="1400" dirty="0"/>
                        <a:t>  </a:t>
                      </a:r>
                      <a:r>
                        <a:rPr lang="en-US" sz="1400" dirty="0" err="1"/>
                        <a:t>varchar</a:t>
                      </a:r>
                      <a:r>
                        <a:rPr lang="en-US" sz="1400" dirty="0"/>
                        <a:t>(50)</a:t>
                      </a:r>
                    </a:p>
                  </a:txBody>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nvGraphicFramePr>
        <p:xfrm>
          <a:off x="990600" y="3581400"/>
          <a:ext cx="2362200" cy="640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171321">
                <a:tc>
                  <a:txBody>
                    <a:bodyPr/>
                    <a:lstStyle/>
                    <a:p>
                      <a:r>
                        <a:rPr lang="en-US" sz="1600" b="1" kern="1200" dirty="0">
                          <a:solidFill>
                            <a:schemeClr val="lt1"/>
                          </a:solidFill>
                          <a:latin typeface="Algerian" pitchFamily="82" charset="0"/>
                          <a:ea typeface="+mn-ea"/>
                          <a:cs typeface="+mn-cs"/>
                        </a:rPr>
                        <a:t>Calendar</a:t>
                      </a:r>
                    </a:p>
                  </a:txBody>
                  <a:tcPr/>
                </a:tc>
                <a:extLst>
                  <a:ext uri="{0D108BD9-81ED-4DB2-BD59-A6C34878D82A}">
                    <a16:rowId xmlns:a16="http://schemas.microsoft.com/office/drawing/2014/main" val="10000"/>
                  </a:ext>
                </a:extLst>
              </a:tr>
              <a:tr h="148616">
                <a:tc>
                  <a:txBody>
                    <a:bodyPr/>
                    <a:lstStyle/>
                    <a:p>
                      <a:r>
                        <a:rPr lang="en-US" sz="1400" dirty="0"/>
                        <a:t>PK    Day date</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solidFill>
                  <a:schemeClr val="accent1"/>
                </a:solidFill>
                <a:latin typeface="Algerian" pitchFamily="82" charset="0"/>
              </a:rPr>
              <a:t>Possible ETL jobs and test cases</a:t>
            </a:r>
            <a:br>
              <a:rPr lang="en-US" dirty="0"/>
            </a:br>
            <a:endParaRPr lang="en-US" dirty="0"/>
          </a:p>
        </p:txBody>
      </p:sp>
      <p:sp>
        <p:nvSpPr>
          <p:cNvPr id="3" name="Content Placeholder 2"/>
          <p:cNvSpPr>
            <a:spLocks noGrp="1"/>
          </p:cNvSpPr>
          <p:nvPr>
            <p:ph sz="quarter" idx="1"/>
          </p:nvPr>
        </p:nvSpPr>
        <p:spPr/>
        <p:txBody>
          <a:bodyPr>
            <a:normAutofit fontScale="55000" lnSpcReduction="20000"/>
          </a:bodyPr>
          <a:lstStyle/>
          <a:p>
            <a:pPr>
              <a:buNone/>
            </a:pPr>
            <a:r>
              <a:rPr lang="en-US" b="1" dirty="0">
                <a:solidFill>
                  <a:schemeClr val="accent2"/>
                </a:solidFill>
                <a:latin typeface="Arial" panose="020B0604020202020204" pitchFamily="34" charset="0"/>
                <a:cs typeface="Arial" panose="020B0604020202020204" pitchFamily="34" charset="0"/>
              </a:rPr>
              <a:t>Test cases for Hotel:</a:t>
            </a:r>
          </a:p>
          <a:p>
            <a:r>
              <a:rPr lang="en-US" b="1" dirty="0"/>
              <a:t>Add Reservation</a:t>
            </a:r>
            <a:endParaRPr lang="en-US" sz="2400" b="1" dirty="0">
              <a:solidFill>
                <a:schemeClr val="accent2"/>
              </a:solidFill>
              <a:latin typeface="Arial" panose="020B0604020202020204" pitchFamily="34" charset="0"/>
              <a:cs typeface="Arial" panose="020B0604020202020204" pitchFamily="34" charset="0"/>
            </a:endParaRPr>
          </a:p>
          <a:p>
            <a:pPr marL="342900" indent="-342900">
              <a:buNone/>
            </a:pPr>
            <a:r>
              <a:rPr lang="en-US" dirty="0"/>
              <a:t>1.Verify that user can  add reservation .</a:t>
            </a:r>
          </a:p>
          <a:p>
            <a:pPr marL="342900" indent="-342900">
              <a:buNone/>
            </a:pPr>
            <a:r>
              <a:rPr lang="en-US" dirty="0"/>
              <a:t>2.Verify that system should calculate &amp; display the departure date.</a:t>
            </a:r>
          </a:p>
          <a:p>
            <a:pPr marL="342900" indent="-342900">
              <a:buNone/>
            </a:pPr>
            <a:r>
              <a:rPr lang="en-US" dirty="0"/>
              <a:t>3.Verify that user can select an empty room.</a:t>
            </a:r>
          </a:p>
          <a:p>
            <a:pPr marL="342900" indent="-342900">
              <a:buNone/>
            </a:pPr>
            <a:r>
              <a:rPr lang="en-US" dirty="0"/>
              <a:t>4.Verify that system generates a unique id every reservation.</a:t>
            </a:r>
          </a:p>
          <a:p>
            <a:pPr marL="342900" indent="-342900">
              <a:buNone/>
            </a:pPr>
            <a:r>
              <a:rPr lang="en-US" dirty="0"/>
              <a:t>5Verify that system must display a confirmation message upon saving reservation.</a:t>
            </a:r>
          </a:p>
          <a:p>
            <a:pPr marL="342900" indent="-342900">
              <a:buNone/>
            </a:pPr>
            <a:r>
              <a:rPr lang="en-US" dirty="0"/>
              <a:t>6.Verify that System updates the existing reservation list.</a:t>
            </a:r>
          </a:p>
          <a:p>
            <a:pPr marL="342900" indent="-342900">
              <a:buNone/>
            </a:pPr>
            <a:r>
              <a:rPr lang="en-US" dirty="0"/>
              <a:t>7.Verify that every field in the reservation form only accept the respective input only.</a:t>
            </a:r>
          </a:p>
          <a:p>
            <a:r>
              <a:rPr lang="en-US" b="1" dirty="0"/>
              <a:t>Check – In</a:t>
            </a:r>
          </a:p>
          <a:p>
            <a:pPr>
              <a:buNone/>
            </a:pPr>
            <a:r>
              <a:rPr lang="en-US" dirty="0"/>
              <a:t>1.Verify that user can invoke check - in interface by clicking 'CK-IN' button from the main menu.</a:t>
            </a:r>
          </a:p>
          <a:p>
            <a:pPr>
              <a:buNone/>
            </a:pPr>
            <a:r>
              <a:rPr lang="en-US" dirty="0"/>
              <a:t>2.Verify that System display reservation information.</a:t>
            </a:r>
          </a:p>
          <a:p>
            <a:pPr>
              <a:buNone/>
            </a:pPr>
            <a:r>
              <a:rPr lang="en-US" dirty="0"/>
              <a:t>3.Verify that System allow user can change reservation status from 'reserve' to 'check-in' by clicking check-in button. </a:t>
            </a:r>
          </a:p>
          <a:p>
            <a:pPr>
              <a:buNone/>
            </a:pPr>
            <a:r>
              <a:rPr lang="en-US" dirty="0"/>
              <a:t>4.Verify that System should allow user to print check - in details.</a:t>
            </a:r>
          </a:p>
          <a:p>
            <a:pPr>
              <a:buNone/>
            </a:pPr>
            <a:endParaRPr lang="en-US" dirty="0"/>
          </a:p>
          <a:p>
            <a:pPr marL="342900" indent="-342900">
              <a:buAutoNum type="arabicPeriod"/>
            </a:pPr>
            <a:endParaRPr lang="en-US" sz="2400" dirty="0">
              <a:solidFill>
                <a:schemeClr val="accent2"/>
              </a:solidFill>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pPr>
              <a:lnSpc>
                <a:spcPct val="90000"/>
              </a:lnSpc>
            </a:pPr>
            <a:r>
              <a:rPr lang="en-US" sz="1700" b="1" dirty="0"/>
              <a:t>Check Out</a:t>
            </a:r>
          </a:p>
          <a:p>
            <a:pPr>
              <a:lnSpc>
                <a:spcPct val="90000"/>
              </a:lnSpc>
              <a:buNone/>
            </a:pPr>
            <a:r>
              <a:rPr lang="en-US" sz="1700" dirty="0"/>
              <a:t>1.Verify that System should allow user to invoke check out interface by </a:t>
            </a:r>
          </a:p>
          <a:p>
            <a:pPr>
              <a:lnSpc>
                <a:spcPct val="90000"/>
              </a:lnSpc>
              <a:buNone/>
            </a:pPr>
            <a:r>
              <a:rPr lang="en-US" sz="1700" dirty="0"/>
              <a:t>   clicking 'C OUT' button.</a:t>
            </a:r>
          </a:p>
          <a:p>
            <a:pPr>
              <a:lnSpc>
                <a:spcPct val="90000"/>
              </a:lnSpc>
              <a:buNone/>
            </a:pPr>
            <a:r>
              <a:rPr lang="en-US" sz="1700" dirty="0"/>
              <a:t>2. Verify that System should allow user to invoke search reservation guest  to </a:t>
            </a:r>
          </a:p>
          <a:p>
            <a:pPr>
              <a:lnSpc>
                <a:spcPct val="90000"/>
              </a:lnSpc>
              <a:buNone/>
            </a:pPr>
            <a:r>
              <a:rPr lang="en-US" sz="1700" dirty="0"/>
              <a:t>   search reservation.</a:t>
            </a:r>
          </a:p>
          <a:p>
            <a:pPr>
              <a:lnSpc>
                <a:spcPct val="90000"/>
              </a:lnSpc>
              <a:buNone/>
            </a:pPr>
            <a:r>
              <a:rPr lang="en-US" sz="1700" dirty="0"/>
              <a:t>3. Verify that System should allow user to change reservation status to 'check-out‘</a:t>
            </a:r>
          </a:p>
          <a:p>
            <a:pPr>
              <a:lnSpc>
                <a:spcPct val="90000"/>
              </a:lnSpc>
              <a:buNone/>
            </a:pPr>
            <a:r>
              <a:rPr lang="en-US" sz="1700" dirty="0"/>
              <a:t>   in main reservation list.</a:t>
            </a:r>
          </a:p>
          <a:p>
            <a:endParaRPr lang="en-US" dirty="0"/>
          </a:p>
        </p:txBody>
      </p:sp>
      <p:pic>
        <p:nvPicPr>
          <p:cNvPr id="4" name="Picture 2"/>
          <p:cNvPicPr>
            <a:picLocks noChangeAspect="1" noChangeArrowheads="1"/>
          </p:cNvPicPr>
          <p:nvPr/>
        </p:nvPicPr>
        <p:blipFill>
          <a:blip r:embed="rId2" cstate="print"/>
          <a:srcRect/>
          <a:stretch>
            <a:fillRect/>
          </a:stretch>
        </p:blipFill>
        <p:spPr bwMode="auto">
          <a:xfrm>
            <a:off x="1981200" y="3886200"/>
            <a:ext cx="5410200" cy="25146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solidFill>
                  <a:schemeClr val="accent1"/>
                </a:solidFill>
                <a:latin typeface="Algerian" pitchFamily="82" charset="0"/>
              </a:rPr>
              <a:t>List possible BI reports  and test cases</a:t>
            </a:r>
          </a:p>
        </p:txBody>
      </p:sp>
      <p:pic>
        <p:nvPicPr>
          <p:cNvPr id="6" name="Content Placeholder 5"/>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1693314" y="1600200"/>
            <a:ext cx="5992321" cy="4495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1"/>
                </a:solidFill>
                <a:latin typeface="Algerian" pitchFamily="82" charset="0"/>
                <a:cs typeface="Andalus" pitchFamily="18" charset="-78"/>
              </a:rPr>
              <a:t>Contd</a:t>
            </a:r>
            <a:r>
              <a:rPr lang="en-US" dirty="0">
                <a:solidFill>
                  <a:schemeClr val="accent1"/>
                </a:solidFill>
                <a:latin typeface="Algerian" pitchFamily="82" charset="0"/>
                <a:cs typeface="Andalus" pitchFamily="18" charset="-78"/>
              </a:rPr>
              <a:t>…….</a:t>
            </a:r>
          </a:p>
        </p:txBody>
      </p:sp>
      <p:sp>
        <p:nvSpPr>
          <p:cNvPr id="3" name="Content Placeholder 2"/>
          <p:cNvSpPr>
            <a:spLocks noGrp="1"/>
          </p:cNvSpPr>
          <p:nvPr>
            <p:ph sz="quarter" idx="1"/>
          </p:nvPr>
        </p:nvSpPr>
        <p:spPr/>
        <p:txBody>
          <a:bodyPr>
            <a:normAutofit fontScale="62500" lnSpcReduction="20000"/>
          </a:bodyPr>
          <a:lstStyle/>
          <a:p>
            <a:r>
              <a:rPr lang="en-US" sz="3200" b="1" dirty="0">
                <a:solidFill>
                  <a:schemeClr val="accent2"/>
                </a:solidFill>
                <a:latin typeface="Arial" panose="020B0604020202020204" pitchFamily="34" charset="0"/>
                <a:cs typeface="Arial" panose="020B0604020202020204" pitchFamily="34" charset="0"/>
              </a:rPr>
              <a:t>BI Test cases for Hotel </a:t>
            </a:r>
          </a:p>
          <a:p>
            <a:pPr>
              <a:buNone/>
            </a:pPr>
            <a:r>
              <a:rPr lang="en-US" sz="3200" dirty="0"/>
              <a:t>1. To satisfy the hotels and consumer needs, it is essential to have access to a Business Intelligence (BI) system, which consolidates all the relevant data to be used by the analytical tools. </a:t>
            </a:r>
          </a:p>
          <a:p>
            <a:pPr>
              <a:buNone/>
            </a:pPr>
            <a:r>
              <a:rPr lang="en-US" sz="3200" dirty="0"/>
              <a:t>2. In this sense, BI systems have some challenges related to the definition of an adequate methodology to integrate and store the retrieved data into a hospitality Big Data Warehouse. </a:t>
            </a:r>
          </a:p>
          <a:p>
            <a:pPr>
              <a:buNone/>
            </a:pPr>
            <a:r>
              <a:rPr lang="en-US" sz="3200" dirty="0"/>
              <a:t>3. (</a:t>
            </a:r>
            <a:r>
              <a:rPr lang="en-US" sz="3200" dirty="0" err="1"/>
              <a:t>i</a:t>
            </a:r>
            <a:r>
              <a:rPr lang="en-US" sz="3200" dirty="0"/>
              <a:t>) integration of the information collected from different internet sources.</a:t>
            </a:r>
          </a:p>
          <a:p>
            <a:pPr>
              <a:buNone/>
            </a:pPr>
            <a:r>
              <a:rPr lang="en-US" sz="3200" dirty="0"/>
              <a:t>    (ii) Update and maintenance of the new information gathered from the internet (once the information about accommodation is constantly changing), e.g., the rooms prices or the promotions offered in according with the customer profile.</a:t>
            </a:r>
          </a:p>
          <a:p>
            <a:pPr>
              <a:buNone/>
            </a:pPr>
            <a:r>
              <a:rPr lang="en-US" sz="3200" dirty="0"/>
              <a:t>    (iii) Maintenance of the historical data, which will be relevant to the hotel big data analytics, in order to achieve the business intelligence systems requirements </a:t>
            </a:r>
            <a:endParaRPr lang="en-US" sz="3200" dirty="0">
              <a:solidFill>
                <a:schemeClr val="accent2"/>
              </a:solidFill>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solidFill>
                  <a:schemeClr val="accent1"/>
                </a:solidFill>
                <a:latin typeface="Algerian" pitchFamily="82" charset="0"/>
              </a:rPr>
              <a:t>Aggregations that would improve DW performance</a:t>
            </a:r>
          </a:p>
        </p:txBody>
      </p:sp>
      <p:sp>
        <p:nvSpPr>
          <p:cNvPr id="3" name="Content Placeholder 2"/>
          <p:cNvSpPr>
            <a:spLocks noGrp="1"/>
          </p:cNvSpPr>
          <p:nvPr>
            <p:ph sz="quarter" idx="1"/>
          </p:nvPr>
        </p:nvSpPr>
        <p:spPr/>
        <p:txBody>
          <a:bodyPr>
            <a:normAutofit fontScale="85000" lnSpcReduction="20000"/>
          </a:bodyPr>
          <a:lstStyle/>
          <a:p>
            <a:pPr>
              <a:buNone/>
            </a:pPr>
            <a:r>
              <a:rPr lang="en-US" b="1" dirty="0"/>
              <a:t>    Aggregates</a:t>
            </a:r>
            <a:r>
              <a:rPr lang="en-US" dirty="0"/>
              <a:t> are used in </a:t>
            </a:r>
            <a:r>
              <a:rPr lang="en-US" dirty="0">
                <a:hlinkClick r:id="rId2" tooltip="Dimensional modeling"/>
              </a:rPr>
              <a:t>dimensional models</a:t>
            </a:r>
            <a:r>
              <a:rPr lang="en-US" dirty="0"/>
              <a:t> of the </a:t>
            </a:r>
            <a:r>
              <a:rPr lang="en-US" dirty="0">
                <a:hlinkClick r:id="rId3" tooltip="Data warehouse"/>
              </a:rPr>
              <a:t>data warehouse</a:t>
            </a:r>
            <a:r>
              <a:rPr lang="en-US" dirty="0"/>
              <a:t> to produce dramatic positive effects on the time it takes to query large sets of </a:t>
            </a:r>
            <a:r>
              <a:rPr lang="en-US" dirty="0">
                <a:hlinkClick r:id="rId4" tooltip="Data (computing)"/>
              </a:rPr>
              <a:t>data</a:t>
            </a:r>
            <a:r>
              <a:rPr lang="en-US" dirty="0"/>
              <a:t>. At the simplest form an </a:t>
            </a:r>
            <a:r>
              <a:rPr lang="en-US" b="1" dirty="0"/>
              <a:t>aggregate</a:t>
            </a:r>
            <a:r>
              <a:rPr lang="en-US" dirty="0"/>
              <a:t> is a simple summary table that can be derived by performing a </a:t>
            </a:r>
            <a:r>
              <a:rPr lang="en-US" i="1" dirty="0">
                <a:hlinkClick r:id="rId5" tooltip="Group by"/>
              </a:rPr>
              <a:t>Group by</a:t>
            </a:r>
            <a:r>
              <a:rPr lang="en-US" dirty="0"/>
              <a:t> SQL query.</a:t>
            </a:r>
          </a:p>
          <a:p>
            <a:pPr>
              <a:buNone/>
            </a:pPr>
            <a:endParaRPr lang="en-US" sz="2400" b="1" dirty="0">
              <a:solidFill>
                <a:schemeClr val="accent2"/>
              </a:solidFill>
              <a:latin typeface="Arial" panose="020B0604020202020204" pitchFamily="34" charset="0"/>
              <a:cs typeface="Arial" panose="020B0604020202020204" pitchFamily="34" charset="0"/>
            </a:endParaRPr>
          </a:p>
          <a:p>
            <a:pPr>
              <a:buNone/>
            </a:pPr>
            <a:r>
              <a:rPr lang="en-US" i="1" dirty="0"/>
              <a:t>    The single most dramatic way to affect performance in a large data warehouse is to provide a proper set of aggregate (summary) records that coexist with the primary base records. Aggregates can have a very significant effect on performance, in some cases speeding queries by a factor of one hundred or even one thousand. No other means exist to harvest such spectacular gains.</a:t>
            </a:r>
            <a:endParaRPr lang="en-US" sz="2400" b="1" dirty="0">
              <a:solidFill>
                <a:schemeClr val="accent2"/>
              </a:solidFill>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1"/>
                </a:solidFill>
                <a:latin typeface="Algerian" pitchFamily="82" charset="0"/>
              </a:rPr>
              <a:t>Contd</a:t>
            </a:r>
            <a:r>
              <a:rPr lang="en-US" dirty="0">
                <a:solidFill>
                  <a:schemeClr val="accent1"/>
                </a:solidFill>
                <a:latin typeface="Algerian" pitchFamily="82" charset="0"/>
              </a:rPr>
              <a:t>……..</a:t>
            </a:r>
          </a:p>
        </p:txBody>
      </p:sp>
      <p:sp>
        <p:nvSpPr>
          <p:cNvPr id="3" name="Content Placeholder 2"/>
          <p:cNvSpPr>
            <a:spLocks noGrp="1"/>
          </p:cNvSpPr>
          <p:nvPr>
            <p:ph sz="quarter" idx="1"/>
          </p:nvPr>
        </p:nvSpPr>
        <p:spPr/>
        <p:txBody>
          <a:bodyPr>
            <a:normAutofit fontScale="70000" lnSpcReduction="20000"/>
          </a:bodyPr>
          <a:lstStyle/>
          <a:p>
            <a:pPr>
              <a:buNone/>
            </a:pPr>
            <a:r>
              <a:rPr lang="en-US" sz="2400" b="1" dirty="0">
                <a:solidFill>
                  <a:schemeClr val="accent2"/>
                </a:solidFill>
                <a:latin typeface="Arial" panose="020B0604020202020204" pitchFamily="34" charset="0"/>
                <a:cs typeface="Arial" panose="020B0604020202020204" pitchFamily="34" charset="0"/>
              </a:rPr>
              <a:t> Aggregations that would improve DW performance</a:t>
            </a:r>
          </a:p>
          <a:p>
            <a:endParaRPr lang="en-US" sz="2400" b="1" dirty="0">
              <a:solidFill>
                <a:schemeClr val="accent2"/>
              </a:solidFill>
              <a:latin typeface="Arial" panose="020B0604020202020204" pitchFamily="34" charset="0"/>
              <a:cs typeface="Arial" panose="020B0604020202020204" pitchFamily="34" charset="0"/>
            </a:endParaRPr>
          </a:p>
          <a:p>
            <a:pPr>
              <a:buNone/>
            </a:pPr>
            <a:r>
              <a:rPr lang="en-US" dirty="0"/>
              <a:t>1. Having aggregates and atomic data increases the complexity of the dimensional model. </a:t>
            </a:r>
          </a:p>
          <a:p>
            <a:pPr>
              <a:buNone/>
            </a:pPr>
            <a:r>
              <a:rPr lang="en-US" dirty="0"/>
              <a:t>2. This complexity should be transparent to the users of the data </a:t>
            </a:r>
            <a:r>
              <a:rPr lang="en-US" dirty="0" err="1"/>
              <a:t>warehouse,thus</a:t>
            </a:r>
            <a:r>
              <a:rPr lang="en-US" dirty="0"/>
              <a:t> when a request is made, the data warehouse should return data from the table with the correct grain. So when requests to the data warehouse are made, aggregate navigator functionality should be implemented, to help determine the correct table with the correct grain. </a:t>
            </a:r>
          </a:p>
          <a:p>
            <a:pPr>
              <a:buNone/>
            </a:pPr>
            <a:r>
              <a:rPr lang="en-US" dirty="0"/>
              <a:t>3. The number of possible aggregations is determined by every possible  combination of dimension granularities. Since it would produce a lot of overhead to build all possible aggregations, it is a good idea to choose a subset of tables on which to make aggregations. </a:t>
            </a:r>
          </a:p>
          <a:p>
            <a:pPr>
              <a:buNone/>
            </a:pPr>
            <a:r>
              <a:rPr lang="en-US" dirty="0"/>
              <a:t>4. The best way to choose this subset and decide which aggregations to build is to monitor queries and design aggregations to match query patterns.  </a:t>
            </a:r>
            <a:endParaRPr lang="en-US" sz="2400" dirty="0">
              <a:solidFill>
                <a:schemeClr val="accent2"/>
              </a:solidFill>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solidFill>
                  <a:schemeClr val="accent1"/>
                </a:solidFill>
                <a:latin typeface="Algerian" pitchFamily="82" charset="0"/>
              </a:rPr>
              <a:t>Metadata items that will be of interest to various stakeholders</a:t>
            </a:r>
          </a:p>
        </p:txBody>
      </p:sp>
      <p:sp>
        <p:nvSpPr>
          <p:cNvPr id="3" name="Content Placeholder 2"/>
          <p:cNvSpPr>
            <a:spLocks noGrp="1"/>
          </p:cNvSpPr>
          <p:nvPr>
            <p:ph sz="quarter" idx="1"/>
          </p:nvPr>
        </p:nvSpPr>
        <p:spPr/>
        <p:txBody>
          <a:bodyPr>
            <a:normAutofit fontScale="92500" lnSpcReduction="20000"/>
          </a:bodyPr>
          <a:lstStyle/>
          <a:p>
            <a:pPr>
              <a:buNone/>
            </a:pPr>
            <a:r>
              <a:rPr lang="en-US" sz="3200" dirty="0"/>
              <a:t>   In a data warehouse, we create metadata for the data names and definitions of a given data warehouse. Along with this metadata, additional metadata is also created for time-stamping any extracted data, the source of extracted </a:t>
            </a:r>
            <a:r>
              <a:rPr lang="en-US" sz="3200" dirty="0" err="1"/>
              <a:t>data.Metadata</a:t>
            </a:r>
            <a:r>
              <a:rPr lang="en-US" sz="3200" dirty="0"/>
              <a:t> in a data warehouse defines the warehouse objects</a:t>
            </a:r>
            <a:r>
              <a:rPr lang="en-US" dirty="0"/>
              <a:t>.</a:t>
            </a:r>
            <a:endParaRPr lang="en-US" sz="3200" dirty="0"/>
          </a:p>
          <a:p>
            <a:endParaRPr lang="en-US" sz="3200" dirty="0">
              <a:solidFill>
                <a:schemeClr val="accent2"/>
              </a:solidFill>
              <a:latin typeface="Arial" panose="020B0604020202020204" pitchFamily="34" charset="0"/>
              <a:cs typeface="Arial" panose="020B0604020202020204" pitchFamily="34" charset="0"/>
            </a:endParaRPr>
          </a:p>
          <a:p>
            <a:r>
              <a:rPr lang="en-US" sz="3200" dirty="0">
                <a:solidFill>
                  <a:schemeClr val="accent2"/>
                </a:solidFill>
                <a:latin typeface="Arial" panose="020B0604020202020204" pitchFamily="34" charset="0"/>
                <a:cs typeface="Arial" panose="020B0604020202020204" pitchFamily="34" charset="0"/>
              </a:rPr>
              <a:t>For example:</a:t>
            </a:r>
          </a:p>
          <a:p>
            <a:pPr>
              <a:buNone/>
            </a:pPr>
            <a:r>
              <a:rPr lang="en-US" sz="3200" dirty="0"/>
              <a:t>The </a:t>
            </a:r>
            <a:r>
              <a:rPr lang="en-US" sz="3200" dirty="0" err="1"/>
              <a:t>menucard</a:t>
            </a:r>
            <a:r>
              <a:rPr lang="en-US" sz="3200" dirty="0"/>
              <a:t> of a hotel serves as a metadata for the contents in the </a:t>
            </a:r>
            <a:r>
              <a:rPr lang="en-US" sz="3200" dirty="0" err="1"/>
              <a:t>menucard</a:t>
            </a:r>
            <a:r>
              <a:rPr lang="en-US" sz="3200" dirty="0"/>
              <a:t> of a hotel. </a:t>
            </a:r>
            <a:endParaRPr lang="en-US" sz="3200" dirty="0">
              <a:solidFill>
                <a:schemeClr val="accent2"/>
              </a:solidFill>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1"/>
                </a:solidFill>
                <a:latin typeface="Algerian" pitchFamily="82" charset="0"/>
              </a:rPr>
              <a:t>Contd</a:t>
            </a:r>
            <a:r>
              <a:rPr lang="en-US" dirty="0">
                <a:solidFill>
                  <a:schemeClr val="accent1"/>
                </a:solidFill>
                <a:latin typeface="Algerian" pitchFamily="82" charset="0"/>
              </a:rPr>
              <a:t>……</a:t>
            </a:r>
          </a:p>
        </p:txBody>
      </p:sp>
      <p:pic>
        <p:nvPicPr>
          <p:cNvPr id="4" name="Content Placeholder 3"/>
          <p:cNvPicPr>
            <a:picLocks noGrp="1" noChangeAspect="1"/>
          </p:cNvPicPr>
          <p:nvPr>
            <p:ph sz="quarter" idx="1"/>
          </p:nvPr>
        </p:nvPicPr>
        <p:blipFill>
          <a:blip r:embed="rId2" cstate="print">
            <a:extLst>
              <a:ext uri="{28A0092B-C50C-407E-A947-70E740481C1C}">
                <a14:useLocalDpi xmlns:a14="http://schemas.microsoft.com/office/drawing/2010/main" val="0"/>
              </a:ext>
            </a:extLst>
          </a:blip>
          <a:stretch>
            <a:fillRect/>
          </a:stretch>
        </p:blipFill>
        <p:spPr>
          <a:xfrm>
            <a:off x="2536825" y="2605087"/>
            <a:ext cx="4305300" cy="24860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1"/>
                </a:solidFill>
                <a:latin typeface="Algerian" pitchFamily="82" charset="0"/>
              </a:rPr>
              <a:t>Contd</a:t>
            </a:r>
            <a:r>
              <a:rPr lang="en-US" dirty="0">
                <a:solidFill>
                  <a:schemeClr val="accent1"/>
                </a:solidFill>
                <a:latin typeface="Algerian" pitchFamily="82" charset="0"/>
              </a:rPr>
              <a:t>……….</a:t>
            </a:r>
          </a:p>
        </p:txBody>
      </p:sp>
      <p:sp>
        <p:nvSpPr>
          <p:cNvPr id="3" name="Content Placeholder 2"/>
          <p:cNvSpPr>
            <a:spLocks noGrp="1"/>
          </p:cNvSpPr>
          <p:nvPr>
            <p:ph sz="quarter" idx="1"/>
          </p:nvPr>
        </p:nvSpPr>
        <p:spPr/>
        <p:txBody>
          <a:bodyPr>
            <a:normAutofit fontScale="55000" lnSpcReduction="20000"/>
          </a:bodyPr>
          <a:lstStyle/>
          <a:p>
            <a:pPr>
              <a:buNone/>
            </a:pPr>
            <a:r>
              <a:rPr lang="en-US" sz="3200" b="1" dirty="0">
                <a:solidFill>
                  <a:schemeClr val="accent2"/>
                </a:solidFill>
                <a:latin typeface="Arial" panose="020B0604020202020204" pitchFamily="34" charset="0"/>
                <a:cs typeface="Arial" panose="020B0604020202020204" pitchFamily="34" charset="0"/>
              </a:rPr>
              <a:t>1.Data acquisition </a:t>
            </a:r>
            <a:r>
              <a:rPr lang="en-US" sz="3200" b="1" dirty="0" err="1">
                <a:solidFill>
                  <a:schemeClr val="accent2"/>
                </a:solidFill>
                <a:latin typeface="Arial" panose="020B0604020202020204" pitchFamily="34" charset="0"/>
                <a:cs typeface="Arial" panose="020B0604020202020204" pitchFamily="34" charset="0"/>
              </a:rPr>
              <a:t>MetaData</a:t>
            </a:r>
            <a:endParaRPr lang="en-US" sz="3200" b="1" dirty="0">
              <a:solidFill>
                <a:schemeClr val="accent2"/>
              </a:solidFill>
              <a:latin typeface="Arial" panose="020B0604020202020204" pitchFamily="34" charset="0"/>
              <a:cs typeface="Arial" panose="020B0604020202020204" pitchFamily="34" charset="0"/>
            </a:endParaRPr>
          </a:p>
          <a:p>
            <a:pPr marL="285750" indent="-285750">
              <a:buNone/>
            </a:pPr>
            <a:r>
              <a:rPr lang="en-US" altLang="en-US" sz="3200" dirty="0"/>
              <a:t>    Used for administering &amp; monitoring the ongoing functions of the DW Monitoring ongoing Extraction &amp; Transformation Ongoing load images are created properly using the Data Acquisition metadata used by users to find the data sources for the data elements in his/her queries.</a:t>
            </a:r>
          </a:p>
          <a:p>
            <a:endParaRPr lang="en-US" sz="1400" dirty="0">
              <a:solidFill>
                <a:schemeClr val="accent2"/>
              </a:solidFill>
              <a:latin typeface="Arial" panose="020B0604020202020204" pitchFamily="34" charset="0"/>
              <a:cs typeface="Arial" panose="020B0604020202020204" pitchFamily="34" charset="0"/>
            </a:endParaRPr>
          </a:p>
          <a:p>
            <a:pPr>
              <a:buNone/>
            </a:pPr>
            <a:r>
              <a:rPr lang="en-US" sz="3100" b="1" dirty="0">
                <a:solidFill>
                  <a:schemeClr val="accent2"/>
                </a:solidFill>
                <a:latin typeface="Arial" panose="020B0604020202020204" pitchFamily="34" charset="0"/>
                <a:cs typeface="Arial" panose="020B0604020202020204" pitchFamily="34" charset="0"/>
              </a:rPr>
              <a:t>2.Data Storage Metadata</a:t>
            </a:r>
            <a:endParaRPr lang="en-US" altLang="en-US" sz="2000" dirty="0"/>
          </a:p>
          <a:p>
            <a:pPr marL="285750" indent="-285750" algn="just">
              <a:buFont typeface="Arial" panose="020B0604020202020204" pitchFamily="34" charset="0"/>
              <a:buChar char="•"/>
            </a:pPr>
            <a:r>
              <a:rPr lang="en-US" altLang="en-US" sz="3200" dirty="0"/>
              <a:t>The tools record the metadata elements during the development phases as well as while the </a:t>
            </a:r>
            <a:r>
              <a:rPr lang="en-US" altLang="en-US" sz="3200" dirty="0" err="1"/>
              <a:t>dataWare</a:t>
            </a:r>
            <a:r>
              <a:rPr lang="en-US" altLang="en-US" sz="3200" dirty="0"/>
              <a:t> house is in operation after deployment</a:t>
            </a:r>
          </a:p>
          <a:p>
            <a:pPr marL="285750" indent="-285750" algn="just">
              <a:buFont typeface="Arial" panose="020B0604020202020204" pitchFamily="34" charset="0"/>
              <a:buChar char="•"/>
            </a:pPr>
            <a:r>
              <a:rPr lang="en-US" altLang="en-US" sz="3200" dirty="0"/>
              <a:t>Metadata used for development, administration, and by the users</a:t>
            </a:r>
          </a:p>
          <a:p>
            <a:pPr lvl="1" algn="just"/>
            <a:r>
              <a:rPr lang="en-US" altLang="en-US" sz="3200" dirty="0"/>
              <a:t>Used for full data refreshes and incremental data loads</a:t>
            </a:r>
          </a:p>
          <a:p>
            <a:pPr lvl="1" algn="just"/>
            <a:r>
              <a:rPr lang="en-US" altLang="en-US" sz="3200" dirty="0"/>
              <a:t>DBA will use for processes of recovery, backup, and tuning</a:t>
            </a:r>
          </a:p>
          <a:p>
            <a:pPr lvl="1" algn="just"/>
            <a:r>
              <a:rPr lang="en-US" altLang="en-US" sz="3200" dirty="0"/>
              <a:t>For purging and archiving of data</a:t>
            </a:r>
          </a:p>
          <a:p>
            <a:pPr lvl="1" algn="just"/>
            <a:r>
              <a:rPr lang="en-US" altLang="en-US" sz="3200" dirty="0"/>
              <a:t>User wanting to do a drill-down from total quarterly sales to sales districts, would want to know</a:t>
            </a:r>
          </a:p>
          <a:p>
            <a:pPr lvl="1" algn="just"/>
            <a:r>
              <a:rPr lang="en-US" altLang="en-US" sz="3200" dirty="0"/>
              <a:t>about when was the last time the data on district delineation was loaded</a:t>
            </a:r>
          </a:p>
          <a:p>
            <a:endParaRPr lang="en-US" sz="1400" dirty="0">
              <a:solidFill>
                <a:schemeClr val="accent2"/>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accent1"/>
                </a:solidFill>
                <a:latin typeface="Algerian" pitchFamily="82" charset="0"/>
              </a:rPr>
              <a:t>Contd</a:t>
            </a:r>
            <a:r>
              <a:rPr lang="en-US" dirty="0">
                <a:solidFill>
                  <a:schemeClr val="accent1"/>
                </a:solidFill>
                <a:latin typeface="Algerian" pitchFamily="82" charset="0"/>
              </a:rPr>
              <a:t>…….</a:t>
            </a:r>
          </a:p>
        </p:txBody>
      </p:sp>
      <p:sp>
        <p:nvSpPr>
          <p:cNvPr id="3" name="Content Placeholder 2"/>
          <p:cNvSpPr>
            <a:spLocks noGrp="1"/>
          </p:cNvSpPr>
          <p:nvPr>
            <p:ph sz="quarter" idx="1"/>
          </p:nvPr>
        </p:nvSpPr>
        <p:spPr/>
        <p:txBody>
          <a:bodyPr>
            <a:normAutofit fontScale="25000" lnSpcReduction="20000"/>
          </a:bodyPr>
          <a:lstStyle/>
          <a:p>
            <a:pPr>
              <a:buNone/>
              <a:defRPr/>
            </a:pPr>
            <a:r>
              <a:rPr lang="en-US" sz="7200" b="1" dirty="0">
                <a:solidFill>
                  <a:schemeClr val="accent2"/>
                </a:solidFill>
                <a:latin typeface="Arial" panose="020B0604020202020204" pitchFamily="34" charset="0"/>
                <a:cs typeface="Arial" panose="020B0604020202020204" pitchFamily="34" charset="0"/>
              </a:rPr>
              <a:t>3.Information Delivery Metadata</a:t>
            </a:r>
            <a:endParaRPr lang="en-US" sz="6400" b="1" dirty="0"/>
          </a:p>
          <a:p>
            <a:pPr marL="342900" indent="-342900">
              <a:buFont typeface="Arial" panose="020B0604020202020204" pitchFamily="34" charset="0"/>
              <a:buChar char="•"/>
              <a:defRPr/>
            </a:pPr>
            <a:r>
              <a:rPr lang="en-US" sz="6400" dirty="0"/>
              <a:t>Most of the processes in this area are meant for end users while using the processes, end-users generally use metadata recorded in processes of the other two areas of data acquisition and data storage when a user creates a query with the aid of a query processing tool, he or she can refer back to metadata recorded in the data acquisition and data storage areas  can look up the source data configurations, data structures, and data transformations from the data acquisition area metadata can look up date of last full refresh and the incremental loads </a:t>
            </a:r>
            <a:r>
              <a:rPr lang="en-US" sz="6400" dirty="0" err="1"/>
              <a:t>forvarious</a:t>
            </a:r>
            <a:r>
              <a:rPr lang="en-US" sz="6400" dirty="0"/>
              <a:t> tables from the data storage area metadata</a:t>
            </a:r>
          </a:p>
          <a:p>
            <a:pPr>
              <a:buNone/>
              <a:defRPr/>
            </a:pPr>
            <a:r>
              <a:rPr lang="en-US" altLang="en-US" sz="7200" b="1" dirty="0">
                <a:solidFill>
                  <a:schemeClr val="accent2"/>
                </a:solidFill>
                <a:latin typeface="Arial" panose="020B0604020202020204" pitchFamily="34" charset="0"/>
                <a:cs typeface="Arial" panose="020B0604020202020204" pitchFamily="34" charset="0"/>
              </a:rPr>
              <a:t>4. Business Metadata</a:t>
            </a:r>
          </a:p>
          <a:p>
            <a:pPr marL="285750" indent="-285750">
              <a:buNone/>
            </a:pPr>
            <a:r>
              <a:rPr lang="en-US" altLang="en-US" sz="6400" dirty="0"/>
              <a:t>     Less structured than technical metadata, Originates from textual documents, spreadsheets, and even from  business rules and policies that are not written down completely. Most business users do not have technical skills to create their own queries or format their own reports. </a:t>
            </a:r>
          </a:p>
          <a:p>
            <a:pPr>
              <a:buNone/>
              <a:defRPr/>
            </a:pPr>
            <a:r>
              <a:rPr lang="en-US" altLang="en-US" sz="7200" b="1" dirty="0">
                <a:solidFill>
                  <a:schemeClr val="accent2"/>
                </a:solidFill>
                <a:latin typeface="Arial" panose="020B0604020202020204" pitchFamily="34" charset="0"/>
                <a:cs typeface="Arial" panose="020B0604020202020204" pitchFamily="34" charset="0"/>
              </a:rPr>
              <a:t>5. Technical Metadata</a:t>
            </a:r>
            <a:endParaRPr lang="en-US" sz="1400" dirty="0"/>
          </a:p>
          <a:p>
            <a:pPr marL="285750" indent="-285750">
              <a:buFont typeface="Arial" panose="020B0604020202020204" pitchFamily="34" charset="0"/>
              <a:buChar char="•"/>
              <a:defRPr/>
            </a:pPr>
            <a:r>
              <a:rPr lang="en-US" altLang="en-US" sz="6400" dirty="0"/>
              <a:t>Defines the objects and processes that make up the DW system from a technical perspective</a:t>
            </a:r>
          </a:p>
          <a:p>
            <a:pPr marL="285750" indent="-285750">
              <a:buFont typeface="Arial" panose="020B0604020202020204" pitchFamily="34" charset="0"/>
              <a:buChar char="•"/>
              <a:defRPr/>
            </a:pPr>
            <a:r>
              <a:rPr lang="en-US" altLang="en-US" sz="6400" dirty="0"/>
              <a:t>System metadata:</a:t>
            </a:r>
          </a:p>
          <a:p>
            <a:pPr lvl="1">
              <a:defRPr/>
            </a:pPr>
            <a:r>
              <a:rPr lang="en-US" altLang="en-US" sz="6400" dirty="0"/>
              <a:t>Defines data structures </a:t>
            </a:r>
          </a:p>
          <a:p>
            <a:pPr lvl="1">
              <a:defRPr/>
            </a:pPr>
            <a:r>
              <a:rPr lang="en-US" altLang="en-US" sz="6400" dirty="0"/>
              <a:t>Table, fields, indexes, and partitions in the relational engine</a:t>
            </a:r>
          </a:p>
          <a:p>
            <a:pPr lvl="1">
              <a:defRPr/>
            </a:pPr>
            <a:r>
              <a:rPr lang="en-US" altLang="en-US" sz="6400" dirty="0"/>
              <a:t>Databases, dimensions, and measures </a:t>
            </a:r>
          </a:p>
          <a:p>
            <a:endParaRPr lang="en-US" sz="3200" dirty="0"/>
          </a:p>
          <a:p>
            <a:endParaRPr lang="en-US" sz="2000" dirty="0">
              <a:solidFill>
                <a:schemeClr val="accent2"/>
              </a:solidFill>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scene3d>
              <a:camera prst="perspectiveLeft"/>
              <a:lightRig rig="threePt" dir="t"/>
            </a:scene3d>
            <a:sp3d extrusionH="57150">
              <a:bevelT w="38100" h="38100"/>
            </a:sp3d>
          </a:bodyPr>
          <a:lstStyle/>
          <a:p>
            <a:pPr algn="ctr">
              <a:buNone/>
            </a:pPr>
            <a:endParaRPr lang="en-US" sz="8000" dirty="0">
              <a:effectLst>
                <a:innerShdw blurRad="63500" dist="50800" dir="5400000">
                  <a:prstClr val="black">
                    <a:alpha val="50000"/>
                  </a:prstClr>
                </a:innerShdw>
              </a:effectLst>
              <a:latin typeface="Algerian" pitchFamily="82" charset="0"/>
            </a:endParaRPr>
          </a:p>
          <a:p>
            <a:pPr algn="ctr">
              <a:buNone/>
            </a:pPr>
            <a:r>
              <a:rPr lang="en-US" sz="8000" dirty="0">
                <a:solidFill>
                  <a:schemeClr val="accent1"/>
                </a:solidFill>
                <a:effectLst>
                  <a:innerShdw blurRad="63500" dist="50800" dir="5400000">
                    <a:prstClr val="black">
                      <a:alpha val="50000"/>
                    </a:prstClr>
                  </a:innerShdw>
                </a:effectLst>
                <a:latin typeface="Algerian" pitchFamily="82" charset="0"/>
              </a:rPr>
              <a:t>THANK YOU</a:t>
            </a:r>
          </a:p>
          <a:p>
            <a:pPr algn="ctr">
              <a:buNone/>
            </a:pPr>
            <a:r>
              <a:rPr lang="en-US" sz="8000" dirty="0">
                <a:solidFill>
                  <a:schemeClr val="accent1"/>
                </a:solidFill>
                <a:effectLst>
                  <a:innerShdw blurRad="63500" dist="50800" dir="5400000">
                    <a:prstClr val="black">
                      <a:alpha val="50000"/>
                    </a:prstClr>
                  </a:innerShdw>
                </a:effectLst>
                <a:latin typeface="Algerian" pitchFamily="82" charset="0"/>
              </a:rPr>
              <a:t>*************</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438</TotalTime>
  <Words>1714</Words>
  <Application>Microsoft Office PowerPoint</Application>
  <PresentationFormat>On-screen Show (4:3)</PresentationFormat>
  <Paragraphs>167</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Aharoni</vt:lpstr>
      <vt:lpstr>Algerian</vt:lpstr>
      <vt:lpstr>Arial</vt:lpstr>
      <vt:lpstr>Calibri</vt:lpstr>
      <vt:lpstr>Tw Cen MT</vt:lpstr>
      <vt:lpstr>Wingdings</vt:lpstr>
      <vt:lpstr>Wingdings 2</vt:lpstr>
      <vt:lpstr>Median</vt:lpstr>
      <vt:lpstr>DATAWAREHOUSE ASSIGNMENT</vt:lpstr>
      <vt:lpstr>INTRODUCTION : </vt:lpstr>
      <vt:lpstr> Business processes of interest to senior management </vt:lpstr>
      <vt:lpstr>Questions that would be raised for process/profitability/operations improvement</vt:lpstr>
      <vt:lpstr>DW Architecture</vt:lpstr>
      <vt:lpstr>EXPLANATION </vt:lpstr>
      <vt:lpstr>PowerPoint Presentation</vt:lpstr>
      <vt:lpstr>PowerPoint Presentation</vt:lpstr>
      <vt:lpstr>PowerPoint Presentation</vt:lpstr>
      <vt:lpstr>Possible ETL jobs and test cases </vt:lpstr>
      <vt:lpstr>PowerPoint Presentation</vt:lpstr>
      <vt:lpstr>List possible BI reports  and test cases</vt:lpstr>
      <vt:lpstr>Contd…….</vt:lpstr>
      <vt:lpstr>Aggregations that would improve DW performance</vt:lpstr>
      <vt:lpstr>Contd……..</vt:lpstr>
      <vt:lpstr>Metadata items that will be of interest to various stakeholders</vt:lpstr>
      <vt:lpstr>Contd……</vt:lpstr>
      <vt:lpstr>Contd……….</vt:lpstr>
      <vt:lpstr>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dc:title>
  <dc:creator>Sharma</dc:creator>
  <cp:lastModifiedBy>Chetan Singh Sengar</cp:lastModifiedBy>
  <cp:revision>16</cp:revision>
  <dcterms:created xsi:type="dcterms:W3CDTF">2018-07-14T06:24:08Z</dcterms:created>
  <dcterms:modified xsi:type="dcterms:W3CDTF">2019-07-25T12:00:24Z</dcterms:modified>
</cp:coreProperties>
</file>