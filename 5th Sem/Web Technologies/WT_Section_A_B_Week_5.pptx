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56" r:id="rId2"/>
    <p:sldId id="379" r:id="rId3"/>
    <p:sldId id="380" r:id="rId4"/>
    <p:sldId id="381" r:id="rId5"/>
    <p:sldId id="382" r:id="rId6"/>
    <p:sldId id="383" r:id="rId7"/>
    <p:sldId id="384" r:id="rId8"/>
    <p:sldId id="385" r:id="rId9"/>
    <p:sldId id="386" r:id="rId10"/>
    <p:sldId id="387" r:id="rId11"/>
    <p:sldId id="388" r:id="rId12"/>
    <p:sldId id="389" r:id="rId13"/>
    <p:sldId id="390" r:id="rId14"/>
    <p:sldId id="391" r:id="rId15"/>
    <p:sldId id="392" r:id="rId16"/>
    <p:sldId id="393" r:id="rId17"/>
    <p:sldId id="394" r:id="rId18"/>
    <p:sldId id="395" r:id="rId19"/>
    <p:sldId id="396" r:id="rId20"/>
    <p:sldId id="397" r:id="rId21"/>
    <p:sldId id="398" r:id="rId22"/>
    <p:sldId id="399" r:id="rId23"/>
    <p:sldId id="400" r:id="rId24"/>
    <p:sldId id="401" r:id="rId25"/>
    <p:sldId id="402" r:id="rId26"/>
    <p:sldId id="403" r:id="rId27"/>
    <p:sldId id="404" r:id="rId28"/>
    <p:sldId id="405" r:id="rId29"/>
    <p:sldId id="406" r:id="rId30"/>
    <p:sldId id="351" r:id="rId31"/>
    <p:sldId id="358" r:id="rId32"/>
    <p:sldId id="359" r:id="rId33"/>
    <p:sldId id="360" r:id="rId34"/>
    <p:sldId id="361" r:id="rId35"/>
    <p:sldId id="362" r:id="rId36"/>
    <p:sldId id="363" r:id="rId37"/>
    <p:sldId id="364" r:id="rId38"/>
    <p:sldId id="376" r:id="rId39"/>
    <p:sldId id="377" r:id="rId40"/>
    <p:sldId id="378" r:id="rId41"/>
    <p:sldId id="365" r:id="rId42"/>
    <p:sldId id="366" r:id="rId43"/>
    <p:sldId id="367" r:id="rId44"/>
    <p:sldId id="368" r:id="rId45"/>
    <p:sldId id="369" r:id="rId46"/>
    <p:sldId id="370" r:id="rId47"/>
    <p:sldId id="371" r:id="rId48"/>
    <p:sldId id="372" r:id="rId49"/>
    <p:sldId id="373" r:id="rId50"/>
    <p:sldId id="374" r:id="rId51"/>
    <p:sldId id="375" r:id="rId52"/>
    <p:sldId id="353" r:id="rId53"/>
    <p:sldId id="354" r:id="rId54"/>
    <p:sldId id="355" r:id="rId55"/>
    <p:sldId id="356" r:id="rId56"/>
    <p:sldId id="357" r:id="rId57"/>
    <p:sldId id="257" r:id="rId58"/>
    <p:sldId id="258" r:id="rId59"/>
    <p:sldId id="259" r:id="rId60"/>
    <p:sldId id="260" r:id="rId61"/>
    <p:sldId id="261" r:id="rId62"/>
    <p:sldId id="262" r:id="rId63"/>
    <p:sldId id="263" r:id="rId64"/>
    <p:sldId id="264" r:id="rId65"/>
    <p:sldId id="265" r:id="rId66"/>
    <p:sldId id="266" r:id="rId67"/>
    <p:sldId id="267" r:id="rId68"/>
    <p:sldId id="268" r:id="rId69"/>
    <p:sldId id="269" r:id="rId70"/>
    <p:sldId id="281" r:id="rId71"/>
    <p:sldId id="270" r:id="rId72"/>
    <p:sldId id="271" r:id="rId73"/>
    <p:sldId id="272" r:id="rId74"/>
    <p:sldId id="273" r:id="rId75"/>
    <p:sldId id="274" r:id="rId76"/>
    <p:sldId id="275" r:id="rId77"/>
    <p:sldId id="282" r:id="rId78"/>
    <p:sldId id="277" r:id="rId79"/>
    <p:sldId id="278" r:id="rId80"/>
    <p:sldId id="279" r:id="rId81"/>
    <p:sldId id="283" r:id="rId82"/>
    <p:sldId id="280" r:id="rId83"/>
    <p:sldId id="284" r:id="rId84"/>
    <p:sldId id="322" r:id="rId85"/>
    <p:sldId id="286" r:id="rId86"/>
    <p:sldId id="287" r:id="rId87"/>
    <p:sldId id="288" r:id="rId88"/>
    <p:sldId id="289" r:id="rId89"/>
    <p:sldId id="290" r:id="rId90"/>
    <p:sldId id="291" r:id="rId91"/>
    <p:sldId id="323" r:id="rId92"/>
    <p:sldId id="292" r:id="rId93"/>
    <p:sldId id="293" r:id="rId94"/>
    <p:sldId id="324" r:id="rId95"/>
    <p:sldId id="294" r:id="rId96"/>
    <p:sldId id="325" r:id="rId97"/>
    <p:sldId id="333" r:id="rId98"/>
    <p:sldId id="326" r:id="rId99"/>
    <p:sldId id="327" r:id="rId100"/>
    <p:sldId id="295" r:id="rId101"/>
    <p:sldId id="296" r:id="rId102"/>
    <p:sldId id="328" r:id="rId103"/>
    <p:sldId id="297" r:id="rId104"/>
    <p:sldId id="298" r:id="rId105"/>
    <p:sldId id="329" r:id="rId106"/>
    <p:sldId id="299" r:id="rId107"/>
    <p:sldId id="330" r:id="rId108"/>
    <p:sldId id="300" r:id="rId109"/>
    <p:sldId id="301" r:id="rId110"/>
    <p:sldId id="331" r:id="rId111"/>
    <p:sldId id="302" r:id="rId112"/>
    <p:sldId id="303" r:id="rId113"/>
    <p:sldId id="332" r:id="rId114"/>
    <p:sldId id="304" r:id="rId115"/>
    <p:sldId id="305" r:id="rId116"/>
    <p:sldId id="334" r:id="rId117"/>
    <p:sldId id="335" r:id="rId118"/>
    <p:sldId id="336" r:id="rId119"/>
    <p:sldId id="337" r:id="rId120"/>
    <p:sldId id="338" r:id="rId121"/>
    <p:sldId id="339" r:id="rId122"/>
    <p:sldId id="340" r:id="rId123"/>
    <p:sldId id="341" r:id="rId124"/>
    <p:sldId id="342" r:id="rId125"/>
    <p:sldId id="343" r:id="rId126"/>
    <p:sldId id="344" r:id="rId127"/>
    <p:sldId id="345" r:id="rId128"/>
    <p:sldId id="346" r:id="rId129"/>
    <p:sldId id="347" r:id="rId130"/>
    <p:sldId id="348" r:id="rId131"/>
    <p:sldId id="349" r:id="rId132"/>
    <p:sldId id="350" r:id="rId1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68E789-51B7-476B-B556-F910DD2CC8E5}" type="datetimeFigureOut">
              <a:rPr lang="en-US" smtClean="0"/>
              <a:pPr/>
              <a:t>6/7/2020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3A102F-24C3-486D-8888-AE0C388796AD}" type="slidenum">
              <a:rPr lang="en-US" smtClean="0"/>
              <a:pPr/>
              <a:t>‹#›</a:t>
            </a:fld>
            <a:endParaRPr lang="en-US"/>
          </a:p>
        </p:txBody>
      </p:sp>
    </p:spTree>
    <p:extLst>
      <p:ext uri="{BB962C8B-B14F-4D97-AF65-F5344CB8AC3E}">
        <p14:creationId xmlns:p14="http://schemas.microsoft.com/office/powerpoint/2010/main" xmlns="" val="1948924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31A7C3C6-C1D2-415A-B8FE-F1E4622F6B85}" type="slidenum">
              <a:rPr lang="en-US" sz="1200" smtClean="0"/>
              <a:pPr eaLnBrk="1" hangingPunct="1"/>
              <a:t>37</a:t>
            </a:fld>
            <a:endParaRPr lang="en-US" sz="1200" smtClean="0"/>
          </a:p>
        </p:txBody>
      </p:sp>
      <p:sp>
        <p:nvSpPr>
          <p:cNvPr id="28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E99A555-0796-4A86-9BB1-61F0FF03ECBC}" type="slidenum">
              <a:rPr lang="en-US"/>
              <a:pPr/>
              <a:t>39</a:t>
            </a:fld>
            <a:endParaRPr lang="en-US"/>
          </a:p>
        </p:txBody>
      </p:sp>
      <p:sp>
        <p:nvSpPr>
          <p:cNvPr id="164866" name="Rectangle 2"/>
          <p:cNvSpPr>
            <a:spLocks noGrp="1" noRot="1" noChangeAspect="1" noChangeArrowheads="1" noTextEdit="1"/>
          </p:cNvSpPr>
          <p:nvPr>
            <p:ph type="sldImg"/>
          </p:nvPr>
        </p:nvSpPr>
        <p:spPr>
          <a:ln/>
        </p:spPr>
      </p:sp>
      <p:sp>
        <p:nvSpPr>
          <p:cNvPr id="164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65F2728-C654-4ECE-BC21-60A0AC057710}" type="slidenum">
              <a:rPr lang="en-US"/>
              <a:pPr/>
              <a:t>40</a:t>
            </a:fld>
            <a:endParaRPr lang="en-US"/>
          </a:p>
        </p:txBody>
      </p:sp>
      <p:sp>
        <p:nvSpPr>
          <p:cNvPr id="165890" name="Rectangle 1026"/>
          <p:cNvSpPr>
            <a:spLocks noGrp="1" noRot="1" noChangeAspect="1" noChangeArrowheads="1" noTextEdit="1"/>
          </p:cNvSpPr>
          <p:nvPr>
            <p:ph type="sldImg"/>
          </p:nvPr>
        </p:nvSpPr>
        <p:spPr>
          <a:ln/>
        </p:spPr>
      </p:sp>
      <p:sp>
        <p:nvSpPr>
          <p:cNvPr id="165891"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B4A19E64-88C8-41E7-96FD-2BD79FB2D7AF}" type="slidenum">
              <a:rPr lang="en-US" sz="1200" smtClean="0"/>
              <a:pPr eaLnBrk="1" hangingPunct="1"/>
              <a:t>41</a:t>
            </a:fld>
            <a:endParaRPr lang="en-US" sz="1200" smtClean="0"/>
          </a:p>
        </p:txBody>
      </p:sp>
      <p:sp>
        <p:nvSpPr>
          <p:cNvPr id="296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CC756687-12EE-4FE9-9189-E0DEBBD64FD7}" type="slidenum">
              <a:rPr lang="en-US" sz="1200" smtClean="0"/>
              <a:pPr eaLnBrk="1" hangingPunct="1"/>
              <a:t>47</a:t>
            </a:fld>
            <a:endParaRPr lang="en-US" sz="1200" smtClean="0"/>
          </a:p>
        </p:txBody>
      </p:sp>
      <p:sp>
        <p:nvSpPr>
          <p:cNvPr id="307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z="2000"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A46BD5DE-AABA-4546-8E9A-A52B8A5A6C37}" type="slidenum">
              <a:rPr lang="en-US" sz="1200" smtClean="0"/>
              <a:pPr eaLnBrk="1" hangingPunct="1"/>
              <a:t>48</a:t>
            </a:fld>
            <a:endParaRPr lang="en-US" sz="1200" smtClean="0"/>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sz="20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E3A102F-24C3-486D-8888-AE0C388796AD}" type="slidenum">
              <a:rPr lang="en-US" smtClean="0"/>
              <a:pPr/>
              <a:t>93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www.w3schools.com/jsref/prop_doc_body.asp" TargetMode="External"/><Relationship Id="rId3" Type="http://schemas.openxmlformats.org/officeDocument/2006/relationships/hyperlink" Target="http://www.w3schools.com/jsref/met_document_addeventlistener.asp" TargetMode="External"/><Relationship Id="rId7" Type="http://schemas.openxmlformats.org/officeDocument/2006/relationships/hyperlink" Target="http://www.w3schools.com/jsref/prop_doc_baseuri.asp" TargetMode="External"/><Relationship Id="rId2" Type="http://schemas.openxmlformats.org/officeDocument/2006/relationships/hyperlink" Target="http://www.w3schools.com/jsref/prop_document_activeelement.asp" TargetMode="External"/><Relationship Id="rId1" Type="http://schemas.openxmlformats.org/officeDocument/2006/relationships/slideLayout" Target="../slideLayouts/slideLayout2.xml"/><Relationship Id="rId6" Type="http://schemas.openxmlformats.org/officeDocument/2006/relationships/hyperlink" Target="http://www.w3schools.com/jsref/coll_doc_applets.asp" TargetMode="External"/><Relationship Id="rId11" Type="http://schemas.openxmlformats.org/officeDocument/2006/relationships/hyperlink" Target="http://www.w3schools.com/jsref/met_document_createattribute.asp" TargetMode="External"/><Relationship Id="rId5" Type="http://schemas.openxmlformats.org/officeDocument/2006/relationships/hyperlink" Target="http://www.w3schools.com/jsref/coll_doc_anchors.asp" TargetMode="External"/><Relationship Id="rId10" Type="http://schemas.openxmlformats.org/officeDocument/2006/relationships/hyperlink" Target="http://www.w3schools.com/jsref/prop_doc_cookie.asp" TargetMode="External"/><Relationship Id="rId4" Type="http://schemas.openxmlformats.org/officeDocument/2006/relationships/hyperlink" Target="http://www.w3schools.com/jsref/met_document_adoptnode.asp" TargetMode="External"/><Relationship Id="rId9" Type="http://schemas.openxmlformats.org/officeDocument/2006/relationships/hyperlink" Target="http://www.w3schools.com/jsref/met_doc_close.asp"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www.w3schools.com/jsref/met_element_addeventlistener.asp" TargetMode="External"/><Relationship Id="rId7" Type="http://schemas.openxmlformats.org/officeDocument/2006/relationships/hyperlink" Target="http://www.w3schools.com/jsref/prop_element_childelementcount.asp" TargetMode="External"/><Relationship Id="rId2" Type="http://schemas.openxmlformats.org/officeDocument/2006/relationships/hyperlink" Target="http://www.w3schools.com/jsref/prop_html_accesskey.asp" TargetMode="External"/><Relationship Id="rId1" Type="http://schemas.openxmlformats.org/officeDocument/2006/relationships/slideLayout" Target="../slideLayouts/slideLayout2.xml"/><Relationship Id="rId6" Type="http://schemas.openxmlformats.org/officeDocument/2006/relationships/hyperlink" Target="http://www.w3schools.com/jsref/met_html_blur.asp" TargetMode="External"/><Relationship Id="rId5" Type="http://schemas.openxmlformats.org/officeDocument/2006/relationships/hyperlink" Target="http://www.w3schools.com/jsref/prop_node_attributes.asp" TargetMode="External"/><Relationship Id="rId4" Type="http://schemas.openxmlformats.org/officeDocument/2006/relationships/hyperlink" Target="http://www.w3schools.com/jsref/met_node_appendchild.asp"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hyperlink" Target="http://www.w3schools.com/jsref/event_onmousemove.asp" TargetMode="External"/><Relationship Id="rId3" Type="http://schemas.openxmlformats.org/officeDocument/2006/relationships/hyperlink" Target="http://www.w3schools.com/jsref/event_oncontextmenu.asp" TargetMode="External"/><Relationship Id="rId7" Type="http://schemas.openxmlformats.org/officeDocument/2006/relationships/hyperlink" Target="http://www.w3schools.com/jsref/event_onmouseleave.asp" TargetMode="External"/><Relationship Id="rId2" Type="http://schemas.openxmlformats.org/officeDocument/2006/relationships/hyperlink" Target="http://www.w3schools.com/jsref/event_onclick.asp" TargetMode="External"/><Relationship Id="rId1" Type="http://schemas.openxmlformats.org/officeDocument/2006/relationships/slideLayout" Target="../slideLayouts/slideLayout2.xml"/><Relationship Id="rId6" Type="http://schemas.openxmlformats.org/officeDocument/2006/relationships/hyperlink" Target="http://www.w3schools.com/jsref/event_onmouseenter.asp" TargetMode="External"/><Relationship Id="rId11" Type="http://schemas.openxmlformats.org/officeDocument/2006/relationships/hyperlink" Target="http://www.w3schools.com/jsref/event_onmouseup.asp" TargetMode="External"/><Relationship Id="rId5" Type="http://schemas.openxmlformats.org/officeDocument/2006/relationships/hyperlink" Target="http://www.w3schools.com/jsref/event_onmousedown.asp" TargetMode="External"/><Relationship Id="rId10" Type="http://schemas.openxmlformats.org/officeDocument/2006/relationships/hyperlink" Target="http://www.w3schools.com/jsref/event_onmouseout.asp" TargetMode="External"/><Relationship Id="rId4" Type="http://schemas.openxmlformats.org/officeDocument/2006/relationships/hyperlink" Target="http://www.w3schools.com/jsref/event_ondblclick.asp" TargetMode="External"/><Relationship Id="rId9" Type="http://schemas.openxmlformats.org/officeDocument/2006/relationships/hyperlink" Target="http://www.w3schools.com/jsref/event_onmouseover.asp"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www.w3schools.com/jsref/event_onkeypress.asp" TargetMode="External"/><Relationship Id="rId2" Type="http://schemas.openxmlformats.org/officeDocument/2006/relationships/hyperlink" Target="http://www.w3schools.com/jsref/event_onkeydown.asp" TargetMode="External"/><Relationship Id="rId1" Type="http://schemas.openxmlformats.org/officeDocument/2006/relationships/slideLayout" Target="../slideLayouts/slideLayout2.xml"/><Relationship Id="rId4" Type="http://schemas.openxmlformats.org/officeDocument/2006/relationships/hyperlink" Target="http://www.w3schools.com/jsref/event_onkeyup.asp"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www.w3schools.com/jsref/event_onbeforeunload.asp" TargetMode="External"/><Relationship Id="rId7" Type="http://schemas.openxmlformats.org/officeDocument/2006/relationships/hyperlink" Target="http://www.w3schools.com/jsref/event_onpageshow.asp" TargetMode="External"/><Relationship Id="rId2" Type="http://schemas.openxmlformats.org/officeDocument/2006/relationships/hyperlink" Target="http://www.w3schools.com/jsref/event_onabort.asp" TargetMode="External"/><Relationship Id="rId1" Type="http://schemas.openxmlformats.org/officeDocument/2006/relationships/slideLayout" Target="../slideLayouts/slideLayout2.xml"/><Relationship Id="rId6" Type="http://schemas.openxmlformats.org/officeDocument/2006/relationships/hyperlink" Target="http://www.w3schools.com/jsref/event_onload.asp" TargetMode="External"/><Relationship Id="rId5" Type="http://schemas.openxmlformats.org/officeDocument/2006/relationships/hyperlink" Target="http://www.w3schools.com/jsref/event_onhashchange.asp" TargetMode="External"/><Relationship Id="rId4" Type="http://schemas.openxmlformats.org/officeDocument/2006/relationships/hyperlink" Target="http://www.w3schools.com/jsref/event_onerror.asp"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www.w3schools.com/jsref/event_onresize.asp" TargetMode="External"/><Relationship Id="rId2" Type="http://schemas.openxmlformats.org/officeDocument/2006/relationships/hyperlink" Target="http://www.w3schools.com/jsref/event_onpagehide.asp" TargetMode="External"/><Relationship Id="rId1" Type="http://schemas.openxmlformats.org/officeDocument/2006/relationships/slideLayout" Target="../slideLayouts/slideLayout2.xml"/><Relationship Id="rId5" Type="http://schemas.openxmlformats.org/officeDocument/2006/relationships/hyperlink" Target="http://www.w3schools.com/jsref/event_onunload.asp" TargetMode="External"/><Relationship Id="rId4" Type="http://schemas.openxmlformats.org/officeDocument/2006/relationships/hyperlink" Target="http://www.w3schools.com/jsref/event_onscroll.asp" TargetMode="External"/></Relationships>
</file>

<file path=ppt/slides/_rels/slide67.xml.rels><?xml version="1.0" encoding="UTF-8" standalone="yes"?>
<Relationships xmlns="http://schemas.openxmlformats.org/package/2006/relationships"><Relationship Id="rId8" Type="http://schemas.openxmlformats.org/officeDocument/2006/relationships/hyperlink" Target="http://www.w3schools.com/jsref/event_oninvalid.asp" TargetMode="External"/><Relationship Id="rId3" Type="http://schemas.openxmlformats.org/officeDocument/2006/relationships/hyperlink" Target="http://www.w3schools.com/jsref/event_onchange.asp" TargetMode="External"/><Relationship Id="rId7" Type="http://schemas.openxmlformats.org/officeDocument/2006/relationships/hyperlink" Target="http://www.w3schools.com/jsref/event_oninput.asp" TargetMode="External"/><Relationship Id="rId2" Type="http://schemas.openxmlformats.org/officeDocument/2006/relationships/hyperlink" Target="http://www.w3schools.com/jsref/event_onblur.asp" TargetMode="External"/><Relationship Id="rId1" Type="http://schemas.openxmlformats.org/officeDocument/2006/relationships/slideLayout" Target="../slideLayouts/slideLayout2.xml"/><Relationship Id="rId6" Type="http://schemas.openxmlformats.org/officeDocument/2006/relationships/hyperlink" Target="http://www.w3schools.com/jsref/event_onfocusout.asp" TargetMode="External"/><Relationship Id="rId5" Type="http://schemas.openxmlformats.org/officeDocument/2006/relationships/hyperlink" Target="http://www.w3schools.com/jsref/event_onfocusin.asp" TargetMode="External"/><Relationship Id="rId4" Type="http://schemas.openxmlformats.org/officeDocument/2006/relationships/hyperlink" Target="http://www.w3schools.com/jsref/event_onfocus.asp" TargetMode="External"/><Relationship Id="rId9" Type="http://schemas.openxmlformats.org/officeDocument/2006/relationships/hyperlink" Target="http://www.w3schools.com/jsref/event_onreset.asp"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www.w3schools.com/jsref/event_onselect.asp" TargetMode="External"/><Relationship Id="rId2" Type="http://schemas.openxmlformats.org/officeDocument/2006/relationships/hyperlink" Target="http://www.w3schools.com/jsref/event_onsearch.asp" TargetMode="External"/><Relationship Id="rId1" Type="http://schemas.openxmlformats.org/officeDocument/2006/relationships/slideLayout" Target="../slideLayouts/slideLayout2.xml"/><Relationship Id="rId4" Type="http://schemas.openxmlformats.org/officeDocument/2006/relationships/hyperlink" Target="http://www.w3schools.com/jsref/event_onsubmit.asp"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www.w3schools.com/jsref/event_oncut.asp" TargetMode="External"/><Relationship Id="rId2" Type="http://schemas.openxmlformats.org/officeDocument/2006/relationships/hyperlink" Target="http://www.w3schools.com/jsref/event_oncopy.asp" TargetMode="External"/><Relationship Id="rId1" Type="http://schemas.openxmlformats.org/officeDocument/2006/relationships/slideLayout" Target="../slideLayouts/slideLayout2.xml"/><Relationship Id="rId4" Type="http://schemas.openxmlformats.org/officeDocument/2006/relationships/hyperlink" Target="http://www.w3schools.com/jsref/event_onpaste.asp"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www.w3schools.com/jsref/event_onmouseover.asp" TargetMode="External"/><Relationship Id="rId2" Type="http://schemas.openxmlformats.org/officeDocument/2006/relationships/hyperlink" Target="http://www.w3schools.com/jsref/event_onmouseleave.asp"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hyperlink" Target="http://www.w3schools.com/jsref/event_onload.asp"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www.w3schools.com/jsref/event_onfocusout.asp" TargetMode="External"/><Relationship Id="rId2" Type="http://schemas.openxmlformats.org/officeDocument/2006/relationships/hyperlink" Target="http://www.w3schools.com/jsref/event_onfocus.asp"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www.w3schools.com/jsref/event_onfocusin.asp" TargetMode="External"/><Relationship Id="rId2" Type="http://schemas.openxmlformats.org/officeDocument/2006/relationships/hyperlink" Target="http://www.w3schools.com/jsref/event_onblur.asp"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www.w3schools.com/jsref/event_onfocus.asp"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hyperlink" Target="http://www.w3schools.com/jsref/event_onblur.asp"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hyperlink" Target="http://www.w3schools.com/jsref/event_onchange.asp"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831975"/>
          </a:xfrm>
        </p:spPr>
        <p:txBody>
          <a:bodyPr>
            <a:noAutofit/>
          </a:bodyPr>
          <a:lstStyle/>
          <a:p>
            <a:pPr>
              <a:spcBef>
                <a:spcPct val="50000"/>
              </a:spcBef>
            </a:pPr>
            <a:r>
              <a:rPr lang="en-US" sz="3600" b="1" dirty="0" smtClean="0">
                <a:solidFill>
                  <a:schemeClr val="tx2"/>
                </a:solidFill>
                <a:latin typeface="Arial" pitchFamily="34" charset="0"/>
              </a:rPr>
              <a:t>JavaScript </a:t>
            </a:r>
            <a:br>
              <a:rPr lang="en-US" sz="3600" b="1" dirty="0" smtClean="0">
                <a:solidFill>
                  <a:schemeClr val="tx2"/>
                </a:solidFill>
                <a:latin typeface="Arial" pitchFamily="34" charset="0"/>
              </a:rPr>
            </a:br>
            <a:r>
              <a:rPr lang="en-US" sz="3600" b="1" dirty="0" smtClean="0">
                <a:solidFill>
                  <a:schemeClr val="tx2"/>
                </a:solidFill>
                <a:latin typeface="Arial" pitchFamily="34" charset="0"/>
              </a:rPr>
              <a:t>&amp;</a:t>
            </a:r>
            <a:br>
              <a:rPr lang="en-US" sz="3600" b="1" dirty="0" smtClean="0">
                <a:solidFill>
                  <a:schemeClr val="tx2"/>
                </a:solidFill>
                <a:latin typeface="Arial" pitchFamily="34" charset="0"/>
              </a:rPr>
            </a:br>
            <a:r>
              <a:rPr lang="en-US" sz="3600" b="1" dirty="0" smtClean="0">
                <a:solidFill>
                  <a:schemeClr val="tx2"/>
                </a:solidFill>
                <a:latin typeface="Arial" pitchFamily="34" charset="0"/>
              </a:rPr>
              <a:t>DOM – Document Object Model</a:t>
            </a:r>
            <a:endParaRPr lang="en-US" sz="3600" b="1" dirty="0">
              <a:solidFill>
                <a:schemeClr val="tx2"/>
              </a:solidFill>
              <a:latin typeface="Arial" pitchFamily="34" charset="0"/>
            </a:endParaRPr>
          </a:p>
        </p:txBody>
      </p:sp>
    </p:spTree>
    <p:extLst>
      <p:ext uri="{BB962C8B-B14F-4D97-AF65-F5344CB8AC3E}">
        <p14:creationId xmlns:p14="http://schemas.microsoft.com/office/powerpoint/2010/main" xmlns="" val="1392695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Overview of JavaScript </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History </a:t>
            </a:r>
            <a:endParaRPr lang="en-US" b="1" dirty="0">
              <a:latin typeface="Segoe UI Emoji" panose="020B0502040204020203" pitchFamily="34" charset="0"/>
              <a:ea typeface="Segoe UI Emoji" panose="020B0502040204020203" pitchFamily="34" charset="0"/>
            </a:endParaRPr>
          </a:p>
          <a:p>
            <a:pPr marL="927100" lvl="2"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Brendan </a:t>
            </a:r>
            <a:r>
              <a:rPr lang="en-US" sz="1600" dirty="0" err="1">
                <a:latin typeface="Segoe UI Emoji" panose="020B0502040204020203" pitchFamily="34" charset="0"/>
                <a:ea typeface="Segoe UI Emoji" panose="020B0502040204020203" pitchFamily="34" charset="0"/>
              </a:rPr>
              <a:t>Eich</a:t>
            </a:r>
            <a:r>
              <a:rPr lang="en-US" sz="1600" dirty="0">
                <a:latin typeface="Segoe UI Emoji" panose="020B0502040204020203" pitchFamily="34" charset="0"/>
                <a:ea typeface="Segoe UI Emoji" panose="020B0502040204020203" pitchFamily="34" charset="0"/>
              </a:rPr>
              <a:t> wrote </a:t>
            </a:r>
            <a:r>
              <a:rPr lang="en-US" sz="1600" dirty="0" smtClean="0">
                <a:latin typeface="Segoe UI Emoji" panose="020B0502040204020203" pitchFamily="34" charset="0"/>
                <a:ea typeface="Segoe UI Emoji" panose="020B0502040204020203" pitchFamily="34" charset="0"/>
              </a:rPr>
              <a:t>JavaScript in </a:t>
            </a:r>
            <a:r>
              <a:rPr lang="en-US" sz="1600" dirty="0">
                <a:latin typeface="Segoe UI Emoji" panose="020B0502040204020203" pitchFamily="34" charset="0"/>
                <a:ea typeface="Segoe UI Emoji" panose="020B0502040204020203" pitchFamily="34" charset="0"/>
              </a:rPr>
              <a:t>10 days, in May 1995. </a:t>
            </a:r>
          </a:p>
          <a:p>
            <a:pPr marL="927100" lvl="2"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Was developed under the name Mocha.</a:t>
            </a:r>
          </a:p>
          <a:p>
            <a:pPr marL="927100" lvl="2"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It was officially called </a:t>
            </a:r>
            <a:r>
              <a:rPr lang="en-US" sz="1600" dirty="0" err="1">
                <a:latin typeface="Segoe UI Emoji" panose="020B0502040204020203" pitchFamily="34" charset="0"/>
                <a:ea typeface="Segoe UI Emoji" panose="020B0502040204020203" pitchFamily="34" charset="0"/>
              </a:rPr>
              <a:t>LiveScript</a:t>
            </a:r>
            <a:r>
              <a:rPr lang="en-US" sz="1600" dirty="0">
                <a:latin typeface="Segoe UI Emoji" panose="020B0502040204020203" pitchFamily="34" charset="0"/>
                <a:ea typeface="Segoe UI Emoji" panose="020B0502040204020203" pitchFamily="34" charset="0"/>
              </a:rPr>
              <a:t> when it first shipped in beta releases of Netscape Navigator 2.0 in September 1995.</a:t>
            </a:r>
          </a:p>
          <a:p>
            <a:pPr marL="927100" lvl="2"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It was renamed to JavaScript when it was deployed in the Netscape Navigator 2.0 beta 3 in December</a:t>
            </a:r>
            <a:r>
              <a:rPr lang="en-US" sz="1600" dirty="0" smtClean="0">
                <a:latin typeface="Segoe UI Emoji" panose="020B0502040204020203" pitchFamily="34" charset="0"/>
                <a:ea typeface="Segoe UI Emoji" panose="020B0502040204020203" pitchFamily="34" charset="0"/>
              </a:rPr>
              <a:t>.</a:t>
            </a:r>
          </a:p>
          <a:p>
            <a:pPr marL="927100" lvl="2" indent="-285750">
              <a:buClrTx/>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r>
              <a:rPr lang="en-US" b="1" dirty="0">
                <a:latin typeface="Segoe UI Emoji" panose="020B0502040204020203" pitchFamily="34" charset="0"/>
                <a:ea typeface="Segoe UI Emoji" panose="020B0502040204020203" pitchFamily="34" charset="0"/>
              </a:rPr>
              <a:t>Why JavaScript was created?</a:t>
            </a:r>
          </a:p>
          <a:p>
            <a:pPr marL="641350" lvl="2" indent="0">
              <a:buClrTx/>
              <a:buNone/>
            </a:pPr>
            <a:r>
              <a:rPr lang="en-US" sz="1600" dirty="0">
                <a:latin typeface="Segoe UI Emoji" panose="020B0502040204020203" pitchFamily="34" charset="0"/>
                <a:ea typeface="Segoe UI Emoji" panose="020B0502040204020203" pitchFamily="34" charset="0"/>
              </a:rPr>
              <a:t>A company called Netscape was founded in 1994 and created one of the first web browsers. They recruited </a:t>
            </a:r>
            <a:r>
              <a:rPr lang="en-US" sz="1600" dirty="0" err="1">
                <a:latin typeface="Segoe UI Emoji" panose="020B0502040204020203" pitchFamily="34" charset="0"/>
                <a:ea typeface="Segoe UI Emoji" panose="020B0502040204020203" pitchFamily="34" charset="0"/>
              </a:rPr>
              <a:t>Eich</a:t>
            </a:r>
            <a:r>
              <a:rPr lang="en-US" sz="1600" dirty="0">
                <a:latin typeface="Segoe UI Emoji" panose="020B0502040204020203" pitchFamily="34" charset="0"/>
                <a:ea typeface="Segoe UI Emoji" panose="020B0502040204020203" pitchFamily="34" charset="0"/>
              </a:rPr>
              <a:t> in 1995, because they wanted him to create a programming language for that web browser. ... It quickly gained popularity and influenced Netscape's decisions regarding JavaScript</a:t>
            </a:r>
          </a:p>
          <a:p>
            <a:pPr marL="641350" lvl="2" indent="0">
              <a:buClrTx/>
              <a:buNone/>
            </a:pPr>
            <a:r>
              <a:rPr lang="en-US" sz="800" dirty="0" smtClean="0">
                <a:latin typeface="Segoe UI Emoji" panose="020B0502040204020203" pitchFamily="34" charset="0"/>
                <a:ea typeface="Segoe UI Emoji" panose="020B0502040204020203" pitchFamily="34" charset="0"/>
              </a:rPr>
              <a:t>            </a:t>
            </a:r>
            <a:endParaRPr lang="en-US" sz="800" dirty="0">
              <a:latin typeface="Segoe UI Emoji" panose="020B0502040204020203" pitchFamily="34" charset="0"/>
              <a:ea typeface="Segoe UI Emoji" panose="020B0502040204020203" pitchFamily="34" charset="0"/>
            </a:endParaRPr>
          </a:p>
          <a:p>
            <a:pPr marL="742950" lvl="1"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JavaScript is an interpreted language, not a compiled language.</a:t>
            </a:r>
          </a:p>
          <a:p>
            <a:pPr marL="742950" lvl="1"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Client-side JavaScript is very fast because it can be run immediately within the client-side browser.</a:t>
            </a:r>
          </a:p>
          <a:p>
            <a:pPr marL="742950" lvl="1"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Currently used by 94.5% of all websites</a:t>
            </a:r>
          </a:p>
          <a:p>
            <a:pPr marL="742950" lvl="1" indent="-285750">
              <a:buClrTx/>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JavaScript is very popular and adopted universally by every web browser for its support which allows dynamic content to get execute in a webpage</a:t>
            </a:r>
            <a:r>
              <a:rPr lang="en-US" sz="1600" dirty="0" smtClean="0">
                <a:latin typeface="Segoe UI Emoji" panose="020B0502040204020203" pitchFamily="34" charset="0"/>
                <a:ea typeface="Segoe UI Emoji" panose="020B0502040204020203" pitchFamily="34" charset="0"/>
              </a:rPr>
              <a:t>.</a:t>
            </a:r>
            <a:endParaRPr lang="en-US" sz="1600"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106135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Object Orientation </a:t>
            </a:r>
            <a:r>
              <a:rPr lang="en-IN" sz="3600" spc="-1" dirty="0" smtClean="0">
                <a:solidFill>
                  <a:srgbClr val="FFFFFF"/>
                </a:solidFill>
                <a:uFill>
                  <a:solidFill>
                    <a:srgbClr val="FFFFFF"/>
                  </a:solidFill>
                </a:uFill>
                <a:latin typeface="Calibri"/>
              </a:rPr>
              <a:t>&amp; JavaScript</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3</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Object Oriented JS: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JavaScript is not an object-oriented programming language</a:t>
            </a:r>
            <a:r>
              <a:rPr lang="en-US" dirty="0" smtClean="0">
                <a:latin typeface="Segoe UI Emoji" panose="020B0502040204020203" pitchFamily="34" charset="0"/>
                <a:ea typeface="Segoe UI Emoji" panose="020B0502040204020203" pitchFamily="34" charset="0"/>
              </a:rPr>
              <a:t>. Rather</a:t>
            </a:r>
            <a:r>
              <a:rPr lang="en-US" dirty="0">
                <a:latin typeface="Segoe UI Emoji" panose="020B0502040204020203" pitchFamily="34" charset="0"/>
                <a:ea typeface="Segoe UI Emoji" panose="020B0502040204020203" pitchFamily="34" charset="0"/>
              </a:rPr>
              <a:t>, it is an </a:t>
            </a:r>
            <a:r>
              <a:rPr lang="en-US" i="1" dirty="0">
                <a:latin typeface="Segoe UI Emoji" panose="020B0502040204020203" pitchFamily="34" charset="0"/>
                <a:ea typeface="Segoe UI Emoji" panose="020B0502040204020203" pitchFamily="34" charset="0"/>
              </a:rPr>
              <a:t>object-based language</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JavaScript </a:t>
            </a:r>
            <a:r>
              <a:rPr lang="en-US" dirty="0">
                <a:latin typeface="Segoe UI Emoji" panose="020B0502040204020203" pitchFamily="34" charset="0"/>
                <a:ea typeface="Segoe UI Emoji" panose="020B0502040204020203" pitchFamily="34" charset="0"/>
              </a:rPr>
              <a:t>does not have classes. Its </a:t>
            </a:r>
            <a:r>
              <a:rPr lang="en-US" dirty="0" smtClean="0">
                <a:latin typeface="Segoe UI Emoji" panose="020B0502040204020203" pitchFamily="34" charset="0"/>
                <a:ea typeface="Segoe UI Emoji" panose="020B0502040204020203" pitchFamily="34" charset="0"/>
              </a:rPr>
              <a:t>objects serve </a:t>
            </a:r>
            <a:r>
              <a:rPr lang="en-US" dirty="0">
                <a:latin typeface="Segoe UI Emoji" panose="020B0502040204020203" pitchFamily="34" charset="0"/>
                <a:ea typeface="Segoe UI Emoji" panose="020B0502040204020203" pitchFamily="34" charset="0"/>
              </a:rPr>
              <a:t>both as objects and as models of objects.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Without </a:t>
            </a:r>
            <a:r>
              <a:rPr lang="en-US" dirty="0">
                <a:latin typeface="Segoe UI Emoji" panose="020B0502040204020203" pitchFamily="34" charset="0"/>
                <a:ea typeface="Segoe UI Emoji" panose="020B0502040204020203" pitchFamily="34" charset="0"/>
              </a:rPr>
              <a:t>classes, JavaScript </a:t>
            </a:r>
            <a:r>
              <a:rPr lang="en-US" dirty="0" smtClean="0">
                <a:latin typeface="Segoe UI Emoji" panose="020B0502040204020203" pitchFamily="34" charset="0"/>
                <a:ea typeface="Segoe UI Emoji" panose="020B0502040204020203" pitchFamily="34" charset="0"/>
              </a:rPr>
              <a:t>cannot have </a:t>
            </a:r>
            <a:r>
              <a:rPr lang="en-US" dirty="0">
                <a:latin typeface="Segoe UI Emoji" panose="020B0502040204020203" pitchFamily="34" charset="0"/>
                <a:ea typeface="Segoe UI Emoji" panose="020B0502040204020203" pitchFamily="34" charset="0"/>
              </a:rPr>
              <a:t>class-based inheritance</a:t>
            </a: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This is done with the </a:t>
            </a:r>
            <a:r>
              <a:rPr lang="en-US" dirty="0" smtClean="0">
                <a:latin typeface="Segoe UI Emoji" panose="020B0502040204020203" pitchFamily="34" charset="0"/>
                <a:ea typeface="Segoe UI Emoji" panose="020B0502040204020203" pitchFamily="34" charset="0"/>
              </a:rPr>
              <a:t>prototype object</a:t>
            </a:r>
            <a:r>
              <a:rPr lang="en-US" dirty="0">
                <a:latin typeface="Segoe UI Emoji" panose="020B0502040204020203" pitchFamily="34" charset="0"/>
                <a:ea typeface="Segoe UI Emoji" panose="020B0502040204020203" pitchFamily="34" charset="0"/>
              </a:rPr>
              <a:t>; thus, this form of inheritance is called </a:t>
            </a:r>
            <a:r>
              <a:rPr lang="en-US" i="1" dirty="0">
                <a:latin typeface="Segoe UI Emoji" panose="020B0502040204020203" pitchFamily="34" charset="0"/>
                <a:ea typeface="Segoe UI Emoji" panose="020B0502040204020203" pitchFamily="34" charset="0"/>
              </a:rPr>
              <a:t>prototype-based </a:t>
            </a:r>
            <a:r>
              <a:rPr lang="en-US" i="1" dirty="0" smtClean="0">
                <a:latin typeface="Segoe UI Emoji" panose="020B0502040204020203" pitchFamily="34" charset="0"/>
                <a:ea typeface="Segoe UI Emoji" panose="020B0502040204020203" pitchFamily="34" charset="0"/>
              </a:rPr>
              <a:t>inheritance</a:t>
            </a:r>
          </a:p>
          <a:p>
            <a:endParaRPr lang="en-US" i="1" dirty="0">
              <a:latin typeface="Segoe UI Emoji" panose="020B0502040204020203" pitchFamily="34" charset="0"/>
              <a:ea typeface="Segoe UI Emoji" panose="020B0502040204020203" pitchFamily="34" charset="0"/>
            </a:endParaRPr>
          </a:p>
          <a:p>
            <a:r>
              <a:rPr lang="en-US" b="1" dirty="0" smtClean="0">
                <a:latin typeface="Segoe UI Emoji" panose="020B0502040204020203" pitchFamily="34" charset="0"/>
                <a:ea typeface="Segoe UI Emoji" panose="020B0502040204020203" pitchFamily="34" charset="0"/>
              </a:rPr>
              <a:t>Java Script Object: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JavaScript object appears, both internally </a:t>
            </a:r>
            <a:r>
              <a:rPr lang="en-US" dirty="0" smtClean="0">
                <a:latin typeface="Segoe UI Emoji" panose="020B0502040204020203" pitchFamily="34" charset="0"/>
                <a:ea typeface="Segoe UI Emoji" panose="020B0502040204020203" pitchFamily="34" charset="0"/>
              </a:rPr>
              <a:t>&amp; externally</a:t>
            </a:r>
            <a:r>
              <a:rPr lang="en-US" dirty="0">
                <a:latin typeface="Segoe UI Emoji" panose="020B0502040204020203" pitchFamily="34" charset="0"/>
                <a:ea typeface="Segoe UI Emoji" panose="020B0502040204020203" pitchFamily="34" charset="0"/>
              </a:rPr>
              <a:t>, as a list </a:t>
            </a:r>
            <a:r>
              <a:rPr lang="en-US" dirty="0" smtClean="0">
                <a:latin typeface="Segoe UI Emoji" panose="020B0502040204020203" pitchFamily="34" charset="0"/>
                <a:ea typeface="Segoe UI Emoji" panose="020B0502040204020203" pitchFamily="34" charset="0"/>
              </a:rPr>
              <a:t>of property–value </a:t>
            </a:r>
            <a:r>
              <a:rPr lang="en-US" dirty="0">
                <a:latin typeface="Segoe UI Emoji" panose="020B0502040204020203" pitchFamily="34" charset="0"/>
                <a:ea typeface="Segoe UI Emoji" panose="020B0502040204020203" pitchFamily="34" charset="0"/>
              </a:rPr>
              <a:t>pairs.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properties are names; the values are data values </a:t>
            </a:r>
            <a:r>
              <a:rPr lang="en-US" dirty="0" smtClean="0">
                <a:latin typeface="Segoe UI Emoji" panose="020B0502040204020203" pitchFamily="34" charset="0"/>
                <a:ea typeface="Segoe UI Emoji" panose="020B0502040204020203" pitchFamily="34" charset="0"/>
              </a:rPr>
              <a:t>or functions</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All </a:t>
            </a:r>
            <a:r>
              <a:rPr lang="en-US" dirty="0">
                <a:latin typeface="Segoe UI Emoji" panose="020B0502040204020203" pitchFamily="34" charset="0"/>
                <a:ea typeface="Segoe UI Emoji" panose="020B0502040204020203" pitchFamily="34" charset="0"/>
              </a:rPr>
              <a:t>functions are objects and are referenced through variables</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collection </a:t>
            </a:r>
            <a:r>
              <a:rPr lang="en-US" dirty="0">
                <a:latin typeface="Segoe UI Emoji" panose="020B0502040204020203" pitchFamily="34" charset="0"/>
                <a:ea typeface="Segoe UI Emoji" panose="020B0502040204020203" pitchFamily="34" charset="0"/>
              </a:rPr>
              <a:t>of properties of a JavaScript object is </a:t>
            </a:r>
            <a:r>
              <a:rPr lang="en-US" dirty="0" smtClean="0">
                <a:latin typeface="Segoe UI Emoji" panose="020B0502040204020203" pitchFamily="34" charset="0"/>
                <a:ea typeface="Segoe UI Emoji" panose="020B0502040204020203" pitchFamily="34" charset="0"/>
              </a:rPr>
              <a:t>dynamic; </a:t>
            </a:r>
            <a:r>
              <a:rPr lang="en-US" dirty="0">
                <a:latin typeface="Segoe UI Emoji" panose="020B0502040204020203" pitchFamily="34" charset="0"/>
                <a:ea typeface="Segoe UI Emoji" panose="020B0502040204020203" pitchFamily="34" charset="0"/>
              </a:rPr>
              <a:t>Properties can be </a:t>
            </a:r>
            <a:r>
              <a:rPr lang="en-US" dirty="0" smtClean="0">
                <a:latin typeface="Segoe UI Emoji" panose="020B0502040204020203" pitchFamily="34" charset="0"/>
                <a:ea typeface="Segoe UI Emoji" panose="020B0502040204020203" pitchFamily="34" charset="0"/>
              </a:rPr>
              <a:t>added or </a:t>
            </a:r>
            <a:r>
              <a:rPr lang="en-US" dirty="0">
                <a:latin typeface="Segoe UI Emoji" panose="020B0502040204020203" pitchFamily="34" charset="0"/>
                <a:ea typeface="Segoe UI Emoji" panose="020B0502040204020203" pitchFamily="34" charset="0"/>
              </a:rPr>
              <a:t>deleted at any time during execution</a:t>
            </a:r>
            <a:r>
              <a:rPr lang="en-US" dirty="0" smtClean="0">
                <a:latin typeface="Segoe UI Emoji" panose="020B0502040204020203" pitchFamily="34" charset="0"/>
                <a:ea typeface="Segoe UI Emoji" panose="020B0502040204020203" pitchFamily="34" charset="0"/>
              </a:rPr>
              <a:t>. Every </a:t>
            </a:r>
            <a:r>
              <a:rPr lang="en-US" dirty="0">
                <a:latin typeface="Segoe UI Emoji" panose="020B0502040204020203" pitchFamily="34" charset="0"/>
                <a:ea typeface="Segoe UI Emoji" panose="020B0502040204020203" pitchFamily="34" charset="0"/>
              </a:rPr>
              <a:t>object is characterized by its collection of properties,</a:t>
            </a:r>
          </a:p>
        </p:txBody>
      </p:sp>
    </p:spTree>
    <p:extLst>
      <p:ext uri="{BB962C8B-B14F-4D97-AF65-F5344CB8AC3E}">
        <p14:creationId xmlns:p14="http://schemas.microsoft.com/office/powerpoint/2010/main" xmlns="" val="71505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Primitives</a:t>
            </a:r>
            <a:r>
              <a:rPr lang="en-IN" sz="3200" spc="-1" dirty="0">
                <a:solidFill>
                  <a:srgbClr val="FFFFFF"/>
                </a:solidFill>
                <a:uFill>
                  <a:solidFill>
                    <a:srgbClr val="FFFFFF"/>
                  </a:solidFill>
                </a:uFill>
                <a:latin typeface="Calibri"/>
              </a:rPr>
              <a:t> </a:t>
            </a:r>
            <a:r>
              <a:rPr lang="en-IN" sz="3200" spc="-1" dirty="0" smtClean="0">
                <a:solidFill>
                  <a:srgbClr val="FFFFFF"/>
                </a:solidFill>
                <a:uFill>
                  <a:solidFill>
                    <a:srgbClr val="FFFFFF"/>
                  </a:solidFill>
                </a:uFill>
                <a:latin typeface="Calibri"/>
              </a:rPr>
              <a:t>in JavaScript</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4</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4234152"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Primitives in JavaScript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JavaScript </a:t>
            </a:r>
            <a:r>
              <a:rPr lang="en-US" dirty="0">
                <a:latin typeface="Segoe UI Emoji" panose="020B0502040204020203" pitchFamily="34" charset="0"/>
                <a:ea typeface="Segoe UI Emoji" panose="020B0502040204020203" pitchFamily="34" charset="0"/>
              </a:rPr>
              <a:t>has five primitive types: </a:t>
            </a:r>
            <a:endParaRPr lang="en-US" dirty="0" smtClean="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Number</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String</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Boolean</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Undefined</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Null.</a:t>
            </a:r>
          </a:p>
          <a:p>
            <a:pPr marL="742950" lvl="1"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difference between primitives and objects is shown in the </a:t>
            </a:r>
            <a:r>
              <a:rPr lang="en-US" dirty="0" smtClean="0">
                <a:latin typeface="Segoe UI Emoji" panose="020B0502040204020203" pitchFamily="34" charset="0"/>
                <a:ea typeface="Segoe UI Emoji" panose="020B0502040204020203" pitchFamily="34" charset="0"/>
              </a:rPr>
              <a:t>following example</a:t>
            </a:r>
            <a:r>
              <a:rPr lang="en-US" dirty="0">
                <a:latin typeface="Segoe UI Emoji" panose="020B0502040204020203" pitchFamily="34" charset="0"/>
                <a:ea typeface="Segoe UI Emoji" panose="020B0502040204020203" pitchFamily="34" charset="0"/>
              </a:rPr>
              <a:t>. Suppose that prim is a primitive variable with the value 17 and </a:t>
            </a:r>
            <a:r>
              <a:rPr lang="en-US" dirty="0" err="1" smtClean="0">
                <a:latin typeface="Segoe UI Emoji" panose="020B0502040204020203" pitchFamily="34" charset="0"/>
                <a:ea typeface="Segoe UI Emoji" panose="020B0502040204020203" pitchFamily="34" charset="0"/>
              </a:rPr>
              <a:t>obj</a:t>
            </a:r>
            <a:r>
              <a:rPr lang="en-US" dirty="0" smtClean="0">
                <a:latin typeface="Segoe UI Emoji" panose="020B0502040204020203" pitchFamily="34" charset="0"/>
                <a:ea typeface="Segoe UI Emoji" panose="020B0502040204020203" pitchFamily="34" charset="0"/>
              </a:rPr>
              <a:t> is </a:t>
            </a:r>
            <a:r>
              <a:rPr lang="en-US" dirty="0">
                <a:latin typeface="Segoe UI Emoji" panose="020B0502040204020203" pitchFamily="34" charset="0"/>
                <a:ea typeface="Segoe UI Emoji" panose="020B0502040204020203" pitchFamily="34" charset="0"/>
              </a:rPr>
              <a:t>a Number object whose property value is 17.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Below Figure </a:t>
            </a:r>
            <a:r>
              <a:rPr lang="en-US" dirty="0">
                <a:latin typeface="Segoe UI Emoji" panose="020B0502040204020203" pitchFamily="34" charset="0"/>
                <a:ea typeface="Segoe UI Emoji" panose="020B0502040204020203" pitchFamily="34" charset="0"/>
              </a:rPr>
              <a:t>shows how prim </a:t>
            </a:r>
            <a:r>
              <a:rPr lang="en-US" dirty="0" smtClean="0">
                <a:latin typeface="Segoe UI Emoji" panose="020B0502040204020203" pitchFamily="34" charset="0"/>
                <a:ea typeface="Segoe UI Emoji" panose="020B0502040204020203" pitchFamily="34" charset="0"/>
              </a:rPr>
              <a:t>and </a:t>
            </a:r>
            <a:r>
              <a:rPr lang="en-US" dirty="0" err="1" smtClean="0">
                <a:latin typeface="Segoe UI Emoji" panose="020B0502040204020203" pitchFamily="34" charset="0"/>
                <a:ea typeface="Segoe UI Emoji" panose="020B0502040204020203" pitchFamily="34" charset="0"/>
              </a:rPr>
              <a:t>obj</a:t>
            </a: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are stored.</a:t>
            </a:r>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4660849" y="4043849"/>
            <a:ext cx="3704542" cy="17971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256983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Numeric Literals</a:t>
            </a:r>
            <a:endParaRPr lang="en-IN" sz="1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5</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Numeric </a:t>
            </a:r>
            <a:r>
              <a:rPr lang="en-US" b="1" dirty="0" smtClean="0">
                <a:latin typeface="Segoe UI Emoji" panose="020B0502040204020203" pitchFamily="34" charset="0"/>
                <a:ea typeface="Segoe UI Emoji" panose="020B0502040204020203" pitchFamily="34" charset="0"/>
              </a:rPr>
              <a:t>Literals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All numeric literals are primitive values of type Number.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Number type </a:t>
            </a:r>
            <a:r>
              <a:rPr lang="en-US" dirty="0" smtClean="0">
                <a:latin typeface="Segoe UI Emoji" panose="020B0502040204020203" pitchFamily="34" charset="0"/>
                <a:ea typeface="Segoe UI Emoji" panose="020B0502040204020203" pitchFamily="34" charset="0"/>
              </a:rPr>
              <a:t>values are </a:t>
            </a:r>
            <a:r>
              <a:rPr lang="en-US" dirty="0">
                <a:latin typeface="Segoe UI Emoji" panose="020B0502040204020203" pitchFamily="34" charset="0"/>
                <a:ea typeface="Segoe UI Emoji" panose="020B0502040204020203" pitchFamily="34" charset="0"/>
              </a:rPr>
              <a:t>represented internally in double-precision floating-point form. </a:t>
            </a:r>
            <a:r>
              <a:rPr lang="en-US" dirty="0" smtClean="0">
                <a:latin typeface="Segoe UI Emoji" panose="020B0502040204020203" pitchFamily="34" charset="0"/>
                <a:ea typeface="Segoe UI Emoji" panose="020B0502040204020203" pitchFamily="34" charset="0"/>
              </a:rPr>
              <a:t>Because there </a:t>
            </a:r>
            <a:r>
              <a:rPr lang="en-US" dirty="0">
                <a:latin typeface="Segoe UI Emoji" panose="020B0502040204020203" pitchFamily="34" charset="0"/>
                <a:ea typeface="Segoe UI Emoji" panose="020B0502040204020203" pitchFamily="34" charset="0"/>
              </a:rPr>
              <a:t>is only a single numeric data type, numeric values in JavaScript are </a:t>
            </a:r>
            <a:r>
              <a:rPr lang="en-US" dirty="0" smtClean="0">
                <a:latin typeface="Segoe UI Emoji" panose="020B0502040204020203" pitchFamily="34" charset="0"/>
                <a:ea typeface="Segoe UI Emoji" panose="020B0502040204020203" pitchFamily="34" charset="0"/>
              </a:rPr>
              <a:t>often called </a:t>
            </a:r>
            <a:r>
              <a:rPr lang="en-US" i="1" dirty="0">
                <a:latin typeface="Segoe UI Emoji" panose="020B0502040204020203" pitchFamily="34" charset="0"/>
                <a:ea typeface="Segoe UI Emoji" panose="020B0502040204020203" pitchFamily="34" charset="0"/>
              </a:rPr>
              <a:t>numbers</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Literal </a:t>
            </a:r>
            <a:r>
              <a:rPr lang="en-US" dirty="0">
                <a:latin typeface="Segoe UI Emoji" panose="020B0502040204020203" pitchFamily="34" charset="0"/>
                <a:ea typeface="Segoe UI Emoji" panose="020B0502040204020203" pitchFamily="34" charset="0"/>
              </a:rPr>
              <a:t>numbers in a script can have the forms of either </a:t>
            </a:r>
            <a:r>
              <a:rPr lang="en-US" dirty="0" smtClean="0">
                <a:latin typeface="Segoe UI Emoji" panose="020B0502040204020203" pitchFamily="34" charset="0"/>
                <a:ea typeface="Segoe UI Emoji" panose="020B0502040204020203" pitchFamily="34" charset="0"/>
              </a:rPr>
              <a:t>integer or </a:t>
            </a:r>
            <a:r>
              <a:rPr lang="en-US" dirty="0">
                <a:latin typeface="Segoe UI Emoji" panose="020B0502040204020203" pitchFamily="34" charset="0"/>
                <a:ea typeface="Segoe UI Emoji" panose="020B0502040204020203" pitchFamily="34" charset="0"/>
              </a:rPr>
              <a:t>floating-point values.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Integer </a:t>
            </a:r>
            <a:r>
              <a:rPr lang="en-US" dirty="0">
                <a:latin typeface="Segoe UI Emoji" panose="020B0502040204020203" pitchFamily="34" charset="0"/>
                <a:ea typeface="Segoe UI Emoji" panose="020B0502040204020203" pitchFamily="34" charset="0"/>
              </a:rPr>
              <a:t>literals are strings of digits. Floating-point </a:t>
            </a:r>
            <a:r>
              <a:rPr lang="en-US" dirty="0" smtClean="0">
                <a:latin typeface="Segoe UI Emoji" panose="020B0502040204020203" pitchFamily="34" charset="0"/>
                <a:ea typeface="Segoe UI Emoji" panose="020B0502040204020203" pitchFamily="34" charset="0"/>
              </a:rPr>
              <a:t>literals can </a:t>
            </a:r>
            <a:r>
              <a:rPr lang="en-US" dirty="0">
                <a:latin typeface="Segoe UI Emoji" panose="020B0502040204020203" pitchFamily="34" charset="0"/>
                <a:ea typeface="Segoe UI Emoji" panose="020B0502040204020203" pitchFamily="34" charset="0"/>
              </a:rPr>
              <a:t>have decimal points, exponents, or both.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Exponents </a:t>
            </a:r>
            <a:r>
              <a:rPr lang="en-US" dirty="0">
                <a:latin typeface="Segoe UI Emoji" panose="020B0502040204020203" pitchFamily="34" charset="0"/>
                <a:ea typeface="Segoe UI Emoji" panose="020B0502040204020203" pitchFamily="34" charset="0"/>
              </a:rPr>
              <a:t>are specified with </a:t>
            </a:r>
            <a:r>
              <a:rPr lang="en-US" dirty="0" smtClean="0">
                <a:latin typeface="Segoe UI Emoji" panose="020B0502040204020203" pitchFamily="34" charset="0"/>
                <a:ea typeface="Segoe UI Emoji" panose="020B0502040204020203" pitchFamily="34" charset="0"/>
              </a:rPr>
              <a:t>an uppercase </a:t>
            </a:r>
            <a:r>
              <a:rPr lang="en-US" dirty="0">
                <a:latin typeface="Segoe UI Emoji" panose="020B0502040204020203" pitchFamily="34" charset="0"/>
                <a:ea typeface="Segoe UI Emoji" panose="020B0502040204020203" pitchFamily="34" charset="0"/>
              </a:rPr>
              <a:t>or a lowercase e and a possibly signed integer literal. </a:t>
            </a:r>
            <a:endParaRPr lang="en-US" dirty="0" smtClean="0">
              <a:latin typeface="Segoe UI Emoji" panose="020B0502040204020203" pitchFamily="34" charset="0"/>
              <a:ea typeface="Segoe UI Emoji" panose="020B0502040204020203" pitchFamily="34" charset="0"/>
            </a:endParaRPr>
          </a:p>
          <a:p>
            <a:pPr lvl="1"/>
            <a:endParaRPr lang="en-US" dirty="0" smtClean="0">
              <a:latin typeface="Segoe UI Emoji" panose="020B0502040204020203" pitchFamily="34" charset="0"/>
              <a:ea typeface="Segoe UI Emoji" panose="020B0502040204020203" pitchFamily="34" charset="0"/>
            </a:endParaRPr>
          </a:p>
          <a:p>
            <a:pPr lvl="1"/>
            <a:r>
              <a:rPr lang="en-US" dirty="0">
                <a:latin typeface="Segoe UI Emoji" panose="020B0502040204020203" pitchFamily="34" charset="0"/>
                <a:ea typeface="Segoe UI Emoji" panose="020B0502040204020203" pitchFamily="34" charset="0"/>
              </a:rPr>
              <a:t>	</a:t>
            </a:r>
            <a:r>
              <a:rPr lang="en-US" dirty="0" smtClean="0">
                <a:latin typeface="Segoe UI Emoji" panose="020B0502040204020203" pitchFamily="34" charset="0"/>
                <a:ea typeface="Segoe UI Emoji" panose="020B0502040204020203" pitchFamily="34" charset="0"/>
              </a:rPr>
              <a:t>		The following are </a:t>
            </a:r>
            <a:r>
              <a:rPr lang="en-US" dirty="0">
                <a:latin typeface="Segoe UI Emoji" panose="020B0502040204020203" pitchFamily="34" charset="0"/>
                <a:ea typeface="Segoe UI Emoji" panose="020B0502040204020203" pitchFamily="34" charset="0"/>
              </a:rPr>
              <a:t>valid numeric literals</a:t>
            </a:r>
            <a:r>
              <a:rPr lang="en-US" dirty="0" smtClean="0">
                <a:latin typeface="Segoe UI Emoji" panose="020B0502040204020203" pitchFamily="34" charset="0"/>
                <a:ea typeface="Segoe UI Emoji" panose="020B0502040204020203" pitchFamily="34" charset="0"/>
              </a:rPr>
              <a:t>:</a:t>
            </a:r>
          </a:p>
          <a:p>
            <a:r>
              <a:rPr lang="en-US" dirty="0" smtClean="0">
                <a:latin typeface="Segoe UI Emoji" panose="020B0502040204020203" pitchFamily="34" charset="0"/>
                <a:ea typeface="Segoe UI Emoji" panose="020B0502040204020203" pitchFamily="34" charset="0"/>
              </a:rPr>
              <a:t>			72 7.2 .72 72. 7E2 </a:t>
            </a:r>
            <a:r>
              <a:rPr lang="en-US" dirty="0" err="1" smtClean="0">
                <a:latin typeface="Segoe UI Emoji" panose="020B0502040204020203" pitchFamily="34" charset="0"/>
                <a:ea typeface="Segoe UI Emoji" panose="020B0502040204020203" pitchFamily="34" charset="0"/>
              </a:rPr>
              <a:t>7e2</a:t>
            </a:r>
            <a:r>
              <a:rPr lang="en-US" dirty="0" smtClean="0">
                <a:latin typeface="Segoe UI Emoji" panose="020B0502040204020203" pitchFamily="34" charset="0"/>
                <a:ea typeface="Segoe UI Emoji" panose="020B0502040204020203" pitchFamily="34" charset="0"/>
              </a:rPr>
              <a:t> .7e2 7.e2 7.2E-2</a:t>
            </a:r>
          </a:p>
        </p:txBody>
      </p:sp>
    </p:spTree>
    <p:extLst>
      <p:ext uri="{BB962C8B-B14F-4D97-AF65-F5344CB8AC3E}">
        <p14:creationId xmlns:p14="http://schemas.microsoft.com/office/powerpoint/2010/main" xmlns="" val="184628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String Literals</a:t>
            </a:r>
            <a:endParaRPr lang="en-IN" sz="1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6</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String </a:t>
            </a:r>
            <a:r>
              <a:rPr lang="en-US" b="1" dirty="0">
                <a:latin typeface="Segoe UI Emoji" panose="020B0502040204020203" pitchFamily="34" charset="0"/>
                <a:ea typeface="Segoe UI Emoji" panose="020B0502040204020203" pitchFamily="34" charset="0"/>
              </a:rPr>
              <a:t>Literals</a:t>
            </a:r>
            <a:endParaRPr lang="en-US" b="1"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string literal is a sequence of zero or more characters delimited by </a:t>
            </a:r>
            <a:r>
              <a:rPr lang="en-US" dirty="0" smtClean="0">
                <a:latin typeface="Segoe UI Emoji" panose="020B0502040204020203" pitchFamily="34" charset="0"/>
                <a:ea typeface="Segoe UI Emoji" panose="020B0502040204020203" pitchFamily="34" charset="0"/>
              </a:rPr>
              <a:t>either single </a:t>
            </a:r>
            <a:r>
              <a:rPr lang="en-US" dirty="0">
                <a:latin typeface="Segoe UI Emoji" panose="020B0502040204020203" pitchFamily="34" charset="0"/>
                <a:ea typeface="Segoe UI Emoji" panose="020B0502040204020203" pitchFamily="34" charset="0"/>
              </a:rPr>
              <a:t>quotes (') or double quotes (").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String </a:t>
            </a:r>
            <a:r>
              <a:rPr lang="en-US" dirty="0">
                <a:latin typeface="Segoe UI Emoji" panose="020B0502040204020203" pitchFamily="34" charset="0"/>
                <a:ea typeface="Segoe UI Emoji" panose="020B0502040204020203" pitchFamily="34" charset="0"/>
              </a:rPr>
              <a:t>literals can include characters </a:t>
            </a:r>
            <a:r>
              <a:rPr lang="en-US" dirty="0" smtClean="0">
                <a:latin typeface="Segoe UI Emoji" panose="020B0502040204020203" pitchFamily="34" charset="0"/>
                <a:ea typeface="Segoe UI Emoji" panose="020B0502040204020203" pitchFamily="34" charset="0"/>
              </a:rPr>
              <a:t>specified with </a:t>
            </a:r>
            <a:r>
              <a:rPr lang="en-US" dirty="0">
                <a:latin typeface="Segoe UI Emoji" panose="020B0502040204020203" pitchFamily="34" charset="0"/>
                <a:ea typeface="Segoe UI Emoji" panose="020B0502040204020203" pitchFamily="34" charset="0"/>
              </a:rPr>
              <a:t>escape sequences, such as \n and \t. If you want an actual </a:t>
            </a:r>
            <a:r>
              <a:rPr lang="en-US" dirty="0" smtClean="0">
                <a:latin typeface="Segoe UI Emoji" panose="020B0502040204020203" pitchFamily="34" charset="0"/>
                <a:ea typeface="Segoe UI Emoji" panose="020B0502040204020203" pitchFamily="34" charset="0"/>
              </a:rPr>
              <a:t>single-quote character </a:t>
            </a:r>
            <a:r>
              <a:rPr lang="en-US" dirty="0">
                <a:latin typeface="Segoe UI Emoji" panose="020B0502040204020203" pitchFamily="34" charset="0"/>
                <a:ea typeface="Segoe UI Emoji" panose="020B0502040204020203" pitchFamily="34" charset="0"/>
              </a:rPr>
              <a:t>in a string literal that is delimited by single quotes, the embedded </a:t>
            </a:r>
            <a:r>
              <a:rPr lang="en-US" dirty="0" smtClean="0">
                <a:latin typeface="Segoe UI Emoji" panose="020B0502040204020203" pitchFamily="34" charset="0"/>
                <a:ea typeface="Segoe UI Emoji" panose="020B0502040204020203" pitchFamily="34" charset="0"/>
              </a:rPr>
              <a:t>single quote </a:t>
            </a:r>
            <a:r>
              <a:rPr lang="en-US" dirty="0">
                <a:latin typeface="Segoe UI Emoji" panose="020B0502040204020203" pitchFamily="34" charset="0"/>
                <a:ea typeface="Segoe UI Emoji" panose="020B0502040204020203" pitchFamily="34" charset="0"/>
              </a:rPr>
              <a:t>must be preceded by a backslash:</a:t>
            </a:r>
          </a:p>
          <a:p>
            <a:pPr lvl="1"/>
            <a:r>
              <a:rPr lang="en-US" dirty="0" smtClean="0">
                <a:latin typeface="Segoe UI Emoji" panose="020B0502040204020203" pitchFamily="34" charset="0"/>
                <a:ea typeface="Segoe UI Emoji" panose="020B0502040204020203" pitchFamily="34" charset="0"/>
              </a:rPr>
              <a:t>	</a:t>
            </a:r>
          </a:p>
          <a:p>
            <a:pPr lvl="1"/>
            <a:r>
              <a:rPr lang="en-US" dirty="0" smtClean="0">
                <a:latin typeface="Segoe UI Emoji" panose="020B0502040204020203" pitchFamily="34" charset="0"/>
                <a:ea typeface="Segoe UI Emoji" panose="020B0502040204020203" pitchFamily="34" charset="0"/>
              </a:rPr>
              <a:t>	'You</a:t>
            </a:r>
            <a:r>
              <a:rPr lang="en-US" dirty="0">
                <a:latin typeface="Segoe UI Emoji" panose="020B0502040204020203" pitchFamily="34" charset="0"/>
                <a:ea typeface="Segoe UI Emoji" panose="020B0502040204020203" pitchFamily="34" charset="0"/>
              </a:rPr>
              <a:t>\'re the most freckly person I\'ve ever </a:t>
            </a:r>
            <a:r>
              <a:rPr lang="en-US" dirty="0" smtClean="0">
                <a:latin typeface="Segoe UI Emoji" panose="020B0502040204020203" pitchFamily="34" charset="0"/>
                <a:ea typeface="Segoe UI Emoji" panose="020B0502040204020203" pitchFamily="34" charset="0"/>
              </a:rPr>
              <a:t>seen‘</a:t>
            </a:r>
          </a:p>
          <a:p>
            <a:pPr lvl="1"/>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double quote can be embedded in a double-quoted string literal by </a:t>
            </a:r>
            <a:r>
              <a:rPr lang="en-US" dirty="0" smtClean="0">
                <a:latin typeface="Segoe UI Emoji" panose="020B0502040204020203" pitchFamily="34" charset="0"/>
                <a:ea typeface="Segoe UI Emoji" panose="020B0502040204020203" pitchFamily="34" charset="0"/>
              </a:rPr>
              <a:t>preceding it </a:t>
            </a:r>
            <a:r>
              <a:rPr lang="en-US" dirty="0">
                <a:latin typeface="Segoe UI Emoji" panose="020B0502040204020203" pitchFamily="34" charset="0"/>
                <a:ea typeface="Segoe UI Emoji" panose="020B0502040204020203" pitchFamily="34" charset="0"/>
              </a:rPr>
              <a:t>with a backslash.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An </a:t>
            </a:r>
            <a:r>
              <a:rPr lang="en-US" dirty="0">
                <a:latin typeface="Segoe UI Emoji" panose="020B0502040204020203" pitchFamily="34" charset="0"/>
                <a:ea typeface="Segoe UI Emoji" panose="020B0502040204020203" pitchFamily="34" charset="0"/>
              </a:rPr>
              <a:t>actual backslash character in any string literal must </a:t>
            </a:r>
            <a:r>
              <a:rPr lang="en-US" dirty="0" smtClean="0">
                <a:latin typeface="Segoe UI Emoji" panose="020B0502040204020203" pitchFamily="34" charset="0"/>
                <a:ea typeface="Segoe UI Emoji" panose="020B0502040204020203" pitchFamily="34" charset="0"/>
              </a:rPr>
              <a:t>be itself </a:t>
            </a:r>
            <a:r>
              <a:rPr lang="en-US" dirty="0" err="1">
                <a:latin typeface="Segoe UI Emoji" panose="020B0502040204020203" pitchFamily="34" charset="0"/>
                <a:ea typeface="Segoe UI Emoji" panose="020B0502040204020203" pitchFamily="34" charset="0"/>
              </a:rPr>
              <a:t>backslashed</a:t>
            </a:r>
            <a:r>
              <a:rPr lang="en-US" dirty="0">
                <a:latin typeface="Segoe UI Emoji" panose="020B0502040204020203" pitchFamily="34" charset="0"/>
                <a:ea typeface="Segoe UI Emoji" panose="020B0502040204020203" pitchFamily="34" charset="0"/>
              </a:rPr>
              <a:t>, as in the following example</a:t>
            </a:r>
            <a:r>
              <a:rPr lang="en-US" dirty="0" smtClean="0">
                <a:latin typeface="Segoe UI Emoji" panose="020B0502040204020203" pitchFamily="34" charset="0"/>
                <a:ea typeface="Segoe UI Emoji" panose="020B0502040204020203" pitchFamily="34" charset="0"/>
              </a:rPr>
              <a:t>: </a:t>
            </a:r>
          </a:p>
          <a:p>
            <a:r>
              <a:rPr lang="en-US" sz="800" dirty="0">
                <a:latin typeface="Segoe UI Emoji" panose="020B0502040204020203" pitchFamily="34" charset="0"/>
                <a:ea typeface="Segoe UI Emoji" panose="020B0502040204020203" pitchFamily="34" charset="0"/>
              </a:rPr>
              <a:t>	</a:t>
            </a:r>
            <a:r>
              <a:rPr lang="en-US" sz="800" dirty="0" smtClean="0">
                <a:latin typeface="Segoe UI Emoji" panose="020B0502040204020203" pitchFamily="34" charset="0"/>
                <a:ea typeface="Segoe UI Emoji" panose="020B0502040204020203" pitchFamily="34" charset="0"/>
              </a:rPr>
              <a:t>		</a:t>
            </a:r>
          </a:p>
          <a:p>
            <a:r>
              <a:rPr lang="en-US" dirty="0">
                <a:latin typeface="Segoe UI Emoji" panose="020B0502040204020203" pitchFamily="34" charset="0"/>
                <a:ea typeface="Segoe UI Emoji" panose="020B0502040204020203" pitchFamily="34" charset="0"/>
              </a:rPr>
              <a:t>	</a:t>
            </a: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D:\\</a:t>
            </a:r>
            <a:r>
              <a:rPr lang="en-US" dirty="0" smtClean="0">
                <a:latin typeface="Segoe UI Emoji" panose="020B0502040204020203" pitchFamily="34" charset="0"/>
                <a:ea typeface="Segoe UI Emoji" panose="020B0502040204020203" pitchFamily="34" charset="0"/>
              </a:rPr>
              <a:t>bookfiles“</a:t>
            </a:r>
          </a:p>
          <a:p>
            <a:r>
              <a:rPr lang="en-US" sz="800" dirty="0">
                <a:latin typeface="Segoe UI Emoji" panose="020B0502040204020203" pitchFamily="34" charset="0"/>
                <a:ea typeface="Segoe UI Emoji" panose="020B0502040204020203" pitchFamily="34" charset="0"/>
              </a:rPr>
              <a:t>	</a:t>
            </a:r>
            <a:r>
              <a:rPr lang="en-US" sz="800" dirty="0" smtClean="0">
                <a:latin typeface="Segoe UI Emoji" panose="020B0502040204020203" pitchFamily="34" charset="0"/>
                <a:ea typeface="Segoe UI Emoji" panose="020B0502040204020203" pitchFamily="34" charset="0"/>
              </a:rPr>
              <a:t>	</a:t>
            </a:r>
            <a:endParaRPr lang="en-US" sz="800"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There is no difference between single-quoted and double-quoted </a:t>
            </a:r>
            <a:r>
              <a:rPr lang="en-US" dirty="0" smtClean="0">
                <a:latin typeface="Segoe UI Emoji" panose="020B0502040204020203" pitchFamily="34" charset="0"/>
                <a:ea typeface="Segoe UI Emoji" panose="020B0502040204020203" pitchFamily="34" charset="0"/>
              </a:rPr>
              <a:t>literal strings</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null string (a string with no characters) can be denoted with </a:t>
            </a:r>
            <a:r>
              <a:rPr lang="en-US" dirty="0" smtClean="0">
                <a:latin typeface="Segoe UI Emoji" panose="020B0502040204020203" pitchFamily="34" charset="0"/>
                <a:ea typeface="Segoe UI Emoji" panose="020B0502040204020203" pitchFamily="34" charset="0"/>
              </a:rPr>
              <a:t>either '' </a:t>
            </a:r>
            <a:r>
              <a:rPr lang="en-US" dirty="0">
                <a:latin typeface="Segoe UI Emoji" panose="020B0502040204020203" pitchFamily="34" charset="0"/>
                <a:ea typeface="Segoe UI Emoji" panose="020B0502040204020203" pitchFamily="34" charset="0"/>
              </a:rPr>
              <a:t>or "".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All </a:t>
            </a:r>
            <a:r>
              <a:rPr lang="en-US" dirty="0">
                <a:latin typeface="Segoe UI Emoji" panose="020B0502040204020203" pitchFamily="34" charset="0"/>
                <a:ea typeface="Segoe UI Emoji" panose="020B0502040204020203" pitchFamily="34" charset="0"/>
              </a:rPr>
              <a:t>string literals are primitive values.</a:t>
            </a:r>
          </a:p>
        </p:txBody>
      </p:sp>
    </p:spTree>
    <p:extLst>
      <p:ext uri="{BB962C8B-B14F-4D97-AF65-F5344CB8AC3E}">
        <p14:creationId xmlns:p14="http://schemas.microsoft.com/office/powerpoint/2010/main" xmlns="" val="209532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Other Primitive types</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7</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Other Primitive Types</a:t>
            </a:r>
            <a:endParaRPr lang="en-US" b="1"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only value of type Null is the reserved word null, which indicates no value.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variable is null if it has not been explicitly declared or assigned a value.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an attempt </a:t>
            </a:r>
            <a:r>
              <a:rPr lang="en-US" dirty="0">
                <a:latin typeface="Segoe UI Emoji" panose="020B0502040204020203" pitchFamily="34" charset="0"/>
                <a:ea typeface="Segoe UI Emoji" panose="020B0502040204020203" pitchFamily="34" charset="0"/>
              </a:rPr>
              <a:t>is made to use the value of a variable whose value is null, it will cause </a:t>
            </a:r>
            <a:r>
              <a:rPr lang="en-US" dirty="0" smtClean="0">
                <a:latin typeface="Segoe UI Emoji" panose="020B0502040204020203" pitchFamily="34" charset="0"/>
                <a:ea typeface="Segoe UI Emoji" panose="020B0502040204020203" pitchFamily="34" charset="0"/>
              </a:rPr>
              <a:t>a runtime </a:t>
            </a:r>
            <a:r>
              <a:rPr lang="en-US" dirty="0">
                <a:latin typeface="Segoe UI Emoji" panose="020B0502040204020203" pitchFamily="34" charset="0"/>
                <a:ea typeface="Segoe UI Emoji" panose="020B0502040204020203" pitchFamily="34" charset="0"/>
              </a:rPr>
              <a:t>error.</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only value of type Undefined is undefined. Unlike null, there is </a:t>
            </a:r>
            <a:r>
              <a:rPr lang="en-US" dirty="0" smtClean="0">
                <a:latin typeface="Segoe UI Emoji" panose="020B0502040204020203" pitchFamily="34" charset="0"/>
                <a:ea typeface="Segoe UI Emoji" panose="020B0502040204020203" pitchFamily="34" charset="0"/>
              </a:rPr>
              <a:t>no reserved </a:t>
            </a:r>
            <a:r>
              <a:rPr lang="en-US" dirty="0">
                <a:latin typeface="Segoe UI Emoji" panose="020B0502040204020203" pitchFamily="34" charset="0"/>
                <a:ea typeface="Segoe UI Emoji" panose="020B0502040204020203" pitchFamily="34" charset="0"/>
              </a:rPr>
              <a:t>word undefined.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t>
            </a:r>
            <a:r>
              <a:rPr lang="en-US" dirty="0">
                <a:latin typeface="Segoe UI Emoji" panose="020B0502040204020203" pitchFamily="34" charset="0"/>
                <a:ea typeface="Segoe UI Emoji" panose="020B0502040204020203" pitchFamily="34" charset="0"/>
              </a:rPr>
              <a:t>a variable has been explicitly declared, but </a:t>
            </a:r>
            <a:r>
              <a:rPr lang="en-US" dirty="0" smtClean="0">
                <a:latin typeface="Segoe UI Emoji" panose="020B0502040204020203" pitchFamily="34" charset="0"/>
                <a:ea typeface="Segoe UI Emoji" panose="020B0502040204020203" pitchFamily="34" charset="0"/>
              </a:rPr>
              <a:t>not assigned </a:t>
            </a:r>
            <a:r>
              <a:rPr lang="en-US" dirty="0">
                <a:latin typeface="Segoe UI Emoji" panose="020B0502040204020203" pitchFamily="34" charset="0"/>
                <a:ea typeface="Segoe UI Emoji" panose="020B0502040204020203" pitchFamily="34" charset="0"/>
              </a:rPr>
              <a:t>a value, it has the value undefined.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t>
            </a:r>
            <a:r>
              <a:rPr lang="en-US" dirty="0">
                <a:latin typeface="Segoe UI Emoji" panose="020B0502040204020203" pitchFamily="34" charset="0"/>
                <a:ea typeface="Segoe UI Emoji" panose="020B0502040204020203" pitchFamily="34" charset="0"/>
              </a:rPr>
              <a:t>the value of an undefined </a:t>
            </a:r>
            <a:r>
              <a:rPr lang="en-US" dirty="0" smtClean="0">
                <a:latin typeface="Segoe UI Emoji" panose="020B0502040204020203" pitchFamily="34" charset="0"/>
                <a:ea typeface="Segoe UI Emoji" panose="020B0502040204020203" pitchFamily="34" charset="0"/>
              </a:rPr>
              <a:t>variable is </a:t>
            </a:r>
            <a:r>
              <a:rPr lang="en-US" dirty="0">
                <a:latin typeface="Segoe UI Emoji" panose="020B0502040204020203" pitchFamily="34" charset="0"/>
                <a:ea typeface="Segoe UI Emoji" panose="020B0502040204020203" pitchFamily="34" charset="0"/>
              </a:rPr>
              <a:t>displayed, the word undefined is displayed.</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only values of type Boolean are true and false. These values </a:t>
            </a:r>
            <a:r>
              <a:rPr lang="en-US" dirty="0" smtClean="0">
                <a:latin typeface="Segoe UI Emoji" panose="020B0502040204020203" pitchFamily="34" charset="0"/>
                <a:ea typeface="Segoe UI Emoji" panose="020B0502040204020203" pitchFamily="34" charset="0"/>
              </a:rPr>
              <a:t>are usually </a:t>
            </a:r>
            <a:r>
              <a:rPr lang="en-US" dirty="0">
                <a:latin typeface="Segoe UI Emoji" panose="020B0502040204020203" pitchFamily="34" charset="0"/>
                <a:ea typeface="Segoe UI Emoji" panose="020B0502040204020203" pitchFamily="34" charset="0"/>
              </a:rPr>
              <a:t>computed as the result of evaluating a relational or Boolean expression</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existence of both the Boolean primitive type and </a:t>
            </a:r>
            <a:r>
              <a:rPr lang="en-US" dirty="0" smtClean="0">
                <a:latin typeface="Segoe UI Emoji" panose="020B0502040204020203" pitchFamily="34" charset="0"/>
                <a:ea typeface="Segoe UI Emoji" panose="020B0502040204020203" pitchFamily="34" charset="0"/>
              </a:rPr>
              <a:t>the Boolean </a:t>
            </a:r>
            <a:r>
              <a:rPr lang="en-US" dirty="0">
                <a:latin typeface="Segoe UI Emoji" panose="020B0502040204020203" pitchFamily="34" charset="0"/>
                <a:ea typeface="Segoe UI Emoji" panose="020B0502040204020203" pitchFamily="34" charset="0"/>
              </a:rPr>
              <a:t>object can lead to some </a:t>
            </a:r>
            <a:r>
              <a:rPr lang="en-US" dirty="0" smtClean="0">
                <a:latin typeface="Segoe UI Emoji" panose="020B0502040204020203" pitchFamily="34" charset="0"/>
                <a:ea typeface="Segoe UI Emoji" panose="020B0502040204020203" pitchFamily="34" charset="0"/>
              </a:rPr>
              <a:t>confusion.</a:t>
            </a:r>
            <a:endParaRPr lang="en-US"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102020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JavaScript Operations</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8</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Numeric  Operators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JavaScript has the typical collection of numeric operators: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b="1" dirty="0" smtClean="0">
                <a:latin typeface="Segoe UI Emoji" panose="020B0502040204020203" pitchFamily="34" charset="0"/>
                <a:ea typeface="Segoe UI Emoji" panose="020B0502040204020203" pitchFamily="34" charset="0"/>
              </a:rPr>
              <a:t>The </a:t>
            </a:r>
            <a:r>
              <a:rPr lang="en-US" b="1" dirty="0">
                <a:latin typeface="Segoe UI Emoji" panose="020B0502040204020203" pitchFamily="34" charset="0"/>
                <a:ea typeface="Segoe UI Emoji" panose="020B0502040204020203" pitchFamily="34" charset="0"/>
              </a:rPr>
              <a:t>binary </a:t>
            </a:r>
            <a:r>
              <a:rPr lang="en-US" b="1" dirty="0" smtClean="0">
                <a:latin typeface="Segoe UI Emoji" panose="020B0502040204020203" pitchFamily="34" charset="0"/>
                <a:ea typeface="Segoe UI Emoji" panose="020B0502040204020203" pitchFamily="34" charset="0"/>
              </a:rPr>
              <a:t>operators: </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for </a:t>
            </a:r>
            <a:r>
              <a:rPr lang="en-US" dirty="0" smtClean="0">
                <a:latin typeface="Segoe UI Emoji" panose="020B0502040204020203" pitchFamily="34" charset="0"/>
                <a:ea typeface="Segoe UI Emoji" panose="020B0502040204020203" pitchFamily="34" charset="0"/>
              </a:rPr>
              <a:t>addition</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for </a:t>
            </a:r>
            <a:r>
              <a:rPr lang="en-US" dirty="0" smtClean="0">
                <a:latin typeface="Segoe UI Emoji" panose="020B0502040204020203" pitchFamily="34" charset="0"/>
                <a:ea typeface="Segoe UI Emoji" panose="020B0502040204020203" pitchFamily="34" charset="0"/>
              </a:rPr>
              <a:t>subtraction</a:t>
            </a:r>
            <a:endParaRPr lang="en-US" dirty="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for </a:t>
            </a:r>
            <a:r>
              <a:rPr lang="en-US" dirty="0" smtClean="0">
                <a:latin typeface="Segoe UI Emoji" panose="020B0502040204020203" pitchFamily="34" charset="0"/>
                <a:ea typeface="Segoe UI Emoji" panose="020B0502040204020203" pitchFamily="34" charset="0"/>
              </a:rPr>
              <a:t>multiplication</a:t>
            </a:r>
            <a:endParaRPr lang="en-US" dirty="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for </a:t>
            </a:r>
            <a:r>
              <a:rPr lang="en-US" dirty="0" smtClean="0">
                <a:latin typeface="Segoe UI Emoji" panose="020B0502040204020203" pitchFamily="34" charset="0"/>
                <a:ea typeface="Segoe UI Emoji" panose="020B0502040204020203" pitchFamily="34" charset="0"/>
              </a:rPr>
              <a:t>division</a:t>
            </a:r>
            <a:endParaRPr lang="en-US" dirty="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 % for </a:t>
            </a:r>
            <a:r>
              <a:rPr lang="en-US" dirty="0">
                <a:latin typeface="Segoe UI Emoji" panose="020B0502040204020203" pitchFamily="34" charset="0"/>
                <a:ea typeface="Segoe UI Emoji" panose="020B0502040204020203" pitchFamily="34" charset="0"/>
              </a:rPr>
              <a:t>modulus.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b="1" dirty="0" smtClean="0">
                <a:latin typeface="Segoe UI Emoji" panose="020B0502040204020203" pitchFamily="34" charset="0"/>
                <a:ea typeface="Segoe UI Emoji" panose="020B0502040204020203" pitchFamily="34" charset="0"/>
              </a:rPr>
              <a:t>unary operators </a:t>
            </a:r>
            <a:r>
              <a:rPr lang="en-US" dirty="0" smtClean="0">
                <a:latin typeface="Segoe UI Emoji" panose="020B0502040204020203" pitchFamily="34" charset="0"/>
                <a:ea typeface="Segoe UI Emoji" panose="020B0502040204020203" pitchFamily="34" charset="0"/>
              </a:rPr>
              <a:t>are plus (+), negate (-), decrement (--), and increment (++). </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b="1" dirty="0" smtClean="0">
                <a:latin typeface="Segoe UI Emoji" panose="020B0502040204020203" pitchFamily="34" charset="0"/>
                <a:ea typeface="Segoe UI Emoji" panose="020B0502040204020203" pitchFamily="34" charset="0"/>
              </a:rPr>
              <a:t>increment and decrement operators </a:t>
            </a:r>
            <a:r>
              <a:rPr lang="en-US" dirty="0" smtClean="0">
                <a:latin typeface="Segoe UI Emoji" panose="020B0502040204020203" pitchFamily="34" charset="0"/>
                <a:ea typeface="Segoe UI Emoji" panose="020B0502040204020203" pitchFamily="34" charset="0"/>
              </a:rPr>
              <a:t>can be either prefix or postfix.</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As </a:t>
            </a:r>
            <a:r>
              <a:rPr lang="en-US" dirty="0">
                <a:latin typeface="Segoe UI Emoji" panose="020B0502040204020203" pitchFamily="34" charset="0"/>
                <a:ea typeface="Segoe UI Emoji" panose="020B0502040204020203" pitchFamily="34" charset="0"/>
              </a:rPr>
              <a:t>with other languages that have the increment and decrement </a:t>
            </a:r>
            <a:r>
              <a:rPr lang="en-US" dirty="0" smtClean="0">
                <a:latin typeface="Segoe UI Emoji" panose="020B0502040204020203" pitchFamily="34" charset="0"/>
                <a:ea typeface="Segoe UI Emoji" panose="020B0502040204020203" pitchFamily="34" charset="0"/>
              </a:rPr>
              <a:t>unary operators</a:t>
            </a:r>
            <a:r>
              <a:rPr lang="en-US" dirty="0">
                <a:latin typeface="Segoe UI Emoji" panose="020B0502040204020203" pitchFamily="34" charset="0"/>
                <a:ea typeface="Segoe UI Emoji" panose="020B0502040204020203" pitchFamily="34" charset="0"/>
              </a:rPr>
              <a:t>, the prefix and postfix uses are not always equivalent.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800" dirty="0" smtClean="0">
                <a:latin typeface="Segoe UI Emoji" panose="020B0502040204020203" pitchFamily="34" charset="0"/>
                <a:ea typeface="Segoe UI Emoji" panose="020B0502040204020203" pitchFamily="34" charset="0"/>
              </a:rPr>
              <a:t>         </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For </a:t>
            </a:r>
            <a:r>
              <a:rPr lang="en-US" dirty="0">
                <a:latin typeface="Segoe UI Emoji" panose="020B0502040204020203" pitchFamily="34" charset="0"/>
                <a:ea typeface="Segoe UI Emoji" panose="020B0502040204020203" pitchFamily="34" charset="0"/>
              </a:rPr>
              <a:t>example, if the variable a has the value 7, </a:t>
            </a:r>
          </a:p>
          <a:p>
            <a:pPr marL="1200150" lvl="2"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 </a:t>
            </a:r>
            <a:r>
              <a:rPr lang="en-US" dirty="0" smtClean="0">
                <a:latin typeface="Segoe UI Emoji" panose="020B0502040204020203" pitchFamily="34" charset="0"/>
                <a:ea typeface="Segoe UI Emoji" panose="020B0502040204020203" pitchFamily="34" charset="0"/>
              </a:rPr>
              <a:t>3  is 24</a:t>
            </a:r>
            <a:endParaRPr lang="en-US" dirty="0">
              <a:latin typeface="Segoe UI Emoji" panose="020B0502040204020203" pitchFamily="34" charset="0"/>
              <a:ea typeface="Segoe UI Emoji" panose="020B0502040204020203" pitchFamily="34" charset="0"/>
            </a:endParaRPr>
          </a:p>
          <a:p>
            <a:pPr marL="1200150" lvl="2"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t>
            </a:r>
            <a:r>
              <a:rPr lang="en-US" dirty="0">
                <a:latin typeface="Segoe UI Emoji" panose="020B0502040204020203" pitchFamily="34" charset="0"/>
                <a:ea typeface="Segoe UI Emoji" panose="020B0502040204020203" pitchFamily="34" charset="0"/>
              </a:rPr>
              <a:t>a++) * </a:t>
            </a:r>
            <a:r>
              <a:rPr lang="en-US" dirty="0" smtClean="0">
                <a:latin typeface="Segoe UI Emoji" panose="020B0502040204020203" pitchFamily="34" charset="0"/>
                <a:ea typeface="Segoe UI Emoji" panose="020B0502040204020203" pitchFamily="34" charset="0"/>
              </a:rPr>
              <a:t>3  is 21</a:t>
            </a: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In both cases, a is set to 8</a:t>
            </a:r>
            <a:r>
              <a:rPr lang="en-US" dirty="0" smtClean="0">
                <a:latin typeface="Segoe UI Emoji" panose="020B0502040204020203" pitchFamily="34" charset="0"/>
                <a:ea typeface="Segoe UI Emoji" panose="020B0502040204020203" pitchFamily="34" charset="0"/>
              </a:rPr>
              <a:t>.</a:t>
            </a:r>
            <a:endParaRPr lang="en-US"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150839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Math &amp; String Objects</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9</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The Math </a:t>
            </a:r>
            <a:r>
              <a:rPr lang="en-US" b="1" dirty="0" smtClean="0">
                <a:latin typeface="Segoe UI Emoji" panose="020B0502040204020203" pitchFamily="34" charset="0"/>
                <a:ea typeface="Segoe UI Emoji" panose="020B0502040204020203" pitchFamily="34" charset="0"/>
              </a:rPr>
              <a:t>Object: </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Math object provides a collection of properties of Number objects </a:t>
            </a:r>
            <a:r>
              <a:rPr lang="en-US" dirty="0" smtClean="0">
                <a:latin typeface="Segoe UI Emoji" panose="020B0502040204020203" pitchFamily="34" charset="0"/>
                <a:ea typeface="Segoe UI Emoji" panose="020B0502040204020203" pitchFamily="34" charset="0"/>
              </a:rPr>
              <a:t>and methods </a:t>
            </a:r>
            <a:r>
              <a:rPr lang="en-US" dirty="0">
                <a:latin typeface="Segoe UI Emoji" panose="020B0502040204020203" pitchFamily="34" charset="0"/>
                <a:ea typeface="Segoe UI Emoji" panose="020B0502040204020203" pitchFamily="34" charset="0"/>
              </a:rPr>
              <a:t>that operate on Number objects.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Math object has methods for </a:t>
            </a:r>
            <a:r>
              <a:rPr lang="en-US" dirty="0" smtClean="0">
                <a:latin typeface="Segoe UI Emoji" panose="020B0502040204020203" pitchFamily="34" charset="0"/>
                <a:ea typeface="Segoe UI Emoji" panose="020B0502040204020203" pitchFamily="34" charset="0"/>
              </a:rPr>
              <a:t>the trigonometric </a:t>
            </a:r>
            <a:r>
              <a:rPr lang="en-US" dirty="0">
                <a:latin typeface="Segoe UI Emoji" panose="020B0502040204020203" pitchFamily="34" charset="0"/>
                <a:ea typeface="Segoe UI Emoji" panose="020B0502040204020203" pitchFamily="34" charset="0"/>
              </a:rPr>
              <a:t>functions, such as sin (for sine) and cos (for </a:t>
            </a:r>
            <a:r>
              <a:rPr lang="en-US" dirty="0" smtClean="0">
                <a:latin typeface="Segoe UI Emoji" panose="020B0502040204020203" pitchFamily="34" charset="0"/>
                <a:ea typeface="Segoe UI Emoji" panose="020B0502040204020203" pitchFamily="34" charset="0"/>
              </a:rPr>
              <a:t>cosine).</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Other mathematical operations include</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Floor</a:t>
            </a:r>
            <a:r>
              <a:rPr lang="en-US" dirty="0">
                <a:latin typeface="Segoe UI Emoji" panose="020B0502040204020203" pitchFamily="34" charset="0"/>
                <a:ea typeface="Segoe UI Emoji" panose="020B0502040204020203" pitchFamily="34" charset="0"/>
              </a:rPr>
              <a:t>:</a:t>
            </a:r>
            <a:r>
              <a:rPr lang="en-US" dirty="0" smtClean="0">
                <a:latin typeface="Segoe UI Emoji" panose="020B0502040204020203" pitchFamily="34" charset="0"/>
                <a:ea typeface="Segoe UI Emoji" panose="020B0502040204020203" pitchFamily="34" charset="0"/>
              </a:rPr>
              <a:t> to truncate </a:t>
            </a:r>
            <a:r>
              <a:rPr lang="en-US" dirty="0">
                <a:latin typeface="Segoe UI Emoji" panose="020B0502040204020203" pitchFamily="34" charset="0"/>
                <a:ea typeface="Segoe UI Emoji" panose="020B0502040204020203" pitchFamily="34" charset="0"/>
              </a:rPr>
              <a:t>a </a:t>
            </a:r>
            <a:r>
              <a:rPr lang="en-US" dirty="0" smtClean="0">
                <a:latin typeface="Segoe UI Emoji" panose="020B0502040204020203" pitchFamily="34" charset="0"/>
                <a:ea typeface="Segoe UI Emoji" panose="020B0502040204020203" pitchFamily="34" charset="0"/>
              </a:rPr>
              <a:t>number</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Round: </a:t>
            </a:r>
            <a:r>
              <a:rPr lang="en-US" dirty="0">
                <a:latin typeface="Segoe UI Emoji" panose="020B0502040204020203" pitchFamily="34" charset="0"/>
                <a:ea typeface="Segoe UI Emoji" panose="020B0502040204020203" pitchFamily="34" charset="0"/>
              </a:rPr>
              <a:t>to round a </a:t>
            </a:r>
            <a:r>
              <a:rPr lang="en-US" dirty="0" smtClean="0">
                <a:latin typeface="Segoe UI Emoji" panose="020B0502040204020203" pitchFamily="34" charset="0"/>
                <a:ea typeface="Segoe UI Emoji" panose="020B0502040204020203" pitchFamily="34" charset="0"/>
              </a:rPr>
              <a:t>number</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Max: to </a:t>
            </a:r>
            <a:r>
              <a:rPr lang="en-US" dirty="0">
                <a:latin typeface="Segoe UI Emoji" panose="020B0502040204020203" pitchFamily="34" charset="0"/>
                <a:ea typeface="Segoe UI Emoji" panose="020B0502040204020203" pitchFamily="34" charset="0"/>
              </a:rPr>
              <a:t>return the </a:t>
            </a:r>
            <a:r>
              <a:rPr lang="en-US" dirty="0" smtClean="0">
                <a:latin typeface="Segoe UI Emoji" panose="020B0502040204020203" pitchFamily="34" charset="0"/>
                <a:ea typeface="Segoe UI Emoji" panose="020B0502040204020203" pitchFamily="34" charset="0"/>
              </a:rPr>
              <a:t>largest of </a:t>
            </a:r>
            <a:r>
              <a:rPr lang="en-US" dirty="0">
                <a:latin typeface="Segoe UI Emoji" panose="020B0502040204020203" pitchFamily="34" charset="0"/>
                <a:ea typeface="Segoe UI Emoji" panose="020B0502040204020203" pitchFamily="34" charset="0"/>
              </a:rPr>
              <a:t>two given numbers</a:t>
            </a:r>
            <a:r>
              <a:rPr lang="en-US" dirty="0" smtClean="0">
                <a:latin typeface="Segoe UI Emoji" panose="020B0502040204020203" pitchFamily="34" charset="0"/>
                <a:ea typeface="Segoe UI Emoji" panose="020B0502040204020203" pitchFamily="34" charset="0"/>
              </a:rPr>
              <a:t>.</a:t>
            </a:r>
          </a:p>
          <a:p>
            <a:pPr marL="742950" lvl="1"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r>
              <a:rPr lang="en-US" b="1" dirty="0">
                <a:latin typeface="Segoe UI Emoji" panose="020B0502040204020203" pitchFamily="34" charset="0"/>
                <a:ea typeface="Segoe UI Emoji" panose="020B0502040204020203" pitchFamily="34" charset="0"/>
              </a:rPr>
              <a:t>String Concatenation Operator</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JavaScript strings are not stored or treated as arrays of characters; rather, they are unit scalar values. </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String catenation is specified with the operator denoted by a plus sign (+). </a:t>
            </a:r>
          </a:p>
          <a:p>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390221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200" spc="-1" dirty="0" smtClean="0">
                <a:solidFill>
                  <a:srgbClr val="FFFFFF"/>
                </a:solidFill>
                <a:uFill>
                  <a:solidFill>
                    <a:srgbClr val="FFFFFF"/>
                  </a:solidFill>
                </a:uFill>
                <a:latin typeface="Calibri"/>
              </a:rPr>
              <a:t>Number Object</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10</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The </a:t>
            </a:r>
            <a:r>
              <a:rPr lang="en-US" b="1" dirty="0">
                <a:latin typeface="Segoe UI Emoji" panose="020B0502040204020203" pitchFamily="34" charset="0"/>
                <a:ea typeface="Segoe UI Emoji" panose="020B0502040204020203" pitchFamily="34" charset="0"/>
              </a:rPr>
              <a:t>Number </a:t>
            </a:r>
            <a:r>
              <a:rPr lang="en-US" b="1" dirty="0" smtClean="0">
                <a:latin typeface="Segoe UI Emoji" panose="020B0502040204020203" pitchFamily="34" charset="0"/>
                <a:ea typeface="Segoe UI Emoji" panose="020B0502040204020203" pitchFamily="34" charset="0"/>
              </a:rPr>
              <a:t>Object:</a:t>
            </a: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This object </a:t>
            </a:r>
            <a:r>
              <a:rPr lang="en-US" sz="1500" dirty="0">
                <a:latin typeface="Segoe UI Emoji" panose="020B0502040204020203" pitchFamily="34" charset="0"/>
                <a:ea typeface="Segoe UI Emoji" panose="020B0502040204020203" pitchFamily="34" charset="0"/>
              </a:rPr>
              <a:t>includes a collection of useful properties that have </a:t>
            </a:r>
            <a:r>
              <a:rPr lang="en-US" sz="1500" dirty="0" smtClean="0">
                <a:latin typeface="Segoe UI Emoji" panose="020B0502040204020203" pitchFamily="34" charset="0"/>
                <a:ea typeface="Segoe UI Emoji" panose="020B0502040204020203" pitchFamily="34" charset="0"/>
              </a:rPr>
              <a:t>constant values</a:t>
            </a:r>
            <a:r>
              <a:rPr lang="en-US" sz="1500" dirty="0">
                <a:latin typeface="Segoe UI Emoji" panose="020B0502040204020203" pitchFamily="34" charset="0"/>
                <a:ea typeface="Segoe UI Emoji" panose="020B0502040204020203" pitchFamily="34" charset="0"/>
              </a:rPr>
              <a:t>. </a:t>
            </a:r>
            <a:endParaRPr lang="en-US" sz="1500"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Any </a:t>
            </a:r>
            <a:r>
              <a:rPr lang="en-US" sz="1500" dirty="0">
                <a:latin typeface="Segoe UI Emoji" panose="020B0502040204020203" pitchFamily="34" charset="0"/>
                <a:ea typeface="Segoe UI Emoji" panose="020B0502040204020203" pitchFamily="34" charset="0"/>
              </a:rPr>
              <a:t>arithmetic operation that results in an error </a:t>
            </a:r>
            <a:r>
              <a:rPr lang="en-US" sz="1500" dirty="0" smtClean="0">
                <a:latin typeface="Segoe UI Emoji" panose="020B0502040204020203" pitchFamily="34" charset="0"/>
                <a:ea typeface="Segoe UI Emoji" panose="020B0502040204020203" pitchFamily="34" charset="0"/>
              </a:rPr>
              <a:t>such as </a:t>
            </a:r>
          </a:p>
          <a:p>
            <a:pPr marL="742950" lvl="1"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division </a:t>
            </a:r>
            <a:r>
              <a:rPr lang="en-US" sz="1500" dirty="0">
                <a:latin typeface="Segoe UI Emoji" panose="020B0502040204020203" pitchFamily="34" charset="0"/>
                <a:ea typeface="Segoe UI Emoji" panose="020B0502040204020203" pitchFamily="34" charset="0"/>
              </a:rPr>
              <a:t>by </a:t>
            </a:r>
            <a:r>
              <a:rPr lang="en-US" sz="1500" dirty="0" smtClean="0">
                <a:latin typeface="Segoe UI Emoji" panose="020B0502040204020203" pitchFamily="34" charset="0"/>
                <a:ea typeface="Segoe UI Emoji" panose="020B0502040204020203" pitchFamily="34" charset="0"/>
              </a:rPr>
              <a:t>zero</a:t>
            </a:r>
          </a:p>
          <a:p>
            <a:pPr marL="742950" lvl="1"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that </a:t>
            </a:r>
            <a:r>
              <a:rPr lang="en-US" sz="1500" dirty="0">
                <a:latin typeface="Segoe UI Emoji" panose="020B0502040204020203" pitchFamily="34" charset="0"/>
                <a:ea typeface="Segoe UI Emoji" panose="020B0502040204020203" pitchFamily="34" charset="0"/>
              </a:rPr>
              <a:t>produces a value that cannot be represented as a double-precision </a:t>
            </a:r>
            <a:r>
              <a:rPr lang="en-US" sz="1500" dirty="0" smtClean="0">
                <a:latin typeface="Segoe UI Emoji" panose="020B0502040204020203" pitchFamily="34" charset="0"/>
                <a:ea typeface="Segoe UI Emoji" panose="020B0502040204020203" pitchFamily="34" charset="0"/>
              </a:rPr>
              <a:t>floating point number</a:t>
            </a:r>
            <a:r>
              <a:rPr lang="en-US" sz="1500" dirty="0">
                <a:latin typeface="Segoe UI Emoji" panose="020B0502040204020203" pitchFamily="34" charset="0"/>
                <a:ea typeface="Segoe UI Emoji" panose="020B0502040204020203" pitchFamily="34" charset="0"/>
              </a:rPr>
              <a:t>, such as a number that is too large (an overflow), </a:t>
            </a:r>
            <a:endParaRPr lang="en-US" sz="1500"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returns the value “not a number,” which is displayed as </a:t>
            </a:r>
            <a:r>
              <a:rPr lang="en-US" sz="1500" dirty="0" err="1" smtClean="0">
                <a:latin typeface="Segoe UI Emoji" panose="020B0502040204020203" pitchFamily="34" charset="0"/>
                <a:ea typeface="Segoe UI Emoji" panose="020B0502040204020203" pitchFamily="34" charset="0"/>
              </a:rPr>
              <a:t>NaN</a:t>
            </a:r>
            <a:r>
              <a:rPr lang="en-US" sz="1500" dirty="0" smtClean="0">
                <a:latin typeface="Segoe UI Emoji" panose="020B0502040204020203" pitchFamily="34" charset="0"/>
                <a:ea typeface="Segoe UI Emoji" panose="020B0502040204020203" pitchFamily="34" charset="0"/>
              </a:rPr>
              <a:t>. </a:t>
            </a: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If </a:t>
            </a:r>
            <a:r>
              <a:rPr lang="en-US" sz="1500" dirty="0" err="1" smtClean="0">
                <a:latin typeface="Segoe UI Emoji" panose="020B0502040204020203" pitchFamily="34" charset="0"/>
                <a:ea typeface="Segoe UI Emoji" panose="020B0502040204020203" pitchFamily="34" charset="0"/>
              </a:rPr>
              <a:t>NaN</a:t>
            </a:r>
            <a:r>
              <a:rPr lang="en-US" sz="1500" dirty="0" smtClean="0">
                <a:latin typeface="Segoe UI Emoji" panose="020B0502040204020203" pitchFamily="34" charset="0"/>
                <a:ea typeface="Segoe UI Emoji" panose="020B0502040204020203" pitchFamily="34" charset="0"/>
              </a:rPr>
              <a:t> is compared for equality against any </a:t>
            </a:r>
            <a:r>
              <a:rPr lang="en-US" sz="1500" dirty="0">
                <a:latin typeface="Segoe UI Emoji" panose="020B0502040204020203" pitchFamily="34" charset="0"/>
                <a:ea typeface="Segoe UI Emoji" panose="020B0502040204020203" pitchFamily="34" charset="0"/>
              </a:rPr>
              <a:t>number, the comparison fails. </a:t>
            </a:r>
            <a:endParaRPr lang="en-US" sz="1500"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Surprisingly</a:t>
            </a:r>
            <a:r>
              <a:rPr lang="en-US" sz="1500" dirty="0">
                <a:latin typeface="Segoe UI Emoji" panose="020B0502040204020203" pitchFamily="34" charset="0"/>
                <a:ea typeface="Segoe UI Emoji" panose="020B0502040204020203" pitchFamily="34" charset="0"/>
              </a:rPr>
              <a:t>, in a comparison, </a:t>
            </a:r>
            <a:r>
              <a:rPr lang="en-US" sz="1500" dirty="0" err="1">
                <a:latin typeface="Segoe UI Emoji" panose="020B0502040204020203" pitchFamily="34" charset="0"/>
                <a:ea typeface="Segoe UI Emoji" panose="020B0502040204020203" pitchFamily="34" charset="0"/>
              </a:rPr>
              <a:t>NaN</a:t>
            </a:r>
            <a:r>
              <a:rPr lang="en-US" sz="1500" dirty="0">
                <a:latin typeface="Segoe UI Emoji" panose="020B0502040204020203" pitchFamily="34" charset="0"/>
                <a:ea typeface="Segoe UI Emoji" panose="020B0502040204020203" pitchFamily="34" charset="0"/>
              </a:rPr>
              <a:t> is not </a:t>
            </a:r>
            <a:r>
              <a:rPr lang="en-US" sz="1500" dirty="0" smtClean="0">
                <a:latin typeface="Segoe UI Emoji" panose="020B0502040204020203" pitchFamily="34" charset="0"/>
                <a:ea typeface="Segoe UI Emoji" panose="020B0502040204020203" pitchFamily="34" charset="0"/>
              </a:rPr>
              <a:t>equal to </a:t>
            </a:r>
            <a:r>
              <a:rPr lang="en-US" sz="1500" dirty="0">
                <a:latin typeface="Segoe UI Emoji" panose="020B0502040204020203" pitchFamily="34" charset="0"/>
                <a:ea typeface="Segoe UI Emoji" panose="020B0502040204020203" pitchFamily="34" charset="0"/>
              </a:rPr>
              <a:t>itself. </a:t>
            </a:r>
            <a:endParaRPr lang="en-US" sz="1500"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To </a:t>
            </a:r>
            <a:r>
              <a:rPr lang="en-US" sz="1500" dirty="0">
                <a:latin typeface="Segoe UI Emoji" panose="020B0502040204020203" pitchFamily="34" charset="0"/>
                <a:ea typeface="Segoe UI Emoji" panose="020B0502040204020203" pitchFamily="34" charset="0"/>
              </a:rPr>
              <a:t>determine whether a variable has the </a:t>
            </a:r>
            <a:r>
              <a:rPr lang="en-US" sz="1500" dirty="0" err="1">
                <a:latin typeface="Segoe UI Emoji" panose="020B0502040204020203" pitchFamily="34" charset="0"/>
                <a:ea typeface="Segoe UI Emoji" panose="020B0502040204020203" pitchFamily="34" charset="0"/>
              </a:rPr>
              <a:t>NaN</a:t>
            </a:r>
            <a:r>
              <a:rPr lang="en-US" sz="1500" dirty="0">
                <a:latin typeface="Segoe UI Emoji" panose="020B0502040204020203" pitchFamily="34" charset="0"/>
                <a:ea typeface="Segoe UI Emoji" panose="020B0502040204020203" pitchFamily="34" charset="0"/>
              </a:rPr>
              <a:t> value, the predefined </a:t>
            </a:r>
            <a:r>
              <a:rPr lang="en-US" sz="1500" dirty="0" smtClean="0">
                <a:latin typeface="Segoe UI Emoji" panose="020B0502040204020203" pitchFamily="34" charset="0"/>
                <a:ea typeface="Segoe UI Emoji" panose="020B0502040204020203" pitchFamily="34" charset="0"/>
              </a:rPr>
              <a:t>predicate function </a:t>
            </a:r>
            <a:r>
              <a:rPr lang="en-US" sz="1500" dirty="0" err="1">
                <a:latin typeface="Segoe UI Emoji" panose="020B0502040204020203" pitchFamily="34" charset="0"/>
                <a:ea typeface="Segoe UI Emoji" panose="020B0502040204020203" pitchFamily="34" charset="0"/>
              </a:rPr>
              <a:t>isNaN</a:t>
            </a:r>
            <a:r>
              <a:rPr lang="en-US" sz="1500" dirty="0">
                <a:latin typeface="Segoe UI Emoji" panose="020B0502040204020203" pitchFamily="34" charset="0"/>
                <a:ea typeface="Segoe UI Emoji" panose="020B0502040204020203" pitchFamily="34" charset="0"/>
              </a:rPr>
              <a:t>() must be used. </a:t>
            </a:r>
            <a:endParaRPr lang="en-US" sz="1500"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sz="1500" dirty="0" smtClean="0">
                <a:latin typeface="Segoe UI Emoji" panose="020B0502040204020203" pitchFamily="34" charset="0"/>
                <a:ea typeface="Segoe UI Emoji" panose="020B0502040204020203" pitchFamily="34" charset="0"/>
              </a:rPr>
              <a:t>For </a:t>
            </a:r>
            <a:r>
              <a:rPr lang="en-US" sz="1500" dirty="0">
                <a:latin typeface="Segoe UI Emoji" panose="020B0502040204020203" pitchFamily="34" charset="0"/>
                <a:ea typeface="Segoe UI Emoji" panose="020B0502040204020203" pitchFamily="34" charset="0"/>
              </a:rPr>
              <a:t>example, if the variable a has the </a:t>
            </a:r>
            <a:r>
              <a:rPr lang="en-US" sz="1500" dirty="0" err="1" smtClean="0">
                <a:latin typeface="Segoe UI Emoji" panose="020B0502040204020203" pitchFamily="34" charset="0"/>
                <a:ea typeface="Segoe UI Emoji" panose="020B0502040204020203" pitchFamily="34" charset="0"/>
              </a:rPr>
              <a:t>NaN</a:t>
            </a:r>
            <a:r>
              <a:rPr lang="en-US" sz="1500" dirty="0" smtClean="0">
                <a:latin typeface="Segoe UI Emoji" panose="020B0502040204020203" pitchFamily="34" charset="0"/>
                <a:ea typeface="Segoe UI Emoji" panose="020B0502040204020203" pitchFamily="34" charset="0"/>
              </a:rPr>
              <a:t> value</a:t>
            </a:r>
            <a:r>
              <a:rPr lang="en-US" sz="1500" dirty="0">
                <a:latin typeface="Segoe UI Emoji" panose="020B0502040204020203" pitchFamily="34" charset="0"/>
                <a:ea typeface="Segoe UI Emoji" panose="020B0502040204020203" pitchFamily="34" charset="0"/>
              </a:rPr>
              <a:t>, </a:t>
            </a:r>
            <a:r>
              <a:rPr lang="en-US" sz="1500" dirty="0" err="1">
                <a:latin typeface="Segoe UI Emoji" panose="020B0502040204020203" pitchFamily="34" charset="0"/>
                <a:ea typeface="Segoe UI Emoji" panose="020B0502040204020203" pitchFamily="34" charset="0"/>
              </a:rPr>
              <a:t>isNaN</a:t>
            </a:r>
            <a:r>
              <a:rPr lang="en-US" sz="1500" dirty="0">
                <a:latin typeface="Segoe UI Emoji" panose="020B0502040204020203" pitchFamily="34" charset="0"/>
                <a:ea typeface="Segoe UI Emoji" panose="020B0502040204020203" pitchFamily="34" charset="0"/>
              </a:rPr>
              <a:t>(a) returns true.</a:t>
            </a:r>
          </a:p>
          <a:p>
            <a:pPr marL="285750" indent="-285750">
              <a:buFont typeface="Arial" panose="020B0604020202020204" pitchFamily="34" charset="0"/>
              <a:buChar char="•"/>
            </a:pPr>
            <a:r>
              <a:rPr lang="en-US" sz="1500" dirty="0">
                <a:latin typeface="Segoe UI Emoji" panose="020B0502040204020203" pitchFamily="34" charset="0"/>
                <a:ea typeface="Segoe UI Emoji" panose="020B0502040204020203" pitchFamily="34" charset="0"/>
              </a:rPr>
              <a:t>The Number object has a method, </a:t>
            </a:r>
            <a:r>
              <a:rPr lang="en-US" sz="1500" dirty="0" err="1">
                <a:latin typeface="Segoe UI Emoji" panose="020B0502040204020203" pitchFamily="34" charset="0"/>
                <a:ea typeface="Segoe UI Emoji" panose="020B0502040204020203" pitchFamily="34" charset="0"/>
              </a:rPr>
              <a:t>toString</a:t>
            </a:r>
            <a:r>
              <a:rPr lang="en-US" sz="1500" dirty="0">
                <a:latin typeface="Segoe UI Emoji" panose="020B0502040204020203" pitchFamily="34" charset="0"/>
                <a:ea typeface="Segoe UI Emoji" panose="020B0502040204020203" pitchFamily="34" charset="0"/>
              </a:rPr>
              <a:t>, which it inherits from </a:t>
            </a:r>
            <a:r>
              <a:rPr lang="en-US" sz="1500" dirty="0" smtClean="0">
                <a:latin typeface="Segoe UI Emoji" panose="020B0502040204020203" pitchFamily="34" charset="0"/>
                <a:ea typeface="Segoe UI Emoji" panose="020B0502040204020203" pitchFamily="34" charset="0"/>
              </a:rPr>
              <a:t>Object but </a:t>
            </a:r>
            <a:r>
              <a:rPr lang="en-US" sz="1500" dirty="0">
                <a:latin typeface="Segoe UI Emoji" panose="020B0502040204020203" pitchFamily="34" charset="0"/>
                <a:ea typeface="Segoe UI Emoji" panose="020B0502040204020203" pitchFamily="34" charset="0"/>
              </a:rPr>
              <a:t>overrides. </a:t>
            </a:r>
          </a:p>
        </p:txBody>
      </p:sp>
      <p:pic>
        <p:nvPicPr>
          <p:cNvPr id="7" name="Picture 6"/>
          <p:cNvPicPr>
            <a:picLocks noChangeAspect="1"/>
          </p:cNvPicPr>
          <p:nvPr/>
        </p:nvPicPr>
        <p:blipFill>
          <a:blip r:embed="rId2"/>
          <a:stretch>
            <a:fillRect/>
          </a:stretch>
        </p:blipFill>
        <p:spPr>
          <a:xfrm>
            <a:off x="1799992" y="4582721"/>
            <a:ext cx="5988855" cy="1884481"/>
          </a:xfrm>
          <a:prstGeom prst="rect">
            <a:avLst/>
          </a:prstGeom>
        </p:spPr>
      </p:pic>
    </p:spTree>
    <p:extLst>
      <p:ext uri="{BB962C8B-B14F-4D97-AF65-F5344CB8AC3E}">
        <p14:creationId xmlns:p14="http://schemas.microsoft.com/office/powerpoint/2010/main" xmlns="" val="367811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smtClean="0">
                <a:solidFill>
                  <a:srgbClr val="FFFFFF"/>
                </a:solidFill>
                <a:uFill>
                  <a:solidFill>
                    <a:srgbClr val="FFFFFF"/>
                  </a:solidFill>
                </a:uFill>
                <a:latin typeface="Calibri"/>
              </a:rPr>
              <a:t>String Object</a:t>
            </a:r>
            <a:endParaRPr lang="en-IN" sz="3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11</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String Properties and Methods</a:t>
            </a:r>
            <a:endParaRPr lang="en-US" b="1"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String </a:t>
            </a:r>
            <a:r>
              <a:rPr lang="en-US" dirty="0">
                <a:latin typeface="Segoe UI Emoji" panose="020B0502040204020203" pitchFamily="34" charset="0"/>
                <a:ea typeface="Segoe UI Emoji" panose="020B0502040204020203" pitchFamily="34" charset="0"/>
              </a:rPr>
              <a:t>methods can always be used through </a:t>
            </a:r>
            <a:r>
              <a:rPr lang="en-US" dirty="0" smtClean="0">
                <a:latin typeface="Segoe UI Emoji" panose="020B0502040204020203" pitchFamily="34" charset="0"/>
                <a:ea typeface="Segoe UI Emoji" panose="020B0502040204020203" pitchFamily="34" charset="0"/>
              </a:rPr>
              <a:t>String primitive </a:t>
            </a:r>
            <a:r>
              <a:rPr lang="en-US" dirty="0">
                <a:latin typeface="Segoe UI Emoji" panose="020B0502040204020203" pitchFamily="34" charset="0"/>
                <a:ea typeface="Segoe UI Emoji" panose="020B0502040204020203" pitchFamily="34" charset="0"/>
              </a:rPr>
              <a:t>values, as if the values were objects.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String object includes </a:t>
            </a:r>
            <a:r>
              <a:rPr lang="en-US" dirty="0" smtClean="0">
                <a:latin typeface="Segoe UI Emoji" panose="020B0502040204020203" pitchFamily="34" charset="0"/>
                <a:ea typeface="Segoe UI Emoji" panose="020B0502040204020203" pitchFamily="34" charset="0"/>
              </a:rPr>
              <a:t>one property</a:t>
            </a:r>
            <a:r>
              <a:rPr lang="en-US" dirty="0">
                <a:latin typeface="Segoe UI Emoji" panose="020B0502040204020203" pitchFamily="34" charset="0"/>
                <a:ea typeface="Segoe UI Emoji" panose="020B0502040204020203" pitchFamily="34" charset="0"/>
              </a:rPr>
              <a:t>, length, and a large collection of methods.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number of characters in a string is stored in the length property </a:t>
            </a:r>
            <a:r>
              <a:rPr lang="en-US" dirty="0" smtClean="0">
                <a:latin typeface="Segoe UI Emoji" panose="020B0502040204020203" pitchFamily="34" charset="0"/>
                <a:ea typeface="Segoe UI Emoji" panose="020B0502040204020203" pitchFamily="34" charset="0"/>
              </a:rPr>
              <a:t>as follows</a:t>
            </a:r>
            <a:r>
              <a:rPr lang="en-US" dirty="0">
                <a:latin typeface="Segoe UI Emoji" panose="020B0502040204020203" pitchFamily="34" charset="0"/>
                <a:ea typeface="Segoe UI Emoji" panose="020B0502040204020203" pitchFamily="34" charset="0"/>
              </a:rPr>
              <a:t>:</a:t>
            </a:r>
          </a:p>
          <a:p>
            <a:pPr marL="742950" lvl="1" indent="-285750">
              <a:buFont typeface="Arial" panose="020B0604020202020204" pitchFamily="34" charset="0"/>
              <a:buChar char="•"/>
            </a:pPr>
            <a:r>
              <a:rPr lang="en-US" dirty="0" err="1">
                <a:latin typeface="Segoe UI Emoji" panose="020B0502040204020203" pitchFamily="34" charset="0"/>
                <a:ea typeface="Segoe UI Emoji" panose="020B0502040204020203" pitchFamily="34" charset="0"/>
              </a:rPr>
              <a:t>var</a:t>
            </a:r>
            <a:r>
              <a:rPr lang="en-US" dirty="0">
                <a:latin typeface="Segoe UI Emoji" panose="020B0502040204020203" pitchFamily="34" charset="0"/>
                <a:ea typeface="Segoe UI Emoji" panose="020B0502040204020203" pitchFamily="34" charset="0"/>
              </a:rPr>
              <a:t> </a:t>
            </a:r>
            <a:r>
              <a:rPr lang="en-US" dirty="0" err="1">
                <a:latin typeface="Segoe UI Emoji" panose="020B0502040204020203" pitchFamily="34" charset="0"/>
                <a:ea typeface="Segoe UI Emoji" panose="020B0502040204020203" pitchFamily="34" charset="0"/>
              </a:rPr>
              <a:t>str</a:t>
            </a:r>
            <a:r>
              <a:rPr lang="en-US" dirty="0">
                <a:latin typeface="Segoe UI Emoji" panose="020B0502040204020203" pitchFamily="34" charset="0"/>
                <a:ea typeface="Segoe UI Emoji" panose="020B0502040204020203" pitchFamily="34" charset="0"/>
              </a:rPr>
              <a:t> = "George";</a:t>
            </a:r>
          </a:p>
          <a:p>
            <a:pPr marL="742950" lvl="1" indent="-285750">
              <a:buFont typeface="Arial" panose="020B0604020202020204" pitchFamily="34" charset="0"/>
              <a:buChar char="•"/>
            </a:pPr>
            <a:r>
              <a:rPr lang="en-US" dirty="0" err="1">
                <a:latin typeface="Segoe UI Emoji" panose="020B0502040204020203" pitchFamily="34" charset="0"/>
                <a:ea typeface="Segoe UI Emoji" panose="020B0502040204020203" pitchFamily="34" charset="0"/>
              </a:rPr>
              <a:t>var</a:t>
            </a:r>
            <a:r>
              <a:rPr lang="en-US" dirty="0">
                <a:latin typeface="Segoe UI Emoji" panose="020B0502040204020203" pitchFamily="34" charset="0"/>
                <a:ea typeface="Segoe UI Emoji" panose="020B0502040204020203" pitchFamily="34" charset="0"/>
              </a:rPr>
              <a:t> </a:t>
            </a:r>
            <a:r>
              <a:rPr lang="en-US" dirty="0" err="1">
                <a:latin typeface="Segoe UI Emoji" panose="020B0502040204020203" pitchFamily="34" charset="0"/>
                <a:ea typeface="Segoe UI Emoji" panose="020B0502040204020203" pitchFamily="34" charset="0"/>
              </a:rPr>
              <a:t>len</a:t>
            </a:r>
            <a:r>
              <a:rPr lang="en-US" dirty="0">
                <a:latin typeface="Segoe UI Emoji" panose="020B0502040204020203" pitchFamily="34" charset="0"/>
                <a:ea typeface="Segoe UI Emoji" panose="020B0502040204020203" pitchFamily="34" charset="0"/>
              </a:rPr>
              <a:t> = </a:t>
            </a:r>
            <a:r>
              <a:rPr lang="en-US" dirty="0" err="1">
                <a:latin typeface="Segoe UI Emoji" panose="020B0502040204020203" pitchFamily="34" charset="0"/>
                <a:ea typeface="Segoe UI Emoji" panose="020B0502040204020203" pitchFamily="34" charset="0"/>
              </a:rPr>
              <a:t>str.length</a:t>
            </a:r>
            <a:r>
              <a:rPr lang="en-US" dirty="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In this code, </a:t>
            </a:r>
            <a:r>
              <a:rPr lang="en-US" dirty="0" err="1">
                <a:latin typeface="Segoe UI Emoji" panose="020B0502040204020203" pitchFamily="34" charset="0"/>
                <a:ea typeface="Segoe UI Emoji" panose="020B0502040204020203" pitchFamily="34" charset="0"/>
              </a:rPr>
              <a:t>len</a:t>
            </a:r>
            <a:r>
              <a:rPr lang="en-US" dirty="0">
                <a:latin typeface="Segoe UI Emoji" panose="020B0502040204020203" pitchFamily="34" charset="0"/>
                <a:ea typeface="Segoe UI Emoji" panose="020B0502040204020203" pitchFamily="34" charset="0"/>
              </a:rPr>
              <a:t> is set to the number of characters in </a:t>
            </a:r>
            <a:r>
              <a:rPr lang="en-US" dirty="0" err="1">
                <a:latin typeface="Segoe UI Emoji" panose="020B0502040204020203" pitchFamily="34" charset="0"/>
                <a:ea typeface="Segoe UI Emoji" panose="020B0502040204020203" pitchFamily="34" charset="0"/>
              </a:rPr>
              <a:t>str</a:t>
            </a:r>
            <a:r>
              <a:rPr lang="en-US" dirty="0">
                <a:latin typeface="Segoe UI Emoji" panose="020B0502040204020203" pitchFamily="34" charset="0"/>
                <a:ea typeface="Segoe UI Emoji" panose="020B0502040204020203" pitchFamily="34" charset="0"/>
              </a:rPr>
              <a:t>, namely, 6</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few of the most commonly used String methods are shown in </a:t>
            </a:r>
            <a:r>
              <a:rPr lang="en-US" dirty="0" smtClean="0">
                <a:latin typeface="Segoe UI Emoji" panose="020B0502040204020203" pitchFamily="34" charset="0"/>
                <a:ea typeface="Segoe UI Emoji" panose="020B0502040204020203" pitchFamily="34" charset="0"/>
              </a:rPr>
              <a:t>Table.</a:t>
            </a:r>
            <a:endParaRPr lang="en-US" dirty="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1555509" y="4038937"/>
            <a:ext cx="6231790" cy="2336921"/>
          </a:xfrm>
          <a:prstGeom prst="rect">
            <a:avLst/>
          </a:prstGeom>
        </p:spPr>
      </p:pic>
    </p:spTree>
    <p:extLst>
      <p:ext uri="{BB962C8B-B14F-4D97-AF65-F5344CB8AC3E}">
        <p14:creationId xmlns:p14="http://schemas.microsoft.com/office/powerpoint/2010/main" xmlns="" val="314361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err="1">
                <a:solidFill>
                  <a:srgbClr val="FFFFFF"/>
                </a:solidFill>
                <a:uFill>
                  <a:solidFill>
                    <a:srgbClr val="FFFFFF"/>
                  </a:solidFill>
                </a:uFill>
                <a:latin typeface="Calibri"/>
              </a:rPr>
              <a:t>t</a:t>
            </a:r>
            <a:r>
              <a:rPr lang="en-IN" sz="3600" spc="-1" dirty="0" err="1" smtClean="0">
                <a:solidFill>
                  <a:srgbClr val="FFFFFF"/>
                </a:solidFill>
                <a:uFill>
                  <a:solidFill>
                    <a:srgbClr val="FFFFFF"/>
                  </a:solidFill>
                </a:uFill>
                <a:latin typeface="Calibri"/>
              </a:rPr>
              <a:t>ypeof</a:t>
            </a:r>
            <a:r>
              <a:rPr lang="en-IN" sz="3600" spc="-1" dirty="0" smtClean="0">
                <a:solidFill>
                  <a:srgbClr val="FFFFFF"/>
                </a:solidFill>
                <a:uFill>
                  <a:solidFill>
                    <a:srgbClr val="FFFFFF"/>
                  </a:solidFill>
                </a:uFill>
                <a:latin typeface="Calibri"/>
              </a:rPr>
              <a:t> operator</a:t>
            </a:r>
            <a:endParaRPr lang="en-IN" sz="3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12</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The </a:t>
            </a:r>
            <a:r>
              <a:rPr lang="en-US" b="1" dirty="0" err="1">
                <a:latin typeface="Segoe UI Emoji" panose="020B0502040204020203" pitchFamily="34" charset="0"/>
                <a:ea typeface="Segoe UI Emoji" panose="020B0502040204020203" pitchFamily="34" charset="0"/>
              </a:rPr>
              <a:t>typeof</a:t>
            </a:r>
            <a:r>
              <a:rPr lang="en-US" b="1" dirty="0">
                <a:latin typeface="Segoe UI Emoji" panose="020B0502040204020203" pitchFamily="34" charset="0"/>
                <a:ea typeface="Segoe UI Emoji" panose="020B0502040204020203" pitchFamily="34" charset="0"/>
              </a:rPr>
              <a:t> </a:t>
            </a:r>
            <a:r>
              <a:rPr lang="en-US" b="1" dirty="0" smtClean="0">
                <a:latin typeface="Segoe UI Emoji" panose="020B0502040204020203" pitchFamily="34" charset="0"/>
                <a:ea typeface="Segoe UI Emoji" panose="020B0502040204020203" pitchFamily="34" charset="0"/>
              </a:rPr>
              <a:t> Operator</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err="1" smtClean="0">
                <a:latin typeface="Segoe UI Emoji" panose="020B0502040204020203" pitchFamily="34" charset="0"/>
                <a:ea typeface="Segoe UI Emoji" panose="020B0502040204020203" pitchFamily="34" charset="0"/>
              </a:rPr>
              <a:t>typeof</a:t>
            </a:r>
            <a:r>
              <a:rPr lang="en-US" dirty="0" smtClean="0">
                <a:latin typeface="Segoe UI Emoji" panose="020B0502040204020203" pitchFamily="34" charset="0"/>
                <a:ea typeface="Segoe UI Emoji" panose="020B0502040204020203" pitchFamily="34" charset="0"/>
              </a:rPr>
              <a:t> operator returns the type of its single operand. </a:t>
            </a:r>
          </a:p>
          <a:p>
            <a:pPr marL="285750" indent="-285750">
              <a:buFont typeface="Arial" panose="020B0604020202020204" pitchFamily="34" charset="0"/>
              <a:buChar char="•"/>
            </a:pPr>
            <a:r>
              <a:rPr lang="en-US" dirty="0" err="1" smtClean="0">
                <a:latin typeface="Segoe UI Emoji" panose="020B0502040204020203" pitchFamily="34" charset="0"/>
                <a:ea typeface="Segoe UI Emoji" panose="020B0502040204020203" pitchFamily="34" charset="0"/>
              </a:rPr>
              <a:t>typeof</a:t>
            </a: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produces "number</a:t>
            </a:r>
            <a:r>
              <a:rPr lang="en-US" dirty="0" smtClean="0">
                <a:latin typeface="Segoe UI Emoji" panose="020B0502040204020203" pitchFamily="34" charset="0"/>
                <a:ea typeface="Segoe UI Emoji" panose="020B0502040204020203" pitchFamily="34" charset="0"/>
              </a:rPr>
              <a:t>", "</a:t>
            </a:r>
            <a:r>
              <a:rPr lang="en-US" dirty="0">
                <a:latin typeface="Segoe UI Emoji" panose="020B0502040204020203" pitchFamily="34" charset="0"/>
                <a:ea typeface="Segoe UI Emoji" panose="020B0502040204020203" pitchFamily="34" charset="0"/>
              </a:rPr>
              <a:t>string", or "</a:t>
            </a:r>
            <a:r>
              <a:rPr lang="en-US" dirty="0" err="1">
                <a:latin typeface="Segoe UI Emoji" panose="020B0502040204020203" pitchFamily="34" charset="0"/>
                <a:ea typeface="Segoe UI Emoji" panose="020B0502040204020203" pitchFamily="34" charset="0"/>
              </a:rPr>
              <a:t>boolean</a:t>
            </a:r>
            <a:r>
              <a:rPr lang="en-US" dirty="0">
                <a:latin typeface="Segoe UI Emoji" panose="020B0502040204020203" pitchFamily="34" charset="0"/>
                <a:ea typeface="Segoe UI Emoji" panose="020B0502040204020203" pitchFamily="34" charset="0"/>
              </a:rPr>
              <a:t>" if the operand is of primitive type Number, String</a:t>
            </a:r>
            <a:r>
              <a:rPr lang="en-US" dirty="0" smtClean="0">
                <a:latin typeface="Segoe UI Emoji" panose="020B0502040204020203" pitchFamily="34" charset="0"/>
                <a:ea typeface="Segoe UI Emoji" panose="020B0502040204020203" pitchFamily="34" charset="0"/>
              </a:rPr>
              <a:t>, or </a:t>
            </a:r>
            <a:r>
              <a:rPr lang="en-US" dirty="0">
                <a:latin typeface="Segoe UI Emoji" panose="020B0502040204020203" pitchFamily="34" charset="0"/>
                <a:ea typeface="Segoe UI Emoji" panose="020B0502040204020203" pitchFamily="34" charset="0"/>
              </a:rPr>
              <a:t>Boolean, respectively.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t>
            </a:r>
            <a:r>
              <a:rPr lang="en-US" dirty="0">
                <a:latin typeface="Segoe UI Emoji" panose="020B0502040204020203" pitchFamily="34" charset="0"/>
                <a:ea typeface="Segoe UI Emoji" panose="020B0502040204020203" pitchFamily="34" charset="0"/>
              </a:rPr>
              <a:t>the operand is an object or null,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 </a:t>
            </a:r>
            <a:r>
              <a:rPr lang="en-US" dirty="0" smtClean="0">
                <a:latin typeface="Segoe UI Emoji" panose="020B0502040204020203" pitchFamily="34" charset="0"/>
                <a:ea typeface="Segoe UI Emoji" panose="020B0502040204020203" pitchFamily="34" charset="0"/>
              </a:rPr>
              <a:t>produces "</a:t>
            </a:r>
            <a:r>
              <a:rPr lang="en-US" dirty="0">
                <a:latin typeface="Segoe UI Emoji" panose="020B0502040204020203" pitchFamily="34" charset="0"/>
                <a:ea typeface="Segoe UI Emoji" panose="020B0502040204020203" pitchFamily="34" charset="0"/>
              </a:rPr>
              <a:t>object".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Objects </a:t>
            </a:r>
            <a:r>
              <a:rPr lang="en-US" dirty="0">
                <a:latin typeface="Segoe UI Emoji" panose="020B0502040204020203" pitchFamily="34" charset="0"/>
                <a:ea typeface="Segoe UI Emoji" panose="020B0502040204020203" pitchFamily="34" charset="0"/>
              </a:rPr>
              <a:t>do not have types. If the operand is a variable that has not </a:t>
            </a:r>
            <a:r>
              <a:rPr lang="en-US" dirty="0" smtClean="0">
                <a:latin typeface="Segoe UI Emoji" panose="020B0502040204020203" pitchFamily="34" charset="0"/>
                <a:ea typeface="Segoe UI Emoji" panose="020B0502040204020203" pitchFamily="34" charset="0"/>
              </a:rPr>
              <a:t>been assigned </a:t>
            </a:r>
            <a:r>
              <a:rPr lang="en-US" dirty="0">
                <a:latin typeface="Segoe UI Emoji" panose="020B0502040204020203" pitchFamily="34" charset="0"/>
                <a:ea typeface="Segoe UI Emoji" panose="020B0502040204020203" pitchFamily="34" charset="0"/>
              </a:rPr>
              <a:t>a value,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 produces "undefined", reflecting the fact </a:t>
            </a:r>
            <a:r>
              <a:rPr lang="en-US" dirty="0" smtClean="0">
                <a:latin typeface="Segoe UI Emoji" panose="020B0502040204020203" pitchFamily="34" charset="0"/>
                <a:ea typeface="Segoe UI Emoji" panose="020B0502040204020203" pitchFamily="34" charset="0"/>
              </a:rPr>
              <a:t>that </a:t>
            </a:r>
            <a:r>
              <a:rPr lang="en-US" dirty="0">
                <a:latin typeface="Segoe UI Emoji" panose="020B0502040204020203" pitchFamily="34" charset="0"/>
                <a:ea typeface="Segoe UI Emoji" panose="020B0502040204020203" pitchFamily="34" charset="0"/>
              </a:rPr>
              <a:t>variables themselves are not typed</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Notice </a:t>
            </a:r>
            <a:r>
              <a:rPr lang="en-US" dirty="0">
                <a:latin typeface="Segoe UI Emoji" panose="020B0502040204020203" pitchFamily="34" charset="0"/>
                <a:ea typeface="Segoe UI Emoji" panose="020B0502040204020203" pitchFamily="34" charset="0"/>
              </a:rPr>
              <a:t>that the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 operator </a:t>
            </a:r>
            <a:r>
              <a:rPr lang="en-US" dirty="0" smtClean="0">
                <a:latin typeface="Segoe UI Emoji" panose="020B0502040204020203" pitchFamily="34" charset="0"/>
                <a:ea typeface="Segoe UI Emoji" panose="020B0502040204020203" pitchFamily="34" charset="0"/>
              </a:rPr>
              <a:t>always returns </a:t>
            </a:r>
            <a:r>
              <a:rPr lang="en-US" dirty="0">
                <a:latin typeface="Segoe UI Emoji" panose="020B0502040204020203" pitchFamily="34" charset="0"/>
                <a:ea typeface="Segoe UI Emoji" panose="020B0502040204020203" pitchFamily="34" charset="0"/>
              </a:rPr>
              <a:t>a string. The operand for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 can be placed in parentheses</a:t>
            </a:r>
            <a:r>
              <a:rPr lang="en-US" dirty="0" smtClean="0">
                <a:latin typeface="Segoe UI Emoji" panose="020B0502040204020203" pitchFamily="34" charset="0"/>
                <a:ea typeface="Segoe UI Emoji" panose="020B0502040204020203" pitchFamily="34" charset="0"/>
              </a:rPr>
              <a:t>, making </a:t>
            </a:r>
            <a:r>
              <a:rPr lang="en-US" dirty="0">
                <a:latin typeface="Segoe UI Emoji" panose="020B0502040204020203" pitchFamily="34" charset="0"/>
                <a:ea typeface="Segoe UI Emoji" panose="020B0502040204020203" pitchFamily="34" charset="0"/>
              </a:rPr>
              <a:t>it appear to be a function. Therefore,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 x and </a:t>
            </a:r>
            <a:r>
              <a:rPr lang="en-US" dirty="0" err="1">
                <a:latin typeface="Segoe UI Emoji" panose="020B0502040204020203" pitchFamily="34" charset="0"/>
                <a:ea typeface="Segoe UI Emoji" panose="020B0502040204020203" pitchFamily="34" charset="0"/>
              </a:rPr>
              <a:t>typeof</a:t>
            </a:r>
            <a:r>
              <a:rPr lang="en-US" dirty="0">
                <a:latin typeface="Segoe UI Emoji" panose="020B0502040204020203" pitchFamily="34" charset="0"/>
                <a:ea typeface="Segoe UI Emoji" panose="020B0502040204020203" pitchFamily="34" charset="0"/>
              </a:rPr>
              <a:t>(x) </a:t>
            </a:r>
            <a:r>
              <a:rPr lang="en-US" dirty="0" smtClean="0">
                <a:latin typeface="Segoe UI Emoji" panose="020B0502040204020203" pitchFamily="34" charset="0"/>
                <a:ea typeface="Segoe UI Emoji" panose="020B0502040204020203" pitchFamily="34" charset="0"/>
              </a:rPr>
              <a:t>are equivalent.</a:t>
            </a:r>
          </a:p>
        </p:txBody>
      </p:sp>
    </p:spTree>
    <p:extLst>
      <p:ext uri="{BB962C8B-B14F-4D97-AF65-F5344CB8AC3E}">
        <p14:creationId xmlns:p14="http://schemas.microsoft.com/office/powerpoint/2010/main" xmlns="" val="352724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smtClean="0">
                <a:solidFill>
                  <a:srgbClr val="FFFFFF"/>
                </a:solidFill>
                <a:uFill>
                  <a:solidFill>
                    <a:srgbClr val="FFFFFF"/>
                  </a:solidFill>
                </a:uFill>
                <a:latin typeface="Calibri"/>
              </a:rPr>
              <a:t>Assignment operator</a:t>
            </a:r>
            <a:endParaRPr lang="en-IN" sz="3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13</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Assignment Operator</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assignment statement in JavaScript is exactly like the assignment </a:t>
            </a:r>
            <a:r>
              <a:rPr lang="en-US" dirty="0" smtClean="0">
                <a:latin typeface="Segoe UI Emoji" panose="020B0502040204020203" pitchFamily="34" charset="0"/>
                <a:ea typeface="Segoe UI Emoji" panose="020B0502040204020203" pitchFamily="34" charset="0"/>
              </a:rPr>
              <a:t>statement in </a:t>
            </a:r>
            <a:r>
              <a:rPr lang="en-US" dirty="0">
                <a:latin typeface="Segoe UI Emoji" panose="020B0502040204020203" pitchFamily="34" charset="0"/>
                <a:ea typeface="Segoe UI Emoji" panose="020B0502040204020203" pitchFamily="34" charset="0"/>
              </a:rPr>
              <a:t>other common C-based programming languages. </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There </a:t>
            </a:r>
            <a:r>
              <a:rPr lang="en-US" dirty="0">
                <a:latin typeface="Segoe UI Emoji" panose="020B0502040204020203" pitchFamily="34" charset="0"/>
                <a:ea typeface="Segoe UI Emoji" panose="020B0502040204020203" pitchFamily="34" charset="0"/>
              </a:rPr>
              <a:t>is a simple </a:t>
            </a:r>
            <a:r>
              <a:rPr lang="en-US" dirty="0" smtClean="0">
                <a:latin typeface="Segoe UI Emoji" panose="020B0502040204020203" pitchFamily="34" charset="0"/>
                <a:ea typeface="Segoe UI Emoji" panose="020B0502040204020203" pitchFamily="34" charset="0"/>
              </a:rPr>
              <a:t>assignment operator</a:t>
            </a:r>
            <a:r>
              <a:rPr lang="en-US" dirty="0">
                <a:latin typeface="Segoe UI Emoji" panose="020B0502040204020203" pitchFamily="34" charset="0"/>
                <a:ea typeface="Segoe UI Emoji" panose="020B0502040204020203" pitchFamily="34" charset="0"/>
              </a:rPr>
              <a:t>, denoted by =, and a host of compound assignment operators, such as </a:t>
            </a:r>
            <a:r>
              <a:rPr lang="en-US" dirty="0" smtClean="0">
                <a:latin typeface="Segoe UI Emoji" panose="020B0502040204020203" pitchFamily="34" charset="0"/>
                <a:ea typeface="Segoe UI Emoji" panose="020B0502040204020203" pitchFamily="34" charset="0"/>
              </a:rPr>
              <a:t>+= and </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lvl="1"/>
            <a:r>
              <a:rPr lang="en-US" dirty="0" smtClean="0">
                <a:latin typeface="Segoe UI Emoji" panose="020B0502040204020203" pitchFamily="34" charset="0"/>
                <a:ea typeface="Segoe UI Emoji" panose="020B0502040204020203" pitchFamily="34" charset="0"/>
              </a:rPr>
              <a:t>	For </a:t>
            </a:r>
            <a:r>
              <a:rPr lang="en-US" dirty="0">
                <a:latin typeface="Segoe UI Emoji" panose="020B0502040204020203" pitchFamily="34" charset="0"/>
                <a:ea typeface="Segoe UI Emoji" panose="020B0502040204020203" pitchFamily="34" charset="0"/>
              </a:rPr>
              <a:t>example, the </a:t>
            </a:r>
            <a:r>
              <a:rPr lang="en-US" dirty="0" smtClean="0">
                <a:latin typeface="Segoe UI Emoji" panose="020B0502040204020203" pitchFamily="34" charset="0"/>
                <a:ea typeface="Segoe UI Emoji" panose="020B0502040204020203" pitchFamily="34" charset="0"/>
              </a:rPr>
              <a:t>statement </a:t>
            </a:r>
          </a:p>
          <a:p>
            <a:pPr lvl="2"/>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 7;</a:t>
            </a:r>
          </a:p>
          <a:p>
            <a:r>
              <a:rPr lang="en-US" dirty="0" smtClean="0">
                <a:latin typeface="Segoe UI Emoji" panose="020B0502040204020203" pitchFamily="34" charset="0"/>
                <a:ea typeface="Segoe UI Emoji" panose="020B0502040204020203" pitchFamily="34" charset="0"/>
              </a:rPr>
              <a:t>	means </a:t>
            </a:r>
            <a:r>
              <a:rPr lang="en-US" dirty="0">
                <a:latin typeface="Segoe UI Emoji" panose="020B0502040204020203" pitchFamily="34" charset="0"/>
                <a:ea typeface="Segoe UI Emoji" panose="020B0502040204020203" pitchFamily="34" charset="0"/>
              </a:rPr>
              <a:t>the same </a:t>
            </a:r>
            <a:r>
              <a:rPr lang="en-US" dirty="0" smtClean="0">
                <a:latin typeface="Segoe UI Emoji" panose="020B0502040204020203" pitchFamily="34" charset="0"/>
                <a:ea typeface="Segoe UI Emoji" panose="020B0502040204020203" pitchFamily="34" charset="0"/>
              </a:rPr>
              <a:t>as a </a:t>
            </a:r>
            <a:r>
              <a:rPr lang="en-US" dirty="0">
                <a:latin typeface="Segoe UI Emoji" panose="020B0502040204020203" pitchFamily="34" charset="0"/>
                <a:ea typeface="Segoe UI Emoji" panose="020B0502040204020203" pitchFamily="34" charset="0"/>
              </a:rPr>
              <a:t>= a + 7;</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JavaScript </a:t>
            </a:r>
            <a:r>
              <a:rPr lang="en-US" dirty="0">
                <a:latin typeface="Segoe UI Emoji" panose="020B0502040204020203" pitchFamily="34" charset="0"/>
                <a:ea typeface="Segoe UI Emoji" panose="020B0502040204020203" pitchFamily="34" charset="0"/>
              </a:rPr>
              <a:t>has two kinds of values: primitives and objects.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variable can refer </a:t>
            </a:r>
            <a:r>
              <a:rPr lang="en-US" dirty="0" smtClean="0">
                <a:latin typeface="Segoe UI Emoji" panose="020B0502040204020203" pitchFamily="34" charset="0"/>
                <a:ea typeface="Segoe UI Emoji" panose="020B0502040204020203" pitchFamily="34" charset="0"/>
              </a:rPr>
              <a:t>to a </a:t>
            </a:r>
            <a:r>
              <a:rPr lang="en-US" dirty="0">
                <a:latin typeface="Segoe UI Emoji" panose="020B0502040204020203" pitchFamily="34" charset="0"/>
                <a:ea typeface="Segoe UI Emoji" panose="020B0502040204020203" pitchFamily="34" charset="0"/>
              </a:rPr>
              <a:t>primitive value, such as the number 17, or an </a:t>
            </a:r>
            <a:r>
              <a:rPr lang="en-US" dirty="0" smtClean="0">
                <a:latin typeface="Segoe UI Emoji" panose="020B0502040204020203" pitchFamily="34" charset="0"/>
                <a:ea typeface="Segoe UI Emoji" panose="020B0502040204020203" pitchFamily="34" charset="0"/>
              </a:rPr>
              <a:t>object</a:t>
            </a:r>
            <a:r>
              <a:rPr lang="en-US" dirty="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Objects are allocated on the heap, and variables that refer to them are </a:t>
            </a:r>
            <a:r>
              <a:rPr lang="en-US" i="1" dirty="0" smtClean="0">
                <a:latin typeface="Segoe UI Emoji" panose="020B0502040204020203" pitchFamily="34" charset="0"/>
                <a:ea typeface="Segoe UI Emoji" panose="020B0502040204020203" pitchFamily="34" charset="0"/>
              </a:rPr>
              <a:t>reference </a:t>
            </a:r>
            <a:r>
              <a:rPr lang="en-US" dirty="0" smtClean="0">
                <a:latin typeface="Segoe UI Emoji" panose="020B0502040204020203" pitchFamily="34" charset="0"/>
                <a:ea typeface="Segoe UI Emoji" panose="020B0502040204020203" pitchFamily="34" charset="0"/>
              </a:rPr>
              <a:t>variables</a:t>
            </a:r>
            <a:r>
              <a:rPr lang="en-US" dirty="0">
                <a:latin typeface="Segoe UI Emoji" panose="020B0502040204020203" pitchFamily="34" charset="0"/>
                <a:ea typeface="Segoe UI Emoji" panose="020B0502040204020203" pitchFamily="34" charset="0"/>
              </a:rPr>
              <a:t>. When used to refer to an object, a variable stores an address only.</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Assigning </a:t>
            </a:r>
            <a:r>
              <a:rPr lang="en-US" dirty="0">
                <a:latin typeface="Segoe UI Emoji" panose="020B0502040204020203" pitchFamily="34" charset="0"/>
                <a:ea typeface="Segoe UI Emoji" panose="020B0502040204020203" pitchFamily="34" charset="0"/>
              </a:rPr>
              <a:t>the address of an object to a variable is fundamentally </a:t>
            </a:r>
            <a:r>
              <a:rPr lang="en-US" dirty="0" smtClean="0">
                <a:latin typeface="Segoe UI Emoji" panose="020B0502040204020203" pitchFamily="34" charset="0"/>
                <a:ea typeface="Segoe UI Emoji" panose="020B0502040204020203" pitchFamily="34" charset="0"/>
              </a:rPr>
              <a:t>different from </a:t>
            </a:r>
            <a:r>
              <a:rPr lang="en-US" dirty="0">
                <a:latin typeface="Segoe UI Emoji" panose="020B0502040204020203" pitchFamily="34" charset="0"/>
                <a:ea typeface="Segoe UI Emoji" panose="020B0502040204020203" pitchFamily="34" charset="0"/>
              </a:rPr>
              <a:t>assigning a primitive value to a variable.</a:t>
            </a:r>
          </a:p>
        </p:txBody>
      </p:sp>
    </p:spTree>
    <p:extLst>
      <p:ext uri="{BB962C8B-B14F-4D97-AF65-F5344CB8AC3E}">
        <p14:creationId xmlns:p14="http://schemas.microsoft.com/office/powerpoint/2010/main" xmlns="" val="64087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Assignment operator</a:t>
            </a:r>
            <a:endParaRPr lang="en-IN" sz="3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14</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JavaScript Assignment Operators</a:t>
            </a:r>
          </a:p>
          <a:p>
            <a:r>
              <a:rPr lang="en-US" dirty="0">
                <a:latin typeface="Segoe UI Emoji" panose="020B0502040204020203" pitchFamily="34" charset="0"/>
                <a:ea typeface="Segoe UI Emoji" panose="020B0502040204020203" pitchFamily="34" charset="0"/>
              </a:rPr>
              <a:t>Assignment operators assign values to JavaScript variables.</a:t>
            </a: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b="1" dirty="0" smtClean="0">
              <a:latin typeface="Segoe UI Emoji" panose="020B0502040204020203" pitchFamily="34" charset="0"/>
              <a:ea typeface="Segoe UI Emoji" panose="020B0502040204020203" pitchFamily="34" charset="0"/>
            </a:endParaRPr>
          </a:p>
        </p:txBody>
      </p:sp>
      <p:graphicFrame>
        <p:nvGraphicFramePr>
          <p:cNvPr id="2" name="Table 1"/>
          <p:cNvGraphicFramePr>
            <a:graphicFrameLocks noGrp="1"/>
          </p:cNvGraphicFramePr>
          <p:nvPr/>
        </p:nvGraphicFramePr>
        <p:xfrm>
          <a:off x="594049" y="2175540"/>
          <a:ext cx="3525057" cy="4275180"/>
        </p:xfrm>
        <a:graphic>
          <a:graphicData uri="http://schemas.openxmlformats.org/drawingml/2006/table">
            <a:tbl>
              <a:tblPr/>
              <a:tblGrid>
                <a:gridCol w="856708"/>
                <a:gridCol w="1286881"/>
                <a:gridCol w="1381468"/>
              </a:tblGrid>
              <a:tr h="284049">
                <a:tc>
                  <a:txBody>
                    <a:bodyPr/>
                    <a:lstStyle/>
                    <a:p>
                      <a:pPr algn="ctr" fontAlgn="t"/>
                      <a:r>
                        <a:rPr lang="en-US" sz="1400" b="1" dirty="0">
                          <a:effectLst/>
                          <a:latin typeface="Segoe UI Emoji" panose="020B0502040204020203" pitchFamily="34" charset="0"/>
                          <a:ea typeface="Segoe UI Emoji" panose="020B0502040204020203" pitchFamily="34" charset="0"/>
                        </a:rPr>
                        <a:t>Operator</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b="1">
                          <a:effectLst/>
                          <a:latin typeface="Segoe UI Emoji" panose="020B0502040204020203" pitchFamily="34" charset="0"/>
                          <a:ea typeface="Segoe UI Emoji" panose="020B0502040204020203" pitchFamily="34" charset="0"/>
                        </a:rPr>
                        <a:t>Example</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b="1" dirty="0">
                          <a:effectLst/>
                          <a:latin typeface="Segoe UI Emoji" panose="020B0502040204020203" pitchFamily="34" charset="0"/>
                          <a:ea typeface="Segoe UI Emoji" panose="020B0502040204020203" pitchFamily="34" charset="0"/>
                        </a:rPr>
                        <a:t>Same As</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dirty="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dirty="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&lt;&lt;=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&lt;&lt;=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&lt;&lt;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&gt;&gt;=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&gt;&gt;=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&gt;&gt;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&gt;&gt;&gt;=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&gt;&gt;&gt;=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&gt;&gt;&gt;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&amp;=</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&amp;=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&amp;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84049">
                <a:tc>
                  <a:txBody>
                    <a:bodyPr/>
                    <a:lstStyle/>
                    <a:p>
                      <a:pPr algn="ctr" fontAlgn="t"/>
                      <a:r>
                        <a:rPr lang="en-US" sz="1400">
                          <a:effectLst/>
                          <a:latin typeface="Segoe UI Emoji" panose="020B0502040204020203" pitchFamily="34" charset="0"/>
                          <a:ea typeface="Segoe UI Emoji" panose="020B0502040204020203" pitchFamily="34" charset="0"/>
                        </a:rPr>
                        <a:t>**=</a:t>
                      </a:r>
                    </a:p>
                  </a:txBody>
                  <a:tcPr marL="76770"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1F1F1"/>
                    </a:solidFill>
                  </a:tcPr>
                </a:tc>
                <a:tc>
                  <a:txBody>
                    <a:bodyPr/>
                    <a:lstStyle/>
                    <a:p>
                      <a:pPr algn="ctr" fontAlgn="t"/>
                      <a:r>
                        <a:rPr lang="en-US" sz="1400">
                          <a:effectLst/>
                          <a:latin typeface="Segoe UI Emoji" panose="020B0502040204020203" pitchFamily="34" charset="0"/>
                          <a:ea typeface="Segoe UI Emoji" panose="020B0502040204020203" pitchFamily="34" charset="0"/>
                        </a:rPr>
                        <a:t>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1F1F1"/>
                    </a:solidFill>
                  </a:tcPr>
                </a:tc>
                <a:tc>
                  <a:txBody>
                    <a:bodyPr/>
                    <a:lstStyle/>
                    <a:p>
                      <a:pPr algn="ctr" fontAlgn="t"/>
                      <a:r>
                        <a:rPr lang="en-US" sz="1400" dirty="0">
                          <a:effectLst/>
                          <a:latin typeface="Segoe UI Emoji" panose="020B0502040204020203" pitchFamily="34" charset="0"/>
                          <a:ea typeface="Segoe UI Emoji" panose="020B0502040204020203" pitchFamily="34" charset="0"/>
                        </a:rPr>
                        <a:t>x = x ** y</a:t>
                      </a:r>
                    </a:p>
                  </a:txBody>
                  <a:tcPr marL="38385" marR="38385" marT="38385" marB="38385">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1F1F1"/>
                    </a:solidFill>
                  </a:tcPr>
                </a:tc>
              </a:tr>
            </a:tbl>
          </a:graphicData>
        </a:graphic>
      </p:graphicFrame>
      <p:pic>
        <p:nvPicPr>
          <p:cNvPr id="9" name="Picture 8"/>
          <p:cNvPicPr>
            <a:picLocks noChangeAspect="1"/>
          </p:cNvPicPr>
          <p:nvPr/>
        </p:nvPicPr>
        <p:blipFill rotWithShape="1">
          <a:blip r:embed="rId2"/>
          <a:srcRect t="39680" r="20478"/>
          <a:stretch/>
        </p:blipFill>
        <p:spPr>
          <a:xfrm>
            <a:off x="4765035" y="5524662"/>
            <a:ext cx="1211908" cy="442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p:cNvPicPr>
            <a:picLocks noChangeAspect="1"/>
          </p:cNvPicPr>
          <p:nvPr/>
        </p:nvPicPr>
        <p:blipFill>
          <a:blip r:embed="rId3"/>
          <a:stretch>
            <a:fillRect/>
          </a:stretch>
        </p:blipFill>
        <p:spPr>
          <a:xfrm>
            <a:off x="4570889" y="2220898"/>
            <a:ext cx="1600200" cy="4857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p:cNvPicPr>
            <a:picLocks noChangeAspect="1"/>
          </p:cNvPicPr>
          <p:nvPr/>
        </p:nvPicPr>
        <p:blipFill rotWithShape="1">
          <a:blip r:embed="rId4"/>
          <a:srcRect t="47612" r="27094"/>
          <a:stretch/>
        </p:blipFill>
        <p:spPr>
          <a:xfrm>
            <a:off x="4752263" y="2976025"/>
            <a:ext cx="1256923" cy="404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p:cNvPicPr>
            <a:picLocks noChangeAspect="1"/>
          </p:cNvPicPr>
          <p:nvPr/>
        </p:nvPicPr>
        <p:blipFill rotWithShape="1">
          <a:blip r:embed="rId5"/>
          <a:srcRect t="49910" r="23974"/>
          <a:stretch/>
        </p:blipFill>
        <p:spPr>
          <a:xfrm>
            <a:off x="4766306" y="3613765"/>
            <a:ext cx="1216566" cy="3578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p:cNvPicPr>
            <a:picLocks noChangeAspect="1"/>
          </p:cNvPicPr>
          <p:nvPr/>
        </p:nvPicPr>
        <p:blipFill rotWithShape="1">
          <a:blip r:embed="rId6"/>
          <a:srcRect t="46404" r="33059"/>
          <a:stretch/>
        </p:blipFill>
        <p:spPr>
          <a:xfrm>
            <a:off x="4765035" y="4229044"/>
            <a:ext cx="1217837" cy="3879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p:cNvPicPr>
            <a:picLocks noChangeAspect="1"/>
          </p:cNvPicPr>
          <p:nvPr/>
        </p:nvPicPr>
        <p:blipFill rotWithShape="1">
          <a:blip r:embed="rId7"/>
          <a:srcRect t="43467" r="28155"/>
          <a:stretch/>
        </p:blipFill>
        <p:spPr>
          <a:xfrm>
            <a:off x="4765035" y="4852448"/>
            <a:ext cx="1211259" cy="4253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306443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smtClean="0">
                <a:solidFill>
                  <a:srgbClr val="FFFFFF"/>
                </a:solidFill>
                <a:uFill>
                  <a:solidFill>
                    <a:srgbClr val="FFFFFF"/>
                  </a:solidFill>
                </a:uFill>
                <a:latin typeface="Calibri"/>
              </a:rPr>
              <a:t>Date Object</a:t>
            </a:r>
            <a:endParaRPr lang="en-IN" sz="3600"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15</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3478659" cy="271779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The Date Object</a:t>
            </a:r>
            <a:endParaRPr lang="en-US" b="1"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Date object is created with the new operator </a:t>
            </a:r>
            <a:r>
              <a:rPr lang="en-US" dirty="0" smtClean="0">
                <a:latin typeface="Segoe UI Emoji" panose="020B0502040204020203" pitchFamily="34" charset="0"/>
                <a:ea typeface="Segoe UI Emoji" panose="020B0502040204020203" pitchFamily="34" charset="0"/>
              </a:rPr>
              <a:t>has the </a:t>
            </a:r>
            <a:r>
              <a:rPr lang="en-US" dirty="0">
                <a:latin typeface="Segoe UI Emoji" panose="020B0502040204020203" pitchFamily="34" charset="0"/>
                <a:ea typeface="Segoe UI Emoji" panose="020B0502040204020203" pitchFamily="34" charset="0"/>
              </a:rPr>
              <a:t>Date constructor</a:t>
            </a:r>
            <a:r>
              <a:rPr lang="en-US" dirty="0" smtClean="0">
                <a:latin typeface="Segoe UI Emoji" panose="020B0502040204020203" pitchFamily="34" charset="0"/>
                <a:ea typeface="Segoe UI Emoji" panose="020B0502040204020203" pitchFamily="34" charset="0"/>
              </a:rPr>
              <a:t>, which </a:t>
            </a:r>
            <a:r>
              <a:rPr lang="en-US" dirty="0">
                <a:latin typeface="Segoe UI Emoji" panose="020B0502040204020203" pitchFamily="34" charset="0"/>
                <a:ea typeface="Segoe UI Emoji" panose="020B0502040204020203" pitchFamily="34" charset="0"/>
              </a:rPr>
              <a:t>has several forms.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Date </a:t>
            </a:r>
            <a:r>
              <a:rPr lang="en-US" dirty="0">
                <a:latin typeface="Segoe UI Emoji" panose="020B0502040204020203" pitchFamily="34" charset="0"/>
                <a:ea typeface="Segoe UI Emoji" panose="020B0502040204020203" pitchFamily="34" charset="0"/>
              </a:rPr>
              <a:t>constructor, which takes no parameters and </a:t>
            </a:r>
            <a:r>
              <a:rPr lang="en-US" dirty="0" smtClean="0">
                <a:latin typeface="Segoe UI Emoji" panose="020B0502040204020203" pitchFamily="34" charset="0"/>
                <a:ea typeface="Segoe UI Emoji" panose="020B0502040204020203" pitchFamily="34" charset="0"/>
              </a:rPr>
              <a:t>builds an </a:t>
            </a:r>
            <a:r>
              <a:rPr lang="en-US" dirty="0">
                <a:latin typeface="Segoe UI Emoji" panose="020B0502040204020203" pitchFamily="34" charset="0"/>
                <a:ea typeface="Segoe UI Emoji" panose="020B0502040204020203" pitchFamily="34" charset="0"/>
              </a:rPr>
              <a:t>object with the current date and time for its properties. </a:t>
            </a:r>
            <a:endParaRPr lang="en-US" dirty="0" smtClean="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3494165" y="1545057"/>
            <a:ext cx="5532134" cy="2747391"/>
          </a:xfrm>
          <a:prstGeom prst="rect">
            <a:avLst/>
          </a:prstGeom>
        </p:spPr>
      </p:pic>
      <p:sp>
        <p:nvSpPr>
          <p:cNvPr id="3" name="Rectangle 2"/>
          <p:cNvSpPr/>
          <p:nvPr/>
        </p:nvSpPr>
        <p:spPr>
          <a:xfrm>
            <a:off x="25946" y="4450705"/>
            <a:ext cx="9125254" cy="1969770"/>
          </a:xfrm>
          <a:prstGeom prst="rect">
            <a:avLst/>
          </a:prstGeom>
        </p:spPr>
        <p:txBody>
          <a:bodyPr wrap="square">
            <a:spAutoFit/>
          </a:bodyPr>
          <a:lstStyle/>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For example, we might have</a:t>
            </a:r>
          </a:p>
          <a:p>
            <a:pPr lvl="1"/>
            <a:r>
              <a:rPr lang="en-US" dirty="0" err="1">
                <a:latin typeface="Segoe UI Emoji" panose="020B0502040204020203" pitchFamily="34" charset="0"/>
                <a:ea typeface="Segoe UI Emoji" panose="020B0502040204020203" pitchFamily="34" charset="0"/>
              </a:rPr>
              <a:t>var</a:t>
            </a:r>
            <a:r>
              <a:rPr lang="en-US" dirty="0">
                <a:latin typeface="Segoe UI Emoji" panose="020B0502040204020203" pitchFamily="34" charset="0"/>
                <a:ea typeface="Segoe UI Emoji" panose="020B0502040204020203" pitchFamily="34" charset="0"/>
              </a:rPr>
              <a:t> today = new Date();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date and time properties of a Date object are in two forms: </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Local</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Coordinated Universal Time (UTC), which was formerly named Greenwich Mean Time. </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Table aside shows the methods, along with the descriptions, that retrieve information from a Date object.</a:t>
            </a:r>
          </a:p>
        </p:txBody>
      </p:sp>
    </p:spTree>
    <p:extLst>
      <p:ext uri="{BB962C8B-B14F-4D97-AF65-F5344CB8AC3E}">
        <p14:creationId xmlns:p14="http://schemas.microsoft.com/office/powerpoint/2010/main" xmlns="" val="348713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r>
              <a:rPr lang="en-US" sz="3600" spc="-1" dirty="0" smtClean="0">
                <a:solidFill>
                  <a:srgbClr val="FFFFFF"/>
                </a:solidFill>
                <a:uFill>
                  <a:solidFill>
                    <a:srgbClr val="FFFFFF"/>
                  </a:solidFill>
                </a:uFill>
                <a:latin typeface="Calibri"/>
              </a:rPr>
              <a:t>Implicit </a:t>
            </a:r>
            <a:r>
              <a:rPr lang="en-US" sz="3600" spc="-1" dirty="0">
                <a:solidFill>
                  <a:srgbClr val="FFFFFF"/>
                </a:solidFill>
                <a:uFill>
                  <a:solidFill>
                    <a:srgbClr val="FFFFFF"/>
                  </a:solidFill>
                </a:uFill>
                <a:latin typeface="Calibri"/>
              </a:rPr>
              <a:t>vs Explicit </a:t>
            </a:r>
            <a:r>
              <a:rPr lang="en-US" sz="3600" spc="-1" dirty="0" smtClean="0">
                <a:solidFill>
                  <a:srgbClr val="FFFFFF"/>
                </a:solidFill>
                <a:uFill>
                  <a:solidFill>
                    <a:srgbClr val="FFFFFF"/>
                  </a:solidFill>
                </a:uFill>
                <a:latin typeface="Calibri"/>
              </a:rPr>
              <a:t> Conversation</a:t>
            </a:r>
            <a:endParaRPr lang="en-US" sz="3600" spc="-1" dirty="0">
              <a:solidFill>
                <a:srgbClr val="FFFFFF"/>
              </a:solidFill>
              <a:uFill>
                <a:solidFill>
                  <a:srgbClr val="FFFFFF"/>
                </a:solidFill>
              </a:uFill>
              <a:latin typeface="Calibri"/>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16</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Implicit vs Explicit Conversations</a:t>
            </a:r>
          </a:p>
          <a:p>
            <a:endParaRPr lang="en-US" b="1"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3713752226"/>
              </p:ext>
            </p:extLst>
          </p:nvPr>
        </p:nvGraphicFramePr>
        <p:xfrm>
          <a:off x="465208" y="1856920"/>
          <a:ext cx="7925585" cy="4521200"/>
        </p:xfrm>
        <a:graphic>
          <a:graphicData uri="http://schemas.openxmlformats.org/drawingml/2006/table">
            <a:tbl>
              <a:tblPr firstRow="1" bandRow="1">
                <a:tableStyleId>{5C22544A-7EE6-4342-B048-85BDC9FD1C3A}</a:tableStyleId>
              </a:tblPr>
              <a:tblGrid>
                <a:gridCol w="4061522"/>
                <a:gridCol w="3864063"/>
              </a:tblGrid>
              <a:tr h="370840">
                <a:tc>
                  <a:txBody>
                    <a:bodyPr/>
                    <a:lstStyle/>
                    <a:p>
                      <a:r>
                        <a:rPr lang="en-US" dirty="0" smtClean="0"/>
                        <a:t>Implicit Conversations</a:t>
                      </a:r>
                      <a:endParaRPr lang="en-US" dirty="0"/>
                    </a:p>
                  </a:txBody>
                  <a:tcPr/>
                </a:tc>
                <a:tc>
                  <a:txBody>
                    <a:bodyPr/>
                    <a:lstStyle/>
                    <a:p>
                      <a:r>
                        <a:rPr lang="en-US" dirty="0" smtClean="0"/>
                        <a:t>Explicit Conversations</a:t>
                      </a:r>
                      <a:endParaRPr lang="en-US" dirty="0"/>
                    </a:p>
                  </a:txBody>
                  <a:tcPr/>
                </a:tc>
              </a:tr>
              <a:tr h="370840">
                <a:tc>
                  <a:txBody>
                    <a:bodyPr/>
                    <a:lstStyle/>
                    <a:p>
                      <a:pPr algn="l" fontAlgn="t"/>
                      <a:r>
                        <a:rPr lang="en-US" sz="1400" b="0" dirty="0" smtClean="0">
                          <a:effectLst/>
                          <a:latin typeface="Segoe UI Emoji" panose="020B0502040204020203" pitchFamily="34" charset="0"/>
                          <a:ea typeface="Segoe UI Emoji" panose="020B0502040204020203" pitchFamily="34" charset="0"/>
                        </a:rPr>
                        <a:t>Implicit </a:t>
                      </a:r>
                      <a:r>
                        <a:rPr lang="en-US" sz="1400" b="0" dirty="0">
                          <a:effectLst/>
                          <a:latin typeface="Segoe UI Emoji" panose="020B0502040204020203" pitchFamily="34" charset="0"/>
                          <a:ea typeface="Segoe UI Emoji" panose="020B0502040204020203" pitchFamily="34" charset="0"/>
                        </a:rPr>
                        <a:t>Conversion is done </a:t>
                      </a:r>
                      <a:r>
                        <a:rPr lang="en-US" sz="1400" b="1" dirty="0">
                          <a:effectLst/>
                          <a:latin typeface="Segoe UI Emoji" panose="020B0502040204020203" pitchFamily="34" charset="0"/>
                          <a:ea typeface="Segoe UI Emoji" panose="020B0502040204020203" pitchFamily="34" charset="0"/>
                        </a:rPr>
                        <a:t>automatically</a:t>
                      </a:r>
                      <a:r>
                        <a:rPr lang="en-US" sz="1400" b="0" dirty="0">
                          <a:effectLst/>
                          <a:latin typeface="Segoe UI Emoji" panose="020B0502040204020203" pitchFamily="34" charset="0"/>
                          <a:ea typeface="Segoe UI Emoji" panose="020B0502040204020203" pitchFamily="34" charset="0"/>
                        </a:rPr>
                        <a:t>.</a:t>
                      </a:r>
                    </a:p>
                  </a:txBody>
                  <a:tcPr marL="63500" marR="63500" marT="19050" marB="19050"/>
                </a:tc>
                <a:tc>
                  <a:txBody>
                    <a:bodyPr/>
                    <a:lstStyle/>
                    <a:p>
                      <a:pPr algn="l" fontAlgn="t"/>
                      <a:r>
                        <a:rPr lang="en-US" sz="1400" b="0" dirty="0">
                          <a:effectLst/>
                          <a:latin typeface="Segoe UI Emoji" panose="020B0502040204020203" pitchFamily="34" charset="0"/>
                          <a:ea typeface="Segoe UI Emoji" panose="020B0502040204020203" pitchFamily="34" charset="0"/>
                        </a:rPr>
                        <a:t>Explicit Conversion is done </a:t>
                      </a:r>
                      <a:r>
                        <a:rPr lang="en-US" sz="1400" b="1" dirty="0" smtClean="0">
                          <a:effectLst/>
                          <a:latin typeface="Segoe UI Emoji" panose="020B0502040204020203" pitchFamily="34" charset="0"/>
                          <a:ea typeface="Segoe UI Emoji" panose="020B0502040204020203" pitchFamily="34" charset="0"/>
                        </a:rPr>
                        <a:t>programmatically</a:t>
                      </a:r>
                      <a:r>
                        <a:rPr lang="en-US" sz="1400" b="0" dirty="0" smtClean="0">
                          <a:effectLst/>
                          <a:latin typeface="Segoe UI Emoji" panose="020B0502040204020203" pitchFamily="34" charset="0"/>
                          <a:ea typeface="Segoe UI Emoji" panose="020B0502040204020203" pitchFamily="34" charset="0"/>
                        </a:rPr>
                        <a:t>.</a:t>
                      </a:r>
                      <a:endParaRPr lang="en-US" sz="1400" b="0" dirty="0">
                        <a:effectLst/>
                        <a:latin typeface="Segoe UI Emoji" panose="020B0502040204020203" pitchFamily="34" charset="0"/>
                        <a:ea typeface="Segoe UI Emoji" panose="020B0502040204020203" pitchFamily="34" charset="0"/>
                      </a:endParaRPr>
                    </a:p>
                  </a:txBody>
                  <a:tcPr marL="63500" marR="63500" marT="19050" marB="19050"/>
                </a:tc>
              </a:tr>
              <a:tr h="370840">
                <a:tc>
                  <a:txBody>
                    <a:bodyPr/>
                    <a:lstStyle/>
                    <a:p>
                      <a:pPr algn="l" fontAlgn="t"/>
                      <a:r>
                        <a:rPr lang="en-US" sz="1400" b="0" dirty="0">
                          <a:effectLst/>
                          <a:latin typeface="Segoe UI Emoji" panose="020B0502040204020203" pitchFamily="34" charset="0"/>
                          <a:ea typeface="Segoe UI Emoji" panose="020B0502040204020203" pitchFamily="34" charset="0"/>
                        </a:rPr>
                        <a:t>In Implicit conversion, </a:t>
                      </a:r>
                      <a:r>
                        <a:rPr lang="en-US" sz="1400" b="1" dirty="0">
                          <a:effectLst/>
                          <a:latin typeface="Segoe UI Emoji" panose="020B0502040204020203" pitchFamily="34" charset="0"/>
                          <a:ea typeface="Segoe UI Emoji" panose="020B0502040204020203" pitchFamily="34" charset="0"/>
                        </a:rPr>
                        <a:t>no data loss</a:t>
                      </a:r>
                      <a:r>
                        <a:rPr lang="en-US" sz="1400" b="0" dirty="0">
                          <a:effectLst/>
                          <a:latin typeface="Segoe UI Emoji" panose="020B0502040204020203" pitchFamily="34" charset="0"/>
                          <a:ea typeface="Segoe UI Emoji" panose="020B0502040204020203" pitchFamily="34" charset="0"/>
                        </a:rPr>
                        <a:t> take place during the data conversion.</a:t>
                      </a:r>
                    </a:p>
                  </a:txBody>
                  <a:tcPr marL="63500" marR="63500" marT="19050" marB="19050"/>
                </a:tc>
                <a:tc>
                  <a:txBody>
                    <a:bodyPr/>
                    <a:lstStyle/>
                    <a:p>
                      <a:pPr algn="l" fontAlgn="t"/>
                      <a:r>
                        <a:rPr lang="en-US" sz="1400" b="0" dirty="0">
                          <a:effectLst/>
                          <a:latin typeface="Segoe UI Emoji" panose="020B0502040204020203" pitchFamily="34" charset="0"/>
                          <a:ea typeface="Segoe UI Emoji" panose="020B0502040204020203" pitchFamily="34" charset="0"/>
                        </a:rPr>
                        <a:t>In explicit conversion, </a:t>
                      </a:r>
                      <a:r>
                        <a:rPr lang="en-US" sz="1400" b="1" dirty="0">
                          <a:effectLst/>
                          <a:latin typeface="Segoe UI Emoji" panose="020B0502040204020203" pitchFamily="34" charset="0"/>
                          <a:ea typeface="Segoe UI Emoji" panose="020B0502040204020203" pitchFamily="34" charset="0"/>
                        </a:rPr>
                        <a:t>data loss</a:t>
                      </a:r>
                      <a:r>
                        <a:rPr lang="en-US" sz="1400" b="0" dirty="0">
                          <a:effectLst/>
                          <a:latin typeface="Segoe UI Emoji" panose="020B0502040204020203" pitchFamily="34" charset="0"/>
                          <a:ea typeface="Segoe UI Emoji" panose="020B0502040204020203" pitchFamily="34" charset="0"/>
                        </a:rPr>
                        <a:t> may or may not be take place during data conversion. Hence there is a </a:t>
                      </a:r>
                      <a:r>
                        <a:rPr lang="en-US" sz="1400" b="1" dirty="0">
                          <a:effectLst/>
                          <a:latin typeface="Segoe UI Emoji" panose="020B0502040204020203" pitchFamily="34" charset="0"/>
                          <a:ea typeface="Segoe UI Emoji" panose="020B0502040204020203" pitchFamily="34" charset="0"/>
                        </a:rPr>
                        <a:t>risk</a:t>
                      </a:r>
                      <a:r>
                        <a:rPr lang="en-US" sz="1400" b="0" dirty="0">
                          <a:effectLst/>
                          <a:latin typeface="Segoe UI Emoji" panose="020B0502040204020203" pitchFamily="34" charset="0"/>
                          <a:ea typeface="Segoe UI Emoji" panose="020B0502040204020203" pitchFamily="34" charset="0"/>
                        </a:rPr>
                        <a:t> of information loss.</a:t>
                      </a:r>
                    </a:p>
                  </a:txBody>
                  <a:tcPr marL="63500" marR="63500" marT="19050" marB="19050"/>
                </a:tc>
              </a:tr>
              <a:tr h="370840">
                <a:tc>
                  <a:txBody>
                    <a:bodyPr/>
                    <a:lstStyle/>
                    <a:p>
                      <a:pPr algn="l" fontAlgn="t"/>
                      <a:r>
                        <a:rPr lang="en-US" sz="1400" b="0" dirty="0">
                          <a:effectLst/>
                          <a:latin typeface="Segoe UI Emoji" panose="020B0502040204020203" pitchFamily="34" charset="0"/>
                          <a:ea typeface="Segoe UI Emoji" panose="020B0502040204020203" pitchFamily="34" charset="0"/>
                        </a:rPr>
                        <a:t>No possibility of throwing </a:t>
                      </a:r>
                      <a:r>
                        <a:rPr lang="en-US" sz="1400" b="1" dirty="0">
                          <a:effectLst/>
                          <a:latin typeface="Segoe UI Emoji" panose="020B0502040204020203" pitchFamily="34" charset="0"/>
                          <a:ea typeface="Segoe UI Emoji" panose="020B0502040204020203" pitchFamily="34" charset="0"/>
                        </a:rPr>
                        <a:t>exception</a:t>
                      </a:r>
                      <a:r>
                        <a:rPr lang="en-US" sz="1400" b="0" dirty="0">
                          <a:effectLst/>
                          <a:latin typeface="Segoe UI Emoji" panose="020B0502040204020203" pitchFamily="34" charset="0"/>
                          <a:ea typeface="Segoe UI Emoji" panose="020B0502040204020203" pitchFamily="34" charset="0"/>
                        </a:rPr>
                        <a:t> during the conversion and therefore is called </a:t>
                      </a:r>
                      <a:r>
                        <a:rPr lang="en-US" sz="1400" b="1" dirty="0">
                          <a:effectLst/>
                          <a:latin typeface="Segoe UI Emoji" panose="020B0502040204020203" pitchFamily="34" charset="0"/>
                          <a:ea typeface="Segoe UI Emoji" panose="020B0502040204020203" pitchFamily="34" charset="0"/>
                        </a:rPr>
                        <a:t>type safe</a:t>
                      </a:r>
                      <a:r>
                        <a:rPr lang="en-US" sz="1400" b="0" dirty="0">
                          <a:effectLst/>
                          <a:latin typeface="Segoe UI Emoji" panose="020B0502040204020203" pitchFamily="34" charset="0"/>
                          <a:ea typeface="Segoe UI Emoji" panose="020B0502040204020203" pitchFamily="34" charset="0"/>
                        </a:rPr>
                        <a:t>.</a:t>
                      </a:r>
                    </a:p>
                  </a:txBody>
                  <a:tcPr marL="63500" marR="63500" marT="19050" marB="19050"/>
                </a:tc>
                <a:tc>
                  <a:txBody>
                    <a:bodyPr/>
                    <a:lstStyle/>
                    <a:p>
                      <a:pPr algn="l" fontAlgn="t"/>
                      <a:r>
                        <a:rPr lang="en-US" sz="1400" b="0" dirty="0">
                          <a:effectLst/>
                          <a:latin typeface="Segoe UI Emoji" panose="020B0502040204020203" pitchFamily="34" charset="0"/>
                          <a:ea typeface="Segoe UI Emoji" panose="020B0502040204020203" pitchFamily="34" charset="0"/>
                        </a:rPr>
                        <a:t>It might throw error if tried to do without </a:t>
                      </a:r>
                      <a:r>
                        <a:rPr lang="en-US" sz="1400" b="1" dirty="0">
                          <a:effectLst/>
                          <a:latin typeface="Segoe UI Emoji" panose="020B0502040204020203" pitchFamily="34" charset="0"/>
                          <a:ea typeface="Segoe UI Emoji" panose="020B0502040204020203" pitchFamily="34" charset="0"/>
                        </a:rPr>
                        <a:t>type casting.</a:t>
                      </a:r>
                      <a:endParaRPr lang="en-US" sz="1400" b="0" dirty="0">
                        <a:effectLst/>
                        <a:latin typeface="Segoe UI Emoji" panose="020B0502040204020203" pitchFamily="34" charset="0"/>
                        <a:ea typeface="Segoe UI Emoji" panose="020B0502040204020203" pitchFamily="34" charset="0"/>
                      </a:endParaRPr>
                    </a:p>
                  </a:txBody>
                  <a:tcPr marL="63500" marR="63500" marT="19050" marB="19050"/>
                </a:tc>
              </a:tr>
              <a:tr h="370840">
                <a:tc>
                  <a:txBody>
                    <a:bodyPr/>
                    <a:lstStyle/>
                    <a:p>
                      <a:pPr algn="l" fontAlgn="t"/>
                      <a:r>
                        <a:rPr lang="en-US" sz="1400" b="0" dirty="0" smtClean="0">
                          <a:effectLst/>
                          <a:latin typeface="Segoe UI Emoji" panose="020B0502040204020203" pitchFamily="34" charset="0"/>
                          <a:ea typeface="Segoe UI Emoji" panose="020B0502040204020203" pitchFamily="34" charset="0"/>
                        </a:rPr>
                        <a:t>Implicit </a:t>
                      </a:r>
                      <a:r>
                        <a:rPr lang="en-US" sz="1400" b="0" dirty="0">
                          <a:effectLst/>
                          <a:latin typeface="Segoe UI Emoji" panose="020B0502040204020203" pitchFamily="34" charset="0"/>
                          <a:ea typeface="Segoe UI Emoji" panose="020B0502040204020203" pitchFamily="34" charset="0"/>
                        </a:rPr>
                        <a:t>conversion do not require any</a:t>
                      </a:r>
                      <a:r>
                        <a:rPr lang="en-US" sz="1400" b="1" dirty="0">
                          <a:effectLst/>
                          <a:latin typeface="Segoe UI Emoji" panose="020B0502040204020203" pitchFamily="34" charset="0"/>
                          <a:ea typeface="Segoe UI Emoji" panose="020B0502040204020203" pitchFamily="34" charset="0"/>
                        </a:rPr>
                        <a:t> special syntax</a:t>
                      </a:r>
                      <a:r>
                        <a:rPr lang="en-US" sz="1400" b="0" dirty="0">
                          <a:effectLst/>
                          <a:latin typeface="Segoe UI Emoji" panose="020B0502040204020203" pitchFamily="34" charset="0"/>
                          <a:ea typeface="Segoe UI Emoji" panose="020B0502040204020203" pitchFamily="34" charset="0"/>
                        </a:rPr>
                        <a:t>.</a:t>
                      </a:r>
                    </a:p>
                  </a:txBody>
                  <a:tcPr marL="63500" marR="63500" marT="19050" marB="19050"/>
                </a:tc>
                <a:tc>
                  <a:txBody>
                    <a:bodyPr/>
                    <a:lstStyle/>
                    <a:p>
                      <a:pPr algn="l" fontAlgn="t"/>
                      <a:r>
                        <a:rPr lang="en-US" sz="1400" b="0" dirty="0">
                          <a:effectLst/>
                          <a:latin typeface="Segoe UI Emoji" panose="020B0502040204020203" pitchFamily="34" charset="0"/>
                          <a:ea typeface="Segoe UI Emoji" panose="020B0502040204020203" pitchFamily="34" charset="0"/>
                        </a:rPr>
                        <a:t>Explicit conversion do require</a:t>
                      </a:r>
                      <a:r>
                        <a:rPr lang="en-US" sz="1400" b="1" dirty="0">
                          <a:effectLst/>
                          <a:latin typeface="Segoe UI Emoji" panose="020B0502040204020203" pitchFamily="34" charset="0"/>
                          <a:ea typeface="Segoe UI Emoji" panose="020B0502040204020203" pitchFamily="34" charset="0"/>
                        </a:rPr>
                        <a:t> cast operator</a:t>
                      </a:r>
                      <a:r>
                        <a:rPr lang="en-US" sz="1400" b="0" dirty="0">
                          <a:effectLst/>
                          <a:latin typeface="Segoe UI Emoji" panose="020B0502040204020203" pitchFamily="34" charset="0"/>
                          <a:ea typeface="Segoe UI Emoji" panose="020B0502040204020203" pitchFamily="34" charset="0"/>
                        </a:rPr>
                        <a:t> to perform conversion.</a:t>
                      </a:r>
                    </a:p>
                  </a:txBody>
                  <a:tcPr marL="63500" marR="63500" marT="19050" marB="19050"/>
                </a:tc>
              </a:tr>
              <a:tr h="370840">
                <a:tc>
                  <a:txBody>
                    <a:bodyPr/>
                    <a:lstStyle/>
                    <a:p>
                      <a:pPr algn="l" fontAlgn="base"/>
                      <a:r>
                        <a:rPr lang="en-US" sz="1400" b="1" u="sng" dirty="0">
                          <a:effectLst/>
                          <a:latin typeface="Segoe UI Emoji" panose="020B0502040204020203" pitchFamily="34" charset="0"/>
                          <a:ea typeface="Segoe UI Emoji" panose="020B0502040204020203" pitchFamily="34" charset="0"/>
                        </a:rPr>
                        <a:t>Example</a:t>
                      </a:r>
                      <a:r>
                        <a:rPr lang="en-US" sz="1400" b="0" u="sng" dirty="0">
                          <a:effectLst/>
                          <a:latin typeface="Segoe UI Emoji" panose="020B0502040204020203" pitchFamily="34" charset="0"/>
                          <a:ea typeface="Segoe UI Emoji" panose="020B0502040204020203" pitchFamily="34" charset="0"/>
                        </a:rPr>
                        <a:t> </a:t>
                      </a:r>
                      <a:r>
                        <a:rPr lang="en-US" sz="1400" b="0" dirty="0">
                          <a:effectLst/>
                          <a:latin typeface="Segoe UI Emoji" panose="020B0502040204020203" pitchFamily="34" charset="0"/>
                          <a:ea typeface="Segoe UI Emoji" panose="020B0502040204020203" pitchFamily="34" charset="0"/>
                        </a:rPr>
                        <a:t>:</a:t>
                      </a:r>
                      <a:br>
                        <a:rPr lang="en-US" sz="1400" b="0" dirty="0">
                          <a:effectLst/>
                          <a:latin typeface="Segoe UI Emoji" panose="020B0502040204020203" pitchFamily="34" charset="0"/>
                          <a:ea typeface="Segoe UI Emoji" panose="020B0502040204020203" pitchFamily="34" charset="0"/>
                        </a:rPr>
                      </a:br>
                      <a:r>
                        <a:rPr lang="en-US" sz="1400" b="0" dirty="0">
                          <a:effectLst/>
                          <a:latin typeface="Segoe UI Emoji" panose="020B0502040204020203" pitchFamily="34" charset="0"/>
                          <a:ea typeface="Segoe UI Emoji" panose="020B0502040204020203" pitchFamily="34" charset="0"/>
                        </a:rPr>
                        <a:t>Conversion of smaller number to larger number is implicit conversion.</a:t>
                      </a:r>
                      <a:br>
                        <a:rPr lang="en-US" sz="1400" b="0" dirty="0">
                          <a:effectLst/>
                          <a:latin typeface="Segoe UI Emoji" panose="020B0502040204020203" pitchFamily="34" charset="0"/>
                          <a:ea typeface="Segoe UI Emoji" panose="020B0502040204020203" pitchFamily="34" charset="0"/>
                        </a:rPr>
                      </a:br>
                      <a:r>
                        <a:rPr lang="en-US" sz="1400" b="0" dirty="0">
                          <a:effectLst/>
                          <a:latin typeface="Segoe UI Emoji" panose="020B0502040204020203" pitchFamily="34" charset="0"/>
                          <a:ea typeface="Segoe UI Emoji" panose="020B0502040204020203" pitchFamily="34" charset="0"/>
                        </a:rPr>
                        <a:t>Conversion of integer type data to float</a:t>
                      </a:r>
                      <a:r>
                        <a:rPr lang="en-US" sz="1400" b="0" dirty="0" smtClean="0">
                          <a:effectLst/>
                          <a:latin typeface="Segoe UI Emoji" panose="020B0502040204020203" pitchFamily="34" charset="0"/>
                          <a:ea typeface="Segoe UI Emoji" panose="020B0502040204020203" pitchFamily="34" charset="0"/>
                        </a:rPr>
                        <a:t>.</a:t>
                      </a:r>
                    </a:p>
                    <a:p>
                      <a:pPr algn="l" fontAlgn="base"/>
                      <a:r>
                        <a:rPr lang="en-US" sz="1400" b="1" dirty="0" smtClean="0">
                          <a:effectLst/>
                          <a:latin typeface="Segoe UI Emoji" panose="020B0502040204020203" pitchFamily="34" charset="0"/>
                          <a:ea typeface="Segoe UI Emoji" panose="020B0502040204020203" pitchFamily="34" charset="0"/>
                        </a:rPr>
                        <a:t>float </a:t>
                      </a:r>
                      <a:r>
                        <a:rPr lang="en-US" sz="1400" b="1" dirty="0" err="1">
                          <a:effectLst/>
                          <a:latin typeface="Segoe UI Emoji" panose="020B0502040204020203" pitchFamily="34" charset="0"/>
                          <a:ea typeface="Segoe UI Emoji" panose="020B0502040204020203" pitchFamily="34" charset="0"/>
                        </a:rPr>
                        <a:t>i</a:t>
                      </a:r>
                      <a:r>
                        <a:rPr lang="en-US" sz="1400" b="1" dirty="0">
                          <a:effectLst/>
                          <a:latin typeface="Segoe UI Emoji" panose="020B0502040204020203" pitchFamily="34" charset="0"/>
                          <a:ea typeface="Segoe UI Emoji" panose="020B0502040204020203" pitchFamily="34" charset="0"/>
                        </a:rPr>
                        <a:t>=0;</a:t>
                      </a:r>
                      <a:r>
                        <a:rPr lang="en-US" sz="1400" b="0" dirty="0">
                          <a:effectLst/>
                          <a:latin typeface="Segoe UI Emoji" panose="020B0502040204020203" pitchFamily="34" charset="0"/>
                          <a:ea typeface="Segoe UI Emoji" panose="020B0502040204020203" pitchFamily="34" charset="0"/>
                        </a:rPr>
                        <a:t/>
                      </a:r>
                      <a:br>
                        <a:rPr lang="en-US" sz="1400" b="0" dirty="0">
                          <a:effectLst/>
                          <a:latin typeface="Segoe UI Emoji" panose="020B0502040204020203" pitchFamily="34" charset="0"/>
                          <a:ea typeface="Segoe UI Emoji" panose="020B0502040204020203" pitchFamily="34" charset="0"/>
                        </a:rPr>
                      </a:br>
                      <a:r>
                        <a:rPr lang="en-US" sz="1400" b="1" dirty="0" err="1">
                          <a:effectLst/>
                          <a:latin typeface="Segoe UI Emoji" panose="020B0502040204020203" pitchFamily="34" charset="0"/>
                          <a:ea typeface="Segoe UI Emoji" panose="020B0502040204020203" pitchFamily="34" charset="0"/>
                        </a:rPr>
                        <a:t>int</a:t>
                      </a:r>
                      <a:r>
                        <a:rPr lang="en-US" sz="1400" b="1" dirty="0">
                          <a:effectLst/>
                          <a:latin typeface="Segoe UI Emoji" panose="020B0502040204020203" pitchFamily="34" charset="0"/>
                          <a:ea typeface="Segoe UI Emoji" panose="020B0502040204020203" pitchFamily="34" charset="0"/>
                        </a:rPr>
                        <a:t> j=10;</a:t>
                      </a:r>
                      <a:r>
                        <a:rPr lang="en-US" sz="1400" b="0" dirty="0">
                          <a:effectLst/>
                          <a:latin typeface="Segoe UI Emoji" panose="020B0502040204020203" pitchFamily="34" charset="0"/>
                          <a:ea typeface="Segoe UI Emoji" panose="020B0502040204020203" pitchFamily="34" charset="0"/>
                        </a:rPr>
                        <a:t/>
                      </a:r>
                      <a:br>
                        <a:rPr lang="en-US" sz="1400" b="0" dirty="0">
                          <a:effectLst/>
                          <a:latin typeface="Segoe UI Emoji" panose="020B0502040204020203" pitchFamily="34" charset="0"/>
                          <a:ea typeface="Segoe UI Emoji" panose="020B0502040204020203" pitchFamily="34" charset="0"/>
                        </a:rPr>
                      </a:br>
                      <a:r>
                        <a:rPr lang="en-US" sz="1400" b="1" dirty="0" err="1">
                          <a:effectLst/>
                          <a:latin typeface="Segoe UI Emoji" panose="020B0502040204020203" pitchFamily="34" charset="0"/>
                          <a:ea typeface="Segoe UI Emoji" panose="020B0502040204020203" pitchFamily="34" charset="0"/>
                        </a:rPr>
                        <a:t>i</a:t>
                      </a:r>
                      <a:r>
                        <a:rPr lang="en-US" sz="1400" b="1" dirty="0">
                          <a:effectLst/>
                          <a:latin typeface="Segoe UI Emoji" panose="020B0502040204020203" pitchFamily="34" charset="0"/>
                          <a:ea typeface="Segoe UI Emoji" panose="020B0502040204020203" pitchFamily="34" charset="0"/>
                        </a:rPr>
                        <a:t>=j;  </a:t>
                      </a:r>
                      <a:endParaRPr lang="en-US" sz="1400" b="0" dirty="0">
                        <a:effectLst/>
                        <a:latin typeface="Segoe UI Emoji" panose="020B0502040204020203" pitchFamily="34" charset="0"/>
                        <a:ea typeface="Segoe UI Emoji" panose="020B0502040204020203" pitchFamily="34" charset="0"/>
                      </a:endParaRPr>
                    </a:p>
                    <a:p>
                      <a:pPr algn="l" fontAlgn="base"/>
                      <a:r>
                        <a:rPr lang="en-US" sz="1400" b="0" dirty="0">
                          <a:effectLst/>
                          <a:latin typeface="Segoe UI Emoji" panose="020B0502040204020203" pitchFamily="34" charset="0"/>
                          <a:ea typeface="Segoe UI Emoji" panose="020B0502040204020203" pitchFamily="34" charset="0"/>
                        </a:rPr>
                        <a:t>// This is implicit conversion since float is larger than </a:t>
                      </a:r>
                      <a:r>
                        <a:rPr lang="en-US" sz="1400" b="0" dirty="0" err="1">
                          <a:effectLst/>
                          <a:latin typeface="Segoe UI Emoji" panose="020B0502040204020203" pitchFamily="34" charset="0"/>
                          <a:ea typeface="Segoe UI Emoji" panose="020B0502040204020203" pitchFamily="34" charset="0"/>
                        </a:rPr>
                        <a:t>integer,hence</a:t>
                      </a:r>
                      <a:r>
                        <a:rPr lang="en-US" sz="1400" b="0" dirty="0">
                          <a:effectLst/>
                          <a:latin typeface="Segoe UI Emoji" panose="020B0502040204020203" pitchFamily="34" charset="0"/>
                          <a:ea typeface="Segoe UI Emoji" panose="020B0502040204020203" pitchFamily="34" charset="0"/>
                        </a:rPr>
                        <a:t> no loss of data &amp; no exception.</a:t>
                      </a:r>
                    </a:p>
                  </a:txBody>
                  <a:tcPr marL="63500" marR="63500" marT="19050" marB="19050"/>
                </a:tc>
                <a:tc>
                  <a:txBody>
                    <a:bodyPr/>
                    <a:lstStyle/>
                    <a:p>
                      <a:pPr algn="l" fontAlgn="t"/>
                      <a:r>
                        <a:rPr lang="en-US" sz="1400" b="0" dirty="0">
                          <a:effectLst/>
                          <a:latin typeface="Segoe UI Emoji" panose="020B0502040204020203" pitchFamily="34" charset="0"/>
                          <a:ea typeface="Segoe UI Emoji" panose="020B0502040204020203" pitchFamily="34" charset="0"/>
                        </a:rPr>
                        <a:t> </a:t>
                      </a:r>
                      <a:r>
                        <a:rPr lang="en-US" sz="1400" b="1" dirty="0">
                          <a:effectLst/>
                          <a:latin typeface="Segoe UI Emoji" panose="020B0502040204020203" pitchFamily="34" charset="0"/>
                          <a:ea typeface="Segoe UI Emoji" panose="020B0502040204020203" pitchFamily="34" charset="0"/>
                        </a:rPr>
                        <a:t>Example</a:t>
                      </a:r>
                      <a:r>
                        <a:rPr lang="en-US" sz="1400" b="0" dirty="0">
                          <a:effectLst/>
                          <a:latin typeface="Segoe UI Emoji" panose="020B0502040204020203" pitchFamily="34" charset="0"/>
                          <a:ea typeface="Segoe UI Emoji" panose="020B0502040204020203" pitchFamily="34" charset="0"/>
                        </a:rPr>
                        <a:t> :</a:t>
                      </a:r>
                      <a:br>
                        <a:rPr lang="en-US" sz="1400" b="0" dirty="0">
                          <a:effectLst/>
                          <a:latin typeface="Segoe UI Emoji" panose="020B0502040204020203" pitchFamily="34" charset="0"/>
                          <a:ea typeface="Segoe UI Emoji" panose="020B0502040204020203" pitchFamily="34" charset="0"/>
                        </a:rPr>
                      </a:br>
                      <a:r>
                        <a:rPr lang="en-US" sz="1400" b="0" u="sng" dirty="0">
                          <a:effectLst/>
                          <a:latin typeface="Segoe UI Emoji" panose="020B0502040204020203" pitchFamily="34" charset="0"/>
                          <a:ea typeface="Segoe UI Emoji" panose="020B0502040204020203" pitchFamily="34" charset="0"/>
                        </a:rPr>
                        <a:t>Conversion</a:t>
                      </a:r>
                      <a:r>
                        <a:rPr lang="en-US" sz="1400" b="0" dirty="0">
                          <a:effectLst/>
                          <a:latin typeface="Segoe UI Emoji" panose="020B0502040204020203" pitchFamily="34" charset="0"/>
                          <a:ea typeface="Segoe UI Emoji" panose="020B0502040204020203" pitchFamily="34" charset="0"/>
                        </a:rPr>
                        <a:t> of larger number to smaller number is explicit </a:t>
                      </a:r>
                      <a:r>
                        <a:rPr lang="en-US" sz="1400" b="0" dirty="0" smtClean="0">
                          <a:effectLst/>
                          <a:latin typeface="Segoe UI Emoji" panose="020B0502040204020203" pitchFamily="34" charset="0"/>
                          <a:ea typeface="Segoe UI Emoji" panose="020B0502040204020203" pitchFamily="34" charset="0"/>
                        </a:rPr>
                        <a:t>conversion.</a:t>
                      </a:r>
                    </a:p>
                    <a:p>
                      <a:pPr algn="l" fontAlgn="t"/>
                      <a:r>
                        <a:rPr lang="en-US" sz="1400" b="1" dirty="0" smtClean="0">
                          <a:effectLst/>
                          <a:latin typeface="Segoe UI Emoji" panose="020B0502040204020203" pitchFamily="34" charset="0"/>
                          <a:ea typeface="Segoe UI Emoji" panose="020B0502040204020203" pitchFamily="34" charset="0"/>
                        </a:rPr>
                        <a:t>float </a:t>
                      </a:r>
                      <a:r>
                        <a:rPr lang="en-US" sz="1400" b="1" dirty="0">
                          <a:effectLst/>
                          <a:latin typeface="Segoe UI Emoji" panose="020B0502040204020203" pitchFamily="34" charset="0"/>
                          <a:ea typeface="Segoe UI Emoji" panose="020B0502040204020203" pitchFamily="34" charset="0"/>
                        </a:rPr>
                        <a:t>k=123.456</a:t>
                      </a:r>
                      <a:r>
                        <a:rPr lang="en-US" sz="1400" b="0" dirty="0">
                          <a:effectLst/>
                          <a:latin typeface="Segoe UI Emoji" panose="020B0502040204020203" pitchFamily="34" charset="0"/>
                          <a:ea typeface="Segoe UI Emoji" panose="020B0502040204020203" pitchFamily="34" charset="0"/>
                        </a:rPr>
                        <a:t/>
                      </a:r>
                      <a:br>
                        <a:rPr lang="en-US" sz="1400" b="0" dirty="0">
                          <a:effectLst/>
                          <a:latin typeface="Segoe UI Emoji" panose="020B0502040204020203" pitchFamily="34" charset="0"/>
                          <a:ea typeface="Segoe UI Emoji" panose="020B0502040204020203" pitchFamily="34" charset="0"/>
                        </a:rPr>
                      </a:br>
                      <a:r>
                        <a:rPr lang="en-US" sz="1400" b="1" dirty="0" err="1">
                          <a:effectLst/>
                          <a:latin typeface="Segoe UI Emoji" panose="020B0502040204020203" pitchFamily="34" charset="0"/>
                          <a:ea typeface="Segoe UI Emoji" panose="020B0502040204020203" pitchFamily="34" charset="0"/>
                        </a:rPr>
                        <a:t>int</a:t>
                      </a:r>
                      <a:r>
                        <a:rPr lang="en-US" sz="1400" b="1" dirty="0">
                          <a:effectLst/>
                          <a:latin typeface="Segoe UI Emoji" panose="020B0502040204020203" pitchFamily="34" charset="0"/>
                          <a:ea typeface="Segoe UI Emoji" panose="020B0502040204020203" pitchFamily="34" charset="0"/>
                        </a:rPr>
                        <a:t> </a:t>
                      </a:r>
                      <a:r>
                        <a:rPr lang="en-US" sz="1400" b="1" dirty="0" err="1">
                          <a:effectLst/>
                          <a:latin typeface="Segoe UI Emoji" panose="020B0502040204020203" pitchFamily="34" charset="0"/>
                          <a:ea typeface="Segoe UI Emoji" panose="020B0502040204020203" pitchFamily="34" charset="0"/>
                        </a:rPr>
                        <a:t>i</a:t>
                      </a:r>
                      <a:r>
                        <a:rPr lang="en-US" sz="1400" b="1" dirty="0">
                          <a:effectLst/>
                          <a:latin typeface="Segoe UI Emoji" panose="020B0502040204020203" pitchFamily="34" charset="0"/>
                          <a:ea typeface="Segoe UI Emoji" panose="020B0502040204020203" pitchFamily="34" charset="0"/>
                        </a:rPr>
                        <a:t>= (</a:t>
                      </a:r>
                      <a:r>
                        <a:rPr lang="en-US" sz="1400" b="1" dirty="0" err="1">
                          <a:effectLst/>
                          <a:latin typeface="Segoe UI Emoji" panose="020B0502040204020203" pitchFamily="34" charset="0"/>
                          <a:ea typeface="Segoe UI Emoji" panose="020B0502040204020203" pitchFamily="34" charset="0"/>
                        </a:rPr>
                        <a:t>int</a:t>
                      </a:r>
                      <a:r>
                        <a:rPr lang="en-US" sz="1400" b="1" dirty="0">
                          <a:effectLst/>
                          <a:latin typeface="Segoe UI Emoji" panose="020B0502040204020203" pitchFamily="34" charset="0"/>
                          <a:ea typeface="Segoe UI Emoji" panose="020B0502040204020203" pitchFamily="34" charset="0"/>
                        </a:rPr>
                        <a:t>) k  </a:t>
                      </a:r>
                      <a:r>
                        <a:rPr lang="en-US" sz="1400" b="0" i="0" kern="1200" dirty="0" smtClean="0">
                          <a:solidFill>
                            <a:schemeClr val="dk1"/>
                          </a:solidFill>
                          <a:effectLst/>
                          <a:latin typeface="Segoe UI Emoji" panose="020B0502040204020203" pitchFamily="34" charset="0"/>
                          <a:ea typeface="Segoe UI Emoji" panose="020B0502040204020203" pitchFamily="34" charset="0"/>
                          <a:cs typeface="+mn-cs"/>
                        </a:rPr>
                        <a:t>// This is Explicit conversion  and  </a:t>
                      </a:r>
                      <a:r>
                        <a:rPr lang="en-US" sz="1400" b="1" i="0" kern="1200" dirty="0" smtClean="0">
                          <a:solidFill>
                            <a:schemeClr val="dk1"/>
                          </a:solidFill>
                          <a:effectLst/>
                          <a:latin typeface="Segoe UI Emoji" panose="020B0502040204020203" pitchFamily="34" charset="0"/>
                          <a:ea typeface="Segoe UI Emoji" panose="020B0502040204020203" pitchFamily="34" charset="0"/>
                          <a:cs typeface="+mn-cs"/>
                        </a:rPr>
                        <a:t>(</a:t>
                      </a:r>
                      <a:r>
                        <a:rPr lang="en-US" sz="1400" b="1" i="0" kern="1200" dirty="0" err="1" smtClean="0">
                          <a:solidFill>
                            <a:schemeClr val="dk1"/>
                          </a:solidFill>
                          <a:effectLst/>
                          <a:latin typeface="Segoe UI Emoji" panose="020B0502040204020203" pitchFamily="34" charset="0"/>
                          <a:ea typeface="Segoe UI Emoji" panose="020B0502040204020203" pitchFamily="34" charset="0"/>
                          <a:cs typeface="+mn-cs"/>
                        </a:rPr>
                        <a:t>int</a:t>
                      </a:r>
                      <a:r>
                        <a:rPr lang="en-US" sz="1400" b="1" i="0" kern="1200" dirty="0" smtClean="0">
                          <a:solidFill>
                            <a:schemeClr val="dk1"/>
                          </a:solidFill>
                          <a:effectLst/>
                          <a:latin typeface="Segoe UI Emoji" panose="020B0502040204020203" pitchFamily="34" charset="0"/>
                          <a:ea typeface="Segoe UI Emoji" panose="020B0502040204020203" pitchFamily="34" charset="0"/>
                          <a:cs typeface="+mn-cs"/>
                        </a:rPr>
                        <a:t>)</a:t>
                      </a:r>
                      <a:r>
                        <a:rPr lang="en-US" sz="1400" b="0" i="0" kern="1200" dirty="0" smtClean="0">
                          <a:solidFill>
                            <a:schemeClr val="dk1"/>
                          </a:solidFill>
                          <a:effectLst/>
                          <a:latin typeface="Segoe UI Emoji" panose="020B0502040204020203" pitchFamily="34" charset="0"/>
                          <a:ea typeface="Segoe UI Emoji" panose="020B0502040204020203" pitchFamily="34" charset="0"/>
                          <a:cs typeface="+mn-cs"/>
                        </a:rPr>
                        <a:t> is </a:t>
                      </a:r>
                      <a:r>
                        <a:rPr lang="en-US" sz="1400" b="1" i="0" kern="1200" dirty="0" smtClean="0">
                          <a:solidFill>
                            <a:schemeClr val="dk1"/>
                          </a:solidFill>
                          <a:effectLst/>
                          <a:latin typeface="Segoe UI Emoji" panose="020B0502040204020203" pitchFamily="34" charset="0"/>
                          <a:ea typeface="Segoe UI Emoji" panose="020B0502040204020203" pitchFamily="34" charset="0"/>
                          <a:cs typeface="+mn-cs"/>
                        </a:rPr>
                        <a:t>type cast operator.</a:t>
                      </a:r>
                      <a:r>
                        <a:rPr lang="en-US" sz="1400" b="0" i="0" kern="1200" dirty="0" smtClean="0">
                          <a:solidFill>
                            <a:schemeClr val="dk1"/>
                          </a:solidFill>
                          <a:effectLst/>
                          <a:latin typeface="Segoe UI Emoji" panose="020B0502040204020203" pitchFamily="34" charset="0"/>
                          <a:ea typeface="Segoe UI Emoji" panose="020B0502040204020203" pitchFamily="34" charset="0"/>
                          <a:cs typeface="+mn-cs"/>
                        </a:rPr>
                        <a:t> Here we may be able to escape an exception but there is noticeable data </a:t>
                      </a:r>
                      <a:r>
                        <a:rPr lang="en-US" sz="1400" b="0" i="0" kern="1200" dirty="0" err="1" smtClean="0">
                          <a:solidFill>
                            <a:schemeClr val="dk1"/>
                          </a:solidFill>
                          <a:effectLst/>
                          <a:latin typeface="Segoe UI Emoji" panose="020B0502040204020203" pitchFamily="34" charset="0"/>
                          <a:ea typeface="Segoe UI Emoji" panose="020B0502040204020203" pitchFamily="34" charset="0"/>
                          <a:cs typeface="+mn-cs"/>
                        </a:rPr>
                        <a:t>loss.i.e</a:t>
                      </a:r>
                      <a:r>
                        <a:rPr lang="en-US" sz="1400" b="0" i="0" kern="1200" dirty="0" smtClean="0">
                          <a:solidFill>
                            <a:schemeClr val="dk1"/>
                          </a:solidFill>
                          <a:effectLst/>
                          <a:latin typeface="Segoe UI Emoji" panose="020B0502040204020203" pitchFamily="34" charset="0"/>
                          <a:ea typeface="Segoe UI Emoji" panose="020B0502040204020203" pitchFamily="34" charset="0"/>
                          <a:cs typeface="+mn-cs"/>
                        </a:rPr>
                        <a:t>.</a:t>
                      </a:r>
                    </a:p>
                    <a:p>
                      <a:pPr algn="l" fontAlgn="t"/>
                      <a:r>
                        <a:rPr lang="en-US" sz="1400" b="1" i="0" kern="1200" dirty="0" smtClean="0">
                          <a:solidFill>
                            <a:schemeClr val="dk1"/>
                          </a:solidFill>
                          <a:effectLst/>
                          <a:latin typeface="Segoe UI Emoji" panose="020B0502040204020203" pitchFamily="34" charset="0"/>
                          <a:ea typeface="Segoe UI Emoji" panose="020B0502040204020203" pitchFamily="34" charset="0"/>
                          <a:cs typeface="+mn-cs"/>
                        </a:rPr>
                        <a:t> </a:t>
                      </a:r>
                      <a:r>
                        <a:rPr lang="en-US" sz="1400" b="1" i="0" kern="1200" dirty="0" err="1" smtClean="0">
                          <a:solidFill>
                            <a:schemeClr val="dk1"/>
                          </a:solidFill>
                          <a:effectLst/>
                          <a:latin typeface="Segoe UI Emoji" panose="020B0502040204020203" pitchFamily="34" charset="0"/>
                          <a:ea typeface="Segoe UI Emoji" panose="020B0502040204020203" pitchFamily="34" charset="0"/>
                          <a:cs typeface="+mn-cs"/>
                        </a:rPr>
                        <a:t>i</a:t>
                      </a:r>
                      <a:r>
                        <a:rPr lang="en-US" sz="1400" b="1" i="0" kern="1200" dirty="0" smtClean="0">
                          <a:solidFill>
                            <a:schemeClr val="dk1"/>
                          </a:solidFill>
                          <a:effectLst/>
                          <a:latin typeface="Segoe UI Emoji" panose="020B0502040204020203" pitchFamily="34" charset="0"/>
                          <a:ea typeface="Segoe UI Emoji" panose="020B0502040204020203" pitchFamily="34" charset="0"/>
                          <a:cs typeface="+mn-cs"/>
                        </a:rPr>
                        <a:t>=123  </a:t>
                      </a:r>
                      <a:r>
                        <a:rPr lang="en-US" sz="1400" b="0" i="0" kern="1200" dirty="0" smtClean="0">
                          <a:solidFill>
                            <a:schemeClr val="dk1"/>
                          </a:solidFill>
                          <a:effectLst/>
                          <a:latin typeface="Segoe UI Emoji" panose="020B0502040204020203" pitchFamily="34" charset="0"/>
                          <a:ea typeface="Segoe UI Emoji" panose="020B0502040204020203" pitchFamily="34" charset="0"/>
                          <a:cs typeface="+mn-cs"/>
                        </a:rPr>
                        <a:t>// .456 is lost during conversion</a:t>
                      </a:r>
                    </a:p>
                    <a:p>
                      <a:pPr algn="l" fontAlgn="t"/>
                      <a:endParaRPr lang="en-US" sz="1400" b="0" dirty="0">
                        <a:effectLst/>
                        <a:latin typeface="Segoe UI Emoji" panose="020B0502040204020203" pitchFamily="34" charset="0"/>
                        <a:ea typeface="Segoe UI Emoji" panose="020B0502040204020203" pitchFamily="34" charset="0"/>
                      </a:endParaRPr>
                    </a:p>
                  </a:txBody>
                  <a:tcPr marL="63500" marR="63500" marT="19050" marB="19050"/>
                </a:tc>
              </a:tr>
            </a:tbl>
          </a:graphicData>
        </a:graphic>
      </p:graphicFrame>
    </p:spTree>
    <p:extLst>
      <p:ext uri="{BB962C8B-B14F-4D97-AF65-F5344CB8AC3E}">
        <p14:creationId xmlns:p14="http://schemas.microsoft.com/office/powerpoint/2010/main" xmlns="" val="162480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spc="-1" dirty="0">
                <a:solidFill>
                  <a:srgbClr val="FFFFFF"/>
                </a:solidFill>
                <a:uFill>
                  <a:solidFill>
                    <a:srgbClr val="FFFFFF"/>
                  </a:solidFill>
                </a:uFill>
                <a:latin typeface="Calibri"/>
              </a:rPr>
              <a:t>Screen output </a:t>
            </a:r>
            <a:r>
              <a:rPr lang="en-US" sz="3200" spc="-1" dirty="0" smtClean="0">
                <a:solidFill>
                  <a:srgbClr val="FFFFFF"/>
                </a:solidFill>
                <a:uFill>
                  <a:solidFill>
                    <a:srgbClr val="FFFFFF"/>
                  </a:solidFill>
                </a:uFill>
                <a:latin typeface="Calibri"/>
              </a:rPr>
              <a:t>&amp; Keyboard </a:t>
            </a:r>
            <a:r>
              <a:rPr lang="en-US" sz="3200" spc="-1" dirty="0">
                <a:solidFill>
                  <a:srgbClr val="FFFFFF"/>
                </a:solidFill>
                <a:uFill>
                  <a:solidFill>
                    <a:srgbClr val="FFFFFF"/>
                  </a:solidFill>
                </a:uFill>
                <a:latin typeface="Calibri"/>
              </a:rPr>
              <a:t>input</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17</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dirty="0">
                <a:latin typeface="Segoe UI Emoji" panose="020B0502040204020203" pitchFamily="34" charset="0"/>
                <a:ea typeface="Segoe UI Emoji" panose="020B0502040204020203" pitchFamily="34" charset="0"/>
              </a:rPr>
              <a:t>JavaScript has three kind of popup boxes: </a:t>
            </a:r>
            <a:endParaRPr lang="en-US" dirty="0" smtClean="0">
              <a:latin typeface="Segoe UI Emoji" panose="020B0502040204020203" pitchFamily="34" charset="0"/>
              <a:ea typeface="Segoe UI Emoji" panose="020B0502040204020203" pitchFamily="34" charset="0"/>
            </a:endParaRP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Alert box.</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Confirm box.</a:t>
            </a:r>
          </a:p>
          <a:p>
            <a:pPr marL="742950" lvl="1"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Prompt </a:t>
            </a:r>
            <a:r>
              <a:rPr lang="en-US" dirty="0">
                <a:latin typeface="Segoe UI Emoji" panose="020B0502040204020203" pitchFamily="34" charset="0"/>
                <a:ea typeface="Segoe UI Emoji" panose="020B0502040204020203" pitchFamily="34" charset="0"/>
              </a:rPr>
              <a:t>box.</a:t>
            </a: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b="1" dirty="0" smtClean="0">
              <a:latin typeface="Segoe UI Emoji" panose="020B0502040204020203" pitchFamily="34" charset="0"/>
              <a:ea typeface="Segoe UI Emoji" panose="020B0502040204020203" pitchFamily="34" charset="0"/>
            </a:endParaRPr>
          </a:p>
          <a:p>
            <a:r>
              <a:rPr lang="en-US" b="1" dirty="0" smtClean="0">
                <a:latin typeface="Segoe UI Emoji" panose="020B0502040204020203" pitchFamily="34" charset="0"/>
                <a:ea typeface="Segoe UI Emoji" panose="020B0502040204020203" pitchFamily="34" charset="0"/>
              </a:rPr>
              <a:t>Alert Box</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An alert box is often used if you want to make sure information comes through to the user.</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When an alert box pops up, the user will have to click "OK" to proceed</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err="1">
                <a:latin typeface="Segoe UI Emoji" panose="020B0502040204020203" pitchFamily="34" charset="0"/>
                <a:ea typeface="Segoe UI Emoji" panose="020B0502040204020203" pitchFamily="34" charset="0"/>
              </a:rPr>
              <a:t>window.alert</a:t>
            </a:r>
            <a:r>
              <a:rPr lang="en-US" dirty="0">
                <a:latin typeface="Segoe UI Emoji" panose="020B0502040204020203" pitchFamily="34" charset="0"/>
                <a:ea typeface="Segoe UI Emoji" panose="020B0502040204020203" pitchFamily="34" charset="0"/>
              </a:rPr>
              <a:t>() method can be written without the window prefix.</a:t>
            </a: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b="1" dirty="0" smtClean="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809146" y="4622350"/>
            <a:ext cx="2550198" cy="4457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3"/>
          <a:stretch>
            <a:fillRect/>
          </a:stretch>
        </p:blipFill>
        <p:spPr>
          <a:xfrm>
            <a:off x="809146" y="5364372"/>
            <a:ext cx="3007398" cy="4393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4"/>
          <a:stretch>
            <a:fillRect/>
          </a:stretch>
        </p:blipFill>
        <p:spPr>
          <a:xfrm>
            <a:off x="4511477" y="4715760"/>
            <a:ext cx="4306003" cy="1226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3515911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spc="-1" dirty="0">
                <a:solidFill>
                  <a:srgbClr val="FFFFFF"/>
                </a:solidFill>
                <a:uFill>
                  <a:solidFill>
                    <a:srgbClr val="FFFFFF"/>
                  </a:solidFill>
                </a:uFill>
                <a:latin typeface="Calibri"/>
              </a:rPr>
              <a:t>Screen output </a:t>
            </a:r>
            <a:r>
              <a:rPr lang="en-US" sz="3200" spc="-1" dirty="0" smtClean="0">
                <a:solidFill>
                  <a:srgbClr val="FFFFFF"/>
                </a:solidFill>
                <a:uFill>
                  <a:solidFill>
                    <a:srgbClr val="FFFFFF"/>
                  </a:solidFill>
                </a:uFill>
                <a:latin typeface="Calibri"/>
              </a:rPr>
              <a:t>&amp; Keyboard </a:t>
            </a:r>
            <a:r>
              <a:rPr lang="en-US" sz="3200" spc="-1" dirty="0">
                <a:solidFill>
                  <a:srgbClr val="FFFFFF"/>
                </a:solidFill>
                <a:uFill>
                  <a:solidFill>
                    <a:srgbClr val="FFFFFF"/>
                  </a:solidFill>
                </a:uFill>
                <a:latin typeface="Calibri"/>
              </a:rPr>
              <a:t>input</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18</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Confirm </a:t>
            </a:r>
            <a:r>
              <a:rPr lang="en-US" b="1" dirty="0" smtClean="0">
                <a:latin typeface="Segoe UI Emoji" panose="020B0502040204020203" pitchFamily="34" charset="0"/>
                <a:ea typeface="Segoe UI Emoji" panose="020B0502040204020203" pitchFamily="34" charset="0"/>
              </a:rPr>
              <a:t>Box</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confirm box is often used if you want the user to verify or accept something.</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When a confirm box pops up, the user will have to click either "OK" or "Cancel" to proceed.</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If the user clicks "OK", the box returns </a:t>
            </a:r>
            <a:r>
              <a:rPr lang="en-US" b="1" dirty="0">
                <a:latin typeface="Segoe UI Emoji" panose="020B0502040204020203" pitchFamily="34" charset="0"/>
                <a:ea typeface="Segoe UI Emoji" panose="020B0502040204020203" pitchFamily="34" charset="0"/>
              </a:rPr>
              <a:t>true</a:t>
            </a:r>
            <a:r>
              <a:rPr lang="en-US" dirty="0">
                <a:latin typeface="Segoe UI Emoji" panose="020B0502040204020203" pitchFamily="34" charset="0"/>
                <a:ea typeface="Segoe UI Emoji" panose="020B0502040204020203" pitchFamily="34" charset="0"/>
              </a:rPr>
              <a:t>. If the user clicks "Cancel", the box returns </a:t>
            </a:r>
            <a:r>
              <a:rPr lang="en-US" b="1" dirty="0">
                <a:latin typeface="Segoe UI Emoji" panose="020B0502040204020203" pitchFamily="34" charset="0"/>
                <a:ea typeface="Segoe UI Emoji" panose="020B0502040204020203" pitchFamily="34" charset="0"/>
              </a:rPr>
              <a:t>false</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err="1">
                <a:latin typeface="Segoe UI Emoji" panose="020B0502040204020203" pitchFamily="34" charset="0"/>
                <a:ea typeface="Segoe UI Emoji" panose="020B0502040204020203" pitchFamily="34" charset="0"/>
              </a:rPr>
              <a:t>window.confirm</a:t>
            </a:r>
            <a:r>
              <a:rPr lang="en-US" dirty="0">
                <a:latin typeface="Segoe UI Emoji" panose="020B0502040204020203" pitchFamily="34" charset="0"/>
                <a:ea typeface="Segoe UI Emoji" panose="020B0502040204020203" pitchFamily="34" charset="0"/>
              </a:rPr>
              <a:t>() method can be written without the window prefix</a:t>
            </a:r>
            <a:r>
              <a:rPr lang="en-US" dirty="0" smtClean="0">
                <a:latin typeface="Segoe UI Emoji" panose="020B0502040204020203" pitchFamily="34" charset="0"/>
                <a:ea typeface="Segoe UI Emoji" panose="020B0502040204020203" pitchFamily="34" charset="0"/>
              </a:rPr>
              <a:t>.</a:t>
            </a:r>
            <a:endParaRPr lang="en-US" dirty="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519694" y="3696654"/>
            <a:ext cx="2853707" cy="4344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3"/>
          <a:stretch>
            <a:fillRect/>
          </a:stretch>
        </p:blipFill>
        <p:spPr>
          <a:xfrm>
            <a:off x="519694" y="4336997"/>
            <a:ext cx="3274931" cy="13274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4"/>
          <a:stretch>
            <a:fillRect/>
          </a:stretch>
        </p:blipFill>
        <p:spPr>
          <a:xfrm>
            <a:off x="4268544" y="4131077"/>
            <a:ext cx="4316443" cy="12341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313028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spc="-1" dirty="0">
                <a:solidFill>
                  <a:srgbClr val="FFFFFF"/>
                </a:solidFill>
                <a:uFill>
                  <a:solidFill>
                    <a:srgbClr val="FFFFFF"/>
                  </a:solidFill>
                </a:uFill>
                <a:latin typeface="Calibri"/>
              </a:rPr>
              <a:t>Screen output </a:t>
            </a:r>
            <a:r>
              <a:rPr lang="en-US" sz="3200" spc="-1" dirty="0" smtClean="0">
                <a:solidFill>
                  <a:srgbClr val="FFFFFF"/>
                </a:solidFill>
                <a:uFill>
                  <a:solidFill>
                    <a:srgbClr val="FFFFFF"/>
                  </a:solidFill>
                </a:uFill>
                <a:latin typeface="Calibri"/>
              </a:rPr>
              <a:t>&amp; Keyboard </a:t>
            </a:r>
            <a:r>
              <a:rPr lang="en-US" sz="3200" spc="-1" dirty="0">
                <a:solidFill>
                  <a:srgbClr val="FFFFFF"/>
                </a:solidFill>
                <a:uFill>
                  <a:solidFill>
                    <a:srgbClr val="FFFFFF"/>
                  </a:solidFill>
                </a:uFill>
                <a:latin typeface="Calibri"/>
              </a:rPr>
              <a:t>input</a:t>
            </a:r>
            <a:endParaRPr lang="en-IN" sz="16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19</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7" y="1416402"/>
            <a:ext cx="3707878"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a:latin typeface="Segoe UI Emoji" panose="020B0502040204020203" pitchFamily="34" charset="0"/>
                <a:ea typeface="Segoe UI Emoji" panose="020B0502040204020203" pitchFamily="34" charset="0"/>
              </a:rPr>
              <a:t>Prompt </a:t>
            </a:r>
            <a:r>
              <a:rPr lang="en-US" b="1" dirty="0" smtClean="0">
                <a:latin typeface="Segoe UI Emoji" panose="020B0502040204020203" pitchFamily="34" charset="0"/>
                <a:ea typeface="Segoe UI Emoji" panose="020B0502040204020203" pitchFamily="34" charset="0"/>
              </a:rPr>
              <a:t>Box</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prompt box is often used if you want the user to input a value before entering a page.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When a prompt box pops up, the user will have to click either "OK" or "Cancel" to proceed after entering an input value.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If the user clicks "OK" the box returns the input value. If the user clicks "Cancel" the box returns null</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a:t>
            </a:r>
            <a:r>
              <a:rPr lang="en-US" dirty="0" err="1">
                <a:latin typeface="Segoe UI Emoji" panose="020B0502040204020203" pitchFamily="34" charset="0"/>
                <a:ea typeface="Segoe UI Emoji" panose="020B0502040204020203" pitchFamily="34" charset="0"/>
              </a:rPr>
              <a:t>window.prompt</a:t>
            </a:r>
            <a:r>
              <a:rPr lang="en-US" dirty="0">
                <a:latin typeface="Segoe UI Emoji" panose="020B0502040204020203" pitchFamily="34" charset="0"/>
                <a:ea typeface="Segoe UI Emoji" panose="020B0502040204020203" pitchFamily="34" charset="0"/>
              </a:rPr>
              <a:t>() method can be written without the window prefix.</a:t>
            </a:r>
          </a:p>
          <a:p>
            <a:endParaRPr lang="en-US" dirty="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dirty="0">
              <a:latin typeface="Segoe UI Emoji" panose="020B0502040204020203" pitchFamily="34" charset="0"/>
              <a:ea typeface="Segoe UI Emoji" panose="020B0502040204020203" pitchFamily="34" charset="0"/>
            </a:endParaRPr>
          </a:p>
        </p:txBody>
      </p:sp>
      <p:pic>
        <p:nvPicPr>
          <p:cNvPr id="4" name="Picture 3"/>
          <p:cNvPicPr>
            <a:picLocks noChangeAspect="1"/>
          </p:cNvPicPr>
          <p:nvPr/>
        </p:nvPicPr>
        <p:blipFill>
          <a:blip r:embed="rId2"/>
          <a:stretch>
            <a:fillRect/>
          </a:stretch>
        </p:blipFill>
        <p:spPr>
          <a:xfrm>
            <a:off x="3733558" y="1632566"/>
            <a:ext cx="3904873" cy="3606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stretch>
            <a:fillRect/>
          </a:stretch>
        </p:blipFill>
        <p:spPr>
          <a:xfrm>
            <a:off x="3733558" y="2257474"/>
            <a:ext cx="5259163" cy="16643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4"/>
          <a:stretch>
            <a:fillRect/>
          </a:stretch>
        </p:blipFill>
        <p:spPr>
          <a:xfrm>
            <a:off x="3979595" y="4315793"/>
            <a:ext cx="4296554" cy="16683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3748203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Control </a:t>
            </a:r>
            <a:r>
              <a:rPr lang="en-IN" sz="3600" spc="-1" dirty="0" smtClean="0">
                <a:solidFill>
                  <a:srgbClr val="FFFFFF"/>
                </a:solidFill>
                <a:uFill>
                  <a:solidFill>
                    <a:srgbClr val="FFFFFF"/>
                  </a:solidFill>
                </a:uFill>
                <a:latin typeface="Calibri"/>
              </a:rPr>
              <a:t>Statements</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20</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Control statements often require some syntactic container for sequences </a:t>
            </a:r>
            <a:r>
              <a:rPr lang="en-US" dirty="0" smtClean="0">
                <a:latin typeface="Segoe UI Emoji" panose="020B0502040204020203" pitchFamily="34" charset="0"/>
                <a:ea typeface="Segoe UI Emoji" panose="020B0502040204020203" pitchFamily="34" charset="0"/>
              </a:rPr>
              <a:t>of statements </a:t>
            </a:r>
            <a:r>
              <a:rPr lang="en-US" dirty="0">
                <a:latin typeface="Segoe UI Emoji" panose="020B0502040204020203" pitchFamily="34" charset="0"/>
                <a:ea typeface="Segoe UI Emoji" panose="020B0502040204020203" pitchFamily="34" charset="0"/>
              </a:rPr>
              <a:t>whose execution they are meant to control.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i="1" dirty="0">
                <a:latin typeface="Segoe UI Emoji" panose="020B0502040204020203" pitchFamily="34" charset="0"/>
                <a:ea typeface="Segoe UI Emoji" panose="020B0502040204020203" pitchFamily="34" charset="0"/>
              </a:rPr>
              <a:t>compound statement </a:t>
            </a:r>
            <a:r>
              <a:rPr lang="en-US" dirty="0">
                <a:latin typeface="Segoe UI Emoji" panose="020B0502040204020203" pitchFamily="34" charset="0"/>
                <a:ea typeface="Segoe UI Emoji" panose="020B0502040204020203" pitchFamily="34" charset="0"/>
              </a:rPr>
              <a:t>in JavaScript is a </a:t>
            </a:r>
            <a:r>
              <a:rPr lang="en-US" dirty="0" smtClean="0">
                <a:latin typeface="Segoe UI Emoji" panose="020B0502040204020203" pitchFamily="34" charset="0"/>
                <a:ea typeface="Segoe UI Emoji" panose="020B0502040204020203" pitchFamily="34" charset="0"/>
              </a:rPr>
              <a:t>sequence of </a:t>
            </a:r>
            <a:r>
              <a:rPr lang="en-US" dirty="0">
                <a:latin typeface="Segoe UI Emoji" panose="020B0502040204020203" pitchFamily="34" charset="0"/>
                <a:ea typeface="Segoe UI Emoji" panose="020B0502040204020203" pitchFamily="34" charset="0"/>
              </a:rPr>
              <a:t>statements delimited by </a:t>
            </a:r>
            <a:r>
              <a:rPr lang="en-US" dirty="0" smtClean="0">
                <a:latin typeface="Segoe UI Emoji" panose="020B0502040204020203" pitchFamily="34" charset="0"/>
                <a:ea typeface="Segoe UI Emoji" panose="020B0502040204020203" pitchFamily="34" charset="0"/>
              </a:rPr>
              <a:t>braces.</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i="1" dirty="0">
                <a:latin typeface="Segoe UI Emoji" panose="020B0502040204020203" pitchFamily="34" charset="0"/>
                <a:ea typeface="Segoe UI Emoji" panose="020B0502040204020203" pitchFamily="34" charset="0"/>
              </a:rPr>
              <a:t>control construct </a:t>
            </a:r>
            <a:r>
              <a:rPr lang="en-US" dirty="0">
                <a:latin typeface="Segoe UI Emoji" panose="020B0502040204020203" pitchFamily="34" charset="0"/>
                <a:ea typeface="Segoe UI Emoji" panose="020B0502040204020203" pitchFamily="34" charset="0"/>
              </a:rPr>
              <a:t>is a control statement </a:t>
            </a:r>
            <a:r>
              <a:rPr lang="en-US" dirty="0" smtClean="0">
                <a:latin typeface="Segoe UI Emoji" panose="020B0502040204020203" pitchFamily="34" charset="0"/>
                <a:ea typeface="Segoe UI Emoji" panose="020B0502040204020203" pitchFamily="34" charset="0"/>
              </a:rPr>
              <a:t>together with </a:t>
            </a:r>
            <a:r>
              <a:rPr lang="en-US" dirty="0">
                <a:latin typeface="Segoe UI Emoji" panose="020B0502040204020203" pitchFamily="34" charset="0"/>
                <a:ea typeface="Segoe UI Emoji" panose="020B0502040204020203" pitchFamily="34" charset="0"/>
              </a:rPr>
              <a:t>the statement or compound statement whose execution it controls</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JavaScript does not allow compound </a:t>
            </a:r>
            <a:r>
              <a:rPr lang="en-US" dirty="0" smtClean="0">
                <a:latin typeface="Segoe UI Emoji" panose="020B0502040204020203" pitchFamily="34" charset="0"/>
                <a:ea typeface="Segoe UI Emoji" panose="020B0502040204020203" pitchFamily="34" charset="0"/>
              </a:rPr>
              <a:t>statements to </a:t>
            </a:r>
            <a:r>
              <a:rPr lang="en-US" dirty="0">
                <a:latin typeface="Segoe UI Emoji" panose="020B0502040204020203" pitchFamily="34" charset="0"/>
                <a:ea typeface="Segoe UI Emoji" panose="020B0502040204020203" pitchFamily="34" charset="0"/>
              </a:rPr>
              <a:t>create local variables</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t>
            </a:r>
            <a:r>
              <a:rPr lang="en-US" dirty="0">
                <a:latin typeface="Segoe UI Emoji" panose="020B0502040204020203" pitchFamily="34" charset="0"/>
                <a:ea typeface="Segoe UI Emoji" panose="020B0502040204020203" pitchFamily="34" charset="0"/>
              </a:rPr>
              <a:t>a variable is declared in a compound statement</a:t>
            </a:r>
            <a:r>
              <a:rPr lang="en-US" dirty="0" smtClean="0">
                <a:latin typeface="Segoe UI Emoji" panose="020B0502040204020203" pitchFamily="34" charset="0"/>
                <a:ea typeface="Segoe UI Emoji" panose="020B0502040204020203" pitchFamily="34" charset="0"/>
              </a:rPr>
              <a:t>, access </a:t>
            </a:r>
            <a:r>
              <a:rPr lang="en-US" dirty="0">
                <a:latin typeface="Segoe UI Emoji" panose="020B0502040204020203" pitchFamily="34" charset="0"/>
                <a:ea typeface="Segoe UI Emoji" panose="020B0502040204020203" pitchFamily="34" charset="0"/>
              </a:rPr>
              <a:t>to it is not confined to that compound statement</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endParaRPr lang="en-US" b="1" dirty="0" smtClean="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253607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Control </a:t>
            </a:r>
            <a:r>
              <a:rPr lang="en-IN" sz="3600" spc="-1" dirty="0" smtClean="0">
                <a:solidFill>
                  <a:srgbClr val="FFFFFF"/>
                </a:solidFill>
                <a:uFill>
                  <a:solidFill>
                    <a:srgbClr val="FFFFFF"/>
                  </a:solidFill>
                </a:uFill>
                <a:latin typeface="Calibri"/>
              </a:rPr>
              <a:t>Statements</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21</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Control </a:t>
            </a:r>
            <a:r>
              <a:rPr lang="en-US" b="1" dirty="0">
                <a:latin typeface="Segoe UI Emoji" panose="020B0502040204020203" pitchFamily="34" charset="0"/>
                <a:ea typeface="Segoe UI Emoji" panose="020B0502040204020203" pitchFamily="34" charset="0"/>
              </a:rPr>
              <a:t>Expressions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An expression is a combination of values, variables, and operators, which computes to a value.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computation is called an evaluation.</a:t>
            </a:r>
          </a:p>
          <a:p>
            <a:r>
              <a:rPr lang="en-US" dirty="0" smtClean="0">
                <a:latin typeface="Segoe UI Emoji" panose="020B0502040204020203" pitchFamily="34" charset="0"/>
                <a:ea typeface="Segoe UI Emoji" panose="020B0502040204020203" pitchFamily="34" charset="0"/>
              </a:rPr>
              <a:t>	For </a:t>
            </a:r>
            <a:r>
              <a:rPr lang="en-US" dirty="0">
                <a:latin typeface="Segoe UI Emoji" panose="020B0502040204020203" pitchFamily="34" charset="0"/>
                <a:ea typeface="Segoe UI Emoji" panose="020B0502040204020203" pitchFamily="34" charset="0"/>
              </a:rPr>
              <a:t>example, 5 * 10 evaluates to 50</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Expressions can also contain variable values:</a:t>
            </a: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a:t>
            </a:r>
            <a:r>
              <a:rPr lang="en-US" dirty="0">
                <a:latin typeface="Segoe UI Emoji" panose="020B0502040204020203" pitchFamily="34" charset="0"/>
                <a:ea typeface="Segoe UI Emoji" panose="020B0502040204020203" pitchFamily="34" charset="0"/>
              </a:rPr>
              <a:t>values can be of various types, such as numbers and </a:t>
            </a:r>
            <a:r>
              <a:rPr lang="en-US" dirty="0" smtClean="0">
                <a:latin typeface="Segoe UI Emoji" panose="020B0502040204020203" pitchFamily="34" charset="0"/>
                <a:ea typeface="Segoe UI Emoji" panose="020B0502040204020203" pitchFamily="34" charset="0"/>
              </a:rPr>
              <a:t>strings.</a:t>
            </a:r>
          </a:p>
          <a:p>
            <a:r>
              <a:rPr lang="en-US" dirty="0">
                <a:latin typeface="Segoe UI Emoji" panose="020B0502040204020203" pitchFamily="34" charset="0"/>
                <a:ea typeface="Segoe UI Emoji" panose="020B0502040204020203" pitchFamily="34" charset="0"/>
              </a:rPr>
              <a:t>	</a:t>
            </a:r>
            <a:r>
              <a:rPr lang="en-US" dirty="0" smtClean="0">
                <a:latin typeface="Segoe UI Emoji" panose="020B0502040204020203" pitchFamily="34" charset="0"/>
                <a:ea typeface="Segoe UI Emoji" panose="020B0502040204020203" pitchFamily="34" charset="0"/>
              </a:rPr>
              <a:t>For </a:t>
            </a:r>
            <a:r>
              <a:rPr lang="en-US" dirty="0">
                <a:latin typeface="Segoe UI Emoji" panose="020B0502040204020203" pitchFamily="34" charset="0"/>
                <a:ea typeface="Segoe UI Emoji" panose="020B0502040204020203" pitchFamily="34" charset="0"/>
              </a:rPr>
              <a:t>example, "John" + " " + "Doe", evaluates to "John Doe":</a:t>
            </a: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2862263" y="2918506"/>
            <a:ext cx="1590675" cy="4667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3"/>
          <a:stretch>
            <a:fillRect/>
          </a:stretch>
        </p:blipFill>
        <p:spPr>
          <a:xfrm>
            <a:off x="3100387" y="4061685"/>
            <a:ext cx="1114425" cy="4857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4"/>
          <a:stretch>
            <a:fillRect/>
          </a:stretch>
        </p:blipFill>
        <p:spPr>
          <a:xfrm>
            <a:off x="2281236" y="5650484"/>
            <a:ext cx="2752725" cy="495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297647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Control </a:t>
            </a:r>
            <a:r>
              <a:rPr lang="en-IN" sz="3600" spc="-1" dirty="0" smtClean="0">
                <a:solidFill>
                  <a:srgbClr val="FFFFFF"/>
                </a:solidFill>
                <a:uFill>
                  <a:solidFill>
                    <a:srgbClr val="FFFFFF"/>
                  </a:solidFill>
                </a:uFill>
                <a:latin typeface="Calibri"/>
              </a:rPr>
              <a:t>Statements: Looping</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22</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Looping</a:t>
            </a:r>
          </a:p>
          <a:p>
            <a:r>
              <a:rPr lang="en-US" dirty="0" smtClean="0">
                <a:latin typeface="Segoe UI Emoji" panose="020B0502040204020203" pitchFamily="34" charset="0"/>
                <a:ea typeface="Segoe UI Emoji" panose="020B0502040204020203" pitchFamily="34" charset="0"/>
              </a:rPr>
              <a:t>JavaScript </a:t>
            </a:r>
            <a:r>
              <a:rPr lang="en-US" dirty="0">
                <a:latin typeface="Segoe UI Emoji" panose="020B0502040204020203" pitchFamily="34" charset="0"/>
                <a:ea typeface="Segoe UI Emoji" panose="020B0502040204020203" pitchFamily="34" charset="0"/>
              </a:rPr>
              <a:t>supports different kinds of loops:</a:t>
            </a:r>
          </a:p>
          <a:p>
            <a:pPr marL="742950" lvl="1" indent="-285750">
              <a:buFont typeface="Arial" panose="020B0604020202020204" pitchFamily="34" charset="0"/>
              <a:buChar char="•"/>
            </a:pPr>
            <a:r>
              <a:rPr lang="en-US" sz="1600" dirty="0" smtClean="0">
                <a:latin typeface="Segoe UI Emoji" panose="020B0502040204020203" pitchFamily="34" charset="0"/>
                <a:ea typeface="Segoe UI Emoji" panose="020B0502040204020203" pitchFamily="34" charset="0"/>
              </a:rPr>
              <a:t>for </a:t>
            </a:r>
            <a:r>
              <a:rPr lang="en-US" sz="1600" dirty="0">
                <a:latin typeface="Segoe UI Emoji" panose="020B0502040204020203" pitchFamily="34" charset="0"/>
                <a:ea typeface="Segoe UI Emoji" panose="020B0502040204020203" pitchFamily="34" charset="0"/>
              </a:rPr>
              <a:t>- loops through a block of code a number of times</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for/in - loops through the properties of an object</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while - loops through a block of code while a specified condition is true</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do/while - also loops through a block of code while a specified condition is true</a:t>
            </a:r>
            <a:endParaRPr lang="en-US" sz="1600" dirty="0" smtClean="0">
              <a:latin typeface="Segoe UI Emoji" panose="020B0502040204020203" pitchFamily="34" charset="0"/>
              <a:ea typeface="Segoe UI Emoji" panose="020B0502040204020203" pitchFamily="34" charset="0"/>
            </a:endParaRPr>
          </a:p>
          <a:p>
            <a:endParaRPr lang="en-US" b="1" dirty="0">
              <a:latin typeface="Segoe UI Emoji" panose="020B0502040204020203" pitchFamily="34" charset="0"/>
              <a:ea typeface="Segoe UI Emoji" panose="020B0502040204020203" pitchFamily="34" charset="0"/>
            </a:endParaRPr>
          </a:p>
        </p:txBody>
      </p:sp>
      <p:pic>
        <p:nvPicPr>
          <p:cNvPr id="4" name="Picture 3"/>
          <p:cNvPicPr>
            <a:picLocks noChangeAspect="1"/>
          </p:cNvPicPr>
          <p:nvPr/>
        </p:nvPicPr>
        <p:blipFill>
          <a:blip r:embed="rId2"/>
          <a:stretch>
            <a:fillRect/>
          </a:stretch>
        </p:blipFill>
        <p:spPr>
          <a:xfrm>
            <a:off x="282052" y="5490601"/>
            <a:ext cx="3805801" cy="8875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p:cNvPicPr>
            <a:picLocks noChangeAspect="1"/>
          </p:cNvPicPr>
          <p:nvPr/>
        </p:nvPicPr>
        <p:blipFill>
          <a:blip r:embed="rId3"/>
          <a:stretch>
            <a:fillRect/>
          </a:stretch>
        </p:blipFill>
        <p:spPr>
          <a:xfrm>
            <a:off x="282052" y="3274001"/>
            <a:ext cx="5069390" cy="9678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p:cNvPicPr>
            <a:picLocks noChangeAspect="1"/>
          </p:cNvPicPr>
          <p:nvPr/>
        </p:nvPicPr>
        <p:blipFill>
          <a:blip r:embed="rId4"/>
          <a:stretch>
            <a:fillRect/>
          </a:stretch>
        </p:blipFill>
        <p:spPr>
          <a:xfrm>
            <a:off x="282052" y="4423796"/>
            <a:ext cx="3918166" cy="7760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5"/>
          <a:stretch>
            <a:fillRect/>
          </a:stretch>
        </p:blipFill>
        <p:spPr>
          <a:xfrm>
            <a:off x="4465819" y="4480676"/>
            <a:ext cx="4513301" cy="16597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188491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Control </a:t>
            </a:r>
            <a:r>
              <a:rPr lang="en-IN" sz="3600" spc="-1" dirty="0" smtClean="0">
                <a:solidFill>
                  <a:srgbClr val="FFFFFF"/>
                </a:solidFill>
                <a:uFill>
                  <a:solidFill>
                    <a:srgbClr val="FFFFFF"/>
                  </a:solidFill>
                </a:uFill>
                <a:latin typeface="Calibri"/>
              </a:rPr>
              <a:t>Statements: switch</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23</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7" y="1416402"/>
            <a:ext cx="4405925"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Switch</a:t>
            </a:r>
          </a:p>
          <a:p>
            <a:pPr marL="285750"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The switch statement is used to perform different actions based on different </a:t>
            </a:r>
            <a:r>
              <a:rPr lang="en-US" sz="1600" dirty="0" smtClean="0">
                <a:latin typeface="Segoe UI Emoji" panose="020B0502040204020203" pitchFamily="34" charset="0"/>
                <a:ea typeface="Segoe UI Emoji" panose="020B0502040204020203" pitchFamily="34" charset="0"/>
              </a:rPr>
              <a:t>conditions and switch </a:t>
            </a:r>
            <a:r>
              <a:rPr lang="en-US" sz="1600" dirty="0">
                <a:latin typeface="Segoe UI Emoji" panose="020B0502040204020203" pitchFamily="34" charset="0"/>
                <a:ea typeface="Segoe UI Emoji" panose="020B0502040204020203" pitchFamily="34" charset="0"/>
              </a:rPr>
              <a:t>statement </a:t>
            </a:r>
            <a:r>
              <a:rPr lang="en-US" sz="1600" dirty="0" smtClean="0">
                <a:latin typeface="Segoe UI Emoji" panose="020B0502040204020203" pitchFamily="34" charset="0"/>
                <a:ea typeface="Segoe UI Emoji" panose="020B0502040204020203" pitchFamily="34" charset="0"/>
              </a:rPr>
              <a:t>is used to </a:t>
            </a:r>
            <a:r>
              <a:rPr lang="en-US" sz="1600" dirty="0">
                <a:latin typeface="Segoe UI Emoji" panose="020B0502040204020203" pitchFamily="34" charset="0"/>
                <a:ea typeface="Segoe UI Emoji" panose="020B0502040204020203" pitchFamily="34" charset="0"/>
              </a:rPr>
              <a:t>select one of many code blocks to be executed.</a:t>
            </a:r>
          </a:p>
          <a:p>
            <a:pPr marL="285750" indent="-285750">
              <a:buFont typeface="Arial" panose="020B0604020202020204" pitchFamily="34" charset="0"/>
              <a:buChar char="•"/>
            </a:pPr>
            <a:r>
              <a:rPr lang="en-US" sz="1600" dirty="0" smtClean="0">
                <a:latin typeface="Segoe UI Emoji" panose="020B0502040204020203" pitchFamily="34" charset="0"/>
                <a:ea typeface="Segoe UI Emoji" panose="020B0502040204020203" pitchFamily="34" charset="0"/>
              </a:rPr>
              <a:t>This </a:t>
            </a:r>
            <a:r>
              <a:rPr lang="en-US" sz="1600" dirty="0">
                <a:latin typeface="Segoe UI Emoji" panose="020B0502040204020203" pitchFamily="34" charset="0"/>
                <a:ea typeface="Segoe UI Emoji" panose="020B0502040204020203" pitchFamily="34" charset="0"/>
              </a:rPr>
              <a:t>is how it works:</a:t>
            </a:r>
          </a:p>
          <a:p>
            <a:pPr marL="742950" lvl="1" indent="-285750">
              <a:buFont typeface="Arial" panose="020B0604020202020204" pitchFamily="34" charset="0"/>
              <a:buChar char="•"/>
            </a:pPr>
            <a:r>
              <a:rPr lang="en-US" sz="1600" dirty="0" smtClean="0">
                <a:latin typeface="Segoe UI Emoji" panose="020B0502040204020203" pitchFamily="34" charset="0"/>
                <a:ea typeface="Segoe UI Emoji" panose="020B0502040204020203" pitchFamily="34" charset="0"/>
              </a:rPr>
              <a:t>The </a:t>
            </a:r>
            <a:r>
              <a:rPr lang="en-US" sz="1600" dirty="0">
                <a:latin typeface="Segoe UI Emoji" panose="020B0502040204020203" pitchFamily="34" charset="0"/>
                <a:ea typeface="Segoe UI Emoji" panose="020B0502040204020203" pitchFamily="34" charset="0"/>
              </a:rPr>
              <a:t>switch expression is evaluated once.</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The value of the expression is compared with the values of each case.</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If there is a match, the </a:t>
            </a:r>
            <a:r>
              <a:rPr lang="en-US" sz="1600" dirty="0" smtClean="0">
                <a:latin typeface="Segoe UI Emoji" panose="020B0502040204020203" pitchFamily="34" charset="0"/>
                <a:ea typeface="Segoe UI Emoji" panose="020B0502040204020203" pitchFamily="34" charset="0"/>
              </a:rPr>
              <a:t>associated</a:t>
            </a:r>
          </a:p>
          <a:p>
            <a:pPr marL="742950" lvl="1"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block of code is executed.</a:t>
            </a:r>
          </a:p>
          <a:p>
            <a:pPr marL="742950" lvl="1" indent="-285750">
              <a:buFont typeface="Arial" panose="020B0604020202020204" pitchFamily="34" charset="0"/>
              <a:buChar char="•"/>
            </a:pPr>
            <a:endParaRPr lang="en-US" sz="1600" dirty="0">
              <a:latin typeface="Segoe UI Emoji" panose="020B0502040204020203" pitchFamily="34" charset="0"/>
              <a:ea typeface="Segoe UI Emoji" panose="020B0502040204020203" pitchFamily="34" charset="0"/>
            </a:endParaRPr>
          </a:p>
        </p:txBody>
      </p:sp>
      <p:pic>
        <p:nvPicPr>
          <p:cNvPr id="2" name="Picture 1"/>
          <p:cNvPicPr>
            <a:picLocks noChangeAspect="1"/>
          </p:cNvPicPr>
          <p:nvPr/>
        </p:nvPicPr>
        <p:blipFill>
          <a:blip r:embed="rId2"/>
          <a:stretch>
            <a:fillRect/>
          </a:stretch>
        </p:blipFill>
        <p:spPr>
          <a:xfrm>
            <a:off x="4313964" y="1627535"/>
            <a:ext cx="1986440" cy="23442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3"/>
          <a:stretch>
            <a:fillRect/>
          </a:stretch>
        </p:blipFill>
        <p:spPr>
          <a:xfrm>
            <a:off x="6551326" y="1484640"/>
            <a:ext cx="2401485" cy="45280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p:cNvSpPr/>
          <p:nvPr/>
        </p:nvSpPr>
        <p:spPr>
          <a:xfrm>
            <a:off x="15507" y="4990258"/>
            <a:ext cx="6337430" cy="1569660"/>
          </a:xfrm>
          <a:prstGeom prst="rect">
            <a:avLst/>
          </a:prstGeom>
        </p:spPr>
        <p:txBody>
          <a:bodyPr wrap="square">
            <a:spAutoFit/>
          </a:bodyPr>
          <a:lstStyle/>
          <a:p>
            <a:pPr marL="285750" indent="-285750">
              <a:buFont typeface="Arial" panose="020B0604020202020204" pitchFamily="34" charset="0"/>
              <a:buChar char="•"/>
            </a:pPr>
            <a:r>
              <a:rPr lang="en-US" sz="1600" dirty="0" smtClean="0">
                <a:latin typeface="Segoe UI Emoji" panose="020B0502040204020203" pitchFamily="34" charset="0"/>
                <a:ea typeface="Segoe UI Emoji" panose="020B0502040204020203" pitchFamily="34" charset="0"/>
              </a:rPr>
              <a:t>When </a:t>
            </a:r>
            <a:r>
              <a:rPr lang="en-US" sz="1600" dirty="0">
                <a:latin typeface="Segoe UI Emoji" panose="020B0502040204020203" pitchFamily="34" charset="0"/>
                <a:ea typeface="Segoe UI Emoji" panose="020B0502040204020203" pitchFamily="34" charset="0"/>
              </a:rPr>
              <a:t>JavaScript reaches a break keyword, it breaks out of the switch block. This will stop the execution of inside the block.</a:t>
            </a:r>
          </a:p>
          <a:p>
            <a:pPr marL="285750"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It is not necessary to break the last case in a switch block. The block breaks (ends) there anyway.</a:t>
            </a:r>
          </a:p>
          <a:p>
            <a:pPr marL="285750" indent="-285750">
              <a:buFont typeface="Arial" panose="020B0604020202020204" pitchFamily="34" charset="0"/>
              <a:buChar char="•"/>
            </a:pPr>
            <a:r>
              <a:rPr lang="en-US" sz="1600" dirty="0">
                <a:latin typeface="Segoe UI Emoji" panose="020B0502040204020203" pitchFamily="34" charset="0"/>
                <a:ea typeface="Segoe UI Emoji" panose="020B0502040204020203" pitchFamily="34" charset="0"/>
              </a:rPr>
              <a:t>The default keyword specifies the code to run if there is no case match.</a:t>
            </a:r>
          </a:p>
        </p:txBody>
      </p:sp>
    </p:spTree>
    <p:extLst>
      <p:ext uri="{BB962C8B-B14F-4D97-AF65-F5344CB8AC3E}">
        <p14:creationId xmlns:p14="http://schemas.microsoft.com/office/powerpoint/2010/main" xmlns="" val="73099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Object </a:t>
            </a:r>
            <a:r>
              <a:rPr lang="en-IN" sz="3600" spc="-1" dirty="0" smtClean="0">
                <a:solidFill>
                  <a:srgbClr val="FFFFFF"/>
                </a:solidFill>
                <a:uFill>
                  <a:solidFill>
                    <a:srgbClr val="FFFFFF"/>
                  </a:solidFill>
                </a:uFill>
                <a:latin typeface="Calibri"/>
              </a:rPr>
              <a:t>Creation &amp; Modification</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24</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Java Script Object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values are written as </a:t>
            </a:r>
            <a:r>
              <a:rPr lang="en-US" b="1" dirty="0" smtClean="0">
                <a:latin typeface="Segoe UI Emoji" panose="020B0502040204020203" pitchFamily="34" charset="0"/>
                <a:ea typeface="Segoe UI Emoji" panose="020B0502040204020203" pitchFamily="34" charset="0"/>
              </a:rPr>
              <a:t>name : value</a:t>
            </a:r>
            <a:r>
              <a:rPr lang="en-US" dirty="0">
                <a:latin typeface="Segoe UI Emoji" panose="020B0502040204020203" pitchFamily="34" charset="0"/>
                <a:ea typeface="Segoe UI Emoji" panose="020B0502040204020203" pitchFamily="34" charset="0"/>
              </a:rPr>
              <a:t> pairs (name and value separated by a colon</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JavaScript </a:t>
            </a:r>
            <a:r>
              <a:rPr lang="en-US" dirty="0">
                <a:latin typeface="Segoe UI Emoji" panose="020B0502040204020203" pitchFamily="34" charset="0"/>
                <a:ea typeface="Segoe UI Emoji" panose="020B0502040204020203" pitchFamily="34" charset="0"/>
              </a:rPr>
              <a:t>objects are containers for </a:t>
            </a:r>
            <a:r>
              <a:rPr lang="en-US" b="1" dirty="0">
                <a:latin typeface="Segoe UI Emoji" panose="020B0502040204020203" pitchFamily="34" charset="0"/>
                <a:ea typeface="Segoe UI Emoji" panose="020B0502040204020203" pitchFamily="34" charset="0"/>
              </a:rPr>
              <a:t>named values </a:t>
            </a:r>
            <a:r>
              <a:rPr lang="en-US" dirty="0">
                <a:latin typeface="Segoe UI Emoji" panose="020B0502040204020203" pitchFamily="34" charset="0"/>
                <a:ea typeface="Segoe UI Emoji" panose="020B0502040204020203" pitchFamily="34" charset="0"/>
              </a:rPr>
              <a:t>called properties or methods</a:t>
            </a:r>
            <a:r>
              <a:rPr lang="en-US" dirty="0" smtClean="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r>
              <a:rPr lang="en-US" b="1" dirty="0" smtClean="0">
                <a:latin typeface="Segoe UI Emoji" panose="020B0502040204020203" pitchFamily="34" charset="0"/>
                <a:ea typeface="Segoe UI Emoji" panose="020B0502040204020203" pitchFamily="34" charset="0"/>
              </a:rPr>
              <a:t>Object </a:t>
            </a:r>
            <a:r>
              <a:rPr lang="en-US" b="1" dirty="0">
                <a:latin typeface="Segoe UI Emoji" panose="020B0502040204020203" pitchFamily="34" charset="0"/>
                <a:ea typeface="Segoe UI Emoji" panose="020B0502040204020203" pitchFamily="34" charset="0"/>
              </a:rPr>
              <a:t>Definition</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You define (and create) a JavaScript object with an object </a:t>
            </a:r>
            <a:r>
              <a:rPr lang="en-US" dirty="0" smtClean="0">
                <a:latin typeface="Segoe UI Emoji" panose="020B0502040204020203" pitchFamily="34" charset="0"/>
                <a:ea typeface="Segoe UI Emoji" panose="020B0502040204020203" pitchFamily="34" charset="0"/>
              </a:rPr>
              <a:t>literal.</a:t>
            </a: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r>
              <a:rPr lang="en-US" dirty="0"/>
              <a:t/>
            </a:r>
            <a:br>
              <a:rPr lang="en-US" dirty="0"/>
            </a:b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r>
              <a:rPr lang="en-US" dirty="0"/>
              <a:t/>
            </a:r>
            <a:br>
              <a:rPr lang="en-US" dirty="0"/>
            </a:br>
            <a:endParaRPr lang="en-US" b="1" dirty="0" smtClean="0">
              <a:latin typeface="Segoe UI Emoji" panose="020B0502040204020203" pitchFamily="34" charset="0"/>
              <a:ea typeface="Segoe UI Emoji" panose="020B0502040204020203" pitchFamily="34" charset="0"/>
            </a:endParaRPr>
          </a:p>
        </p:txBody>
      </p:sp>
      <p:pic>
        <p:nvPicPr>
          <p:cNvPr id="4" name="Picture 3"/>
          <p:cNvPicPr>
            <a:picLocks noChangeAspect="1"/>
          </p:cNvPicPr>
          <p:nvPr/>
        </p:nvPicPr>
        <p:blipFill>
          <a:blip r:embed="rId2"/>
          <a:stretch>
            <a:fillRect/>
          </a:stretch>
        </p:blipFill>
        <p:spPr>
          <a:xfrm>
            <a:off x="1059743" y="2386491"/>
            <a:ext cx="4577962" cy="3141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stretch>
            <a:fillRect/>
          </a:stretch>
        </p:blipFill>
        <p:spPr>
          <a:xfrm>
            <a:off x="592674" y="3795477"/>
            <a:ext cx="6952770" cy="3056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4"/>
          <a:stretch>
            <a:fillRect/>
          </a:stretch>
        </p:blipFill>
        <p:spPr>
          <a:xfrm>
            <a:off x="5959834" y="4568159"/>
            <a:ext cx="2249246" cy="17485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Rectangle 1"/>
          <p:cNvSpPr/>
          <p:nvPr/>
        </p:nvSpPr>
        <p:spPr>
          <a:xfrm>
            <a:off x="56225" y="4464411"/>
            <a:ext cx="5693312" cy="646331"/>
          </a:xfrm>
          <a:prstGeom prst="rect">
            <a:avLst/>
          </a:prstGeom>
        </p:spPr>
        <p:txBody>
          <a:bodyPr wrap="square">
            <a:spAutoFit/>
          </a:bodyPr>
          <a:lstStyle/>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Spaces and line breaks are not important. An object definition can span multiple lines:</a:t>
            </a:r>
          </a:p>
        </p:txBody>
      </p:sp>
    </p:spTree>
    <p:extLst>
      <p:ext uri="{BB962C8B-B14F-4D97-AF65-F5344CB8AC3E}">
        <p14:creationId xmlns:p14="http://schemas.microsoft.com/office/powerpoint/2010/main" xmlns="" val="280376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Object Creation &amp; Modification</a:t>
            </a:r>
            <a:endParaRPr lang="en-IN"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25</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Object Properties</a:t>
            </a:r>
          </a:p>
          <a:p>
            <a:r>
              <a:rPr lang="en-US" dirty="0" smtClean="0">
                <a:latin typeface="Segoe UI Emoji" panose="020B0502040204020203" pitchFamily="34" charset="0"/>
                <a:ea typeface="Segoe UI Emoji" panose="020B0502040204020203" pitchFamily="34" charset="0"/>
              </a:rPr>
              <a:t>The</a:t>
            </a:r>
            <a:r>
              <a:rPr lang="en-US" dirty="0">
                <a:latin typeface="Segoe UI Emoji" panose="020B0502040204020203" pitchFamily="34" charset="0"/>
                <a:ea typeface="Segoe UI Emoji" panose="020B0502040204020203" pitchFamily="34" charset="0"/>
              </a:rPr>
              <a:t> </a:t>
            </a:r>
            <a:r>
              <a:rPr lang="en-US" b="1" dirty="0" err="1">
                <a:latin typeface="Segoe UI Emoji" panose="020B0502040204020203" pitchFamily="34" charset="0"/>
                <a:ea typeface="Segoe UI Emoji" panose="020B0502040204020203" pitchFamily="34" charset="0"/>
              </a:rPr>
              <a:t>name:values</a:t>
            </a:r>
            <a:r>
              <a:rPr lang="en-US" dirty="0">
                <a:latin typeface="Segoe UI Emoji" panose="020B0502040204020203" pitchFamily="34" charset="0"/>
                <a:ea typeface="Segoe UI Emoji" panose="020B0502040204020203" pitchFamily="34" charset="0"/>
              </a:rPr>
              <a:t> pairs in JavaScript objects are called </a:t>
            </a:r>
            <a:r>
              <a:rPr lang="en-US" b="1" dirty="0">
                <a:latin typeface="Segoe UI Emoji" panose="020B0502040204020203" pitchFamily="34" charset="0"/>
                <a:ea typeface="Segoe UI Emoji" panose="020B0502040204020203" pitchFamily="34" charset="0"/>
              </a:rPr>
              <a:t>properties</a:t>
            </a:r>
            <a:r>
              <a:rPr lang="en-US" dirty="0" smtClean="0">
                <a:latin typeface="Segoe UI Emoji" panose="020B0502040204020203" pitchFamily="34" charset="0"/>
                <a:ea typeface="Segoe UI Emoji" panose="020B0502040204020203" pitchFamily="34" charset="0"/>
              </a:rPr>
              <a:t>:</a:t>
            </a:r>
          </a:p>
          <a:p>
            <a:endParaRPr lang="en-US" dirty="0">
              <a:latin typeface="Segoe UI Emoji" panose="020B0502040204020203" pitchFamily="34" charset="0"/>
              <a:ea typeface="Segoe UI Emoji" panose="020B0502040204020203" pitchFamily="34" charset="0"/>
            </a:endParaRPr>
          </a:p>
          <a:p>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endParaRPr lang="en-US" dirty="0" smtClean="0">
              <a:latin typeface="Segoe UI Emoji" panose="020B0502040204020203" pitchFamily="34" charset="0"/>
              <a:ea typeface="Segoe UI Emoji" panose="020B0502040204020203" pitchFamily="34" charset="0"/>
            </a:endParaRPr>
          </a:p>
          <a:p>
            <a:endParaRPr lang="en-US" dirty="0">
              <a:latin typeface="Segoe UI Emoji" panose="020B0502040204020203" pitchFamily="34" charset="0"/>
              <a:ea typeface="Segoe UI Emoji" panose="020B0502040204020203" pitchFamily="34" charset="0"/>
            </a:endParaRPr>
          </a:p>
          <a:p>
            <a:r>
              <a:rPr lang="en-US" b="1" dirty="0">
                <a:latin typeface="Segoe UI Emoji" panose="020B0502040204020203" pitchFamily="34" charset="0"/>
                <a:ea typeface="Segoe UI Emoji" panose="020B0502040204020203" pitchFamily="34" charset="0"/>
              </a:rPr>
              <a:t>Accessing Object </a:t>
            </a:r>
            <a:r>
              <a:rPr lang="en-US" b="1" dirty="0" smtClean="0">
                <a:latin typeface="Segoe UI Emoji" panose="020B0502040204020203" pitchFamily="34" charset="0"/>
                <a:ea typeface="Segoe UI Emoji" panose="020B0502040204020203" pitchFamily="34" charset="0"/>
              </a:rPr>
              <a:t>Properties: </a:t>
            </a:r>
            <a:r>
              <a:rPr lang="en-US" dirty="0" smtClean="0">
                <a:latin typeface="Segoe UI Emoji" panose="020B0502040204020203" pitchFamily="34" charset="0"/>
                <a:ea typeface="Segoe UI Emoji" panose="020B0502040204020203" pitchFamily="34" charset="0"/>
              </a:rPr>
              <a:t>You </a:t>
            </a:r>
            <a:r>
              <a:rPr lang="en-US" dirty="0">
                <a:latin typeface="Segoe UI Emoji" panose="020B0502040204020203" pitchFamily="34" charset="0"/>
                <a:ea typeface="Segoe UI Emoji" panose="020B0502040204020203" pitchFamily="34" charset="0"/>
              </a:rPr>
              <a:t>can access object properties in two ways:</a:t>
            </a: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dirty="0">
              <a:latin typeface="Segoe UI Emoji" panose="020B0502040204020203" pitchFamily="34" charset="0"/>
              <a:ea typeface="Segoe UI Emoji" panose="020B0502040204020203" pitchFamily="34" charset="0"/>
            </a:endParaRP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b="1" dirty="0" smtClean="0">
              <a:latin typeface="Segoe UI Emoji" panose="020B0502040204020203" pitchFamily="34" charset="0"/>
              <a:ea typeface="Segoe UI Emoji" panose="020B0502040204020203" pitchFamily="34" charset="0"/>
            </a:endParaRP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endParaRPr lang="en-US" dirty="0">
              <a:latin typeface="Segoe UI Emoji" panose="020B0502040204020203" pitchFamily="34" charset="0"/>
              <a:ea typeface="Segoe UI Emoji" panose="020B0502040204020203" pitchFamily="34" charset="0"/>
            </a:endParaRPr>
          </a:p>
          <a:p>
            <a:r>
              <a:rPr lang="en-US" dirty="0">
                <a:latin typeface="Segoe UI Emoji" panose="020B0502040204020203" pitchFamily="34" charset="0"/>
                <a:ea typeface="Segoe UI Emoji" panose="020B0502040204020203" pitchFamily="34" charset="0"/>
              </a:rPr>
              <a:t/>
            </a:r>
            <a:br>
              <a:rPr lang="en-US" dirty="0">
                <a:latin typeface="Segoe UI Emoji" panose="020B0502040204020203" pitchFamily="34" charset="0"/>
                <a:ea typeface="Segoe UI Emoji" panose="020B0502040204020203" pitchFamily="34" charset="0"/>
              </a:rPr>
            </a:br>
            <a:endParaRPr lang="en-US" b="1" dirty="0" smtClean="0">
              <a:latin typeface="Segoe UI Emoji" panose="020B0502040204020203" pitchFamily="34" charset="0"/>
              <a:ea typeface="Segoe UI Emoji" panose="020B0502040204020203" pitchFamily="34" charset="0"/>
            </a:endParaRPr>
          </a:p>
        </p:txBody>
      </p:sp>
      <p:graphicFrame>
        <p:nvGraphicFramePr>
          <p:cNvPr id="8" name="Table 7"/>
          <p:cNvGraphicFramePr>
            <a:graphicFrameLocks noGrp="1"/>
          </p:cNvGraphicFramePr>
          <p:nvPr>
            <p:extLst/>
          </p:nvPr>
        </p:nvGraphicFramePr>
        <p:xfrm>
          <a:off x="2962880" y="2162089"/>
          <a:ext cx="2836799" cy="2153920"/>
        </p:xfrm>
        <a:graphic>
          <a:graphicData uri="http://schemas.openxmlformats.org/drawingml/2006/table">
            <a:tbl>
              <a:tblPr/>
              <a:tblGrid>
                <a:gridCol w="1200150"/>
                <a:gridCol w="1636649"/>
              </a:tblGrid>
              <a:tr h="0">
                <a:tc>
                  <a:txBody>
                    <a:bodyPr/>
                    <a:lstStyle/>
                    <a:p>
                      <a:pPr algn="l" fontAlgn="t"/>
                      <a:r>
                        <a:rPr lang="en-US" b="1" dirty="0">
                          <a:effectLst/>
                          <a:latin typeface="Segoe UI Emoji" panose="020B0502040204020203" pitchFamily="34" charset="0"/>
                          <a:ea typeface="Segoe UI Emoji" panose="020B0502040204020203" pitchFamily="34" charset="0"/>
                        </a:rPr>
                        <a:t>Property</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b="1" dirty="0">
                          <a:effectLst/>
                          <a:latin typeface="Segoe UI Emoji" panose="020B0502040204020203" pitchFamily="34" charset="0"/>
                          <a:ea typeface="Segoe UI Emoji" panose="020B0502040204020203" pitchFamily="34" charset="0"/>
                        </a:rPr>
                        <a:t>Property Value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US" dirty="0" err="1">
                          <a:effectLst/>
                          <a:latin typeface="Segoe UI Emoji" panose="020B0502040204020203" pitchFamily="34" charset="0"/>
                          <a:ea typeface="Segoe UI Emoji" panose="020B0502040204020203" pitchFamily="34" charset="0"/>
                        </a:rPr>
                        <a:t>firstName</a:t>
                      </a:r>
                      <a:endParaRPr lang="en-US" dirty="0">
                        <a:effectLst/>
                        <a:latin typeface="Segoe UI Emoji" panose="020B0502040204020203" pitchFamily="34" charset="0"/>
                        <a:ea typeface="Segoe UI Emoji" panose="020B0502040204020203" pitchFamily="34" charset="0"/>
                      </a:endParaRP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dirty="0">
                          <a:effectLst/>
                          <a:latin typeface="Segoe UI Emoji" panose="020B0502040204020203" pitchFamily="34" charset="0"/>
                          <a:ea typeface="Segoe UI Emoji" panose="020B0502040204020203" pitchFamily="34" charset="0"/>
                        </a:rPr>
                        <a:t>John</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0">
                <a:tc>
                  <a:txBody>
                    <a:bodyPr/>
                    <a:lstStyle/>
                    <a:p>
                      <a:pPr algn="l" fontAlgn="t"/>
                      <a:r>
                        <a:rPr lang="en-US">
                          <a:effectLst/>
                          <a:latin typeface="Segoe UI Emoji" panose="020B0502040204020203" pitchFamily="34" charset="0"/>
                          <a:ea typeface="Segoe UI Emoji" panose="020B0502040204020203" pitchFamily="34" charset="0"/>
                        </a:rPr>
                        <a:t>lastName</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dirty="0">
                          <a:effectLst/>
                          <a:latin typeface="Segoe UI Emoji" panose="020B0502040204020203" pitchFamily="34" charset="0"/>
                          <a:ea typeface="Segoe UI Emoji" panose="020B0502040204020203" pitchFamily="34" charset="0"/>
                        </a:rPr>
                        <a:t>Doe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US">
                          <a:effectLst/>
                          <a:latin typeface="Segoe UI Emoji" panose="020B0502040204020203" pitchFamily="34" charset="0"/>
                          <a:ea typeface="Segoe UI Emoji" panose="020B0502040204020203" pitchFamily="34" charset="0"/>
                        </a:rPr>
                        <a:t>age</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a:effectLst/>
                          <a:latin typeface="Segoe UI Emoji" panose="020B0502040204020203" pitchFamily="34" charset="0"/>
                          <a:ea typeface="Segoe UI Emoji" panose="020B0502040204020203" pitchFamily="34" charset="0"/>
                        </a:rPr>
                        <a:t>50</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1F1F1"/>
                    </a:solidFill>
                  </a:tcPr>
                </a:tc>
              </a:tr>
              <a:tr h="0">
                <a:tc>
                  <a:txBody>
                    <a:bodyPr/>
                    <a:lstStyle/>
                    <a:p>
                      <a:pPr algn="l" fontAlgn="t"/>
                      <a:r>
                        <a:rPr lang="en-US">
                          <a:effectLst/>
                          <a:latin typeface="Segoe UI Emoji" panose="020B0502040204020203" pitchFamily="34" charset="0"/>
                          <a:ea typeface="Segoe UI Emoji" panose="020B0502040204020203" pitchFamily="34" charset="0"/>
                        </a:rPr>
                        <a:t>eyeColor</a:t>
                      </a:r>
                    </a:p>
                  </a:txBody>
                  <a:tcPr marL="1016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dirty="0">
                          <a:effectLst/>
                          <a:latin typeface="Segoe UI Emoji" panose="020B0502040204020203" pitchFamily="34" charset="0"/>
                          <a:ea typeface="Segoe UI Emoji" panose="020B0502040204020203" pitchFamily="34" charset="0"/>
                        </a:rPr>
                        <a:t>blue</a:t>
                      </a:r>
                    </a:p>
                  </a:txBody>
                  <a:tcPr marL="50800" marR="508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pic>
        <p:nvPicPr>
          <p:cNvPr id="9" name="Picture 8"/>
          <p:cNvPicPr>
            <a:picLocks noChangeAspect="1"/>
          </p:cNvPicPr>
          <p:nvPr/>
        </p:nvPicPr>
        <p:blipFill>
          <a:blip r:embed="rId2"/>
          <a:stretch>
            <a:fillRect/>
          </a:stretch>
        </p:blipFill>
        <p:spPr>
          <a:xfrm>
            <a:off x="743361" y="5026030"/>
            <a:ext cx="2462898" cy="4219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p:cNvPicPr>
            <a:picLocks noChangeAspect="1"/>
          </p:cNvPicPr>
          <p:nvPr/>
        </p:nvPicPr>
        <p:blipFill>
          <a:blip r:embed="rId3"/>
          <a:stretch>
            <a:fillRect/>
          </a:stretch>
        </p:blipFill>
        <p:spPr>
          <a:xfrm>
            <a:off x="4924750" y="4999922"/>
            <a:ext cx="2990233" cy="360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p:cNvPicPr>
            <a:picLocks noChangeAspect="1"/>
          </p:cNvPicPr>
          <p:nvPr/>
        </p:nvPicPr>
        <p:blipFill>
          <a:blip r:embed="rId4"/>
          <a:stretch>
            <a:fillRect/>
          </a:stretch>
        </p:blipFill>
        <p:spPr>
          <a:xfrm>
            <a:off x="993341" y="5653942"/>
            <a:ext cx="1716246" cy="3432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p:cNvPicPr>
            <a:picLocks noChangeAspect="1"/>
          </p:cNvPicPr>
          <p:nvPr/>
        </p:nvPicPr>
        <p:blipFill>
          <a:blip r:embed="rId5"/>
          <a:stretch>
            <a:fillRect/>
          </a:stretch>
        </p:blipFill>
        <p:spPr>
          <a:xfrm>
            <a:off x="5476287" y="5684524"/>
            <a:ext cx="1876002" cy="3126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164169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Object Creation &amp; Modification</a:t>
            </a:r>
            <a:endParaRPr lang="en-IN" spc="-1" dirty="0">
              <a:solidFill>
                <a:srgbClr val="000000"/>
              </a:solidFill>
              <a:uFill>
                <a:solidFill>
                  <a:srgbClr val="FFFFFF"/>
                </a:solidFill>
              </a:uFil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26</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4003907"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Object Methods</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Objects </a:t>
            </a:r>
            <a:r>
              <a:rPr lang="en-US" dirty="0">
                <a:latin typeface="Segoe UI Emoji" panose="020B0502040204020203" pitchFamily="34" charset="0"/>
                <a:ea typeface="Segoe UI Emoji" panose="020B0502040204020203" pitchFamily="34" charset="0"/>
              </a:rPr>
              <a:t>can also have </a:t>
            </a:r>
            <a:r>
              <a:rPr lang="en-US" b="1" dirty="0">
                <a:latin typeface="Segoe UI Emoji" panose="020B0502040204020203" pitchFamily="34" charset="0"/>
                <a:ea typeface="Segoe UI Emoji" panose="020B0502040204020203" pitchFamily="34" charset="0"/>
              </a:rPr>
              <a:t>methods</a:t>
            </a:r>
            <a:r>
              <a:rPr lang="en-US" dirty="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Methods are </a:t>
            </a:r>
            <a:r>
              <a:rPr lang="en-US" b="1" dirty="0">
                <a:latin typeface="Segoe UI Emoji" panose="020B0502040204020203" pitchFamily="34" charset="0"/>
                <a:ea typeface="Segoe UI Emoji" panose="020B0502040204020203" pitchFamily="34" charset="0"/>
              </a:rPr>
              <a:t>actions</a:t>
            </a:r>
            <a:r>
              <a:rPr lang="en-US" dirty="0">
                <a:latin typeface="Segoe UI Emoji" panose="020B0502040204020203" pitchFamily="34" charset="0"/>
                <a:ea typeface="Segoe UI Emoji" panose="020B0502040204020203" pitchFamily="34" charset="0"/>
              </a:rPr>
              <a:t> that can be performed on objects.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Methods are stored in properties as </a:t>
            </a:r>
            <a:r>
              <a:rPr lang="en-US" b="1" dirty="0">
                <a:latin typeface="Segoe UI Emoji" panose="020B0502040204020203" pitchFamily="34" charset="0"/>
                <a:ea typeface="Segoe UI Emoji" panose="020B0502040204020203" pitchFamily="34" charset="0"/>
              </a:rPr>
              <a:t>function definitions</a:t>
            </a:r>
            <a:r>
              <a:rPr lang="en-US" dirty="0" smtClean="0">
                <a:latin typeface="Segoe UI Emoji" panose="020B0502040204020203" pitchFamily="34" charset="0"/>
                <a:ea typeface="Segoe UI Emoji" panose="020B0502040204020203" pitchFamily="34" charset="0"/>
              </a:rPr>
              <a:t>.</a:t>
            </a:r>
          </a:p>
          <a:p>
            <a:endParaRPr lang="en-US" dirty="0" smtClean="0"/>
          </a:p>
          <a:p>
            <a:endParaRPr lang="en-US" dirty="0"/>
          </a:p>
          <a:p>
            <a:endParaRPr lang="en-US" dirty="0" smtClean="0"/>
          </a:p>
          <a:p>
            <a:r>
              <a:rPr lang="en-US" b="1" dirty="0" smtClean="0">
                <a:latin typeface="Segoe UI Emoji" panose="020B0502040204020203" pitchFamily="34" charset="0"/>
                <a:ea typeface="Segoe UI Emoji" panose="020B0502040204020203" pitchFamily="34" charset="0"/>
              </a:rPr>
              <a:t>Accessing </a:t>
            </a:r>
            <a:r>
              <a:rPr lang="en-US" b="1" dirty="0">
                <a:latin typeface="Segoe UI Emoji" panose="020B0502040204020203" pitchFamily="34" charset="0"/>
                <a:ea typeface="Segoe UI Emoji" panose="020B0502040204020203" pitchFamily="34" charset="0"/>
              </a:rPr>
              <a:t>Object </a:t>
            </a:r>
            <a:r>
              <a:rPr lang="en-US" b="1" dirty="0" smtClean="0">
                <a:latin typeface="Segoe UI Emoji" panose="020B0502040204020203" pitchFamily="34" charset="0"/>
                <a:ea typeface="Segoe UI Emoji" panose="020B0502040204020203" pitchFamily="34" charset="0"/>
              </a:rPr>
              <a:t>Methods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You access an object method with the following syntax:</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a:t>
            </a:r>
            <a:r>
              <a:rPr lang="en-US" dirty="0">
                <a:latin typeface="Segoe UI Emoji" panose="020B0502040204020203" pitchFamily="34" charset="0"/>
                <a:ea typeface="Segoe UI Emoji" panose="020B0502040204020203" pitchFamily="34" charset="0"/>
              </a:rPr>
              <a:t>you access a method </a:t>
            </a:r>
            <a:r>
              <a:rPr lang="en-US" b="1" dirty="0">
                <a:latin typeface="Segoe UI Emoji" panose="020B0502040204020203" pitchFamily="34" charset="0"/>
                <a:ea typeface="Segoe UI Emoji" panose="020B0502040204020203" pitchFamily="34" charset="0"/>
              </a:rPr>
              <a:t>without</a:t>
            </a:r>
            <a:r>
              <a:rPr lang="en-US" dirty="0">
                <a:latin typeface="Segoe UI Emoji" panose="020B0502040204020203" pitchFamily="34" charset="0"/>
                <a:ea typeface="Segoe UI Emoji" panose="020B0502040204020203" pitchFamily="34" charset="0"/>
              </a:rPr>
              <a:t> the () parentheses, it will return the </a:t>
            </a:r>
            <a:r>
              <a:rPr lang="en-US" b="1" dirty="0">
                <a:latin typeface="Segoe UI Emoji" panose="020B0502040204020203" pitchFamily="34" charset="0"/>
                <a:ea typeface="Segoe UI Emoji" panose="020B0502040204020203" pitchFamily="34" charset="0"/>
              </a:rPr>
              <a:t>function definition</a:t>
            </a:r>
            <a:r>
              <a:rPr lang="en-US" dirty="0">
                <a:latin typeface="Segoe UI Emoji" panose="020B0502040204020203" pitchFamily="34" charset="0"/>
                <a:ea typeface="Segoe UI Emoji" panose="020B0502040204020203" pitchFamily="34" charset="0"/>
              </a:rPr>
              <a:t>:</a:t>
            </a:r>
          </a:p>
          <a:p>
            <a:r>
              <a:rPr lang="en-US" dirty="0"/>
              <a:t/>
            </a:r>
            <a:br>
              <a:rPr lang="en-US" dirty="0"/>
            </a:br>
            <a:endParaRPr lang="en-US" b="1" dirty="0">
              <a:latin typeface="Segoe UI Emoji" panose="020B0502040204020203" pitchFamily="34" charset="0"/>
              <a:ea typeface="Segoe UI Emoji" panose="020B0502040204020203" pitchFamily="34" charset="0"/>
            </a:endParaRPr>
          </a:p>
          <a:p>
            <a:r>
              <a:rPr lang="en-US" dirty="0"/>
              <a:t/>
            </a:r>
            <a:br>
              <a:rPr lang="en-US" dirty="0"/>
            </a:br>
            <a:endParaRPr lang="en-US" dirty="0"/>
          </a:p>
          <a:p>
            <a:r>
              <a:rPr lang="en-US" dirty="0"/>
              <a:t/>
            </a:r>
            <a:br>
              <a:rPr lang="en-US" dirty="0"/>
            </a:b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r>
              <a:rPr lang="en-US" dirty="0"/>
              <a:t/>
            </a:r>
            <a:br>
              <a:rPr lang="en-US" dirty="0"/>
            </a:br>
            <a:endParaRPr lang="en-US" b="1" dirty="0" smtClean="0">
              <a:latin typeface="Segoe UI Emoji" panose="020B0502040204020203" pitchFamily="34" charset="0"/>
              <a:ea typeface="Segoe UI Emoji" panose="020B0502040204020203" pitchFamily="34" charset="0"/>
            </a:endParaRPr>
          </a:p>
        </p:txBody>
      </p:sp>
      <p:pic>
        <p:nvPicPr>
          <p:cNvPr id="3" name="Picture 2"/>
          <p:cNvPicPr>
            <a:picLocks noChangeAspect="1"/>
          </p:cNvPicPr>
          <p:nvPr/>
        </p:nvPicPr>
        <p:blipFill rotWithShape="1">
          <a:blip r:embed="rId2"/>
          <a:srcRect r="5078"/>
          <a:stretch/>
        </p:blipFill>
        <p:spPr>
          <a:xfrm>
            <a:off x="4488816" y="1592794"/>
            <a:ext cx="4411849" cy="19130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p:cNvPicPr>
            <a:picLocks noChangeAspect="1"/>
          </p:cNvPicPr>
          <p:nvPr/>
        </p:nvPicPr>
        <p:blipFill>
          <a:blip r:embed="rId3"/>
          <a:stretch>
            <a:fillRect/>
          </a:stretch>
        </p:blipFill>
        <p:spPr>
          <a:xfrm>
            <a:off x="5308782" y="3951401"/>
            <a:ext cx="2394545" cy="2720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4"/>
          <a:stretch>
            <a:fillRect/>
          </a:stretch>
        </p:blipFill>
        <p:spPr>
          <a:xfrm>
            <a:off x="5279481" y="4644805"/>
            <a:ext cx="2542257" cy="3167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p:cNvPicPr>
            <a:picLocks noChangeAspect="1"/>
          </p:cNvPicPr>
          <p:nvPr/>
        </p:nvPicPr>
        <p:blipFill>
          <a:blip r:embed="rId5"/>
          <a:stretch>
            <a:fillRect/>
          </a:stretch>
        </p:blipFill>
        <p:spPr>
          <a:xfrm>
            <a:off x="5308782" y="5272871"/>
            <a:ext cx="2394545" cy="2790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xmlns="" val="225832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Functions</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27</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Functions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a:t>
            </a:r>
            <a:r>
              <a:rPr lang="en-US" i="1" dirty="0">
                <a:latin typeface="Segoe UI Emoji" panose="020B0502040204020203" pitchFamily="34" charset="0"/>
                <a:ea typeface="Segoe UI Emoji" panose="020B0502040204020203" pitchFamily="34" charset="0"/>
              </a:rPr>
              <a:t>function definition </a:t>
            </a:r>
            <a:r>
              <a:rPr lang="en-US" dirty="0">
                <a:latin typeface="Segoe UI Emoji" panose="020B0502040204020203" pitchFamily="34" charset="0"/>
                <a:ea typeface="Segoe UI Emoji" panose="020B0502040204020203" pitchFamily="34" charset="0"/>
              </a:rPr>
              <a:t>consists of the function’s header and a compound </a:t>
            </a:r>
            <a:r>
              <a:rPr lang="en-US" dirty="0" smtClean="0">
                <a:latin typeface="Segoe UI Emoji" panose="020B0502040204020203" pitchFamily="34" charset="0"/>
                <a:ea typeface="Segoe UI Emoji" panose="020B0502040204020203" pitchFamily="34" charset="0"/>
              </a:rPr>
              <a:t>statement that </a:t>
            </a:r>
            <a:r>
              <a:rPr lang="en-US" dirty="0">
                <a:latin typeface="Segoe UI Emoji" panose="020B0502040204020203" pitchFamily="34" charset="0"/>
                <a:ea typeface="Segoe UI Emoji" panose="020B0502040204020203" pitchFamily="34" charset="0"/>
              </a:rPr>
              <a:t>describes the actions of the function. This compound statement is called </a:t>
            </a:r>
            <a:r>
              <a:rPr lang="en-US" dirty="0" smtClean="0">
                <a:latin typeface="Segoe UI Emoji" panose="020B0502040204020203" pitchFamily="34" charset="0"/>
                <a:ea typeface="Segoe UI Emoji" panose="020B0502040204020203" pitchFamily="34" charset="0"/>
              </a:rPr>
              <a:t>the </a:t>
            </a:r>
            <a:r>
              <a:rPr lang="en-US" i="1" dirty="0" smtClean="0">
                <a:latin typeface="Segoe UI Emoji" panose="020B0502040204020203" pitchFamily="34" charset="0"/>
                <a:ea typeface="Segoe UI Emoji" panose="020B0502040204020203" pitchFamily="34" charset="0"/>
              </a:rPr>
              <a:t>body </a:t>
            </a:r>
            <a:r>
              <a:rPr lang="en-US" dirty="0">
                <a:latin typeface="Segoe UI Emoji" panose="020B0502040204020203" pitchFamily="34" charset="0"/>
                <a:ea typeface="Segoe UI Emoji" panose="020B0502040204020203" pitchFamily="34" charset="0"/>
              </a:rPr>
              <a:t>of the function.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function </a:t>
            </a:r>
            <a:r>
              <a:rPr lang="en-US" i="1" dirty="0">
                <a:latin typeface="Segoe UI Emoji" panose="020B0502040204020203" pitchFamily="34" charset="0"/>
                <a:ea typeface="Segoe UI Emoji" panose="020B0502040204020203" pitchFamily="34" charset="0"/>
              </a:rPr>
              <a:t>header </a:t>
            </a:r>
            <a:r>
              <a:rPr lang="en-US" dirty="0">
                <a:latin typeface="Segoe UI Emoji" panose="020B0502040204020203" pitchFamily="34" charset="0"/>
                <a:ea typeface="Segoe UI Emoji" panose="020B0502040204020203" pitchFamily="34" charset="0"/>
              </a:rPr>
              <a:t>consists of the reserved word function</a:t>
            </a:r>
            <a:r>
              <a:rPr lang="en-US" dirty="0" smtClean="0">
                <a:latin typeface="Segoe UI Emoji" panose="020B0502040204020203" pitchFamily="34" charset="0"/>
                <a:ea typeface="Segoe UI Emoji" panose="020B0502040204020203" pitchFamily="34" charset="0"/>
              </a:rPr>
              <a:t>, the </a:t>
            </a:r>
            <a:r>
              <a:rPr lang="en-US" dirty="0">
                <a:latin typeface="Segoe UI Emoji" panose="020B0502040204020203" pitchFamily="34" charset="0"/>
                <a:ea typeface="Segoe UI Emoji" panose="020B0502040204020203" pitchFamily="34" charset="0"/>
              </a:rPr>
              <a:t>function’s name, and a parenthesized list of parameters if there are </a:t>
            </a:r>
            <a:r>
              <a:rPr lang="en-US" dirty="0" smtClean="0">
                <a:latin typeface="Segoe UI Emoji" panose="020B0502040204020203" pitchFamily="34" charset="0"/>
                <a:ea typeface="Segoe UI Emoji" panose="020B0502040204020203" pitchFamily="34" charset="0"/>
              </a:rPr>
              <a:t>any.</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The parentheses </a:t>
            </a:r>
            <a:r>
              <a:rPr lang="en-US" dirty="0">
                <a:latin typeface="Segoe UI Emoji" panose="020B0502040204020203" pitchFamily="34" charset="0"/>
                <a:ea typeface="Segoe UI Emoji" panose="020B0502040204020203" pitchFamily="34" charset="0"/>
              </a:rPr>
              <a:t>are required even if there are no parameters.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return statement returns control from the function in which it appears </a:t>
            </a:r>
            <a:r>
              <a:rPr lang="en-US" dirty="0" smtClean="0">
                <a:latin typeface="Segoe UI Emoji" panose="020B0502040204020203" pitchFamily="34" charset="0"/>
                <a:ea typeface="Segoe UI Emoji" panose="020B0502040204020203" pitchFamily="34" charset="0"/>
              </a:rPr>
              <a:t>to the </a:t>
            </a:r>
            <a:r>
              <a:rPr lang="en-US" dirty="0">
                <a:latin typeface="Segoe UI Emoji" panose="020B0502040204020203" pitchFamily="34" charset="0"/>
                <a:ea typeface="Segoe UI Emoji" panose="020B0502040204020203" pitchFamily="34" charset="0"/>
              </a:rPr>
              <a:t>function’s caller.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Optionally</a:t>
            </a:r>
            <a:r>
              <a:rPr lang="en-US" dirty="0">
                <a:latin typeface="Segoe UI Emoji" panose="020B0502040204020203" pitchFamily="34" charset="0"/>
                <a:ea typeface="Segoe UI Emoji" panose="020B0502040204020203" pitchFamily="34" charset="0"/>
              </a:rPr>
              <a:t>, it includes an expression, whose value is </a:t>
            </a:r>
            <a:r>
              <a:rPr lang="en-US" dirty="0" smtClean="0">
                <a:latin typeface="Segoe UI Emoji" panose="020B0502040204020203" pitchFamily="34" charset="0"/>
                <a:ea typeface="Segoe UI Emoji" panose="020B0502040204020203" pitchFamily="34" charset="0"/>
              </a:rPr>
              <a:t>returned to </a:t>
            </a:r>
            <a:r>
              <a:rPr lang="en-US" dirty="0">
                <a:latin typeface="Segoe UI Emoji" panose="020B0502040204020203" pitchFamily="34" charset="0"/>
                <a:ea typeface="Segoe UI Emoji" panose="020B0502040204020203" pitchFamily="34" charset="0"/>
              </a:rPr>
              <a:t>the caller.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 </a:t>
            </a:r>
            <a:r>
              <a:rPr lang="en-US" dirty="0">
                <a:latin typeface="Segoe UI Emoji" panose="020B0502040204020203" pitchFamily="34" charset="0"/>
                <a:ea typeface="Segoe UI Emoji" panose="020B0502040204020203" pitchFamily="34" charset="0"/>
              </a:rPr>
              <a:t>function body may include one or more return statements.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If there </a:t>
            </a:r>
            <a:r>
              <a:rPr lang="en-US" dirty="0">
                <a:latin typeface="Segoe UI Emoji" panose="020B0502040204020203" pitchFamily="34" charset="0"/>
                <a:ea typeface="Segoe UI Emoji" panose="020B0502040204020203" pitchFamily="34" charset="0"/>
              </a:rPr>
              <a:t>are no return statements in a function or if the specific return that </a:t>
            </a:r>
            <a:r>
              <a:rPr lang="en-US" dirty="0" smtClean="0">
                <a:latin typeface="Segoe UI Emoji" panose="020B0502040204020203" pitchFamily="34" charset="0"/>
                <a:ea typeface="Segoe UI Emoji" panose="020B0502040204020203" pitchFamily="34" charset="0"/>
              </a:rPr>
              <a:t>is executed </a:t>
            </a:r>
            <a:r>
              <a:rPr lang="en-US" dirty="0">
                <a:latin typeface="Segoe UI Emoji" panose="020B0502040204020203" pitchFamily="34" charset="0"/>
                <a:ea typeface="Segoe UI Emoji" panose="020B0502040204020203" pitchFamily="34" charset="0"/>
              </a:rPr>
              <a:t>does not include an expression, the value returned is undefined. This </a:t>
            </a:r>
            <a:r>
              <a:rPr lang="en-US" dirty="0" smtClean="0">
                <a:latin typeface="Segoe UI Emoji" panose="020B0502040204020203" pitchFamily="34" charset="0"/>
                <a:ea typeface="Segoe UI Emoji" panose="020B0502040204020203" pitchFamily="34" charset="0"/>
              </a:rPr>
              <a:t>is also </a:t>
            </a:r>
            <a:r>
              <a:rPr lang="en-US" dirty="0">
                <a:latin typeface="Segoe UI Emoji" panose="020B0502040204020203" pitchFamily="34" charset="0"/>
                <a:ea typeface="Segoe UI Emoji" panose="020B0502040204020203" pitchFamily="34" charset="0"/>
              </a:rPr>
              <a:t>the case if execution reaches the end of the function body without </a:t>
            </a:r>
            <a:r>
              <a:rPr lang="en-US" dirty="0" smtClean="0">
                <a:latin typeface="Segoe UI Emoji" panose="020B0502040204020203" pitchFamily="34" charset="0"/>
                <a:ea typeface="Segoe UI Emoji" panose="020B0502040204020203" pitchFamily="34" charset="0"/>
              </a:rPr>
              <a:t>executing a </a:t>
            </a:r>
            <a:r>
              <a:rPr lang="en-US" dirty="0">
                <a:latin typeface="Segoe UI Emoji" panose="020B0502040204020203" pitchFamily="34" charset="0"/>
                <a:ea typeface="Segoe UI Emoji" panose="020B0502040204020203" pitchFamily="34" charset="0"/>
              </a:rPr>
              <a:t>return </a:t>
            </a:r>
            <a:r>
              <a:rPr lang="en-US" dirty="0" smtClean="0">
                <a:latin typeface="Segoe UI Emoji" panose="020B0502040204020203" pitchFamily="34" charset="0"/>
                <a:ea typeface="Segoe UI Emoji" panose="020B0502040204020203" pitchFamily="34" charset="0"/>
              </a:rPr>
              <a:t>statement.</a:t>
            </a:r>
            <a:endParaRPr lang="en-US" dirty="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Because </a:t>
            </a:r>
            <a:r>
              <a:rPr lang="en-US" dirty="0">
                <a:latin typeface="Segoe UI Emoji" panose="020B0502040204020203" pitchFamily="34" charset="0"/>
                <a:ea typeface="Segoe UI Emoji" panose="020B0502040204020203" pitchFamily="34" charset="0"/>
              </a:rPr>
              <a:t>JavaScript functions are objects, their references can be </a:t>
            </a:r>
            <a:r>
              <a:rPr lang="en-US" dirty="0" smtClean="0">
                <a:latin typeface="Segoe UI Emoji" panose="020B0502040204020203" pitchFamily="34" charset="0"/>
                <a:ea typeface="Segoe UI Emoji" panose="020B0502040204020203" pitchFamily="34" charset="0"/>
              </a:rPr>
              <a:t>properties in </a:t>
            </a:r>
            <a:r>
              <a:rPr lang="en-US" dirty="0">
                <a:latin typeface="Segoe UI Emoji" panose="020B0502040204020203" pitchFamily="34" charset="0"/>
                <a:ea typeface="Segoe UI Emoji" panose="020B0502040204020203" pitchFamily="34" charset="0"/>
              </a:rPr>
              <a:t>other objects, in which case they act as methods</a:t>
            </a:r>
            <a:r>
              <a:rPr lang="en-US" dirty="0" smtClean="0">
                <a:latin typeface="Segoe UI Emoji" panose="020B0502040204020203" pitchFamily="34" charset="0"/>
                <a:ea typeface="Segoe UI Emoji" panose="020B0502040204020203" pitchFamily="34" charset="0"/>
              </a:rPr>
              <a:t>.</a:t>
            </a:r>
            <a:endParaRPr lang="en-US"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60454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Functions</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28</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Parameters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parameter values that appear in a call to a function are called </a:t>
            </a:r>
            <a:r>
              <a:rPr lang="en-US" i="1" dirty="0">
                <a:latin typeface="Segoe UI Emoji" panose="020B0502040204020203" pitchFamily="34" charset="0"/>
                <a:ea typeface="Segoe UI Emoji" panose="020B0502040204020203" pitchFamily="34" charset="0"/>
              </a:rPr>
              <a:t>actual parameters</a:t>
            </a:r>
            <a:r>
              <a:rPr lang="en-US" dirty="0">
                <a:latin typeface="Segoe UI Emoji" panose="020B0502040204020203" pitchFamily="34" charset="0"/>
                <a:ea typeface="Segoe UI Emoji" panose="020B0502040204020203" pitchFamily="34" charset="0"/>
              </a:rPr>
              <a: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parameter names that appear in the header of a function definition, </a:t>
            </a:r>
            <a:r>
              <a:rPr lang="en-US" dirty="0" smtClean="0">
                <a:latin typeface="Segoe UI Emoji" panose="020B0502040204020203" pitchFamily="34" charset="0"/>
                <a:ea typeface="Segoe UI Emoji" panose="020B0502040204020203" pitchFamily="34" charset="0"/>
              </a:rPr>
              <a:t>which correspond </a:t>
            </a:r>
            <a:r>
              <a:rPr lang="en-US" dirty="0">
                <a:latin typeface="Segoe UI Emoji" panose="020B0502040204020203" pitchFamily="34" charset="0"/>
                <a:ea typeface="Segoe UI Emoji" panose="020B0502040204020203" pitchFamily="34" charset="0"/>
              </a:rPr>
              <a:t>to the actual parameters in calls to the function, are called </a:t>
            </a:r>
            <a:r>
              <a:rPr lang="en-US" i="1" dirty="0" smtClean="0">
                <a:latin typeface="Segoe UI Emoji" panose="020B0502040204020203" pitchFamily="34" charset="0"/>
                <a:ea typeface="Segoe UI Emoji" panose="020B0502040204020203" pitchFamily="34" charset="0"/>
              </a:rPr>
              <a:t>formal parameters</a:t>
            </a:r>
            <a:r>
              <a:rPr lang="en-US" dirty="0">
                <a:latin typeface="Segoe UI Emoji" panose="020B0502040204020203" pitchFamily="34" charset="0"/>
                <a:ea typeface="Segoe UI Emoji" panose="020B0502040204020203" pitchFamily="34" charset="0"/>
              </a:rPr>
              <a:t>.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Like </a:t>
            </a:r>
            <a:r>
              <a:rPr lang="en-US" dirty="0">
                <a:latin typeface="Segoe UI Emoji" panose="020B0502040204020203" pitchFamily="34" charset="0"/>
                <a:ea typeface="Segoe UI Emoji" panose="020B0502040204020203" pitchFamily="34" charset="0"/>
              </a:rPr>
              <a:t>C, C++, and Java, JavaScript uses the pass-by-value </a:t>
            </a:r>
            <a:r>
              <a:rPr lang="en-US" dirty="0" smtClean="0">
                <a:latin typeface="Segoe UI Emoji" panose="020B0502040204020203" pitchFamily="34" charset="0"/>
                <a:ea typeface="Segoe UI Emoji" panose="020B0502040204020203" pitchFamily="34" charset="0"/>
              </a:rPr>
              <a:t>parameter passing method.</a:t>
            </a: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When </a:t>
            </a:r>
            <a:r>
              <a:rPr lang="en-US" dirty="0">
                <a:latin typeface="Segoe UI Emoji" panose="020B0502040204020203" pitchFamily="34" charset="0"/>
                <a:ea typeface="Segoe UI Emoji" panose="020B0502040204020203" pitchFamily="34" charset="0"/>
              </a:rPr>
              <a:t>a function is called, the values of the actual </a:t>
            </a:r>
            <a:r>
              <a:rPr lang="en-US" dirty="0" smtClean="0">
                <a:latin typeface="Segoe UI Emoji" panose="020B0502040204020203" pitchFamily="34" charset="0"/>
                <a:ea typeface="Segoe UI Emoji" panose="020B0502040204020203" pitchFamily="34" charset="0"/>
              </a:rPr>
              <a:t>parameters specified </a:t>
            </a:r>
            <a:r>
              <a:rPr lang="en-US" dirty="0">
                <a:latin typeface="Segoe UI Emoji" panose="020B0502040204020203" pitchFamily="34" charset="0"/>
                <a:ea typeface="Segoe UI Emoji" panose="020B0502040204020203" pitchFamily="34" charset="0"/>
              </a:rPr>
              <a:t>in the call are, in effect, copied into their corresponding formal parameters</a:t>
            </a:r>
            <a:r>
              <a:rPr lang="en-US" dirty="0" smtClean="0">
                <a:latin typeface="Segoe UI Emoji" panose="020B0502040204020203" pitchFamily="34" charset="0"/>
                <a:ea typeface="Segoe UI Emoji" panose="020B0502040204020203" pitchFamily="34" charset="0"/>
              </a:rPr>
              <a:t>, which </a:t>
            </a:r>
            <a:r>
              <a:rPr lang="en-US" dirty="0">
                <a:latin typeface="Segoe UI Emoji" panose="020B0502040204020203" pitchFamily="34" charset="0"/>
                <a:ea typeface="Segoe UI Emoji" panose="020B0502040204020203" pitchFamily="34" charset="0"/>
              </a:rPr>
              <a:t>behave exactly like local variables. Because references are passed </a:t>
            </a:r>
            <a:r>
              <a:rPr lang="en-US" dirty="0" smtClean="0">
                <a:latin typeface="Segoe UI Emoji" panose="020B0502040204020203" pitchFamily="34" charset="0"/>
                <a:ea typeface="Segoe UI Emoji" panose="020B0502040204020203" pitchFamily="34" charset="0"/>
              </a:rPr>
              <a:t>as the </a:t>
            </a:r>
            <a:r>
              <a:rPr lang="en-US" dirty="0">
                <a:latin typeface="Segoe UI Emoji" panose="020B0502040204020203" pitchFamily="34" charset="0"/>
                <a:ea typeface="Segoe UI Emoji" panose="020B0502040204020203" pitchFamily="34" charset="0"/>
              </a:rPr>
              <a:t>actual parameters of objects, the called function has access to the objects </a:t>
            </a:r>
            <a:r>
              <a:rPr lang="en-US" dirty="0" smtClean="0">
                <a:latin typeface="Segoe UI Emoji" panose="020B0502040204020203" pitchFamily="34" charset="0"/>
                <a:ea typeface="Segoe UI Emoji" panose="020B0502040204020203" pitchFamily="34" charset="0"/>
              </a:rPr>
              <a:t>and can </a:t>
            </a:r>
            <a:r>
              <a:rPr lang="en-US" dirty="0">
                <a:latin typeface="Segoe UI Emoji" panose="020B0502040204020203" pitchFamily="34" charset="0"/>
                <a:ea typeface="Segoe UI Emoji" panose="020B0502040204020203" pitchFamily="34" charset="0"/>
              </a:rPr>
              <a:t>change them, thereby providing the semantics of pass-by-reference parameters.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However, if a reference to an object is passed to a function and the </a:t>
            </a:r>
            <a:r>
              <a:rPr lang="en-US" dirty="0" smtClean="0">
                <a:latin typeface="Segoe UI Emoji" panose="020B0502040204020203" pitchFamily="34" charset="0"/>
                <a:ea typeface="Segoe UI Emoji" panose="020B0502040204020203" pitchFamily="34" charset="0"/>
              </a:rPr>
              <a:t>function changes </a:t>
            </a:r>
            <a:r>
              <a:rPr lang="en-US" dirty="0">
                <a:latin typeface="Segoe UI Emoji" panose="020B0502040204020203" pitchFamily="34" charset="0"/>
                <a:ea typeface="Segoe UI Emoji" panose="020B0502040204020203" pitchFamily="34" charset="0"/>
              </a:rPr>
              <a:t>its corresponding formal parameter (rather than the object to </a:t>
            </a:r>
            <a:r>
              <a:rPr lang="en-US" dirty="0" smtClean="0">
                <a:latin typeface="Segoe UI Emoji" panose="020B0502040204020203" pitchFamily="34" charset="0"/>
                <a:ea typeface="Segoe UI Emoji" panose="020B0502040204020203" pitchFamily="34" charset="0"/>
              </a:rPr>
              <a:t>which it </a:t>
            </a:r>
            <a:r>
              <a:rPr lang="en-US" dirty="0">
                <a:latin typeface="Segoe UI Emoji" panose="020B0502040204020203" pitchFamily="34" charset="0"/>
                <a:ea typeface="Segoe UI Emoji" panose="020B0502040204020203" pitchFamily="34" charset="0"/>
              </a:rPr>
              <a:t>points), then the change has no effect on the actual parameter. </a:t>
            </a:r>
          </a:p>
        </p:txBody>
      </p:sp>
    </p:spTree>
    <p:extLst>
      <p:ext uri="{BB962C8B-B14F-4D97-AF65-F5344CB8AC3E}">
        <p14:creationId xmlns:p14="http://schemas.microsoft.com/office/powerpoint/2010/main" xmlns="" val="126723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95640" y="274680"/>
            <a:ext cx="6117480" cy="84672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IN" sz="3600" spc="-1" dirty="0">
                <a:solidFill>
                  <a:srgbClr val="FFFFFF"/>
                </a:solidFill>
                <a:uFill>
                  <a:solidFill>
                    <a:srgbClr val="FFFFFF"/>
                  </a:solidFill>
                </a:uFill>
                <a:latin typeface="Calibri"/>
              </a:rPr>
              <a:t>Functions</a:t>
            </a:r>
            <a:endParaRPr lang="en-IN" sz="1800" b="0" strike="noStrike" spc="-1" dirty="0">
              <a:solidFill>
                <a:srgbClr val="000000"/>
              </a:solidFill>
              <a:uFill>
                <a:solidFill>
                  <a:srgbClr val="FFFFFF"/>
                </a:solidFill>
              </a:uFill>
              <a:latin typeface="Arial"/>
            </a:endParaRPr>
          </a:p>
        </p:txBody>
      </p:sp>
      <p:sp>
        <p:nvSpPr>
          <p:cNvPr id="97" name="CustomShape 2"/>
          <p:cNvSpPr/>
          <p:nvPr/>
        </p:nvSpPr>
        <p:spPr>
          <a:xfrm>
            <a:off x="323640" y="1484640"/>
            <a:ext cx="8493840" cy="4893480"/>
          </a:xfrm>
          <a:prstGeom prst="rect">
            <a:avLst/>
          </a:prstGeom>
          <a:noFill/>
          <a:ln>
            <a:noFill/>
          </a:ln>
        </p:spPr>
        <p:style>
          <a:lnRef idx="0">
            <a:scrgbClr r="0" g="0" b="0"/>
          </a:lnRef>
          <a:fillRef idx="0">
            <a:scrgbClr r="0" g="0" b="0"/>
          </a:fillRef>
          <a:effectRef idx="0">
            <a:scrgbClr r="0" g="0" b="0"/>
          </a:effectRef>
          <a:fontRef idx="minor"/>
        </p:style>
      </p:sp>
      <p:sp>
        <p:nvSpPr>
          <p:cNvPr id="98" name="CustomShape 3"/>
          <p:cNvSpPr/>
          <p:nvPr/>
        </p:nvSpPr>
        <p:spPr>
          <a:xfrm>
            <a:off x="8532360" y="6237360"/>
            <a:ext cx="608400" cy="289800"/>
          </a:xfrm>
          <a:prstGeom prst="rect">
            <a:avLst/>
          </a:prstGeom>
          <a:gradFill>
            <a:gsLst>
              <a:gs pos="0">
                <a:srgbClr val="B95E00"/>
              </a:gs>
              <a:gs pos="100000">
                <a:srgbClr val="F07B00"/>
              </a:gs>
            </a:gsLst>
            <a:lin ang="16200000"/>
          </a:gradFill>
          <a:ln w="9360">
            <a:solidFill>
              <a:srgbClr val="F07C02"/>
            </a:solidFill>
            <a:round/>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fld id="{8A65DFFE-2806-43F3-907F-76D3AB85508C}" type="slidenum">
              <a:rPr lang="en-IN" sz="1600" b="1" strike="noStrike" spc="-1">
                <a:solidFill>
                  <a:srgbClr val="FFFFFF"/>
                </a:solidFill>
                <a:uFill>
                  <a:solidFill>
                    <a:srgbClr val="FFFFFF"/>
                  </a:solidFill>
                </a:uFill>
                <a:latin typeface="Calibri"/>
                <a:ea typeface="DejaVu Sans"/>
              </a:rPr>
              <a:pPr>
                <a:lnSpc>
                  <a:spcPct val="100000"/>
                </a:lnSpc>
              </a:pPr>
              <a:t>29</a:t>
            </a:fld>
            <a:endParaRPr lang="en-IN" sz="1800" b="0" strike="noStrike" spc="-1">
              <a:solidFill>
                <a:srgbClr val="000000"/>
              </a:solidFill>
              <a:uFill>
                <a:solidFill>
                  <a:srgbClr val="FFFFFF"/>
                </a:solidFill>
              </a:uFill>
              <a:latin typeface="Arial"/>
            </a:endParaRPr>
          </a:p>
        </p:txBody>
      </p:sp>
      <p:sp>
        <p:nvSpPr>
          <p:cNvPr id="99" name="CustomShape 4"/>
          <p:cNvSpPr/>
          <p:nvPr/>
        </p:nvSpPr>
        <p:spPr>
          <a:xfrm>
            <a:off x="-14400" y="1327320"/>
            <a:ext cx="9165600" cy="552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endParaRPr lang="en-IN" sz="1800" b="0" strike="noStrike" spc="-1" dirty="0">
              <a:solidFill>
                <a:srgbClr val="000000"/>
              </a:solidFill>
              <a:uFill>
                <a:solidFill>
                  <a:srgbClr val="FFFFFF"/>
                </a:solidFill>
              </a:uFill>
              <a:latin typeface="Arial"/>
            </a:endParaRPr>
          </a:p>
        </p:txBody>
      </p:sp>
      <p:sp>
        <p:nvSpPr>
          <p:cNvPr id="6" name="CustomShape 11"/>
          <p:cNvSpPr/>
          <p:nvPr/>
        </p:nvSpPr>
        <p:spPr>
          <a:xfrm>
            <a:off x="15506" y="1416402"/>
            <a:ext cx="9125254" cy="511075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b="1" dirty="0" smtClean="0">
                <a:latin typeface="Segoe UI Emoji" panose="020B0502040204020203" pitchFamily="34" charset="0"/>
                <a:ea typeface="Segoe UI Emoji" panose="020B0502040204020203" pitchFamily="34" charset="0"/>
              </a:rPr>
              <a:t>Local Variables</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The </a:t>
            </a:r>
            <a:r>
              <a:rPr lang="en-US" i="1" dirty="0">
                <a:latin typeface="Segoe UI Emoji" panose="020B0502040204020203" pitchFamily="34" charset="0"/>
                <a:ea typeface="Segoe UI Emoji" panose="020B0502040204020203" pitchFamily="34" charset="0"/>
              </a:rPr>
              <a:t>scope </a:t>
            </a:r>
            <a:r>
              <a:rPr lang="en-US" dirty="0">
                <a:latin typeface="Segoe UI Emoji" panose="020B0502040204020203" pitchFamily="34" charset="0"/>
                <a:ea typeface="Segoe UI Emoji" panose="020B0502040204020203" pitchFamily="34" charset="0"/>
              </a:rPr>
              <a:t>of a variable is the range of statements over which it is visible.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When JavaScript </a:t>
            </a:r>
            <a:r>
              <a:rPr lang="en-US" dirty="0">
                <a:latin typeface="Segoe UI Emoji" panose="020B0502040204020203" pitchFamily="34" charset="0"/>
                <a:ea typeface="Segoe UI Emoji" panose="020B0502040204020203" pitchFamily="34" charset="0"/>
              </a:rPr>
              <a:t>is embedded in an HTML document, the scope of a variable is </a:t>
            </a:r>
            <a:r>
              <a:rPr lang="en-US" dirty="0" smtClean="0">
                <a:latin typeface="Segoe UI Emoji" panose="020B0502040204020203" pitchFamily="34" charset="0"/>
                <a:ea typeface="Segoe UI Emoji" panose="020B0502040204020203" pitchFamily="34" charset="0"/>
              </a:rPr>
              <a:t>the range </a:t>
            </a:r>
            <a:r>
              <a:rPr lang="en-US" dirty="0">
                <a:latin typeface="Segoe UI Emoji" panose="020B0502040204020203" pitchFamily="34" charset="0"/>
                <a:ea typeface="Segoe UI Emoji" panose="020B0502040204020203" pitchFamily="34" charset="0"/>
              </a:rPr>
              <a:t>of lines of the document over which the variable is visible.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A variable that is not declared with a </a:t>
            </a:r>
            <a:r>
              <a:rPr lang="en-US" dirty="0" err="1">
                <a:latin typeface="Segoe UI Emoji" panose="020B0502040204020203" pitchFamily="34" charset="0"/>
                <a:ea typeface="Segoe UI Emoji" panose="020B0502040204020203" pitchFamily="34" charset="0"/>
              </a:rPr>
              <a:t>var</a:t>
            </a:r>
            <a:r>
              <a:rPr lang="en-US" dirty="0">
                <a:latin typeface="Segoe UI Emoji" panose="020B0502040204020203" pitchFamily="34" charset="0"/>
                <a:ea typeface="Segoe UI Emoji" panose="020B0502040204020203" pitchFamily="34" charset="0"/>
              </a:rPr>
              <a:t> statement is implicitly </a:t>
            </a:r>
            <a:r>
              <a:rPr lang="en-US" dirty="0" smtClean="0">
                <a:latin typeface="Segoe UI Emoji" panose="020B0502040204020203" pitchFamily="34" charset="0"/>
                <a:ea typeface="Segoe UI Emoji" panose="020B0502040204020203" pitchFamily="34" charset="0"/>
              </a:rPr>
              <a:t>declared by </a:t>
            </a:r>
            <a:r>
              <a:rPr lang="en-US" dirty="0">
                <a:latin typeface="Segoe UI Emoji" panose="020B0502040204020203" pitchFamily="34" charset="0"/>
                <a:ea typeface="Segoe UI Emoji" panose="020B0502040204020203" pitchFamily="34" charset="0"/>
              </a:rPr>
              <a:t>the JavaScript interpreter at the time it is first encountered in the script.</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Variables that are implicitly declared have </a:t>
            </a:r>
            <a:r>
              <a:rPr lang="en-US" i="1" dirty="0">
                <a:latin typeface="Segoe UI Emoji" panose="020B0502040204020203" pitchFamily="34" charset="0"/>
                <a:ea typeface="Segoe UI Emoji" panose="020B0502040204020203" pitchFamily="34" charset="0"/>
              </a:rPr>
              <a:t>global scope</a:t>
            </a:r>
            <a:r>
              <a:rPr lang="en-US" dirty="0">
                <a:latin typeface="Segoe UI Emoji" panose="020B0502040204020203" pitchFamily="34" charset="0"/>
                <a:ea typeface="Segoe UI Emoji" panose="020B0502040204020203" pitchFamily="34" charset="0"/>
              </a:rPr>
              <a:t>—that is, they are visible </a:t>
            </a:r>
            <a:r>
              <a:rPr lang="en-US" dirty="0" smtClean="0">
                <a:latin typeface="Segoe UI Emoji" panose="020B0502040204020203" pitchFamily="34" charset="0"/>
                <a:ea typeface="Segoe UI Emoji" panose="020B0502040204020203" pitchFamily="34" charset="0"/>
              </a:rPr>
              <a:t>in the </a:t>
            </a:r>
            <a:r>
              <a:rPr lang="en-US" dirty="0">
                <a:latin typeface="Segoe UI Emoji" panose="020B0502040204020203" pitchFamily="34" charset="0"/>
                <a:ea typeface="Segoe UI Emoji" panose="020B0502040204020203" pitchFamily="34" charset="0"/>
              </a:rPr>
              <a:t>entire HTML document (or entire file if the script is in its own file)—</a:t>
            </a:r>
            <a:r>
              <a:rPr lang="en-US" dirty="0" smtClean="0">
                <a:latin typeface="Segoe UI Emoji" panose="020B0502040204020203" pitchFamily="34" charset="0"/>
                <a:ea typeface="Segoe UI Emoji" panose="020B0502040204020203" pitchFamily="34" charset="0"/>
              </a:rPr>
              <a:t>even if </a:t>
            </a:r>
            <a:r>
              <a:rPr lang="en-US" dirty="0">
                <a:latin typeface="Segoe UI Emoji" panose="020B0502040204020203" pitchFamily="34" charset="0"/>
                <a:ea typeface="Segoe UI Emoji" panose="020B0502040204020203" pitchFamily="34" charset="0"/>
              </a:rPr>
              <a:t>the implicit declaration occurs within a function definition.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Variables </a:t>
            </a:r>
            <a:r>
              <a:rPr lang="en-US" dirty="0">
                <a:latin typeface="Segoe UI Emoji" panose="020B0502040204020203" pitchFamily="34" charset="0"/>
                <a:ea typeface="Segoe UI Emoji" panose="020B0502040204020203" pitchFamily="34" charset="0"/>
              </a:rPr>
              <a:t>that </a:t>
            </a:r>
            <a:r>
              <a:rPr lang="en-US" dirty="0" smtClean="0">
                <a:latin typeface="Segoe UI Emoji" panose="020B0502040204020203" pitchFamily="34" charset="0"/>
                <a:ea typeface="Segoe UI Emoji" panose="020B0502040204020203" pitchFamily="34" charset="0"/>
              </a:rPr>
              <a:t>are explicitly </a:t>
            </a:r>
            <a:r>
              <a:rPr lang="en-US" dirty="0">
                <a:latin typeface="Segoe UI Emoji" panose="020B0502040204020203" pitchFamily="34" charset="0"/>
                <a:ea typeface="Segoe UI Emoji" panose="020B0502040204020203" pitchFamily="34" charset="0"/>
              </a:rPr>
              <a:t>declared outside function definitions also have global scope.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It </a:t>
            </a:r>
            <a:r>
              <a:rPr lang="en-US" dirty="0">
                <a:latin typeface="Segoe UI Emoji" panose="020B0502040204020203" pitchFamily="34" charset="0"/>
                <a:ea typeface="Segoe UI Emoji" panose="020B0502040204020203" pitchFamily="34" charset="0"/>
              </a:rPr>
              <a:t>is usually best for variables that are used only within a function to </a:t>
            </a:r>
            <a:r>
              <a:rPr lang="en-US" dirty="0" smtClean="0">
                <a:latin typeface="Segoe UI Emoji" panose="020B0502040204020203" pitchFamily="34" charset="0"/>
                <a:ea typeface="Segoe UI Emoji" panose="020B0502040204020203" pitchFamily="34" charset="0"/>
              </a:rPr>
              <a:t>have </a:t>
            </a:r>
            <a:r>
              <a:rPr lang="en-US" i="1" dirty="0" smtClean="0">
                <a:latin typeface="Segoe UI Emoji" panose="020B0502040204020203" pitchFamily="34" charset="0"/>
                <a:ea typeface="Segoe UI Emoji" panose="020B0502040204020203" pitchFamily="34" charset="0"/>
              </a:rPr>
              <a:t>local </a:t>
            </a:r>
            <a:r>
              <a:rPr lang="en-US" i="1" dirty="0">
                <a:latin typeface="Segoe UI Emoji" panose="020B0502040204020203" pitchFamily="34" charset="0"/>
                <a:ea typeface="Segoe UI Emoji" panose="020B0502040204020203" pitchFamily="34" charset="0"/>
              </a:rPr>
              <a:t>scope</a:t>
            </a:r>
            <a:r>
              <a:rPr lang="en-US" dirty="0">
                <a:latin typeface="Segoe UI Emoji" panose="020B0502040204020203" pitchFamily="34" charset="0"/>
                <a:ea typeface="Segoe UI Emoji" panose="020B0502040204020203" pitchFamily="34" charset="0"/>
              </a:rPr>
              <a:t>, meaning that they are visible and can be used only within the body </a:t>
            </a:r>
            <a:r>
              <a:rPr lang="en-US" dirty="0" smtClean="0">
                <a:latin typeface="Segoe UI Emoji" panose="020B0502040204020203" pitchFamily="34" charset="0"/>
                <a:ea typeface="Segoe UI Emoji" panose="020B0502040204020203" pitchFamily="34" charset="0"/>
              </a:rPr>
              <a:t>of the </a:t>
            </a:r>
            <a:r>
              <a:rPr lang="en-US" dirty="0">
                <a:latin typeface="Segoe UI Emoji" panose="020B0502040204020203" pitchFamily="34" charset="0"/>
                <a:ea typeface="Segoe UI Emoji" panose="020B0502040204020203" pitchFamily="34" charset="0"/>
              </a:rPr>
              <a:t>function. </a:t>
            </a:r>
            <a:endParaRPr lang="en-US" dirty="0" smtClean="0">
              <a:latin typeface="Segoe UI Emoji" panose="020B0502040204020203" pitchFamily="34" charset="0"/>
              <a:ea typeface="Segoe UI Emoji" panose="020B0502040204020203" pitchFamily="34" charset="0"/>
            </a:endParaRPr>
          </a:p>
          <a:p>
            <a:pPr marL="285750" indent="-285750">
              <a:buFont typeface="Arial" panose="020B0604020202020204" pitchFamily="34" charset="0"/>
              <a:buChar char="•"/>
            </a:pPr>
            <a:r>
              <a:rPr lang="en-US" dirty="0" smtClean="0">
                <a:latin typeface="Segoe UI Emoji" panose="020B0502040204020203" pitchFamily="34" charset="0"/>
                <a:ea typeface="Segoe UI Emoji" panose="020B0502040204020203" pitchFamily="34" charset="0"/>
              </a:rPr>
              <a:t>Any </a:t>
            </a:r>
            <a:r>
              <a:rPr lang="en-US" dirty="0">
                <a:latin typeface="Segoe UI Emoji" panose="020B0502040204020203" pitchFamily="34" charset="0"/>
                <a:ea typeface="Segoe UI Emoji" panose="020B0502040204020203" pitchFamily="34" charset="0"/>
              </a:rPr>
              <a:t>variable explicitly declared with </a:t>
            </a:r>
            <a:r>
              <a:rPr lang="en-US" dirty="0" err="1">
                <a:latin typeface="Segoe UI Emoji" panose="020B0502040204020203" pitchFamily="34" charset="0"/>
                <a:ea typeface="Segoe UI Emoji" panose="020B0502040204020203" pitchFamily="34" charset="0"/>
              </a:rPr>
              <a:t>var</a:t>
            </a:r>
            <a:r>
              <a:rPr lang="en-US" dirty="0">
                <a:latin typeface="Segoe UI Emoji" panose="020B0502040204020203" pitchFamily="34" charset="0"/>
                <a:ea typeface="Segoe UI Emoji" panose="020B0502040204020203" pitchFamily="34" charset="0"/>
              </a:rPr>
              <a:t> in the body of a </a:t>
            </a:r>
            <a:r>
              <a:rPr lang="en-US" dirty="0" smtClean="0">
                <a:latin typeface="Segoe UI Emoji" panose="020B0502040204020203" pitchFamily="34" charset="0"/>
                <a:ea typeface="Segoe UI Emoji" panose="020B0502040204020203" pitchFamily="34" charset="0"/>
              </a:rPr>
              <a:t>function has </a:t>
            </a:r>
            <a:r>
              <a:rPr lang="en-US" dirty="0">
                <a:latin typeface="Segoe UI Emoji" panose="020B0502040204020203" pitchFamily="34" charset="0"/>
                <a:ea typeface="Segoe UI Emoji" panose="020B0502040204020203" pitchFamily="34" charset="0"/>
              </a:rPr>
              <a:t>local scope.</a:t>
            </a:r>
          </a:p>
          <a:p>
            <a:pPr marL="285750" indent="-285750">
              <a:buFont typeface="Arial" panose="020B0604020202020204" pitchFamily="34" charset="0"/>
              <a:buChar char="•"/>
            </a:pPr>
            <a:r>
              <a:rPr lang="en-US" dirty="0">
                <a:latin typeface="Segoe UI Emoji" panose="020B0502040204020203" pitchFamily="34" charset="0"/>
                <a:ea typeface="Segoe UI Emoji" panose="020B0502040204020203" pitchFamily="34" charset="0"/>
              </a:rPr>
              <a:t>If a name that is defined both as a local variable and as a global variable </a:t>
            </a:r>
            <a:r>
              <a:rPr lang="en-US" dirty="0" smtClean="0">
                <a:latin typeface="Segoe UI Emoji" panose="020B0502040204020203" pitchFamily="34" charset="0"/>
                <a:ea typeface="Segoe UI Emoji" panose="020B0502040204020203" pitchFamily="34" charset="0"/>
              </a:rPr>
              <a:t>appears in </a:t>
            </a:r>
            <a:r>
              <a:rPr lang="en-US" dirty="0">
                <a:latin typeface="Segoe UI Emoji" panose="020B0502040204020203" pitchFamily="34" charset="0"/>
                <a:ea typeface="Segoe UI Emoji" panose="020B0502040204020203" pitchFamily="34" charset="0"/>
              </a:rPr>
              <a:t>a function, the local variable has precedence, effectively hiding the global </a:t>
            </a:r>
            <a:r>
              <a:rPr lang="en-US" dirty="0" smtClean="0">
                <a:latin typeface="Segoe UI Emoji" panose="020B0502040204020203" pitchFamily="34" charset="0"/>
                <a:ea typeface="Segoe UI Emoji" panose="020B0502040204020203" pitchFamily="34" charset="0"/>
              </a:rPr>
              <a:t>variable with </a:t>
            </a:r>
            <a:r>
              <a:rPr lang="en-US" dirty="0">
                <a:latin typeface="Segoe UI Emoji" panose="020B0502040204020203" pitchFamily="34" charset="0"/>
                <a:ea typeface="Segoe UI Emoji" panose="020B0502040204020203" pitchFamily="34" charset="0"/>
              </a:rPr>
              <a:t>the same name</a:t>
            </a:r>
            <a:r>
              <a:rPr lang="en-US" dirty="0" smtClean="0">
                <a:latin typeface="Segoe UI Emoji" panose="020B0502040204020203" pitchFamily="34" charset="0"/>
                <a:ea typeface="Segoe UI Emoji" panose="020B0502040204020203" pitchFamily="34" charset="0"/>
              </a:rPr>
              <a:t>.</a:t>
            </a:r>
            <a:endParaRPr lang="en-US" dirty="0">
              <a:latin typeface="Segoe UI Emoji" panose="020B0502040204020203" pitchFamily="34" charset="0"/>
              <a:ea typeface="Segoe UI Emoji" panose="020B0502040204020203" pitchFamily="34" charset="0"/>
            </a:endParaRPr>
          </a:p>
        </p:txBody>
      </p:sp>
    </p:spTree>
    <p:extLst>
      <p:ext uri="{BB962C8B-B14F-4D97-AF65-F5344CB8AC3E}">
        <p14:creationId xmlns:p14="http://schemas.microsoft.com/office/powerpoint/2010/main" xmlns="" val="215804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99"/>
                                        </p:tgtEl>
                                        <p:attrNameLst>
                                          <p:attrName>style.visibility</p:attrName>
                                        </p:attrNameLst>
                                      </p:cBhvr>
                                      <p:to>
                                        <p:strVal val="visible"/>
                                      </p:to>
                                    </p:set>
                                    <p:animEffect transition="in" filter="circle(in)">
                                      <p:cBhvr>
                                        <p:cTn id="7" dur="2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6" name="AutoShape 16"/>
          <p:cNvSpPr>
            <a:spLocks noChangeArrowheads="1"/>
          </p:cNvSpPr>
          <p:nvPr/>
        </p:nvSpPr>
        <p:spPr bwMode="auto">
          <a:xfrm>
            <a:off x="533400" y="838200"/>
            <a:ext cx="8153400" cy="5181600"/>
          </a:xfrm>
          <a:prstGeom prst="roundRect">
            <a:avLst>
              <a:gd name="adj" fmla="val 16667"/>
            </a:avLst>
          </a:prstGeom>
          <a:noFill/>
          <a:ln w="38100" algn="ctr">
            <a:solidFill>
              <a:srgbClr val="CC0000"/>
            </a:solidFill>
            <a:round/>
            <a:headEnd/>
            <a:tailEnd/>
          </a:ln>
          <a:effectLst/>
          <a:extLst>
            <a:ext uri="{909E8E84-426E-40DD-AFC4-6F175D3DCCD1}">
              <a14:hiddenFill xmlns:a14="http://schemas.microsoft.com/office/drawing/2010/main" xmlns="">
                <a:gradFill rotWithShape="1">
                  <a:gsLst>
                    <a:gs pos="0">
                      <a:srgbClr val="FFFFFF"/>
                    </a:gs>
                    <a:gs pos="100000">
                      <a:srgbClr val="FFFFCC"/>
                    </a:gs>
                  </a:gsLst>
                  <a:path path="shape">
                    <a:fillToRect l="50000" t="50000" r="50000" b="50000"/>
                  </a:path>
                </a:gra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a:r>
              <a:rPr lang="en-US" sz="3200">
                <a:solidFill>
                  <a:srgbClr val="CC0000"/>
                </a:solidFill>
                <a:effectLst>
                  <a:outerShdw blurRad="38100" dist="38100" dir="2700000" algn="tl">
                    <a:srgbClr val="C0C0C0"/>
                  </a:outerShdw>
                </a:effectLst>
                <a:latin typeface="Times New Roman" pitchFamily="18" charset="0"/>
                <a:cs typeface="Times New Roman" pitchFamily="18" charset="0"/>
              </a:rPr>
              <a:t>Dynamic HTML</a:t>
            </a:r>
          </a:p>
        </p:txBody>
      </p:sp>
      <p:sp>
        <p:nvSpPr>
          <p:cNvPr id="76807" name="AutoShape 7"/>
          <p:cNvSpPr>
            <a:spLocks noChangeArrowheads="1"/>
          </p:cNvSpPr>
          <p:nvPr/>
        </p:nvSpPr>
        <p:spPr bwMode="auto">
          <a:xfrm>
            <a:off x="990600" y="1981200"/>
            <a:ext cx="2438400" cy="1447800"/>
          </a:xfrm>
          <a:prstGeom prst="roundRect">
            <a:avLst>
              <a:gd name="adj" fmla="val 16667"/>
            </a:avLst>
          </a:prstGeom>
          <a:gradFill rotWithShape="1">
            <a:gsLst>
              <a:gs pos="0">
                <a:srgbClr val="CCFFFF"/>
              </a:gs>
              <a:gs pos="50000">
                <a:srgbClr val="FFFFFF"/>
              </a:gs>
              <a:gs pos="100000">
                <a:srgbClr val="CCFFFF"/>
              </a:gs>
            </a:gsLst>
            <a:lin ang="2700000" scaled="1"/>
          </a:gra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sz="3200">
                <a:solidFill>
                  <a:srgbClr val="CC0000"/>
                </a:solidFill>
                <a:effectLst>
                  <a:outerShdw blurRad="38100" dist="38100" dir="2700000" algn="tl">
                    <a:srgbClr val="000000"/>
                  </a:outerShdw>
                </a:effectLst>
                <a:latin typeface="Times New Roman" pitchFamily="18" charset="0"/>
                <a:cs typeface="Times New Roman" pitchFamily="18" charset="0"/>
              </a:rPr>
              <a:t>XHTML</a:t>
            </a:r>
          </a:p>
          <a:p>
            <a:pPr algn="ctr"/>
            <a:endParaRPr lang="en-US" sz="3200">
              <a:solidFill>
                <a:srgbClr val="0000FF"/>
              </a:solidFill>
              <a:effectLst>
                <a:outerShdw blurRad="38100" dist="38100" dir="2700000" algn="tl">
                  <a:srgbClr val="000000"/>
                </a:outerShdw>
              </a:effectLst>
              <a:latin typeface="Times New Roman" pitchFamily="18" charset="0"/>
              <a:cs typeface="Times New Roman" pitchFamily="18" charset="0"/>
            </a:endParaRPr>
          </a:p>
          <a:p>
            <a:pPr algn="ctr"/>
            <a:r>
              <a:rPr lang="en-US" sz="3200" b="0" i="1">
                <a:solidFill>
                  <a:srgbClr val="0033CC"/>
                </a:solidFill>
                <a:latin typeface="Times New Roman" pitchFamily="18" charset="0"/>
                <a:cs typeface="Times New Roman" pitchFamily="18" charset="0"/>
              </a:rPr>
              <a:t>content</a:t>
            </a:r>
          </a:p>
        </p:txBody>
      </p:sp>
      <p:sp>
        <p:nvSpPr>
          <p:cNvPr id="76808" name="AutoShape 8"/>
          <p:cNvSpPr>
            <a:spLocks noChangeArrowheads="1"/>
          </p:cNvSpPr>
          <p:nvPr/>
        </p:nvSpPr>
        <p:spPr bwMode="auto">
          <a:xfrm>
            <a:off x="5791200" y="1981200"/>
            <a:ext cx="2438400" cy="1447800"/>
          </a:xfrm>
          <a:prstGeom prst="roundRect">
            <a:avLst>
              <a:gd name="adj" fmla="val 16667"/>
            </a:avLst>
          </a:prstGeom>
          <a:gradFill rotWithShape="1">
            <a:gsLst>
              <a:gs pos="0">
                <a:srgbClr val="CCFFCC"/>
              </a:gs>
              <a:gs pos="50000">
                <a:srgbClr val="FFFFFF"/>
              </a:gs>
              <a:gs pos="100000">
                <a:srgbClr val="CCFFCC"/>
              </a:gs>
            </a:gsLst>
            <a:lin ang="2700000" scaled="1"/>
          </a:gra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sz="3200">
                <a:solidFill>
                  <a:srgbClr val="CC0000"/>
                </a:solidFill>
                <a:effectLst>
                  <a:outerShdw blurRad="38100" dist="38100" dir="2700000" algn="tl">
                    <a:srgbClr val="000000"/>
                  </a:outerShdw>
                </a:effectLst>
                <a:latin typeface="Times New Roman" pitchFamily="18" charset="0"/>
                <a:cs typeface="Times New Roman" pitchFamily="18" charset="0"/>
              </a:rPr>
              <a:t>CSS</a:t>
            </a:r>
          </a:p>
          <a:p>
            <a:pPr algn="ctr"/>
            <a:endParaRPr lang="en-US" sz="3200">
              <a:solidFill>
                <a:srgbClr val="CC0000"/>
              </a:solidFill>
              <a:effectLst>
                <a:outerShdw blurRad="38100" dist="38100" dir="2700000" algn="tl">
                  <a:srgbClr val="000000"/>
                </a:outerShdw>
              </a:effectLst>
              <a:latin typeface="Times New Roman" pitchFamily="18" charset="0"/>
              <a:cs typeface="Times New Roman" pitchFamily="18" charset="0"/>
            </a:endParaRPr>
          </a:p>
          <a:p>
            <a:pPr algn="ctr"/>
            <a:r>
              <a:rPr lang="en-US" sz="3200" b="0" i="1">
                <a:solidFill>
                  <a:srgbClr val="0033CC"/>
                </a:solidFill>
                <a:latin typeface="Times New Roman" pitchFamily="18" charset="0"/>
                <a:cs typeface="Times New Roman" pitchFamily="18" charset="0"/>
              </a:rPr>
              <a:t>style rules</a:t>
            </a:r>
          </a:p>
        </p:txBody>
      </p:sp>
      <p:grpSp>
        <p:nvGrpSpPr>
          <p:cNvPr id="76818" name="Group 18"/>
          <p:cNvGrpSpPr>
            <a:grpSpLocks/>
          </p:cNvGrpSpPr>
          <p:nvPr/>
        </p:nvGrpSpPr>
        <p:grpSpPr bwMode="auto">
          <a:xfrm>
            <a:off x="3429000" y="2147888"/>
            <a:ext cx="2362200" cy="519112"/>
            <a:chOff x="2160" y="1401"/>
            <a:chExt cx="1488" cy="327"/>
          </a:xfrm>
        </p:grpSpPr>
        <p:sp>
          <p:nvSpPr>
            <p:cNvPr id="76809" name="Line 9"/>
            <p:cNvSpPr>
              <a:spLocks noChangeShapeType="1"/>
            </p:cNvSpPr>
            <p:nvPr/>
          </p:nvSpPr>
          <p:spPr bwMode="auto">
            <a:xfrm flipH="1">
              <a:off x="2160" y="1728"/>
              <a:ext cx="1488" cy="0"/>
            </a:xfrm>
            <a:prstGeom prst="line">
              <a:avLst/>
            </a:prstGeom>
            <a:noFill/>
            <a:ln w="38100">
              <a:solidFill>
                <a:srgbClr val="000000"/>
              </a:solidFill>
              <a:round/>
              <a:headEnd/>
              <a:tailEnd type="stealth" w="lg"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6810" name="Text Box 10"/>
            <p:cNvSpPr txBox="1">
              <a:spLocks noChangeArrowheads="1"/>
            </p:cNvSpPr>
            <p:nvPr/>
          </p:nvSpPr>
          <p:spPr bwMode="auto">
            <a:xfrm>
              <a:off x="2352" y="1401"/>
              <a:ext cx="120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sz="2800" b="0" i="1">
                  <a:solidFill>
                    <a:srgbClr val="0033CC"/>
                  </a:solidFill>
                  <a:latin typeface="Times New Roman" pitchFamily="18" charset="0"/>
                  <a:cs typeface="Times New Roman" pitchFamily="18" charset="0"/>
                </a:rPr>
                <a:t>appearance</a:t>
              </a:r>
            </a:p>
          </p:txBody>
        </p:sp>
      </p:grpSp>
      <p:sp>
        <p:nvSpPr>
          <p:cNvPr id="76811" name="AutoShape 11"/>
          <p:cNvSpPr>
            <a:spLocks noChangeArrowheads="1"/>
          </p:cNvSpPr>
          <p:nvPr/>
        </p:nvSpPr>
        <p:spPr bwMode="auto">
          <a:xfrm>
            <a:off x="3429000" y="4267200"/>
            <a:ext cx="2438400" cy="1447800"/>
          </a:xfrm>
          <a:prstGeom prst="roundRect">
            <a:avLst>
              <a:gd name="adj" fmla="val 16667"/>
            </a:avLst>
          </a:prstGeom>
          <a:gradFill rotWithShape="1">
            <a:gsLst>
              <a:gs pos="0">
                <a:srgbClr val="FFCCCC"/>
              </a:gs>
              <a:gs pos="50000">
                <a:srgbClr val="FFFFFF"/>
              </a:gs>
              <a:gs pos="100000">
                <a:srgbClr val="FFCCCC"/>
              </a:gs>
            </a:gsLst>
            <a:lin ang="2700000" scaled="1"/>
          </a:gradFill>
          <a:ln w="9525" algn="ctr">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sz="3200">
                <a:solidFill>
                  <a:srgbClr val="CC0000"/>
                </a:solidFill>
                <a:effectLst>
                  <a:outerShdw blurRad="38100" dist="38100" dir="2700000" algn="tl">
                    <a:srgbClr val="000000"/>
                  </a:outerShdw>
                </a:effectLst>
                <a:latin typeface="Times New Roman" pitchFamily="18" charset="0"/>
                <a:cs typeface="Times New Roman" pitchFamily="18" charset="0"/>
              </a:rPr>
              <a:t>Scripting</a:t>
            </a:r>
          </a:p>
          <a:p>
            <a:pPr algn="ctr"/>
            <a:r>
              <a:rPr lang="en-US" sz="3200">
                <a:solidFill>
                  <a:srgbClr val="CC0000"/>
                </a:solidFill>
                <a:effectLst>
                  <a:outerShdw blurRad="38100" dist="38100" dir="2700000" algn="tl">
                    <a:srgbClr val="000000"/>
                  </a:outerShdw>
                </a:effectLst>
                <a:latin typeface="Times New Roman" pitchFamily="18" charset="0"/>
                <a:cs typeface="Times New Roman" pitchFamily="18" charset="0"/>
              </a:rPr>
              <a:t>Language</a:t>
            </a:r>
            <a:endParaRPr lang="en-US" sz="3200" b="0" i="1">
              <a:solidFill>
                <a:srgbClr val="CC0000"/>
              </a:solidFill>
              <a:latin typeface="Times New Roman" pitchFamily="18" charset="0"/>
              <a:cs typeface="Times New Roman" pitchFamily="18" charset="0"/>
            </a:endParaRPr>
          </a:p>
        </p:txBody>
      </p:sp>
      <p:sp>
        <p:nvSpPr>
          <p:cNvPr id="76812" name="Line 12"/>
          <p:cNvSpPr>
            <a:spLocks noChangeShapeType="1"/>
          </p:cNvSpPr>
          <p:nvPr/>
        </p:nvSpPr>
        <p:spPr bwMode="auto">
          <a:xfrm flipV="1">
            <a:off x="5867400" y="3429000"/>
            <a:ext cx="1143000" cy="1600200"/>
          </a:xfrm>
          <a:prstGeom prst="line">
            <a:avLst/>
          </a:prstGeom>
          <a:noFill/>
          <a:ln w="38100">
            <a:solidFill>
              <a:srgbClr val="000000"/>
            </a:solidFill>
            <a:round/>
            <a:headEnd/>
            <a:tailEnd type="stealth" w="lg"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6813" name="Text Box 13"/>
          <p:cNvSpPr txBox="1">
            <a:spLocks noChangeArrowheads="1"/>
          </p:cNvSpPr>
          <p:nvPr/>
        </p:nvSpPr>
        <p:spPr bwMode="auto">
          <a:xfrm>
            <a:off x="6324600" y="4114800"/>
            <a:ext cx="1905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sz="2800" b="0" i="1">
                <a:solidFill>
                  <a:srgbClr val="0033CC"/>
                </a:solidFill>
                <a:latin typeface="Times New Roman" pitchFamily="18" charset="0"/>
                <a:cs typeface="Times New Roman" pitchFamily="18" charset="0"/>
              </a:rPr>
              <a:t>manipulate</a:t>
            </a:r>
          </a:p>
        </p:txBody>
      </p:sp>
      <p:sp>
        <p:nvSpPr>
          <p:cNvPr id="76814" name="Line 14"/>
          <p:cNvSpPr>
            <a:spLocks noChangeShapeType="1"/>
          </p:cNvSpPr>
          <p:nvPr/>
        </p:nvSpPr>
        <p:spPr bwMode="auto">
          <a:xfrm flipH="1" flipV="1">
            <a:off x="2209800" y="3429000"/>
            <a:ext cx="1219200" cy="1600200"/>
          </a:xfrm>
          <a:prstGeom prst="line">
            <a:avLst/>
          </a:prstGeom>
          <a:noFill/>
          <a:ln w="38100">
            <a:solidFill>
              <a:srgbClr val="000000"/>
            </a:solidFill>
            <a:round/>
            <a:headEnd/>
            <a:tailEnd type="stealth" w="lg"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76815" name="Text Box 15"/>
          <p:cNvSpPr txBox="1">
            <a:spLocks noChangeArrowheads="1"/>
          </p:cNvSpPr>
          <p:nvPr/>
        </p:nvSpPr>
        <p:spPr bwMode="auto">
          <a:xfrm>
            <a:off x="1066800" y="4038600"/>
            <a:ext cx="1905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en-US" sz="2800" b="0" i="1">
                <a:solidFill>
                  <a:srgbClr val="0033CC"/>
                </a:solidFill>
                <a:latin typeface="Times New Roman" pitchFamily="18" charset="0"/>
                <a:cs typeface="Times New Roman" pitchFamily="18" charset="0"/>
              </a:rPr>
              <a:t>manipulate</a:t>
            </a:r>
          </a:p>
        </p:txBody>
      </p:sp>
    </p:spTree>
    <p:extLst>
      <p:ext uri="{BB962C8B-B14F-4D97-AF65-F5344CB8AC3E}">
        <p14:creationId xmlns:p14="http://schemas.microsoft.com/office/powerpoint/2010/main" xmlns="" val="4475696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676400" y="533400"/>
            <a:ext cx="4953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endParaRPr lang="en-US"/>
          </a:p>
        </p:txBody>
      </p:sp>
      <p:sp>
        <p:nvSpPr>
          <p:cNvPr id="4099" name="Text Box 3"/>
          <p:cNvSpPr txBox="1">
            <a:spLocks noChangeArrowheads="1"/>
          </p:cNvSpPr>
          <p:nvPr/>
        </p:nvSpPr>
        <p:spPr bwMode="auto">
          <a:xfrm>
            <a:off x="2057400" y="457200"/>
            <a:ext cx="50292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a:solidFill>
                  <a:schemeClr val="tx2"/>
                </a:solidFill>
                <a:latin typeface="Arial" pitchFamily="34" charset="0"/>
              </a:rPr>
              <a:t>What is DHTML?</a:t>
            </a:r>
          </a:p>
        </p:txBody>
      </p:sp>
      <p:sp>
        <p:nvSpPr>
          <p:cNvPr id="4100" name="Text Box 4"/>
          <p:cNvSpPr txBox="1">
            <a:spLocks noChangeArrowheads="1"/>
          </p:cNvSpPr>
          <p:nvPr/>
        </p:nvSpPr>
        <p:spPr bwMode="auto">
          <a:xfrm>
            <a:off x="1219200" y="1219200"/>
            <a:ext cx="73914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endParaRPr lang="en-US"/>
          </a:p>
        </p:txBody>
      </p:sp>
      <p:sp>
        <p:nvSpPr>
          <p:cNvPr id="4101" name="Text Box 5"/>
          <p:cNvSpPr txBox="1">
            <a:spLocks noChangeArrowheads="1"/>
          </p:cNvSpPr>
          <p:nvPr/>
        </p:nvSpPr>
        <p:spPr bwMode="auto">
          <a:xfrm>
            <a:off x="1219200" y="1524000"/>
            <a:ext cx="7391400" cy="5557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40000"/>
              </a:spcBef>
              <a:buClr>
                <a:schemeClr val="tx2"/>
              </a:buClr>
              <a:buSzPct val="90000"/>
              <a:buFont typeface="Wingdings" pitchFamily="2" charset="2"/>
              <a:buChar char="Ø"/>
            </a:pPr>
            <a:r>
              <a:rPr lang="en-US" dirty="0">
                <a:solidFill>
                  <a:schemeClr val="tx2"/>
                </a:solidFill>
                <a:latin typeface="Arial" pitchFamily="34" charset="0"/>
              </a:rPr>
              <a:t>DHTML</a:t>
            </a:r>
            <a:r>
              <a:rPr lang="en-US" dirty="0">
                <a:latin typeface="Arial" pitchFamily="34" charset="0"/>
              </a:rPr>
              <a:t> is the combination of several built-in browser features in fourth generation browsers that enable a web page to be more dynamic.</a:t>
            </a:r>
          </a:p>
          <a:p>
            <a:pPr algn="just" eaLnBrk="1" hangingPunct="1">
              <a:lnSpc>
                <a:spcPct val="90000"/>
              </a:lnSpc>
              <a:spcBef>
                <a:spcPct val="40000"/>
              </a:spcBef>
              <a:buClr>
                <a:schemeClr val="tx2"/>
              </a:buClr>
              <a:buSzPct val="90000"/>
              <a:buFont typeface="Wingdings" pitchFamily="2" charset="2"/>
              <a:buNone/>
            </a:pPr>
            <a:endParaRPr lang="en-US" dirty="0">
              <a:latin typeface="Arial" pitchFamily="34" charset="0"/>
            </a:endParaRPr>
          </a:p>
          <a:p>
            <a:pPr algn="just" eaLnBrk="1" hangingPunct="1">
              <a:lnSpc>
                <a:spcPct val="90000"/>
              </a:lnSpc>
              <a:spcBef>
                <a:spcPct val="40000"/>
              </a:spcBef>
              <a:buClr>
                <a:schemeClr val="tx2"/>
              </a:buClr>
              <a:buSzPct val="90000"/>
              <a:buFont typeface="Wingdings" pitchFamily="2" charset="2"/>
              <a:buChar char="Ø"/>
            </a:pPr>
            <a:r>
              <a:rPr lang="en-US" dirty="0">
                <a:solidFill>
                  <a:schemeClr val="tx2"/>
                </a:solidFill>
                <a:latin typeface="Arial" pitchFamily="34" charset="0"/>
              </a:rPr>
              <a:t>DHTML</a:t>
            </a:r>
            <a:r>
              <a:rPr lang="en-US" dirty="0">
                <a:latin typeface="Arial" pitchFamily="34" charset="0"/>
              </a:rPr>
              <a:t> is </a:t>
            </a:r>
            <a:r>
              <a:rPr lang="en-US" dirty="0">
                <a:solidFill>
                  <a:schemeClr val="tx2"/>
                </a:solidFill>
                <a:latin typeface="Arial" pitchFamily="34" charset="0"/>
              </a:rPr>
              <a:t>NOT</a:t>
            </a:r>
            <a:r>
              <a:rPr lang="en-US" dirty="0">
                <a:latin typeface="Arial" pitchFamily="34" charset="0"/>
              </a:rPr>
              <a:t> a scripting language (like JavaScript or </a:t>
            </a:r>
            <a:r>
              <a:rPr lang="en-US" dirty="0" err="1">
                <a:latin typeface="Arial" pitchFamily="34" charset="0"/>
              </a:rPr>
              <a:t>VBscript</a:t>
            </a:r>
            <a:r>
              <a:rPr lang="en-US" dirty="0">
                <a:latin typeface="Arial" pitchFamily="34" charset="0"/>
              </a:rPr>
              <a:t>), but a browser feature- or enhancement- that makes the browser dynamic</a:t>
            </a:r>
          </a:p>
          <a:p>
            <a:pPr algn="just" eaLnBrk="1" hangingPunct="1">
              <a:lnSpc>
                <a:spcPct val="90000"/>
              </a:lnSpc>
              <a:spcBef>
                <a:spcPct val="40000"/>
              </a:spcBef>
              <a:buClr>
                <a:schemeClr val="tx2"/>
              </a:buClr>
              <a:buSzPct val="90000"/>
              <a:buFont typeface="Wingdings" pitchFamily="2" charset="2"/>
              <a:buNone/>
            </a:pPr>
            <a:endParaRPr lang="en-US" dirty="0">
              <a:latin typeface="Arial" pitchFamily="34" charset="0"/>
            </a:endParaRPr>
          </a:p>
          <a:p>
            <a:pPr algn="just" eaLnBrk="1" hangingPunct="1">
              <a:lnSpc>
                <a:spcPct val="90000"/>
              </a:lnSpc>
              <a:spcBef>
                <a:spcPct val="40000"/>
              </a:spcBef>
              <a:buClr>
                <a:schemeClr val="tx2"/>
              </a:buClr>
              <a:buSzPct val="90000"/>
              <a:buFont typeface="Wingdings" pitchFamily="2" charset="2"/>
              <a:buChar char="Ø"/>
            </a:pPr>
            <a:r>
              <a:rPr lang="en-US" dirty="0">
                <a:latin typeface="Arial" pitchFamily="34" charset="0"/>
              </a:rPr>
              <a:t>It uses a host of different technologies - </a:t>
            </a:r>
            <a:r>
              <a:rPr lang="en-US" dirty="0">
                <a:solidFill>
                  <a:schemeClr val="tx2"/>
                </a:solidFill>
                <a:latin typeface="Arial" pitchFamily="34" charset="0"/>
              </a:rPr>
              <a:t>JavaScript</a:t>
            </a:r>
            <a:r>
              <a:rPr lang="en-US" dirty="0">
                <a:latin typeface="Arial" pitchFamily="34" charset="0"/>
              </a:rPr>
              <a:t>, </a:t>
            </a:r>
            <a:r>
              <a:rPr lang="en-US" dirty="0">
                <a:solidFill>
                  <a:schemeClr val="tx2"/>
                </a:solidFill>
                <a:latin typeface="Arial" pitchFamily="34" charset="0"/>
              </a:rPr>
              <a:t>VBScript</a:t>
            </a:r>
            <a:r>
              <a:rPr lang="en-US" dirty="0">
                <a:latin typeface="Arial" pitchFamily="34" charset="0"/>
              </a:rPr>
              <a:t>, the </a:t>
            </a:r>
            <a:r>
              <a:rPr lang="en-US" dirty="0">
                <a:solidFill>
                  <a:schemeClr val="tx2"/>
                </a:solidFill>
                <a:latin typeface="Arial" pitchFamily="34" charset="0"/>
              </a:rPr>
              <a:t>Document Object Model (DOM)</a:t>
            </a:r>
            <a:r>
              <a:rPr lang="en-US" dirty="0">
                <a:latin typeface="Arial" pitchFamily="34" charset="0"/>
              </a:rPr>
              <a:t>, </a:t>
            </a:r>
            <a:r>
              <a:rPr lang="en-US" dirty="0">
                <a:solidFill>
                  <a:schemeClr val="tx2"/>
                </a:solidFill>
                <a:latin typeface="Arial" pitchFamily="34" charset="0"/>
              </a:rPr>
              <a:t>layers</a:t>
            </a:r>
            <a:r>
              <a:rPr lang="en-US" dirty="0">
                <a:latin typeface="Arial" pitchFamily="34" charset="0"/>
              </a:rPr>
              <a:t>, </a:t>
            </a:r>
            <a:r>
              <a:rPr lang="en-US" dirty="0">
                <a:solidFill>
                  <a:schemeClr val="tx2"/>
                </a:solidFill>
                <a:latin typeface="Arial" pitchFamily="34" charset="0"/>
              </a:rPr>
              <a:t>cascading </a:t>
            </a:r>
            <a:r>
              <a:rPr lang="en-US" dirty="0" err="1">
                <a:solidFill>
                  <a:schemeClr val="tx2"/>
                </a:solidFill>
                <a:latin typeface="Arial" pitchFamily="34" charset="0"/>
              </a:rPr>
              <a:t>stylesheets</a:t>
            </a:r>
            <a:r>
              <a:rPr lang="en-US" dirty="0">
                <a:latin typeface="Arial" pitchFamily="34" charset="0"/>
              </a:rPr>
              <a:t> - to create HTML that can change even after a page has been loaded into a browser</a:t>
            </a:r>
          </a:p>
          <a:p>
            <a:pPr algn="just" eaLnBrk="1" hangingPunct="1">
              <a:spcBef>
                <a:spcPct val="50000"/>
              </a:spcBef>
            </a:pPr>
            <a:endParaRPr lang="en-US" dirty="0">
              <a:latin typeface="Arial" pitchFamily="34" charset="0"/>
            </a:endParaRPr>
          </a:p>
        </p:txBody>
      </p:sp>
    </p:spTree>
    <p:extLst>
      <p:ext uri="{BB962C8B-B14F-4D97-AF65-F5344CB8AC3E}">
        <p14:creationId xmlns:p14="http://schemas.microsoft.com/office/powerpoint/2010/main" xmlns="" val="24526319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676400" y="487363"/>
            <a:ext cx="5715000" cy="579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a:solidFill>
                  <a:schemeClr val="tx2"/>
                </a:solidFill>
                <a:latin typeface="Arial" pitchFamily="34" charset="0"/>
              </a:rPr>
              <a:t>What is DHTML?</a:t>
            </a:r>
          </a:p>
        </p:txBody>
      </p:sp>
      <p:sp>
        <p:nvSpPr>
          <p:cNvPr id="5123" name="Text Box 3"/>
          <p:cNvSpPr txBox="1">
            <a:spLocks noChangeArrowheads="1"/>
          </p:cNvSpPr>
          <p:nvPr/>
        </p:nvSpPr>
        <p:spPr bwMode="auto">
          <a:xfrm>
            <a:off x="1219200" y="1495425"/>
            <a:ext cx="7391400" cy="52645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ts val="500"/>
              </a:spcBef>
              <a:spcAft>
                <a:spcPts val="500"/>
              </a:spcAft>
              <a:buClr>
                <a:schemeClr val="tx2"/>
              </a:buClr>
              <a:buSzPct val="90000"/>
              <a:buFont typeface="Wingdings" pitchFamily="2" charset="2"/>
              <a:buChar char="Ø"/>
            </a:pPr>
            <a:r>
              <a:rPr lang="en-US" dirty="0">
                <a:latin typeface="Arial" pitchFamily="34" charset="0"/>
              </a:rPr>
              <a:t>It is considered to be made up of</a:t>
            </a:r>
          </a:p>
          <a:p>
            <a:pPr lvl="1" algn="just" eaLnBrk="1" hangingPunct="1">
              <a:lnSpc>
                <a:spcPct val="90000"/>
              </a:lnSpc>
              <a:spcBef>
                <a:spcPts val="500"/>
              </a:spcBef>
              <a:spcAft>
                <a:spcPts val="500"/>
              </a:spcAft>
              <a:buFontTx/>
              <a:buChar char="–"/>
            </a:pPr>
            <a:r>
              <a:rPr lang="en-US" dirty="0">
                <a:solidFill>
                  <a:schemeClr val="tx2"/>
                </a:solidFill>
                <a:latin typeface="Arial" pitchFamily="34" charset="0"/>
              </a:rPr>
              <a:t>HTML</a:t>
            </a:r>
          </a:p>
          <a:p>
            <a:pPr lvl="1" algn="just" eaLnBrk="1" hangingPunct="1">
              <a:lnSpc>
                <a:spcPct val="90000"/>
              </a:lnSpc>
              <a:spcBef>
                <a:spcPts val="500"/>
              </a:spcBef>
              <a:spcAft>
                <a:spcPts val="500"/>
              </a:spcAft>
              <a:buFontTx/>
              <a:buChar char="–"/>
            </a:pPr>
            <a:r>
              <a:rPr lang="en-US" dirty="0">
                <a:solidFill>
                  <a:schemeClr val="tx2"/>
                </a:solidFill>
                <a:latin typeface="Arial" pitchFamily="34" charset="0"/>
              </a:rPr>
              <a:t>Cascading Style Sheets (CSS)</a:t>
            </a:r>
          </a:p>
          <a:p>
            <a:pPr lvl="1" algn="just" eaLnBrk="1" hangingPunct="1">
              <a:lnSpc>
                <a:spcPct val="90000"/>
              </a:lnSpc>
              <a:spcBef>
                <a:spcPts val="500"/>
              </a:spcBef>
              <a:spcAft>
                <a:spcPts val="500"/>
              </a:spcAft>
              <a:buFontTx/>
              <a:buChar char="–"/>
            </a:pPr>
            <a:r>
              <a:rPr lang="en-US" dirty="0">
                <a:solidFill>
                  <a:schemeClr val="tx2"/>
                </a:solidFill>
                <a:latin typeface="Arial" pitchFamily="34" charset="0"/>
              </a:rPr>
              <a:t>Scripting language</a:t>
            </a:r>
          </a:p>
          <a:p>
            <a:pPr lvl="1" algn="just" eaLnBrk="1" hangingPunct="1">
              <a:lnSpc>
                <a:spcPct val="90000"/>
              </a:lnSpc>
              <a:spcBef>
                <a:spcPts val="500"/>
              </a:spcBef>
              <a:spcAft>
                <a:spcPts val="500"/>
              </a:spcAft>
            </a:pPr>
            <a:endParaRPr lang="en-US" dirty="0">
              <a:solidFill>
                <a:schemeClr val="tx2"/>
              </a:solidFill>
              <a:latin typeface="Arial" pitchFamily="34" charset="0"/>
            </a:endParaRPr>
          </a:p>
          <a:p>
            <a:pPr algn="just" eaLnBrk="1" hangingPunct="1">
              <a:lnSpc>
                <a:spcPct val="90000"/>
              </a:lnSpc>
              <a:spcBef>
                <a:spcPts val="500"/>
              </a:spcBef>
              <a:spcAft>
                <a:spcPts val="500"/>
              </a:spcAft>
              <a:buClr>
                <a:schemeClr val="tx2"/>
              </a:buClr>
              <a:buSzPct val="90000"/>
              <a:buFont typeface="Wingdings" pitchFamily="2" charset="2"/>
              <a:buChar char="Ø"/>
            </a:pPr>
            <a:r>
              <a:rPr lang="en-US" dirty="0">
                <a:latin typeface="Arial" pitchFamily="34" charset="0"/>
              </a:rPr>
              <a:t>All three of these components are linked via </a:t>
            </a:r>
            <a:r>
              <a:rPr lang="en-US" dirty="0">
                <a:solidFill>
                  <a:schemeClr val="tx2"/>
                </a:solidFill>
                <a:latin typeface="Arial" pitchFamily="34" charset="0"/>
              </a:rPr>
              <a:t>Document Object Model (DOM) </a:t>
            </a:r>
          </a:p>
          <a:p>
            <a:pPr algn="just" eaLnBrk="1" hangingPunct="1">
              <a:lnSpc>
                <a:spcPct val="90000"/>
              </a:lnSpc>
              <a:spcBef>
                <a:spcPts val="500"/>
              </a:spcBef>
              <a:spcAft>
                <a:spcPts val="500"/>
              </a:spcAft>
              <a:buClr>
                <a:schemeClr val="tx2"/>
              </a:buClr>
              <a:buSzPct val="90000"/>
              <a:buFont typeface="Wingdings" pitchFamily="2" charset="2"/>
              <a:buNone/>
            </a:pPr>
            <a:endParaRPr lang="en-US" dirty="0">
              <a:solidFill>
                <a:schemeClr val="tx2"/>
              </a:solidFill>
              <a:latin typeface="Arial" pitchFamily="34" charset="0"/>
            </a:endParaRPr>
          </a:p>
          <a:p>
            <a:pPr algn="just" eaLnBrk="1" hangingPunct="1">
              <a:lnSpc>
                <a:spcPct val="90000"/>
              </a:lnSpc>
              <a:spcBef>
                <a:spcPts val="500"/>
              </a:spcBef>
              <a:spcAft>
                <a:spcPts val="500"/>
              </a:spcAft>
              <a:buClr>
                <a:schemeClr val="tx2"/>
              </a:buClr>
              <a:buSzPct val="90000"/>
              <a:buFont typeface="Wingdings" pitchFamily="2" charset="2"/>
              <a:buChar char="Ø"/>
            </a:pPr>
            <a:r>
              <a:rPr lang="en-US" b="1" i="1" dirty="0">
                <a:latin typeface="Arial" pitchFamily="34" charset="0"/>
              </a:rPr>
              <a:t>DOM</a:t>
            </a:r>
            <a:r>
              <a:rPr lang="en-US" i="1" dirty="0">
                <a:latin typeface="Arial" pitchFamily="34" charset="0"/>
              </a:rPr>
              <a:t> is the interface that allows scripting languages to access the content, style, and structure of the web documents and change them dynamically</a:t>
            </a:r>
          </a:p>
          <a:p>
            <a:pPr algn="just" eaLnBrk="1" hangingPunct="1">
              <a:spcBef>
                <a:spcPct val="50000"/>
              </a:spcBef>
            </a:pPr>
            <a:endParaRPr lang="en-US" dirty="0">
              <a:latin typeface="Arial" pitchFamily="34" charset="0"/>
            </a:endParaRPr>
          </a:p>
        </p:txBody>
      </p:sp>
    </p:spTree>
    <p:extLst>
      <p:ext uri="{BB962C8B-B14F-4D97-AF65-F5344CB8AC3E}">
        <p14:creationId xmlns:p14="http://schemas.microsoft.com/office/powerpoint/2010/main" xmlns="" val="39848576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600200" y="457200"/>
            <a:ext cx="59436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a:solidFill>
                  <a:schemeClr val="tx2"/>
                </a:solidFill>
                <a:latin typeface="Arial" pitchFamily="34" charset="0"/>
              </a:rPr>
              <a:t>Tools of DTHML</a:t>
            </a:r>
          </a:p>
        </p:txBody>
      </p:sp>
      <p:sp>
        <p:nvSpPr>
          <p:cNvPr id="6147" name="Text Box 3"/>
          <p:cNvSpPr txBox="1">
            <a:spLocks noChangeArrowheads="1"/>
          </p:cNvSpPr>
          <p:nvPr/>
        </p:nvSpPr>
        <p:spPr bwMode="auto">
          <a:xfrm>
            <a:off x="1371600" y="1373188"/>
            <a:ext cx="7391400" cy="6260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buClr>
                <a:schemeClr val="tx2"/>
              </a:buClr>
              <a:buSzPct val="90000"/>
              <a:buFont typeface="Wingdings" pitchFamily="2" charset="2"/>
              <a:buChar char="Ø"/>
            </a:pPr>
            <a:r>
              <a:rPr lang="en-US" dirty="0">
                <a:solidFill>
                  <a:schemeClr val="tx2"/>
                </a:solidFill>
                <a:latin typeface="Arial" pitchFamily="34" charset="0"/>
              </a:rPr>
              <a:t>HTML and XML</a:t>
            </a:r>
          </a:p>
          <a:p>
            <a:pPr lvl="1" eaLnBrk="1" hangingPunct="1">
              <a:spcBef>
                <a:spcPct val="20000"/>
              </a:spcBef>
              <a:buFontTx/>
              <a:buChar char="–"/>
            </a:pPr>
            <a:r>
              <a:rPr lang="en-US" dirty="0">
                <a:latin typeface="Arial" pitchFamily="34" charset="0"/>
              </a:rPr>
              <a:t>Partitions and Organizes the content</a:t>
            </a:r>
          </a:p>
          <a:p>
            <a:pPr lvl="1" eaLnBrk="1" hangingPunct="1">
              <a:spcBef>
                <a:spcPct val="20000"/>
              </a:spcBef>
              <a:buFontTx/>
              <a:buChar char="–"/>
            </a:pPr>
            <a:endParaRPr lang="en-US" dirty="0">
              <a:latin typeface="Arial" pitchFamily="34" charset="0"/>
            </a:endParaRPr>
          </a:p>
          <a:p>
            <a:pPr eaLnBrk="1" hangingPunct="1">
              <a:spcBef>
                <a:spcPct val="20000"/>
              </a:spcBef>
              <a:buClr>
                <a:schemeClr val="tx2"/>
              </a:buClr>
              <a:buSzPct val="90000"/>
              <a:buFont typeface="Wingdings" pitchFamily="2" charset="2"/>
              <a:buChar char="Ø"/>
            </a:pPr>
            <a:r>
              <a:rPr lang="en-US" dirty="0">
                <a:solidFill>
                  <a:schemeClr val="tx2"/>
                </a:solidFill>
                <a:latin typeface="Arial" pitchFamily="34" charset="0"/>
              </a:rPr>
              <a:t>CSS</a:t>
            </a:r>
          </a:p>
          <a:p>
            <a:pPr lvl="1" eaLnBrk="1" hangingPunct="1">
              <a:spcBef>
                <a:spcPct val="20000"/>
              </a:spcBef>
              <a:buFontTx/>
              <a:buChar char="–"/>
            </a:pPr>
            <a:r>
              <a:rPr lang="en-US" dirty="0">
                <a:latin typeface="Arial" pitchFamily="34" charset="0"/>
              </a:rPr>
              <a:t>Defines the Presentation of the content</a:t>
            </a:r>
          </a:p>
          <a:p>
            <a:pPr lvl="1" eaLnBrk="1" hangingPunct="1">
              <a:spcBef>
                <a:spcPct val="20000"/>
              </a:spcBef>
              <a:buFontTx/>
              <a:buChar char="–"/>
            </a:pPr>
            <a:endParaRPr lang="en-US" dirty="0">
              <a:latin typeface="Arial" pitchFamily="34" charset="0"/>
            </a:endParaRPr>
          </a:p>
          <a:p>
            <a:pPr eaLnBrk="1" hangingPunct="1">
              <a:spcBef>
                <a:spcPct val="20000"/>
              </a:spcBef>
              <a:buClr>
                <a:schemeClr val="tx2"/>
              </a:buClr>
              <a:buSzPct val="90000"/>
              <a:buFont typeface="Wingdings" pitchFamily="2" charset="2"/>
              <a:buChar char="Ø"/>
            </a:pPr>
            <a:r>
              <a:rPr lang="en-US" dirty="0">
                <a:solidFill>
                  <a:schemeClr val="tx2"/>
                </a:solidFill>
                <a:latin typeface="Arial" pitchFamily="34" charset="0"/>
              </a:rPr>
              <a:t>Scripting - JavaScript, </a:t>
            </a:r>
            <a:r>
              <a:rPr lang="en-US" dirty="0" err="1">
                <a:solidFill>
                  <a:schemeClr val="tx2"/>
                </a:solidFill>
                <a:latin typeface="Arial" pitchFamily="34" charset="0"/>
              </a:rPr>
              <a:t>JScript</a:t>
            </a:r>
            <a:r>
              <a:rPr lang="en-US" dirty="0">
                <a:solidFill>
                  <a:schemeClr val="tx2"/>
                </a:solidFill>
                <a:latin typeface="Arial" pitchFamily="34" charset="0"/>
              </a:rPr>
              <a:t>, VBScript </a:t>
            </a:r>
          </a:p>
          <a:p>
            <a:pPr lvl="1" eaLnBrk="1" hangingPunct="1">
              <a:spcBef>
                <a:spcPct val="20000"/>
              </a:spcBef>
              <a:buFontTx/>
              <a:buChar char="–"/>
            </a:pPr>
            <a:r>
              <a:rPr lang="en-US" dirty="0">
                <a:latin typeface="Arial" pitchFamily="34" charset="0"/>
              </a:rPr>
              <a:t>Adds interactivity to the page</a:t>
            </a:r>
          </a:p>
          <a:p>
            <a:pPr lvl="1" eaLnBrk="1" hangingPunct="1">
              <a:spcBef>
                <a:spcPct val="20000"/>
              </a:spcBef>
              <a:buFontTx/>
              <a:buChar char="–"/>
            </a:pPr>
            <a:endParaRPr lang="en-US" dirty="0">
              <a:latin typeface="Arial" pitchFamily="34" charset="0"/>
            </a:endParaRPr>
          </a:p>
          <a:p>
            <a:pPr eaLnBrk="1" hangingPunct="1">
              <a:spcBef>
                <a:spcPct val="20000"/>
              </a:spcBef>
              <a:buClr>
                <a:schemeClr val="tx2"/>
              </a:buClr>
              <a:buSzPct val="90000"/>
              <a:buFont typeface="Wingdings" pitchFamily="2" charset="2"/>
              <a:buChar char="Ø"/>
            </a:pPr>
            <a:r>
              <a:rPr lang="en-US" b="1" i="1" dirty="0">
                <a:solidFill>
                  <a:schemeClr val="tx2"/>
                </a:solidFill>
                <a:latin typeface="Arial" pitchFamily="34" charset="0"/>
              </a:rPr>
              <a:t>DOM- Document Object Model</a:t>
            </a:r>
          </a:p>
          <a:p>
            <a:pPr lvl="1" eaLnBrk="1" hangingPunct="1">
              <a:spcBef>
                <a:spcPct val="20000"/>
              </a:spcBef>
              <a:buFontTx/>
              <a:buChar char="–"/>
            </a:pPr>
            <a:r>
              <a:rPr lang="en-US" b="1" i="1" dirty="0">
                <a:latin typeface="Arial" pitchFamily="34" charset="0"/>
              </a:rPr>
              <a:t>Defines what and how elements are exposed for script access</a:t>
            </a:r>
          </a:p>
          <a:p>
            <a:pPr eaLnBrk="1" hangingPunct="1">
              <a:spcBef>
                <a:spcPct val="20000"/>
              </a:spcBef>
              <a:buClr>
                <a:schemeClr val="tx2"/>
              </a:buClr>
              <a:buSzPct val="90000"/>
              <a:buFont typeface="Wingdings" pitchFamily="2" charset="2"/>
              <a:buChar char="Ú"/>
            </a:pPr>
            <a:endParaRPr lang="en-US" dirty="0">
              <a:latin typeface="Arial" pitchFamily="34" charset="0"/>
            </a:endParaRPr>
          </a:p>
          <a:p>
            <a:pPr eaLnBrk="1" hangingPunct="1">
              <a:spcBef>
                <a:spcPct val="50000"/>
              </a:spcBef>
            </a:pPr>
            <a:endParaRPr lang="en-US" dirty="0">
              <a:latin typeface="Arial" pitchFamily="34" charset="0"/>
            </a:endParaRPr>
          </a:p>
        </p:txBody>
      </p:sp>
    </p:spTree>
    <p:extLst>
      <p:ext uri="{BB962C8B-B14F-4D97-AF65-F5344CB8AC3E}">
        <p14:creationId xmlns:p14="http://schemas.microsoft.com/office/powerpoint/2010/main" xmlns="" val="27918971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762000" y="457200"/>
            <a:ext cx="8077200" cy="5539978"/>
          </a:xfrm>
          <a:prstGeom prst="rect">
            <a:avLst/>
          </a:prstGeom>
          <a:noFill/>
          <a:ln w="9525">
            <a:noFill/>
            <a:miter lim="800000"/>
            <a:headEnd/>
            <a:tailEnd/>
          </a:ln>
        </p:spPr>
        <p:txBody>
          <a:bodyPr wrap="square">
            <a:spAutoFit/>
          </a:bodyPr>
          <a:lstStyle/>
          <a:p>
            <a:pPr algn="just">
              <a:defRPr/>
            </a:pPr>
            <a:r>
              <a:rPr lang="en-US" sz="3200" b="1" dirty="0" smtClean="0">
                <a:solidFill>
                  <a:schemeClr val="accent1">
                    <a:lumMod val="50000"/>
                  </a:schemeClr>
                </a:solidFill>
              </a:rPr>
              <a:t>Components </a:t>
            </a:r>
            <a:r>
              <a:rPr lang="en-US" sz="3200" b="1" dirty="0">
                <a:solidFill>
                  <a:schemeClr val="accent1">
                    <a:lumMod val="50000"/>
                  </a:schemeClr>
                </a:solidFill>
              </a:rPr>
              <a:t>of DHTML</a:t>
            </a:r>
          </a:p>
          <a:p>
            <a:pPr algn="just">
              <a:defRPr/>
            </a:pPr>
            <a:endParaRPr lang="en-US" b="1" dirty="0"/>
          </a:p>
          <a:p>
            <a:pPr marL="342900" indent="-342900" algn="just">
              <a:defRPr/>
            </a:pPr>
            <a:r>
              <a:rPr lang="en-US" altLang="zh-CN" sz="1800" dirty="0">
                <a:solidFill>
                  <a:schemeClr val="tx2"/>
                </a:solidFill>
                <a:latin typeface="Arial" charset="0"/>
                <a:ea typeface="宋体" pitchFamily="2" charset="-122"/>
              </a:rPr>
              <a:t>DHTML requires four independent components to work: HTML, Cascading Style Sheets, Scripting and the Document Object Model. The section provides a brief description of each component. </a:t>
            </a:r>
          </a:p>
          <a:p>
            <a:pPr lvl="1" algn="just">
              <a:defRPr/>
            </a:pPr>
            <a:endParaRPr lang="en-US" altLang="zh-CN" sz="1800" dirty="0">
              <a:solidFill>
                <a:schemeClr val="tx2"/>
              </a:solidFill>
              <a:latin typeface="Arial" charset="0"/>
              <a:ea typeface="宋体" pitchFamily="2" charset="-122"/>
            </a:endParaRPr>
          </a:p>
          <a:p>
            <a:pPr marL="800100" lvl="1" indent="-342900" algn="just">
              <a:buFont typeface="+mj-lt"/>
              <a:buAutoNum type="arabicPeriod"/>
              <a:defRPr/>
            </a:pPr>
            <a:r>
              <a:rPr lang="en-US" altLang="zh-CN" sz="1800" b="1" dirty="0">
                <a:solidFill>
                  <a:schemeClr val="tx2"/>
                </a:solidFill>
                <a:latin typeface="Arial" charset="0"/>
                <a:ea typeface="宋体" pitchFamily="2" charset="-122"/>
              </a:rPr>
              <a:t>HTML: </a:t>
            </a:r>
          </a:p>
          <a:p>
            <a:pPr lvl="1" algn="just">
              <a:defRPr/>
            </a:pPr>
            <a:r>
              <a:rPr lang="en-US" altLang="zh-CN" sz="1800" dirty="0">
                <a:solidFill>
                  <a:schemeClr val="tx2"/>
                </a:solidFill>
                <a:latin typeface="Arial" charset="0"/>
                <a:ea typeface="宋体" pitchFamily="2" charset="-122"/>
              </a:rPr>
              <a:t>HTML defines the structure of a Web page, using such basic elements as headings, forms, tables, paragraphs and links. On December 18, 1997, HTML 4.0 attained "recommended" status at the W3C. Changes and enhancements introduced in HTML 4.0 made DHTML possible. </a:t>
            </a:r>
          </a:p>
          <a:p>
            <a:pPr lvl="1" algn="just">
              <a:defRPr/>
            </a:pPr>
            <a:endParaRPr lang="en-US" altLang="zh-CN" sz="1800" dirty="0">
              <a:solidFill>
                <a:schemeClr val="tx2"/>
              </a:solidFill>
              <a:latin typeface="Arial" charset="0"/>
              <a:ea typeface="宋体" pitchFamily="2" charset="-122"/>
            </a:endParaRPr>
          </a:p>
          <a:p>
            <a:pPr marL="800100" lvl="1" indent="-342900" algn="just">
              <a:defRPr/>
            </a:pPr>
            <a:r>
              <a:rPr lang="en-US" altLang="zh-CN" sz="1800" b="1" dirty="0">
                <a:solidFill>
                  <a:schemeClr val="tx2"/>
                </a:solidFill>
                <a:latin typeface="Arial" charset="0"/>
                <a:ea typeface="宋体" pitchFamily="2" charset="-122"/>
              </a:rPr>
              <a:t>2. Cascading Style Sheets (CSS): </a:t>
            </a:r>
            <a:r>
              <a:rPr lang="en-US" altLang="zh-CN" sz="1800" dirty="0">
                <a:solidFill>
                  <a:schemeClr val="tx2"/>
                </a:solidFill>
                <a:latin typeface="Arial" charset="0"/>
                <a:ea typeface="宋体" pitchFamily="2" charset="-122"/>
              </a:rPr>
              <a:t>Similar to a template in a word-processing document, a style sheet controls the formatting of HTML elements. Like in traditional desktop publishing, one can use style sheet to specify page margins, point sizes and leading. Cascading Style Sheets is a method to determine precedence and to resolve conflicts when multiple styles are used. </a:t>
            </a:r>
          </a:p>
          <a:p>
            <a:pPr lvl="1" algn="just">
              <a:defRPr/>
            </a:pPr>
            <a:endParaRPr lang="en-US" sz="1600" dirty="0"/>
          </a:p>
        </p:txBody>
      </p:sp>
    </p:spTree>
    <p:extLst>
      <p:ext uri="{BB962C8B-B14F-4D97-AF65-F5344CB8AC3E}">
        <p14:creationId xmlns:p14="http://schemas.microsoft.com/office/powerpoint/2010/main" xmlns="" val="36656724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533400" y="609600"/>
            <a:ext cx="8077200" cy="5632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lvl="1" algn="just"/>
            <a:r>
              <a:rPr lang="en-US" altLang="zh-CN" sz="1800" b="1" dirty="0">
                <a:solidFill>
                  <a:schemeClr val="tx2"/>
                </a:solidFill>
                <a:latin typeface="Arial" pitchFamily="34" charset="0"/>
                <a:ea typeface="宋体" pitchFamily="2" charset="-122"/>
              </a:rPr>
              <a:t>3. Scripting: </a:t>
            </a:r>
          </a:p>
          <a:p>
            <a:pPr lvl="1" algn="just"/>
            <a:endParaRPr lang="en-US" altLang="zh-CN" sz="1800" dirty="0">
              <a:solidFill>
                <a:schemeClr val="tx2"/>
              </a:solidFill>
              <a:latin typeface="Arial" pitchFamily="34" charset="0"/>
              <a:ea typeface="宋体" pitchFamily="2" charset="-122"/>
            </a:endParaRPr>
          </a:p>
          <a:p>
            <a:pPr lvl="1" algn="just"/>
            <a:r>
              <a:rPr lang="en-US" altLang="zh-CN" sz="1800" dirty="0">
                <a:solidFill>
                  <a:schemeClr val="tx2"/>
                </a:solidFill>
                <a:latin typeface="Arial" pitchFamily="34" charset="0"/>
                <a:ea typeface="宋体" pitchFamily="2" charset="-122"/>
              </a:rPr>
              <a:t>Scripting provides the mechanisms to interpret user actions and produce client-side changes to a page. For example, scripts can interpret mouse actions (such as the mouse passing over a specified area of a page through the event model) and respond to the action by using a set of predefined instructions (such as highlighting the text activated by the mouse action). Although DHTML can communicate with several scripting languages, JavaScript is the de facto standard for creating cross-browser DHTML pages. </a:t>
            </a:r>
          </a:p>
          <a:p>
            <a:pPr lvl="1" algn="just"/>
            <a:endParaRPr lang="en-US" altLang="zh-CN" sz="1800" dirty="0">
              <a:solidFill>
                <a:schemeClr val="tx2"/>
              </a:solidFill>
              <a:latin typeface="Arial" pitchFamily="34" charset="0"/>
              <a:ea typeface="宋体" pitchFamily="2" charset="-122"/>
            </a:endParaRPr>
          </a:p>
          <a:p>
            <a:pPr lvl="1" algn="just"/>
            <a:r>
              <a:rPr lang="en-US" altLang="zh-CN" sz="1800" b="1" dirty="0">
                <a:solidFill>
                  <a:schemeClr val="tx2"/>
                </a:solidFill>
                <a:latin typeface="Arial" pitchFamily="34" charset="0"/>
                <a:ea typeface="宋体" pitchFamily="2" charset="-122"/>
              </a:rPr>
              <a:t>4. Document Object Model (DOM):</a:t>
            </a:r>
          </a:p>
          <a:p>
            <a:pPr lvl="1" algn="just"/>
            <a:endParaRPr lang="en-US" altLang="zh-CN" sz="1800" b="1" dirty="0">
              <a:solidFill>
                <a:schemeClr val="tx2"/>
              </a:solidFill>
              <a:latin typeface="Arial" pitchFamily="34" charset="0"/>
              <a:ea typeface="宋体" pitchFamily="2" charset="-122"/>
            </a:endParaRPr>
          </a:p>
          <a:p>
            <a:pPr lvl="1" algn="just"/>
            <a:r>
              <a:rPr lang="en-US" altLang="zh-CN" sz="1800" dirty="0">
                <a:solidFill>
                  <a:schemeClr val="tx2"/>
                </a:solidFill>
                <a:latin typeface="Arial" pitchFamily="34" charset="0"/>
                <a:ea typeface="宋体" pitchFamily="2" charset="-122"/>
              </a:rPr>
              <a:t> The DOM outlines Web page content in a way that makes it possible for HTML elements, style sheets and scripting languages to interact with each other. The W3C defines the </a:t>
            </a:r>
            <a:r>
              <a:rPr lang="en-US" altLang="zh-CN" sz="1800" b="1" i="1" dirty="0">
                <a:solidFill>
                  <a:schemeClr val="tx2"/>
                </a:solidFill>
                <a:latin typeface="Arial" pitchFamily="34" charset="0"/>
                <a:ea typeface="宋体" pitchFamily="2" charset="-122"/>
              </a:rPr>
              <a:t>DOM as "a platform- and language-neutral interface that will allow programs and scripts to dynamically access and update the content, structure, and style of documents. The document can be further processed and the results of that processing can be incorporated back into the presented stage." </a:t>
            </a:r>
          </a:p>
        </p:txBody>
      </p:sp>
    </p:spTree>
    <p:extLst>
      <p:ext uri="{BB962C8B-B14F-4D97-AF65-F5344CB8AC3E}">
        <p14:creationId xmlns:p14="http://schemas.microsoft.com/office/powerpoint/2010/main" xmlns="" val="24501186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a:spLocks noChangeArrowheads="1"/>
          </p:cNvSpPr>
          <p:nvPr/>
        </p:nvSpPr>
        <p:spPr bwMode="auto">
          <a:xfrm>
            <a:off x="1371600" y="2895600"/>
            <a:ext cx="6629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dirty="0">
                <a:solidFill>
                  <a:schemeClr val="tx2"/>
                </a:solidFill>
                <a:latin typeface="Arial" pitchFamily="34" charset="0"/>
              </a:rPr>
              <a:t>DOM – Document Object Model</a:t>
            </a:r>
          </a:p>
        </p:txBody>
      </p:sp>
    </p:spTree>
    <p:extLst>
      <p:ext uri="{BB962C8B-B14F-4D97-AF65-F5344CB8AC3E}">
        <p14:creationId xmlns:p14="http://schemas.microsoft.com/office/powerpoint/2010/main" xmlns="" val="7350715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173163" y="304800"/>
            <a:ext cx="7772400" cy="685800"/>
          </a:xfrm>
        </p:spPr>
        <p:txBody>
          <a:bodyPr>
            <a:normAutofit fontScale="90000"/>
          </a:bodyPr>
          <a:lstStyle/>
          <a:p>
            <a:pPr eaLnBrk="1" hangingPunct="1"/>
            <a:r>
              <a:rPr lang="en-US" dirty="0" smtClean="0"/>
              <a:t> DOM Introduction</a:t>
            </a:r>
          </a:p>
        </p:txBody>
      </p:sp>
      <p:sp>
        <p:nvSpPr>
          <p:cNvPr id="10243" name="Rectangle 3"/>
          <p:cNvSpPr>
            <a:spLocks noGrp="1" noChangeArrowheads="1"/>
          </p:cNvSpPr>
          <p:nvPr>
            <p:ph type="body" idx="1"/>
          </p:nvPr>
        </p:nvSpPr>
        <p:spPr>
          <a:xfrm>
            <a:off x="762000" y="1219200"/>
            <a:ext cx="7772400" cy="5257800"/>
          </a:xfrm>
        </p:spPr>
        <p:txBody>
          <a:bodyPr>
            <a:normAutofit fontScale="92500" lnSpcReduction="20000"/>
          </a:bodyPr>
          <a:lstStyle/>
          <a:p>
            <a:pPr algn="just" eaLnBrk="1" hangingPunct="1"/>
            <a:r>
              <a:rPr lang="en-US" dirty="0" smtClean="0"/>
              <a:t>Dynamic HTML object model</a:t>
            </a:r>
          </a:p>
          <a:p>
            <a:pPr algn="just" eaLnBrk="1" hangingPunct="1"/>
            <a:endParaRPr lang="en-US" dirty="0" smtClean="0"/>
          </a:p>
          <a:p>
            <a:pPr lvl="1" algn="just" eaLnBrk="1" hangingPunct="1"/>
            <a:r>
              <a:rPr lang="en-US" sz="2400" dirty="0" smtClean="0"/>
              <a:t>“The Document Object Model (DOM) is an application programming interface (API) for HTML and XML documents. It defines the logical structure of documents and the way a document is accessed and manipulated.” </a:t>
            </a:r>
          </a:p>
          <a:p>
            <a:pPr lvl="1" algn="just" eaLnBrk="1" hangingPunct="1"/>
            <a:endParaRPr lang="en-US" sz="2400" dirty="0" smtClean="0"/>
          </a:p>
          <a:p>
            <a:pPr lvl="1" algn="just" eaLnBrk="1" hangingPunct="1"/>
            <a:r>
              <a:rPr lang="en-US" sz="2400" dirty="0" smtClean="0"/>
              <a:t>Great control over presentation of pages</a:t>
            </a:r>
          </a:p>
          <a:p>
            <a:pPr lvl="2" algn="just" eaLnBrk="1" hangingPunct="1"/>
            <a:r>
              <a:rPr lang="en-US" dirty="0" smtClean="0"/>
              <a:t>Access to all elements on the page</a:t>
            </a:r>
          </a:p>
          <a:p>
            <a:pPr lvl="2" algn="just" eaLnBrk="1" hangingPunct="1"/>
            <a:endParaRPr lang="en-US" dirty="0" smtClean="0"/>
          </a:p>
          <a:p>
            <a:pPr lvl="1" algn="just" eaLnBrk="1" hangingPunct="1"/>
            <a:r>
              <a:rPr lang="en-US" sz="2400" dirty="0" smtClean="0"/>
              <a:t>Whole web page (elements, forms, frames, tables, etc.) represented in an object hierarchy</a:t>
            </a:r>
          </a:p>
          <a:p>
            <a:pPr lvl="1" algn="just" eaLnBrk="1" hangingPunct="1"/>
            <a:endParaRPr lang="en-US" sz="2400" dirty="0" smtClean="0"/>
          </a:p>
          <a:p>
            <a:pPr lvl="1" algn="just" eaLnBrk="1" hangingPunct="1"/>
            <a:r>
              <a:rPr lang="en-US" sz="2400" dirty="0" smtClean="0"/>
              <a:t> “Anything found in an HTML or XML document can be accessed, changed, deleted, or added using the Document Object Model, with a few exceptions.”</a:t>
            </a:r>
          </a:p>
        </p:txBody>
      </p:sp>
    </p:spTree>
    <p:extLst>
      <p:ext uri="{BB962C8B-B14F-4D97-AF65-F5344CB8AC3E}">
        <p14:creationId xmlns:p14="http://schemas.microsoft.com/office/powerpoint/2010/main" xmlns="" val="5790346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DOM Introduction cont’d</a:t>
            </a:r>
            <a:endParaRPr lang="en-US" dirty="0"/>
          </a:p>
        </p:txBody>
      </p:sp>
      <p:sp>
        <p:nvSpPr>
          <p:cNvPr id="4" name="Content Placeholder 3"/>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4488" indent="-344488" algn="l" rtl="0" fontAlgn="base">
              <a:spcBef>
                <a:spcPct val="20000"/>
              </a:spcBef>
              <a:spcAft>
                <a:spcPct val="0"/>
              </a:spcAft>
              <a:buChar char="•"/>
              <a:defRPr sz="3200">
                <a:solidFill>
                  <a:schemeClr val="tx1"/>
                </a:solidFill>
                <a:latin typeface="+mn-lt"/>
                <a:ea typeface="+mn-ea"/>
                <a:cs typeface="+mn-cs"/>
              </a:defRPr>
            </a:lvl1pPr>
            <a:lvl2pPr marL="793750" indent="-334963" algn="l" rtl="0" fontAlgn="base">
              <a:spcBef>
                <a:spcPct val="20000"/>
              </a:spcBef>
              <a:spcAft>
                <a:spcPct val="0"/>
              </a:spcAft>
              <a:buChar char="»"/>
              <a:defRPr sz="2800">
                <a:solidFill>
                  <a:schemeClr val="tx1"/>
                </a:solidFill>
                <a:latin typeface="+mn-lt"/>
              </a:defRPr>
            </a:lvl2pPr>
            <a:lvl3pPr marL="1257300" indent="-349250" algn="l" rtl="0" fontAlgn="base">
              <a:spcBef>
                <a:spcPct val="20000"/>
              </a:spcBef>
              <a:spcAft>
                <a:spcPct val="0"/>
              </a:spcAft>
              <a:buChar char="•"/>
              <a:defRPr sz="2400">
                <a:solidFill>
                  <a:schemeClr val="tx1"/>
                </a:solidFill>
                <a:latin typeface="+mn-lt"/>
              </a:defRPr>
            </a:lvl3pPr>
            <a:lvl4pPr marL="1719263" indent="-347663" algn="l" rtl="0" fontAlgn="base">
              <a:spcBef>
                <a:spcPct val="20000"/>
              </a:spcBef>
              <a:spcAft>
                <a:spcPct val="0"/>
              </a:spcAft>
              <a:defRPr sz="2000">
                <a:solidFill>
                  <a:schemeClr val="tx1"/>
                </a:solidFill>
                <a:latin typeface="+mn-lt"/>
              </a:defRPr>
            </a:lvl4pPr>
            <a:lvl5pPr marL="2170113" indent="-336550" algn="l" rtl="0" fontAlgn="base">
              <a:spcBef>
                <a:spcPct val="20000"/>
              </a:spcBef>
              <a:spcAft>
                <a:spcPct val="0"/>
              </a:spcAft>
              <a:defRPr sz="2000">
                <a:solidFill>
                  <a:schemeClr val="tx1"/>
                </a:solidFill>
                <a:latin typeface="+mn-lt"/>
              </a:defRPr>
            </a:lvl5pPr>
            <a:lvl6pPr marL="2627313" indent="-336550" algn="l" rtl="0" fontAlgn="base">
              <a:spcBef>
                <a:spcPct val="20000"/>
              </a:spcBef>
              <a:spcAft>
                <a:spcPct val="0"/>
              </a:spcAft>
              <a:defRPr sz="2000">
                <a:solidFill>
                  <a:schemeClr val="tx1"/>
                </a:solidFill>
                <a:latin typeface="+mn-lt"/>
              </a:defRPr>
            </a:lvl6pPr>
            <a:lvl7pPr marL="3084513" indent="-336550" algn="l" rtl="0" fontAlgn="base">
              <a:spcBef>
                <a:spcPct val="20000"/>
              </a:spcBef>
              <a:spcAft>
                <a:spcPct val="0"/>
              </a:spcAft>
              <a:defRPr sz="2000">
                <a:solidFill>
                  <a:schemeClr val="tx1"/>
                </a:solidFill>
                <a:latin typeface="+mn-lt"/>
              </a:defRPr>
            </a:lvl7pPr>
            <a:lvl8pPr marL="3541713" indent="-336550" algn="l" rtl="0" fontAlgn="base">
              <a:spcBef>
                <a:spcPct val="20000"/>
              </a:spcBef>
              <a:spcAft>
                <a:spcPct val="0"/>
              </a:spcAft>
              <a:defRPr sz="2000">
                <a:solidFill>
                  <a:schemeClr val="tx1"/>
                </a:solidFill>
                <a:latin typeface="+mn-lt"/>
              </a:defRPr>
            </a:lvl8pPr>
            <a:lvl9pPr marL="3998913" indent="-336550" algn="l" rtl="0" fontAlgn="base">
              <a:spcBef>
                <a:spcPct val="20000"/>
              </a:spcBef>
              <a:spcAft>
                <a:spcPct val="0"/>
              </a:spcAft>
              <a:defRPr sz="2000">
                <a:solidFill>
                  <a:schemeClr val="tx1"/>
                </a:solidFill>
                <a:latin typeface="+mn-lt"/>
              </a:defRPr>
            </a:lvl9pPr>
          </a:lstStyle>
          <a:p>
            <a:pPr algn="just">
              <a:lnSpc>
                <a:spcPct val="90000"/>
              </a:lnSpc>
            </a:pPr>
            <a:r>
              <a:rPr lang="en-US" dirty="0"/>
              <a:t>Document Object </a:t>
            </a:r>
            <a:r>
              <a:rPr lang="en-US" dirty="0" smtClean="0"/>
              <a:t>Model</a:t>
            </a:r>
          </a:p>
          <a:p>
            <a:pPr algn="just">
              <a:lnSpc>
                <a:spcPct val="90000"/>
              </a:lnSpc>
            </a:pPr>
            <a:endParaRPr lang="en-US" dirty="0"/>
          </a:p>
          <a:p>
            <a:pPr lvl="1" algn="just">
              <a:lnSpc>
                <a:spcPct val="90000"/>
              </a:lnSpc>
            </a:pPr>
            <a:r>
              <a:rPr lang="en-US" sz="2200" dirty="0"/>
              <a:t>Your web browser builds a model of the web page (the document) that includes all the objects in the page (tags, text, etc</a:t>
            </a:r>
            <a:r>
              <a:rPr lang="en-US" sz="2200" dirty="0" smtClean="0"/>
              <a:t>)</a:t>
            </a:r>
          </a:p>
          <a:p>
            <a:pPr lvl="1" algn="just">
              <a:lnSpc>
                <a:spcPct val="90000"/>
              </a:lnSpc>
            </a:pPr>
            <a:endParaRPr lang="en-US" sz="2200" dirty="0"/>
          </a:p>
          <a:p>
            <a:pPr lvl="1" algn="just">
              <a:lnSpc>
                <a:spcPct val="90000"/>
              </a:lnSpc>
            </a:pPr>
            <a:r>
              <a:rPr lang="en-US" sz="2200" dirty="0"/>
              <a:t>All of the properties, methods, and events available to the web developer for manipulating and creating web pages are organized into </a:t>
            </a:r>
            <a:r>
              <a:rPr lang="en-US" sz="2200" dirty="0" smtClean="0"/>
              <a:t>objects</a:t>
            </a:r>
          </a:p>
          <a:p>
            <a:pPr lvl="1" algn="just">
              <a:lnSpc>
                <a:spcPct val="90000"/>
              </a:lnSpc>
            </a:pPr>
            <a:endParaRPr lang="en-US" sz="2200" dirty="0" smtClean="0"/>
          </a:p>
          <a:p>
            <a:pPr lvl="1" algn="just">
              <a:lnSpc>
                <a:spcPct val="90000"/>
              </a:lnSpc>
            </a:pPr>
            <a:r>
              <a:rPr lang="en-US" sz="2200" dirty="0" smtClean="0"/>
              <a:t>Those </a:t>
            </a:r>
            <a:r>
              <a:rPr lang="en-US" sz="2200" dirty="0"/>
              <a:t>objects are accessible via scripting languages in modern web browsers</a:t>
            </a:r>
          </a:p>
        </p:txBody>
      </p:sp>
    </p:spTree>
    <p:extLst>
      <p:ext uri="{BB962C8B-B14F-4D97-AF65-F5344CB8AC3E}">
        <p14:creationId xmlns:p14="http://schemas.microsoft.com/office/powerpoint/2010/main" xmlns="" val="2730182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Text Box 4"/>
          <p:cNvSpPr txBox="1">
            <a:spLocks noChangeArrowheads="1"/>
          </p:cNvSpPr>
          <p:nvPr/>
        </p:nvSpPr>
        <p:spPr bwMode="auto">
          <a:xfrm>
            <a:off x="381000" y="838200"/>
            <a:ext cx="5681663" cy="257333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sz="1800" b="1">
                <a:latin typeface="Courier New" pitchFamily="48" charset="0"/>
              </a:rPr>
              <a:t>&lt;html&gt;</a:t>
            </a:r>
          </a:p>
          <a:p>
            <a:pPr algn="l"/>
            <a:r>
              <a:rPr lang="en-US" sz="1800" b="1">
                <a:latin typeface="Courier New" pitchFamily="48" charset="0"/>
              </a:rPr>
              <a:t>  &lt;head&gt;</a:t>
            </a:r>
          </a:p>
          <a:p>
            <a:pPr algn="l"/>
            <a:r>
              <a:rPr lang="en-US" sz="1800" b="1">
                <a:latin typeface="Courier New" pitchFamily="48" charset="0"/>
              </a:rPr>
              <a:t>    &lt;title&gt;Sample DOM Document&lt;/title&gt;</a:t>
            </a:r>
          </a:p>
          <a:p>
            <a:pPr algn="l"/>
            <a:r>
              <a:rPr lang="en-US" sz="1800" b="1">
                <a:latin typeface="Courier New" pitchFamily="48" charset="0"/>
              </a:rPr>
              <a:t>  &lt;/head&gt;</a:t>
            </a:r>
          </a:p>
          <a:p>
            <a:pPr algn="l"/>
            <a:r>
              <a:rPr lang="en-US" sz="1800" b="1">
                <a:latin typeface="Courier New" pitchFamily="48" charset="0"/>
              </a:rPr>
              <a:t>  &lt;body&gt;</a:t>
            </a:r>
          </a:p>
          <a:p>
            <a:pPr algn="l"/>
            <a:r>
              <a:rPr lang="en-US" sz="1800" b="1">
                <a:latin typeface="Courier New" pitchFamily="48" charset="0"/>
              </a:rPr>
              <a:t>    &lt;h1&gt;An HTML Document&lt;/h1&gt;</a:t>
            </a:r>
          </a:p>
          <a:p>
            <a:pPr algn="l"/>
            <a:r>
              <a:rPr lang="en-US" sz="1800" b="1">
                <a:latin typeface="Courier New" pitchFamily="48" charset="0"/>
              </a:rPr>
              <a:t>    &lt;p&gt;This is a &lt;i&gt;simple&lt;/i&gt; document.</a:t>
            </a:r>
          </a:p>
          <a:p>
            <a:pPr algn="l"/>
            <a:r>
              <a:rPr lang="en-US" sz="1800" b="1">
                <a:latin typeface="Courier New" pitchFamily="48" charset="0"/>
              </a:rPr>
              <a:t>  &lt;/body&gt;</a:t>
            </a:r>
          </a:p>
          <a:p>
            <a:pPr algn="l"/>
            <a:r>
              <a:rPr lang="en-US" sz="1800" b="1">
                <a:latin typeface="Courier New" pitchFamily="48" charset="0"/>
              </a:rPr>
              <a:t>&lt;/html&gt;</a:t>
            </a:r>
          </a:p>
        </p:txBody>
      </p:sp>
      <p:pic>
        <p:nvPicPr>
          <p:cNvPr id="133125"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53000" y="3962400"/>
            <a:ext cx="3629025" cy="2200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3126" name="Text Box 6"/>
          <p:cNvSpPr txBox="1">
            <a:spLocks noChangeArrowheads="1"/>
          </p:cNvSpPr>
          <p:nvPr/>
        </p:nvSpPr>
        <p:spPr bwMode="auto">
          <a:xfrm>
            <a:off x="1628775" y="381000"/>
            <a:ext cx="303743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1800" dirty="0">
                <a:solidFill>
                  <a:srgbClr val="C00000"/>
                </a:solidFill>
              </a:rPr>
              <a:t>This is what the browser reads</a:t>
            </a:r>
          </a:p>
        </p:txBody>
      </p:sp>
      <p:sp>
        <p:nvSpPr>
          <p:cNvPr id="133127" name="Text Box 7"/>
          <p:cNvSpPr txBox="1">
            <a:spLocks noChangeArrowheads="1"/>
          </p:cNvSpPr>
          <p:nvPr/>
        </p:nvSpPr>
        <p:spPr bwMode="auto">
          <a:xfrm>
            <a:off x="622300" y="4876800"/>
            <a:ext cx="428457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sz="1800" dirty="0">
                <a:solidFill>
                  <a:srgbClr val="C00000"/>
                </a:solidFill>
              </a:rPr>
              <a:t>This is what the browser displays on screen.</a:t>
            </a:r>
          </a:p>
        </p:txBody>
      </p:sp>
    </p:spTree>
    <p:extLst>
      <p:ext uri="{BB962C8B-B14F-4D97-AF65-F5344CB8AC3E}">
        <p14:creationId xmlns:p14="http://schemas.microsoft.com/office/powerpoint/2010/main" xmlns="" val="35335264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2"/>
          <p:cNvSpPr txBox="1">
            <a:spLocks noChangeArrowheads="1"/>
          </p:cNvSpPr>
          <p:nvPr/>
        </p:nvSpPr>
        <p:spPr bwMode="auto">
          <a:xfrm>
            <a:off x="1905000" y="304800"/>
            <a:ext cx="12192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Document</a:t>
            </a:r>
          </a:p>
        </p:txBody>
      </p:sp>
      <p:sp>
        <p:nvSpPr>
          <p:cNvPr id="135171" name="Text Box 3"/>
          <p:cNvSpPr txBox="1">
            <a:spLocks noChangeArrowheads="1"/>
          </p:cNvSpPr>
          <p:nvPr/>
        </p:nvSpPr>
        <p:spPr bwMode="auto">
          <a:xfrm>
            <a:off x="2057400" y="9144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&lt;html&gt;</a:t>
            </a:r>
          </a:p>
        </p:txBody>
      </p:sp>
      <p:cxnSp>
        <p:nvCxnSpPr>
          <p:cNvPr id="135184" name="AutoShape 16"/>
          <p:cNvCxnSpPr>
            <a:cxnSpLocks noChangeShapeType="1"/>
            <a:stCxn id="135170" idx="2"/>
            <a:endCxn id="135171" idx="0"/>
          </p:cNvCxnSpPr>
          <p:nvPr/>
        </p:nvCxnSpPr>
        <p:spPr bwMode="auto">
          <a:xfrm>
            <a:off x="2514600" y="685800"/>
            <a:ext cx="0"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5185" name="Text Box 17"/>
          <p:cNvSpPr txBox="1">
            <a:spLocks noChangeArrowheads="1"/>
          </p:cNvSpPr>
          <p:nvPr/>
        </p:nvSpPr>
        <p:spPr bwMode="auto">
          <a:xfrm>
            <a:off x="1143000" y="16764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&lt;head&gt;</a:t>
            </a:r>
          </a:p>
        </p:txBody>
      </p:sp>
      <p:sp>
        <p:nvSpPr>
          <p:cNvPr id="135186" name="Text Box 18"/>
          <p:cNvSpPr txBox="1">
            <a:spLocks noChangeArrowheads="1"/>
          </p:cNvSpPr>
          <p:nvPr/>
        </p:nvSpPr>
        <p:spPr bwMode="auto">
          <a:xfrm>
            <a:off x="1143000" y="22860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&lt;title&gt;</a:t>
            </a:r>
          </a:p>
        </p:txBody>
      </p:sp>
      <p:sp>
        <p:nvSpPr>
          <p:cNvPr id="135187" name="Text Box 19"/>
          <p:cNvSpPr txBox="1">
            <a:spLocks noChangeArrowheads="1"/>
          </p:cNvSpPr>
          <p:nvPr/>
        </p:nvSpPr>
        <p:spPr bwMode="auto">
          <a:xfrm>
            <a:off x="152400" y="2895600"/>
            <a:ext cx="28956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"Sample DOM Document"</a:t>
            </a:r>
          </a:p>
        </p:txBody>
      </p:sp>
      <p:sp>
        <p:nvSpPr>
          <p:cNvPr id="135188" name="Text Box 20"/>
          <p:cNvSpPr txBox="1">
            <a:spLocks noChangeArrowheads="1"/>
          </p:cNvSpPr>
          <p:nvPr/>
        </p:nvSpPr>
        <p:spPr bwMode="auto">
          <a:xfrm>
            <a:off x="5029200" y="16764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&lt;body&gt;</a:t>
            </a:r>
          </a:p>
        </p:txBody>
      </p:sp>
      <p:sp>
        <p:nvSpPr>
          <p:cNvPr id="135189" name="Text Box 21"/>
          <p:cNvSpPr txBox="1">
            <a:spLocks noChangeArrowheads="1"/>
          </p:cNvSpPr>
          <p:nvPr/>
        </p:nvSpPr>
        <p:spPr bwMode="auto">
          <a:xfrm>
            <a:off x="3810000" y="30480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dirty="0">
                <a:latin typeface="Arial" charset="0"/>
              </a:rPr>
              <a:t>&lt;h1&gt;</a:t>
            </a:r>
          </a:p>
        </p:txBody>
      </p:sp>
      <p:sp>
        <p:nvSpPr>
          <p:cNvPr id="135190" name="Text Box 22"/>
          <p:cNvSpPr txBox="1">
            <a:spLocks noChangeArrowheads="1"/>
          </p:cNvSpPr>
          <p:nvPr/>
        </p:nvSpPr>
        <p:spPr bwMode="auto">
          <a:xfrm>
            <a:off x="6096000" y="30480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&lt;p&gt;</a:t>
            </a:r>
          </a:p>
        </p:txBody>
      </p:sp>
      <p:sp>
        <p:nvSpPr>
          <p:cNvPr id="135191" name="Text Box 23"/>
          <p:cNvSpPr txBox="1">
            <a:spLocks noChangeArrowheads="1"/>
          </p:cNvSpPr>
          <p:nvPr/>
        </p:nvSpPr>
        <p:spPr bwMode="auto">
          <a:xfrm>
            <a:off x="2819400" y="3581400"/>
            <a:ext cx="28956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"An HTML Document"</a:t>
            </a:r>
          </a:p>
        </p:txBody>
      </p:sp>
      <p:sp>
        <p:nvSpPr>
          <p:cNvPr id="135192" name="Text Box 24"/>
          <p:cNvSpPr txBox="1">
            <a:spLocks noChangeArrowheads="1"/>
          </p:cNvSpPr>
          <p:nvPr/>
        </p:nvSpPr>
        <p:spPr bwMode="auto">
          <a:xfrm>
            <a:off x="4343400" y="5029200"/>
            <a:ext cx="13716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"This is a"</a:t>
            </a:r>
          </a:p>
        </p:txBody>
      </p:sp>
      <p:sp>
        <p:nvSpPr>
          <p:cNvPr id="135193" name="Text Box 25"/>
          <p:cNvSpPr txBox="1">
            <a:spLocks noChangeArrowheads="1"/>
          </p:cNvSpPr>
          <p:nvPr/>
        </p:nvSpPr>
        <p:spPr bwMode="auto">
          <a:xfrm>
            <a:off x="6019800" y="5638800"/>
            <a:ext cx="10668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"simple"</a:t>
            </a:r>
          </a:p>
        </p:txBody>
      </p:sp>
      <p:sp>
        <p:nvSpPr>
          <p:cNvPr id="135194" name="Text Box 26"/>
          <p:cNvSpPr txBox="1">
            <a:spLocks noChangeArrowheads="1"/>
          </p:cNvSpPr>
          <p:nvPr/>
        </p:nvSpPr>
        <p:spPr bwMode="auto">
          <a:xfrm>
            <a:off x="6096000" y="5029200"/>
            <a:ext cx="9144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&lt;i&gt;</a:t>
            </a:r>
          </a:p>
        </p:txBody>
      </p:sp>
      <p:sp>
        <p:nvSpPr>
          <p:cNvPr id="135195" name="Text Box 27"/>
          <p:cNvSpPr txBox="1">
            <a:spLocks noChangeArrowheads="1"/>
          </p:cNvSpPr>
          <p:nvPr/>
        </p:nvSpPr>
        <p:spPr bwMode="auto">
          <a:xfrm>
            <a:off x="7315200" y="5029200"/>
            <a:ext cx="1371600" cy="381000"/>
          </a:xfrm>
          <a:prstGeom prst="rect">
            <a:avLst/>
          </a:prstGeom>
          <a:solidFill>
            <a:srgbClr val="C0C0C0"/>
          </a:solidFill>
          <a:ln>
            <a:noFill/>
          </a:ln>
          <a:effectLst>
            <a:outerShdw dist="107763" dir="2700000" algn="ctr" rotWithShape="0">
              <a:schemeClr val="bg2"/>
            </a:outerShdw>
          </a:effectLst>
          <a:extLst>
            <a:ext uri="{91240B29-F687-4F45-9708-019B960494DF}">
              <a14:hiddenLine xmlns:a14="http://schemas.microsoft.com/office/drawing/2010/main" xmlns="" w="9525">
                <a:solidFill>
                  <a:schemeClr val="tx1"/>
                </a:solidFill>
                <a:miter lim="800000"/>
                <a:headEnd/>
                <a:tailEnd/>
              </a14:hiddenLine>
            </a:ext>
          </a:extLst>
        </p:spPr>
        <p:txBody>
          <a:bodyPr wrap="none"/>
          <a:lstStyle/>
          <a:p>
            <a:r>
              <a:rPr lang="en-US" sz="1800">
                <a:latin typeface="Arial" charset="0"/>
              </a:rPr>
              <a:t>"document"</a:t>
            </a:r>
          </a:p>
        </p:txBody>
      </p:sp>
      <p:cxnSp>
        <p:nvCxnSpPr>
          <p:cNvPr id="135196" name="AutoShape 28"/>
          <p:cNvCxnSpPr>
            <a:cxnSpLocks noChangeShapeType="1"/>
            <a:stCxn id="135171" idx="2"/>
            <a:endCxn id="135185" idx="0"/>
          </p:cNvCxnSpPr>
          <p:nvPr/>
        </p:nvCxnSpPr>
        <p:spPr bwMode="auto">
          <a:xfrm rot="5400000">
            <a:off x="1866900" y="1028700"/>
            <a:ext cx="381000" cy="9144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197" name="AutoShape 29"/>
          <p:cNvCxnSpPr>
            <a:cxnSpLocks noChangeShapeType="1"/>
            <a:stCxn id="135171" idx="2"/>
            <a:endCxn id="135188" idx="0"/>
          </p:cNvCxnSpPr>
          <p:nvPr/>
        </p:nvCxnSpPr>
        <p:spPr bwMode="auto">
          <a:xfrm rot="16200000" flipH="1">
            <a:off x="3810000" y="0"/>
            <a:ext cx="381000" cy="29718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198" name="AutoShape 30"/>
          <p:cNvCxnSpPr>
            <a:cxnSpLocks noChangeShapeType="1"/>
            <a:stCxn id="135185" idx="2"/>
            <a:endCxn id="135186" idx="0"/>
          </p:cNvCxnSpPr>
          <p:nvPr/>
        </p:nvCxnSpPr>
        <p:spPr bwMode="auto">
          <a:xfrm>
            <a:off x="1600200" y="2057400"/>
            <a:ext cx="0"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199" name="AutoShape 31"/>
          <p:cNvCxnSpPr>
            <a:cxnSpLocks noChangeShapeType="1"/>
            <a:stCxn id="135186" idx="2"/>
            <a:endCxn id="135187" idx="0"/>
          </p:cNvCxnSpPr>
          <p:nvPr/>
        </p:nvCxnSpPr>
        <p:spPr bwMode="auto">
          <a:xfrm>
            <a:off x="1600200" y="2667000"/>
            <a:ext cx="0"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0" name="AutoShape 32"/>
          <p:cNvCxnSpPr>
            <a:cxnSpLocks noChangeShapeType="1"/>
            <a:stCxn id="135188" idx="2"/>
            <a:endCxn id="135189" idx="0"/>
          </p:cNvCxnSpPr>
          <p:nvPr/>
        </p:nvCxnSpPr>
        <p:spPr bwMode="auto">
          <a:xfrm rot="5400000">
            <a:off x="4381500" y="1943100"/>
            <a:ext cx="990600" cy="12192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1" name="AutoShape 33"/>
          <p:cNvCxnSpPr>
            <a:cxnSpLocks noChangeShapeType="1"/>
            <a:stCxn id="135189" idx="2"/>
            <a:endCxn id="135191" idx="0"/>
          </p:cNvCxnSpPr>
          <p:nvPr/>
        </p:nvCxnSpPr>
        <p:spPr bwMode="auto">
          <a:xfrm>
            <a:off x="4267200" y="3429000"/>
            <a:ext cx="0" cy="15240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2" name="AutoShape 34"/>
          <p:cNvCxnSpPr>
            <a:cxnSpLocks noChangeShapeType="1"/>
            <a:stCxn id="135188" idx="2"/>
            <a:endCxn id="135190" idx="0"/>
          </p:cNvCxnSpPr>
          <p:nvPr/>
        </p:nvCxnSpPr>
        <p:spPr bwMode="auto">
          <a:xfrm rot="16200000" flipH="1">
            <a:off x="5524500" y="2019300"/>
            <a:ext cx="990600" cy="10668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3" name="AutoShape 35"/>
          <p:cNvCxnSpPr>
            <a:cxnSpLocks noChangeShapeType="1"/>
            <a:stCxn id="135190" idx="2"/>
            <a:endCxn id="135192" idx="0"/>
          </p:cNvCxnSpPr>
          <p:nvPr/>
        </p:nvCxnSpPr>
        <p:spPr bwMode="auto">
          <a:xfrm rot="5400000">
            <a:off x="4991100" y="3467100"/>
            <a:ext cx="1600200" cy="15240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4" name="AutoShape 36"/>
          <p:cNvCxnSpPr>
            <a:cxnSpLocks noChangeShapeType="1"/>
            <a:stCxn id="135190" idx="2"/>
            <a:endCxn id="135194" idx="0"/>
          </p:cNvCxnSpPr>
          <p:nvPr/>
        </p:nvCxnSpPr>
        <p:spPr bwMode="auto">
          <a:xfrm rot="5400000">
            <a:off x="5753100" y="4229100"/>
            <a:ext cx="1600200" cy="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5" name="AutoShape 37"/>
          <p:cNvCxnSpPr>
            <a:cxnSpLocks noChangeShapeType="1"/>
            <a:stCxn id="135194" idx="2"/>
            <a:endCxn id="135193" idx="0"/>
          </p:cNvCxnSpPr>
          <p:nvPr/>
        </p:nvCxnSpPr>
        <p:spPr bwMode="auto">
          <a:xfrm>
            <a:off x="6553200" y="5410200"/>
            <a:ext cx="0" cy="228600"/>
          </a:xfrm>
          <a:prstGeom prst="straightConnector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35206" name="AutoShape 38"/>
          <p:cNvCxnSpPr>
            <a:cxnSpLocks noChangeShapeType="1"/>
            <a:stCxn id="135190" idx="2"/>
            <a:endCxn id="135195" idx="0"/>
          </p:cNvCxnSpPr>
          <p:nvPr/>
        </p:nvCxnSpPr>
        <p:spPr bwMode="auto">
          <a:xfrm rot="16200000" flipH="1">
            <a:off x="6477000" y="3505200"/>
            <a:ext cx="1600200" cy="144780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5208" name="Text Box 40"/>
          <p:cNvSpPr txBox="1">
            <a:spLocks noChangeArrowheads="1"/>
          </p:cNvSpPr>
          <p:nvPr/>
        </p:nvSpPr>
        <p:spPr bwMode="auto">
          <a:xfrm>
            <a:off x="4648200" y="381000"/>
            <a:ext cx="3889375"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l"/>
            <a:r>
              <a:rPr lang="en-US" sz="1800" dirty="0">
                <a:solidFill>
                  <a:srgbClr val="C00000"/>
                </a:solidFill>
              </a:rPr>
              <a:t>This is a drawing of the model that the browser is working with for the page.</a:t>
            </a:r>
          </a:p>
        </p:txBody>
      </p:sp>
    </p:spTree>
    <p:extLst>
      <p:ext uri="{BB962C8B-B14F-4D97-AF65-F5344CB8AC3E}">
        <p14:creationId xmlns:p14="http://schemas.microsoft.com/office/powerpoint/2010/main" xmlns="" val="39202618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685800" y="190500"/>
            <a:ext cx="7772400" cy="685800"/>
          </a:xfrm>
        </p:spPr>
        <p:txBody>
          <a:bodyPr>
            <a:normAutofit fontScale="90000"/>
          </a:bodyPr>
          <a:lstStyle/>
          <a:p>
            <a:pPr eaLnBrk="1" hangingPunct="1"/>
            <a:r>
              <a:rPr lang="en-US" dirty="0" smtClean="0"/>
              <a:t>DOM Introduction – cont’d</a:t>
            </a:r>
          </a:p>
        </p:txBody>
      </p:sp>
      <p:sp>
        <p:nvSpPr>
          <p:cNvPr id="11267" name="Rectangle 1027"/>
          <p:cNvSpPr>
            <a:spLocks noGrp="1" noChangeArrowheads="1"/>
          </p:cNvSpPr>
          <p:nvPr>
            <p:ph type="body" idx="1"/>
          </p:nvPr>
        </p:nvSpPr>
        <p:spPr>
          <a:xfrm>
            <a:off x="304800" y="1219200"/>
            <a:ext cx="8534400" cy="5105400"/>
          </a:xfrm>
        </p:spPr>
        <p:txBody>
          <a:bodyPr>
            <a:normAutofit/>
          </a:bodyPr>
          <a:lstStyle/>
          <a:p>
            <a:pPr algn="just" eaLnBrk="1" hangingPunct="1"/>
            <a:r>
              <a:rPr lang="en-US" sz="2200" b="1" dirty="0" smtClean="0"/>
              <a:t>HTML elements treated as objects</a:t>
            </a:r>
          </a:p>
          <a:p>
            <a:pPr algn="just" eaLnBrk="1" hangingPunct="1"/>
            <a:endParaRPr lang="en-US" sz="2200" dirty="0" smtClean="0"/>
          </a:p>
          <a:p>
            <a:pPr lvl="1" algn="just" eaLnBrk="1" hangingPunct="1"/>
            <a:r>
              <a:rPr lang="en-US" sz="2200" dirty="0" smtClean="0"/>
              <a:t>Attributes of these elements treated as properties of those objects</a:t>
            </a:r>
          </a:p>
          <a:p>
            <a:pPr lvl="2" algn="just" eaLnBrk="1" hangingPunct="1"/>
            <a:r>
              <a:rPr lang="en-US" sz="2200" dirty="0" smtClean="0"/>
              <a:t>Objects identified with an </a:t>
            </a:r>
            <a:r>
              <a:rPr lang="en-US" sz="2200" b="1" dirty="0" smtClean="0"/>
              <a:t>ID attribute </a:t>
            </a:r>
            <a:r>
              <a:rPr lang="en-US" sz="2200" dirty="0" smtClean="0"/>
              <a:t>can be scripted with languages like JavaScript and VBScript.</a:t>
            </a:r>
          </a:p>
          <a:p>
            <a:pPr lvl="2" algn="just" eaLnBrk="1" hangingPunct="1"/>
            <a:endParaRPr lang="en-US" sz="2200" dirty="0" smtClean="0"/>
          </a:p>
          <a:p>
            <a:pPr lvl="2" algn="just" eaLnBrk="1" hangingPunct="1"/>
            <a:r>
              <a:rPr lang="en-US" sz="2200" dirty="0" smtClean="0"/>
              <a:t>Elements on the page can be supported by scripting that can interact with user events and </a:t>
            </a:r>
            <a:r>
              <a:rPr lang="en-US" sz="2200" b="1" dirty="0" smtClean="0"/>
              <a:t>change the page content dynamically.</a:t>
            </a:r>
          </a:p>
          <a:p>
            <a:pPr lvl="2" algn="just" eaLnBrk="1" hangingPunct="1"/>
            <a:endParaRPr lang="en-US" sz="2200" dirty="0" smtClean="0"/>
          </a:p>
          <a:p>
            <a:pPr lvl="2" algn="just" eaLnBrk="1" hangingPunct="1"/>
            <a:r>
              <a:rPr lang="en-US" sz="2200" dirty="0" smtClean="0"/>
              <a:t>The DOM dictates how the written scripting language controls the elements on the screen, such as graphics and text.</a:t>
            </a:r>
          </a:p>
        </p:txBody>
      </p:sp>
    </p:spTree>
    <p:extLst>
      <p:ext uri="{BB962C8B-B14F-4D97-AF65-F5344CB8AC3E}">
        <p14:creationId xmlns:p14="http://schemas.microsoft.com/office/powerpoint/2010/main" xmlns="" val="10664014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143000" y="762000"/>
            <a:ext cx="7696200"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3200" b="1">
                <a:solidFill>
                  <a:schemeClr val="tx2"/>
                </a:solidFill>
                <a:latin typeface="Arial" pitchFamily="34" charset="0"/>
              </a:rPr>
              <a:t>DOM-Document Object Model …</a:t>
            </a:r>
          </a:p>
        </p:txBody>
      </p:sp>
      <p:sp>
        <p:nvSpPr>
          <p:cNvPr id="12291" name="Text Box 3"/>
          <p:cNvSpPr txBox="1">
            <a:spLocks noChangeArrowheads="1"/>
          </p:cNvSpPr>
          <p:nvPr/>
        </p:nvSpPr>
        <p:spPr bwMode="auto">
          <a:xfrm>
            <a:off x="762000" y="1936891"/>
            <a:ext cx="7543800" cy="3320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20000"/>
              </a:spcBef>
              <a:buClr>
                <a:schemeClr val="tx2"/>
              </a:buClr>
              <a:buSzPct val="90000"/>
              <a:buFont typeface="Wingdings" pitchFamily="2" charset="2"/>
              <a:buChar char="Ø"/>
            </a:pPr>
            <a:r>
              <a:rPr lang="en-US" sz="2200" dirty="0">
                <a:latin typeface="+mn-lt"/>
              </a:rPr>
              <a:t>The Document Object Model is a platform- and language-neutral interface that will allow programs and scripts to </a:t>
            </a:r>
            <a:r>
              <a:rPr lang="en-US" sz="2200" b="1" dirty="0">
                <a:latin typeface="+mn-lt"/>
              </a:rPr>
              <a:t>dynamically access and update the content, structure and style of the </a:t>
            </a:r>
            <a:r>
              <a:rPr lang="en-US" sz="2200" b="1" dirty="0" smtClean="0">
                <a:latin typeface="+mn-lt"/>
              </a:rPr>
              <a:t>document.</a:t>
            </a:r>
            <a:endParaRPr lang="en-US" sz="2200" b="1" dirty="0">
              <a:latin typeface="+mn-lt"/>
            </a:endParaRPr>
          </a:p>
          <a:p>
            <a:pPr algn="just" eaLnBrk="1" hangingPunct="1">
              <a:lnSpc>
                <a:spcPct val="90000"/>
              </a:lnSpc>
              <a:spcBef>
                <a:spcPct val="2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50000"/>
              </a:spcBef>
              <a:buClr>
                <a:schemeClr val="tx2"/>
              </a:buClr>
              <a:buSzPct val="90000"/>
              <a:buFont typeface="Wingdings" pitchFamily="2" charset="2"/>
              <a:buChar char="Ø"/>
            </a:pPr>
            <a:r>
              <a:rPr lang="en-US" sz="2200" dirty="0">
                <a:latin typeface="+mn-lt"/>
              </a:rPr>
              <a:t>The DOM details the characteristic properties of each element of a Web page, thereby detailing how we might manipulate these components and, in turn, manipulate the page</a:t>
            </a:r>
          </a:p>
          <a:p>
            <a:pPr eaLnBrk="1" hangingPunct="1">
              <a:spcBef>
                <a:spcPct val="50000"/>
              </a:spcBef>
            </a:pPr>
            <a:endParaRPr lang="en-US" dirty="0">
              <a:latin typeface="Arial" pitchFamily="34" charset="0"/>
            </a:endParaRPr>
          </a:p>
        </p:txBody>
      </p:sp>
    </p:spTree>
    <p:extLst>
      <p:ext uri="{BB962C8B-B14F-4D97-AF65-F5344CB8AC3E}">
        <p14:creationId xmlns:p14="http://schemas.microsoft.com/office/powerpoint/2010/main" xmlns="" val="160392442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295400" y="1524000"/>
            <a:ext cx="7239000" cy="39303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40000"/>
              </a:spcBef>
              <a:buClr>
                <a:schemeClr val="tx2"/>
              </a:buClr>
              <a:buSzPct val="90000"/>
              <a:buFont typeface="Wingdings" pitchFamily="2" charset="2"/>
              <a:buChar char="Ø"/>
            </a:pPr>
            <a:r>
              <a:rPr lang="en-US" sz="2200" b="1" dirty="0">
                <a:latin typeface="+mn-lt"/>
              </a:rPr>
              <a:t>Document Object Model is not a "part" of Scripting languages. </a:t>
            </a:r>
            <a:r>
              <a:rPr lang="en-US" sz="2200" dirty="0">
                <a:latin typeface="+mn-lt"/>
              </a:rPr>
              <a:t>The DOM stands alone, able to be interfaced with any programming language designed to do so</a:t>
            </a:r>
          </a:p>
          <a:p>
            <a:pPr algn="just" eaLnBrk="1" hangingPunct="1">
              <a:lnSpc>
                <a:spcPct val="90000"/>
              </a:lnSpc>
              <a:spcBef>
                <a:spcPct val="4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40000"/>
              </a:spcBef>
              <a:buClr>
                <a:schemeClr val="tx2"/>
              </a:buClr>
              <a:buSzPct val="90000"/>
              <a:buFont typeface="Wingdings" pitchFamily="2" charset="2"/>
              <a:buChar char="Ø"/>
            </a:pPr>
            <a:r>
              <a:rPr lang="en-US" sz="2200" dirty="0">
                <a:latin typeface="+mn-lt"/>
              </a:rPr>
              <a:t>The W3C DOM is the recommended standard to be exposed by each browser</a:t>
            </a:r>
          </a:p>
          <a:p>
            <a:pPr algn="just" eaLnBrk="1" hangingPunct="1">
              <a:lnSpc>
                <a:spcPct val="90000"/>
              </a:lnSpc>
              <a:spcBef>
                <a:spcPct val="4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40000"/>
              </a:spcBef>
              <a:buClr>
                <a:schemeClr val="tx2"/>
              </a:buClr>
              <a:buSzPct val="90000"/>
              <a:buFont typeface="Wingdings" pitchFamily="2" charset="2"/>
              <a:buChar char="Ø"/>
            </a:pPr>
            <a:r>
              <a:rPr lang="en-US" sz="2200" dirty="0">
                <a:latin typeface="+mn-lt"/>
              </a:rPr>
              <a:t>Microsoft Internet Explorer and Netscape do not share the same DOM.</a:t>
            </a:r>
          </a:p>
          <a:p>
            <a:pPr eaLnBrk="1" hangingPunct="1">
              <a:spcBef>
                <a:spcPct val="50000"/>
              </a:spcBef>
            </a:pPr>
            <a:endParaRPr lang="en-US" dirty="0">
              <a:latin typeface="Arial" pitchFamily="34" charset="0"/>
            </a:endParaRPr>
          </a:p>
        </p:txBody>
      </p:sp>
      <p:sp>
        <p:nvSpPr>
          <p:cNvPr id="13315" name="Text Box 3"/>
          <p:cNvSpPr txBox="1">
            <a:spLocks noChangeArrowheads="1"/>
          </p:cNvSpPr>
          <p:nvPr/>
        </p:nvSpPr>
        <p:spPr bwMode="auto">
          <a:xfrm>
            <a:off x="1752600" y="762000"/>
            <a:ext cx="70866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3200" b="1">
                <a:solidFill>
                  <a:schemeClr val="tx2"/>
                </a:solidFill>
                <a:latin typeface="Arial" pitchFamily="34" charset="0"/>
              </a:rPr>
              <a:t>DOM-Document Object Model…</a:t>
            </a:r>
          </a:p>
        </p:txBody>
      </p:sp>
    </p:spTree>
    <p:extLst>
      <p:ext uri="{BB962C8B-B14F-4D97-AF65-F5344CB8AC3E}">
        <p14:creationId xmlns:p14="http://schemas.microsoft.com/office/powerpoint/2010/main" xmlns="" val="23909528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990600" y="1622425"/>
            <a:ext cx="7391400" cy="39918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50000"/>
              </a:spcBef>
              <a:buClr>
                <a:schemeClr val="tx2"/>
              </a:buClr>
              <a:buSzPct val="90000"/>
              <a:buFont typeface="Wingdings" pitchFamily="2" charset="2"/>
              <a:buChar char="Ø"/>
            </a:pPr>
            <a:r>
              <a:rPr lang="en-US" dirty="0">
                <a:latin typeface="Arial" pitchFamily="34" charset="0"/>
              </a:rPr>
              <a:t> </a:t>
            </a:r>
            <a:r>
              <a:rPr lang="en-US" sz="2200" dirty="0">
                <a:latin typeface="+mn-lt"/>
              </a:rPr>
              <a:t>Both (IE and Netscape) DOMs break down Web pages into roughly </a:t>
            </a:r>
            <a:r>
              <a:rPr lang="en-US" sz="2200" b="1" dirty="0">
                <a:latin typeface="+mn-lt"/>
              </a:rPr>
              <a:t>four</a:t>
            </a:r>
            <a:r>
              <a:rPr lang="en-US" sz="2200" dirty="0">
                <a:latin typeface="+mn-lt"/>
              </a:rPr>
              <a:t> types of </a:t>
            </a:r>
            <a:r>
              <a:rPr lang="en-US" sz="2200" b="1" dirty="0">
                <a:latin typeface="+mn-lt"/>
              </a:rPr>
              <a:t>components</a:t>
            </a:r>
          </a:p>
          <a:p>
            <a:pPr lvl="1" algn="just" eaLnBrk="1" hangingPunct="1">
              <a:lnSpc>
                <a:spcPct val="90000"/>
              </a:lnSpc>
              <a:spcBef>
                <a:spcPct val="50000"/>
              </a:spcBef>
              <a:buFontTx/>
              <a:buChar char="–"/>
            </a:pPr>
            <a:r>
              <a:rPr lang="en-US" sz="2200" b="1" dirty="0">
                <a:latin typeface="+mn-lt"/>
              </a:rPr>
              <a:t>Objects, Properties, Events and Methods</a:t>
            </a:r>
          </a:p>
          <a:p>
            <a:pPr lvl="1" algn="just" eaLnBrk="1" hangingPunct="1">
              <a:lnSpc>
                <a:spcPct val="90000"/>
              </a:lnSpc>
              <a:spcBef>
                <a:spcPct val="50000"/>
              </a:spcBef>
              <a:buFontTx/>
              <a:buChar char="–"/>
            </a:pPr>
            <a:endParaRPr lang="en-US" sz="2200" dirty="0">
              <a:latin typeface="+mn-lt"/>
            </a:endParaRPr>
          </a:p>
          <a:p>
            <a:pPr algn="just" eaLnBrk="1" hangingPunct="1">
              <a:lnSpc>
                <a:spcPct val="90000"/>
              </a:lnSpc>
              <a:spcBef>
                <a:spcPct val="50000"/>
              </a:spcBef>
              <a:buClr>
                <a:schemeClr val="tx2"/>
              </a:buClr>
              <a:buSzPct val="90000"/>
              <a:buFont typeface="Wingdings" pitchFamily="2" charset="2"/>
              <a:buChar char="Ø"/>
            </a:pPr>
            <a:r>
              <a:rPr lang="en-US" sz="2200" b="1" dirty="0">
                <a:latin typeface="+mn-lt"/>
              </a:rPr>
              <a:t>Objects : </a:t>
            </a:r>
          </a:p>
          <a:p>
            <a:pPr lvl="1" algn="just" eaLnBrk="1" hangingPunct="1">
              <a:lnSpc>
                <a:spcPct val="90000"/>
              </a:lnSpc>
              <a:spcBef>
                <a:spcPct val="50000"/>
              </a:spcBef>
              <a:buFontTx/>
              <a:buChar char="–"/>
            </a:pPr>
            <a:r>
              <a:rPr lang="en-US" sz="2200" dirty="0">
                <a:latin typeface="+mn-lt"/>
              </a:rPr>
              <a:t>Container which reflects a particular element of a page</a:t>
            </a:r>
          </a:p>
          <a:p>
            <a:pPr lvl="1" algn="just" eaLnBrk="1" hangingPunct="1">
              <a:lnSpc>
                <a:spcPct val="90000"/>
              </a:lnSpc>
              <a:spcBef>
                <a:spcPct val="50000"/>
              </a:spcBef>
              <a:buFontTx/>
              <a:buChar char="–"/>
            </a:pPr>
            <a:endParaRPr lang="en-US" sz="2200" dirty="0">
              <a:latin typeface="+mn-lt"/>
            </a:endParaRPr>
          </a:p>
          <a:p>
            <a:pPr lvl="1" algn="just" eaLnBrk="1" hangingPunct="1">
              <a:lnSpc>
                <a:spcPct val="90000"/>
              </a:lnSpc>
              <a:spcBef>
                <a:spcPct val="50000"/>
              </a:spcBef>
              <a:buFontTx/>
              <a:buChar char="–"/>
            </a:pPr>
            <a:r>
              <a:rPr lang="en-US" sz="2200" dirty="0">
                <a:latin typeface="+mn-lt"/>
              </a:rPr>
              <a:t>objects "contain" the properties and methods which apply to that element</a:t>
            </a:r>
          </a:p>
        </p:txBody>
      </p:sp>
      <p:sp>
        <p:nvSpPr>
          <p:cNvPr id="14339" name="Text Box 3"/>
          <p:cNvSpPr txBox="1">
            <a:spLocks noChangeArrowheads="1"/>
          </p:cNvSpPr>
          <p:nvPr/>
        </p:nvSpPr>
        <p:spPr bwMode="auto">
          <a:xfrm>
            <a:off x="1752600" y="762000"/>
            <a:ext cx="70866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3200" b="1">
                <a:solidFill>
                  <a:schemeClr val="tx2"/>
                </a:solidFill>
                <a:latin typeface="Arial" pitchFamily="34" charset="0"/>
              </a:rPr>
              <a:t>DOM-Document Object Model…</a:t>
            </a:r>
          </a:p>
        </p:txBody>
      </p:sp>
    </p:spTree>
    <p:extLst>
      <p:ext uri="{BB962C8B-B14F-4D97-AF65-F5344CB8AC3E}">
        <p14:creationId xmlns:p14="http://schemas.microsoft.com/office/powerpoint/2010/main" xmlns="" val="240308718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990600" y="1617006"/>
            <a:ext cx="7315200" cy="42503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20000"/>
              </a:spcBef>
              <a:buClr>
                <a:schemeClr val="tx2"/>
              </a:buClr>
              <a:buSzPct val="90000"/>
              <a:buFont typeface="Wingdings" pitchFamily="2" charset="2"/>
              <a:buChar char="Ø"/>
            </a:pPr>
            <a:r>
              <a:rPr lang="en-US" b="1" dirty="0">
                <a:solidFill>
                  <a:schemeClr val="tx2"/>
                </a:solidFill>
                <a:latin typeface="Arial" pitchFamily="34" charset="0"/>
              </a:rPr>
              <a:t> </a:t>
            </a:r>
            <a:r>
              <a:rPr lang="en-US" sz="2200" b="1" dirty="0">
                <a:latin typeface="+mn-lt"/>
              </a:rPr>
              <a:t>Properties: </a:t>
            </a:r>
          </a:p>
          <a:p>
            <a:pPr algn="just" eaLnBrk="1" hangingPunct="1">
              <a:lnSpc>
                <a:spcPct val="90000"/>
              </a:lnSpc>
              <a:spcBef>
                <a:spcPct val="20000"/>
              </a:spcBef>
              <a:buClr>
                <a:schemeClr val="tx2"/>
              </a:buClr>
              <a:buSzPct val="90000"/>
              <a:buFont typeface="Wingdings" pitchFamily="2" charset="2"/>
              <a:buChar char="Ø"/>
            </a:pPr>
            <a:endParaRPr lang="en-US" sz="2200" dirty="0">
              <a:latin typeface="+mn-lt"/>
            </a:endParaRPr>
          </a:p>
          <a:p>
            <a:pPr lvl="1" algn="just" eaLnBrk="1" hangingPunct="1">
              <a:lnSpc>
                <a:spcPct val="90000"/>
              </a:lnSpc>
              <a:spcBef>
                <a:spcPct val="20000"/>
              </a:spcBef>
              <a:buFontTx/>
              <a:buChar char="–"/>
            </a:pPr>
            <a:r>
              <a:rPr lang="en-US" sz="2200" dirty="0">
                <a:latin typeface="+mn-lt"/>
              </a:rPr>
              <a:t>Characteristics of an object </a:t>
            </a:r>
          </a:p>
          <a:p>
            <a:pPr lvl="1" algn="just" eaLnBrk="1" hangingPunct="1">
              <a:lnSpc>
                <a:spcPct val="90000"/>
              </a:lnSpc>
              <a:spcBef>
                <a:spcPct val="20000"/>
              </a:spcBef>
              <a:buFontTx/>
              <a:buChar char="–"/>
            </a:pPr>
            <a:endParaRPr lang="en-US" sz="2200" dirty="0">
              <a:latin typeface="+mn-lt"/>
            </a:endParaRPr>
          </a:p>
          <a:p>
            <a:pPr lvl="1" algn="just" eaLnBrk="1" hangingPunct="1">
              <a:lnSpc>
                <a:spcPct val="90000"/>
              </a:lnSpc>
              <a:spcBef>
                <a:spcPct val="20000"/>
              </a:spcBef>
              <a:buFontTx/>
              <a:buChar char="–"/>
            </a:pPr>
            <a:r>
              <a:rPr lang="en-US" sz="2200" b="1" dirty="0">
                <a:latin typeface="+mn-lt"/>
              </a:rPr>
              <a:t>Example</a:t>
            </a:r>
            <a:r>
              <a:rPr lang="en-US" sz="2200" dirty="0">
                <a:latin typeface="+mn-lt"/>
              </a:rPr>
              <a:t>: the ‘document’ object possesses a ‘</a:t>
            </a:r>
            <a:r>
              <a:rPr lang="en-US" sz="2200" dirty="0" err="1">
                <a:latin typeface="+mn-lt"/>
              </a:rPr>
              <a:t>bgColor</a:t>
            </a:r>
            <a:r>
              <a:rPr lang="en-US" sz="2200" dirty="0">
                <a:latin typeface="+mn-lt"/>
              </a:rPr>
              <a:t>’ property which reflects the background color of the page. </a:t>
            </a:r>
          </a:p>
          <a:p>
            <a:pPr lvl="1" algn="just" eaLnBrk="1" hangingPunct="1">
              <a:lnSpc>
                <a:spcPct val="90000"/>
              </a:lnSpc>
              <a:spcBef>
                <a:spcPct val="20000"/>
              </a:spcBef>
              <a:buFontTx/>
              <a:buChar char="–"/>
            </a:pPr>
            <a:endParaRPr lang="en-US" sz="2200" dirty="0">
              <a:latin typeface="+mn-lt"/>
            </a:endParaRPr>
          </a:p>
          <a:p>
            <a:pPr lvl="1" algn="just" eaLnBrk="1" hangingPunct="1">
              <a:lnSpc>
                <a:spcPct val="90000"/>
              </a:lnSpc>
              <a:spcBef>
                <a:spcPct val="20000"/>
              </a:spcBef>
              <a:buFontTx/>
              <a:buChar char="–"/>
            </a:pPr>
            <a:r>
              <a:rPr lang="en-US" sz="2200" dirty="0">
                <a:latin typeface="+mn-lt"/>
              </a:rPr>
              <a:t>Using a programming language (e.g. JavaScript) you may, via this property, read or modify the background color of a page</a:t>
            </a:r>
          </a:p>
          <a:p>
            <a:pPr algn="just" eaLnBrk="1" hangingPunct="1">
              <a:spcBef>
                <a:spcPct val="50000"/>
              </a:spcBef>
            </a:pPr>
            <a:endParaRPr lang="en-US" dirty="0">
              <a:latin typeface="Arial" pitchFamily="34" charset="0"/>
            </a:endParaRPr>
          </a:p>
        </p:txBody>
      </p:sp>
      <p:sp>
        <p:nvSpPr>
          <p:cNvPr id="15363" name="Text Box 3"/>
          <p:cNvSpPr txBox="1">
            <a:spLocks noChangeArrowheads="1"/>
          </p:cNvSpPr>
          <p:nvPr/>
        </p:nvSpPr>
        <p:spPr bwMode="auto">
          <a:xfrm>
            <a:off x="1752600" y="762000"/>
            <a:ext cx="70866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3200" b="1">
                <a:solidFill>
                  <a:schemeClr val="tx2"/>
                </a:solidFill>
                <a:latin typeface="Arial" pitchFamily="34" charset="0"/>
              </a:rPr>
              <a:t>DOM-Document Object Model…</a:t>
            </a:r>
          </a:p>
        </p:txBody>
      </p:sp>
    </p:spTree>
    <p:extLst>
      <p:ext uri="{BB962C8B-B14F-4D97-AF65-F5344CB8AC3E}">
        <p14:creationId xmlns:p14="http://schemas.microsoft.com/office/powerpoint/2010/main" xmlns="" val="34175309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762000" y="1882336"/>
            <a:ext cx="7696200" cy="36040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spcBef>
                <a:spcPct val="30000"/>
              </a:spcBef>
              <a:buClr>
                <a:schemeClr val="tx2"/>
              </a:buClr>
              <a:buFont typeface="Wingdings" pitchFamily="2" charset="2"/>
              <a:buChar char="Ø"/>
            </a:pPr>
            <a:r>
              <a:rPr lang="en-US" sz="2200" b="1" dirty="0">
                <a:latin typeface="+mn-lt"/>
              </a:rPr>
              <a:t>Methods</a:t>
            </a:r>
            <a:r>
              <a:rPr lang="en-US" sz="2200" dirty="0">
                <a:latin typeface="+mn-lt"/>
              </a:rPr>
              <a:t>: </a:t>
            </a:r>
          </a:p>
          <a:p>
            <a:pPr lvl="1" algn="just" eaLnBrk="1" hangingPunct="1">
              <a:spcBef>
                <a:spcPct val="30000"/>
              </a:spcBef>
              <a:buFontTx/>
              <a:buChar char="–"/>
            </a:pPr>
            <a:r>
              <a:rPr lang="en-US" sz="2200" dirty="0">
                <a:latin typeface="+mn-lt"/>
              </a:rPr>
              <a:t>A method typically </a:t>
            </a:r>
            <a:r>
              <a:rPr lang="en-US" sz="2200" b="1" dirty="0">
                <a:latin typeface="+mn-lt"/>
              </a:rPr>
              <a:t>executes an action</a:t>
            </a:r>
            <a:r>
              <a:rPr lang="en-US" sz="2200" dirty="0">
                <a:latin typeface="+mn-lt"/>
              </a:rPr>
              <a:t> which acts upon the object by which it is owned</a:t>
            </a:r>
          </a:p>
          <a:p>
            <a:pPr lvl="1" algn="just" eaLnBrk="1" hangingPunct="1">
              <a:spcBef>
                <a:spcPct val="30000"/>
              </a:spcBef>
            </a:pPr>
            <a:endParaRPr lang="en-US" sz="2200" dirty="0">
              <a:latin typeface="+mn-lt"/>
            </a:endParaRPr>
          </a:p>
          <a:p>
            <a:pPr algn="just" eaLnBrk="1" hangingPunct="1">
              <a:spcBef>
                <a:spcPct val="30000"/>
              </a:spcBef>
              <a:buClr>
                <a:schemeClr val="tx2"/>
              </a:buClr>
              <a:buFont typeface="Wingdings" pitchFamily="2" charset="2"/>
              <a:buChar char="Ø"/>
            </a:pPr>
            <a:r>
              <a:rPr lang="en-US" sz="2200" b="1" dirty="0">
                <a:latin typeface="+mn-lt"/>
              </a:rPr>
              <a:t>Events</a:t>
            </a:r>
            <a:r>
              <a:rPr lang="en-US" sz="2200" dirty="0">
                <a:latin typeface="+mn-lt"/>
              </a:rPr>
              <a:t>: </a:t>
            </a:r>
          </a:p>
          <a:p>
            <a:pPr lvl="1" algn="just" eaLnBrk="1" hangingPunct="1">
              <a:spcBef>
                <a:spcPct val="30000"/>
              </a:spcBef>
              <a:buFontTx/>
              <a:buChar char="–"/>
            </a:pPr>
            <a:r>
              <a:rPr lang="en-US" sz="2200" dirty="0">
                <a:latin typeface="+mn-lt"/>
              </a:rPr>
              <a:t>Used to trap actions related to its owning object</a:t>
            </a:r>
          </a:p>
          <a:p>
            <a:pPr lvl="1" algn="just" eaLnBrk="1" hangingPunct="1">
              <a:spcBef>
                <a:spcPct val="30000"/>
              </a:spcBef>
              <a:buFontTx/>
              <a:buChar char="–"/>
            </a:pPr>
            <a:r>
              <a:rPr lang="en-US" sz="2200" dirty="0">
                <a:latin typeface="+mn-lt"/>
              </a:rPr>
              <a:t>Typically, these actions are caused by the user</a:t>
            </a:r>
          </a:p>
          <a:p>
            <a:pPr algn="just" eaLnBrk="1" hangingPunct="1">
              <a:spcBef>
                <a:spcPct val="50000"/>
              </a:spcBef>
            </a:pPr>
            <a:endParaRPr lang="en-US" sz="2200" dirty="0">
              <a:latin typeface="+mn-lt"/>
            </a:endParaRPr>
          </a:p>
        </p:txBody>
      </p:sp>
      <p:sp>
        <p:nvSpPr>
          <p:cNvPr id="16387" name="Text Box 3"/>
          <p:cNvSpPr txBox="1">
            <a:spLocks noChangeArrowheads="1"/>
          </p:cNvSpPr>
          <p:nvPr/>
        </p:nvSpPr>
        <p:spPr bwMode="auto">
          <a:xfrm>
            <a:off x="1752600" y="762000"/>
            <a:ext cx="70866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sz="3200" b="1">
                <a:solidFill>
                  <a:schemeClr val="tx2"/>
                </a:solidFill>
                <a:latin typeface="Arial" pitchFamily="34" charset="0"/>
              </a:rPr>
              <a:t>DOM-Document Object Model…</a:t>
            </a:r>
          </a:p>
        </p:txBody>
      </p:sp>
    </p:spTree>
    <p:extLst>
      <p:ext uri="{BB962C8B-B14F-4D97-AF65-F5344CB8AC3E}">
        <p14:creationId xmlns:p14="http://schemas.microsoft.com/office/powerpoint/2010/main" xmlns="" val="1776468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43000" y="609600"/>
            <a:ext cx="7162800" cy="762000"/>
          </a:xfrm>
        </p:spPr>
        <p:txBody>
          <a:bodyPr anchor="t"/>
          <a:lstStyle/>
          <a:p>
            <a:pPr eaLnBrk="1" hangingPunct="1"/>
            <a:r>
              <a:rPr lang="en-US" dirty="0" smtClean="0">
                <a:latin typeface="Arial" pitchFamily="34" charset="0"/>
              </a:rPr>
              <a:t>DOM</a:t>
            </a:r>
          </a:p>
        </p:txBody>
      </p:sp>
      <p:sp>
        <p:nvSpPr>
          <p:cNvPr id="17411" name="Text Box 3"/>
          <p:cNvSpPr txBox="1">
            <a:spLocks noChangeArrowheads="1"/>
          </p:cNvSpPr>
          <p:nvPr/>
        </p:nvSpPr>
        <p:spPr bwMode="auto">
          <a:xfrm>
            <a:off x="609600" y="1752600"/>
            <a:ext cx="7924800" cy="4308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42900" indent="-342900" eaLnBrk="0" hangingPunct="0">
              <a:defRPr sz="2400">
                <a:solidFill>
                  <a:schemeClr val="tx1"/>
                </a:solidFill>
                <a:latin typeface="Times New Roman" pitchFamily="18" charset="0"/>
              </a:defRPr>
            </a:lvl1pPr>
            <a:lvl2pPr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1" algn="just" eaLnBrk="1" hangingPunct="1">
              <a:spcBef>
                <a:spcPct val="50000"/>
              </a:spcBef>
              <a:buFontTx/>
              <a:buChar char="•"/>
            </a:pPr>
            <a:r>
              <a:rPr lang="en-US" sz="3200" dirty="0">
                <a:latin typeface="Arial" pitchFamily="34" charset="0"/>
              </a:rPr>
              <a:t> </a:t>
            </a:r>
            <a:r>
              <a:rPr lang="en-US" sz="2200" b="1" dirty="0">
                <a:latin typeface="+mn-lt"/>
              </a:rPr>
              <a:t>DOM</a:t>
            </a:r>
            <a:r>
              <a:rPr lang="en-US" sz="2200" dirty="0">
                <a:latin typeface="+mn-lt"/>
              </a:rPr>
              <a:t> = Document Object Model</a:t>
            </a:r>
          </a:p>
          <a:p>
            <a:pPr lvl="1" algn="just" eaLnBrk="1" hangingPunct="1"/>
            <a:r>
              <a:rPr lang="en-US" sz="2200" dirty="0">
                <a:latin typeface="+mn-lt"/>
              </a:rPr>
              <a:t>    Defines a hierarchical model of the document structure</a:t>
            </a:r>
          </a:p>
          <a:p>
            <a:pPr lvl="1" algn="just" eaLnBrk="1" hangingPunct="1"/>
            <a:r>
              <a:rPr lang="en-US" sz="2200" dirty="0">
                <a:latin typeface="+mn-lt"/>
              </a:rPr>
              <a:t>    through which all document elements may be </a:t>
            </a:r>
            <a:r>
              <a:rPr lang="en-US" sz="2200" dirty="0" smtClean="0">
                <a:latin typeface="+mn-lt"/>
              </a:rPr>
              <a:t>accessed</a:t>
            </a:r>
          </a:p>
          <a:p>
            <a:pPr lvl="1" algn="just" eaLnBrk="1" hangingPunct="1"/>
            <a:endParaRPr lang="en-US" sz="2200" dirty="0">
              <a:latin typeface="+mn-lt"/>
            </a:endParaRPr>
          </a:p>
          <a:p>
            <a:pPr lvl="1" algn="just" eaLnBrk="1" hangingPunct="1">
              <a:spcBef>
                <a:spcPct val="50000"/>
              </a:spcBef>
              <a:buFontTx/>
              <a:buChar char="•"/>
            </a:pPr>
            <a:r>
              <a:rPr lang="en-US" sz="2200" b="1" dirty="0">
                <a:latin typeface="+mn-lt"/>
              </a:rPr>
              <a:t> Nodes</a:t>
            </a:r>
          </a:p>
          <a:p>
            <a:pPr lvl="1" algn="just" eaLnBrk="1" hangingPunct="1"/>
            <a:r>
              <a:rPr lang="en-US" sz="2200" dirty="0">
                <a:latin typeface="+mn-lt"/>
              </a:rPr>
              <a:t>    The W3C DOM defines element of a document is a node</a:t>
            </a:r>
          </a:p>
          <a:p>
            <a:pPr lvl="1" algn="just" eaLnBrk="1" hangingPunct="1"/>
            <a:r>
              <a:rPr lang="en-US" sz="2200" dirty="0">
                <a:latin typeface="+mn-lt"/>
              </a:rPr>
              <a:t>    of a particular </a:t>
            </a:r>
            <a:r>
              <a:rPr lang="en-US" sz="2200" dirty="0" smtClean="0">
                <a:latin typeface="+mn-lt"/>
              </a:rPr>
              <a:t>type</a:t>
            </a:r>
          </a:p>
          <a:p>
            <a:pPr lvl="1" algn="just" eaLnBrk="1" hangingPunct="1"/>
            <a:endParaRPr lang="en-US" sz="2200" dirty="0">
              <a:latin typeface="+mn-lt"/>
            </a:endParaRPr>
          </a:p>
          <a:p>
            <a:pPr lvl="1" algn="just" eaLnBrk="1" hangingPunct="1">
              <a:spcBef>
                <a:spcPct val="50000"/>
              </a:spcBef>
              <a:buFontTx/>
              <a:buChar char="•"/>
            </a:pPr>
            <a:r>
              <a:rPr lang="en-US" sz="2200" b="1" dirty="0">
                <a:latin typeface="+mn-lt"/>
              </a:rPr>
              <a:t> Node Types</a:t>
            </a:r>
          </a:p>
          <a:p>
            <a:pPr lvl="1" algn="just" eaLnBrk="1" hangingPunct="1"/>
            <a:r>
              <a:rPr lang="en-US" sz="2200" dirty="0">
                <a:latin typeface="+mn-lt"/>
              </a:rPr>
              <a:t>    Common types are: document node, element node, text</a:t>
            </a:r>
          </a:p>
          <a:p>
            <a:pPr lvl="1" algn="just" eaLnBrk="1" hangingPunct="1"/>
            <a:r>
              <a:rPr lang="en-US" sz="2200" dirty="0">
                <a:latin typeface="+mn-lt"/>
              </a:rPr>
              <a:t>    node, attribute node, comment node, document-type node</a:t>
            </a:r>
          </a:p>
        </p:txBody>
      </p:sp>
    </p:spTree>
    <p:extLst>
      <p:ext uri="{BB962C8B-B14F-4D97-AF65-F5344CB8AC3E}">
        <p14:creationId xmlns:p14="http://schemas.microsoft.com/office/powerpoint/2010/main" xmlns="" val="74367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304800" y="1752600"/>
            <a:ext cx="8458200" cy="45005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63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a:p>
            <a:pPr eaLnBrk="1" hangingPunct="1">
              <a:spcBef>
                <a:spcPct val="50000"/>
              </a:spcBef>
            </a:pPr>
            <a:endParaRPr lang="en-US" sz="1800">
              <a:solidFill>
                <a:srgbClr val="A50021"/>
              </a:solidFill>
              <a:latin typeface="Arial" pitchFamily="34" charset="0"/>
            </a:endParaRPr>
          </a:p>
        </p:txBody>
      </p:sp>
      <p:sp>
        <p:nvSpPr>
          <p:cNvPr id="18435" name="Rectangle 2"/>
          <p:cNvSpPr>
            <a:spLocks noGrp="1" noChangeArrowheads="1"/>
          </p:cNvSpPr>
          <p:nvPr>
            <p:ph type="title"/>
          </p:nvPr>
        </p:nvSpPr>
        <p:spPr>
          <a:xfrm>
            <a:off x="1066800" y="381000"/>
            <a:ext cx="7391400" cy="762000"/>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anchor="t"/>
          <a:lstStyle/>
          <a:p>
            <a:pPr eaLnBrk="1" hangingPunct="1"/>
            <a:r>
              <a:rPr lang="en-US" dirty="0" smtClean="0">
                <a:latin typeface="Arial" pitchFamily="34" charset="0"/>
              </a:rPr>
              <a:t>DOM Example</a:t>
            </a:r>
          </a:p>
        </p:txBody>
      </p:sp>
      <p:sp>
        <p:nvSpPr>
          <p:cNvPr id="18436" name="AutoShape 4"/>
          <p:cNvSpPr>
            <a:spLocks noChangeArrowheads="1"/>
          </p:cNvSpPr>
          <p:nvPr/>
        </p:nvSpPr>
        <p:spPr bwMode="auto">
          <a:xfrm>
            <a:off x="3200400" y="18288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dirty="0"/>
              <a:t>document node</a:t>
            </a:r>
          </a:p>
        </p:txBody>
      </p:sp>
      <p:sp>
        <p:nvSpPr>
          <p:cNvPr id="18437" name="AutoShape 5"/>
          <p:cNvSpPr>
            <a:spLocks noChangeArrowheads="1"/>
          </p:cNvSpPr>
          <p:nvPr/>
        </p:nvSpPr>
        <p:spPr bwMode="auto">
          <a:xfrm>
            <a:off x="1371600" y="2743200"/>
            <a:ext cx="2209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Document_type node</a:t>
            </a:r>
          </a:p>
          <a:p>
            <a:r>
              <a:rPr lang="en-US" sz="1800"/>
              <a:t>&lt;!DOCTYPE&gt;</a:t>
            </a:r>
          </a:p>
        </p:txBody>
      </p:sp>
      <p:sp>
        <p:nvSpPr>
          <p:cNvPr id="18438" name="AutoShape 6"/>
          <p:cNvSpPr>
            <a:spLocks noChangeArrowheads="1"/>
          </p:cNvSpPr>
          <p:nvPr/>
        </p:nvSpPr>
        <p:spPr bwMode="auto">
          <a:xfrm>
            <a:off x="4800600" y="27432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element node</a:t>
            </a:r>
          </a:p>
          <a:p>
            <a:r>
              <a:rPr lang="en-US" sz="1800"/>
              <a:t>&lt;HTML&gt;</a:t>
            </a:r>
          </a:p>
        </p:txBody>
      </p:sp>
      <p:sp>
        <p:nvSpPr>
          <p:cNvPr id="18439" name="AutoShape 7"/>
          <p:cNvSpPr>
            <a:spLocks noChangeArrowheads="1"/>
          </p:cNvSpPr>
          <p:nvPr/>
        </p:nvSpPr>
        <p:spPr bwMode="auto">
          <a:xfrm>
            <a:off x="3657600" y="36576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element node</a:t>
            </a:r>
          </a:p>
          <a:p>
            <a:r>
              <a:rPr lang="en-US" sz="1800"/>
              <a:t>&lt;HEAD&gt;</a:t>
            </a:r>
          </a:p>
        </p:txBody>
      </p:sp>
      <p:sp>
        <p:nvSpPr>
          <p:cNvPr id="18440" name="AutoShape 8"/>
          <p:cNvSpPr>
            <a:spLocks noChangeArrowheads="1"/>
          </p:cNvSpPr>
          <p:nvPr/>
        </p:nvSpPr>
        <p:spPr bwMode="auto">
          <a:xfrm>
            <a:off x="3657600" y="44958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element node</a:t>
            </a:r>
          </a:p>
          <a:p>
            <a:r>
              <a:rPr lang="en-US" sz="1800"/>
              <a:t>&lt;TITLE&gt;</a:t>
            </a:r>
          </a:p>
        </p:txBody>
      </p:sp>
      <p:sp>
        <p:nvSpPr>
          <p:cNvPr id="18441" name="AutoShape 9"/>
          <p:cNvSpPr>
            <a:spLocks noChangeArrowheads="1"/>
          </p:cNvSpPr>
          <p:nvPr/>
        </p:nvSpPr>
        <p:spPr bwMode="auto">
          <a:xfrm>
            <a:off x="3657600" y="53340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text node</a:t>
            </a:r>
          </a:p>
          <a:p>
            <a:r>
              <a:rPr lang="en-US" sz="1800"/>
              <a:t>"Sample"</a:t>
            </a:r>
          </a:p>
        </p:txBody>
      </p:sp>
      <p:sp>
        <p:nvSpPr>
          <p:cNvPr id="18442" name="AutoShape 11"/>
          <p:cNvSpPr>
            <a:spLocks noChangeArrowheads="1"/>
          </p:cNvSpPr>
          <p:nvPr/>
        </p:nvSpPr>
        <p:spPr bwMode="auto">
          <a:xfrm>
            <a:off x="6019800" y="36576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element node</a:t>
            </a:r>
          </a:p>
          <a:p>
            <a:r>
              <a:rPr lang="en-US" sz="1800"/>
              <a:t>&lt;BODY&gt;</a:t>
            </a:r>
          </a:p>
        </p:txBody>
      </p:sp>
      <p:sp>
        <p:nvSpPr>
          <p:cNvPr id="18443" name="AutoShape 12"/>
          <p:cNvSpPr>
            <a:spLocks noChangeArrowheads="1"/>
          </p:cNvSpPr>
          <p:nvPr/>
        </p:nvSpPr>
        <p:spPr bwMode="auto">
          <a:xfrm>
            <a:off x="6019800" y="44958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element node</a:t>
            </a:r>
          </a:p>
          <a:p>
            <a:r>
              <a:rPr lang="en-US" sz="1800"/>
              <a:t>&lt;P&gt;</a:t>
            </a:r>
          </a:p>
        </p:txBody>
      </p:sp>
      <p:sp>
        <p:nvSpPr>
          <p:cNvPr id="18444" name="AutoShape 13"/>
          <p:cNvSpPr>
            <a:spLocks noChangeArrowheads="1"/>
          </p:cNvSpPr>
          <p:nvPr/>
        </p:nvSpPr>
        <p:spPr bwMode="auto">
          <a:xfrm>
            <a:off x="6019800" y="5334000"/>
            <a:ext cx="1828800" cy="609600"/>
          </a:xfrm>
          <a:prstGeom prst="flowChartProcess">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solidFill>
              <a:schemeClr val="tx1"/>
            </a:solidFill>
            <a:miter lim="800000"/>
            <a:headEnd/>
            <a:tailEnd/>
          </a:ln>
        </p:spPr>
        <p:txBody>
          <a:bodyPr wrap="none" anchor="ctr"/>
          <a:lstStyle/>
          <a:p>
            <a:r>
              <a:rPr lang="en-US" sz="1800" b="1"/>
              <a:t>text node</a:t>
            </a:r>
          </a:p>
          <a:p>
            <a:r>
              <a:rPr lang="en-US" sz="1800"/>
              <a:t>"This is a..."</a:t>
            </a:r>
          </a:p>
        </p:txBody>
      </p:sp>
      <p:cxnSp>
        <p:nvCxnSpPr>
          <p:cNvPr id="18445" name="AutoShape 24"/>
          <p:cNvCxnSpPr>
            <a:cxnSpLocks noChangeShapeType="1"/>
            <a:stCxn id="18438" idx="2"/>
            <a:endCxn id="18439" idx="0"/>
          </p:cNvCxnSpPr>
          <p:nvPr/>
        </p:nvCxnSpPr>
        <p:spPr bwMode="auto">
          <a:xfrm rot="5400000">
            <a:off x="4991100" y="2933700"/>
            <a:ext cx="304800" cy="114300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xmlns="">
                <a:noFill/>
              </a14:hiddenFill>
            </a:ext>
          </a:extLst>
        </p:spPr>
      </p:cxnSp>
      <p:cxnSp>
        <p:nvCxnSpPr>
          <p:cNvPr id="18446" name="AutoShape 25"/>
          <p:cNvCxnSpPr>
            <a:cxnSpLocks noChangeShapeType="1"/>
            <a:stCxn id="18438" idx="2"/>
            <a:endCxn id="18442" idx="0"/>
          </p:cNvCxnSpPr>
          <p:nvPr/>
        </p:nvCxnSpPr>
        <p:spPr bwMode="auto">
          <a:xfrm rot="16200000" flipH="1">
            <a:off x="6172200" y="2895600"/>
            <a:ext cx="304800" cy="121920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xmlns="">
                <a:noFill/>
              </a14:hiddenFill>
            </a:ext>
          </a:extLst>
        </p:spPr>
      </p:cxnSp>
      <p:cxnSp>
        <p:nvCxnSpPr>
          <p:cNvPr id="18447" name="AutoShape 26"/>
          <p:cNvCxnSpPr>
            <a:cxnSpLocks noChangeShapeType="1"/>
            <a:stCxn id="18436" idx="2"/>
            <a:endCxn id="18437" idx="0"/>
          </p:cNvCxnSpPr>
          <p:nvPr/>
        </p:nvCxnSpPr>
        <p:spPr bwMode="auto">
          <a:xfrm rot="5400000">
            <a:off x="3143250" y="1771650"/>
            <a:ext cx="304800" cy="163830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xmlns="">
                <a:noFill/>
              </a14:hiddenFill>
            </a:ext>
          </a:extLst>
        </p:spPr>
      </p:cxnSp>
      <p:cxnSp>
        <p:nvCxnSpPr>
          <p:cNvPr id="18448" name="AutoShape 27"/>
          <p:cNvCxnSpPr>
            <a:cxnSpLocks noChangeShapeType="1"/>
            <a:stCxn id="18436" idx="2"/>
            <a:endCxn id="18438" idx="0"/>
          </p:cNvCxnSpPr>
          <p:nvPr/>
        </p:nvCxnSpPr>
        <p:spPr bwMode="auto">
          <a:xfrm rot="16200000" flipH="1">
            <a:off x="4762500" y="1790700"/>
            <a:ext cx="304800" cy="160020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xmlns="">
                <a:noFill/>
              </a14:hiddenFill>
            </a:ext>
          </a:extLst>
        </p:spPr>
      </p:cxnSp>
      <p:cxnSp>
        <p:nvCxnSpPr>
          <p:cNvPr id="18449" name="AutoShape 28"/>
          <p:cNvCxnSpPr>
            <a:cxnSpLocks noChangeShapeType="1"/>
            <a:stCxn id="18439" idx="2"/>
            <a:endCxn id="18440" idx="0"/>
          </p:cNvCxnSpPr>
          <p:nvPr/>
        </p:nvCxnSpPr>
        <p:spPr bwMode="auto">
          <a:xfrm>
            <a:off x="4572000" y="4267200"/>
            <a:ext cx="0" cy="228600"/>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18450" name="AutoShape 29"/>
          <p:cNvCxnSpPr>
            <a:cxnSpLocks noChangeShapeType="1"/>
            <a:stCxn id="18440" idx="2"/>
            <a:endCxn id="18441" idx="0"/>
          </p:cNvCxnSpPr>
          <p:nvPr/>
        </p:nvCxnSpPr>
        <p:spPr bwMode="auto">
          <a:xfrm>
            <a:off x="4572000" y="5105400"/>
            <a:ext cx="0" cy="228600"/>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18451" name="AutoShape 30"/>
          <p:cNvCxnSpPr>
            <a:cxnSpLocks noChangeShapeType="1"/>
            <a:stCxn id="18442" idx="2"/>
            <a:endCxn id="18443" idx="0"/>
          </p:cNvCxnSpPr>
          <p:nvPr/>
        </p:nvCxnSpPr>
        <p:spPr bwMode="auto">
          <a:xfrm>
            <a:off x="6934200" y="4267200"/>
            <a:ext cx="0" cy="228600"/>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18452" name="AutoShape 31"/>
          <p:cNvCxnSpPr>
            <a:cxnSpLocks noChangeShapeType="1"/>
            <a:stCxn id="18443" idx="2"/>
            <a:endCxn id="18444" idx="0"/>
          </p:cNvCxnSpPr>
          <p:nvPr/>
        </p:nvCxnSpPr>
        <p:spPr bwMode="auto">
          <a:xfrm>
            <a:off x="6934200" y="5105400"/>
            <a:ext cx="0" cy="228600"/>
          </a:xfrm>
          <a:prstGeom prst="straightConnector1">
            <a:avLst/>
          </a:prstGeom>
          <a:noFill/>
          <a:ln w="9525">
            <a:solidFill>
              <a:schemeClr val="tx1"/>
            </a:solidFill>
            <a:round/>
            <a:headEnd/>
            <a:tailEn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xmlns="" val="3179521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600200" y="685800"/>
            <a:ext cx="57912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a:solidFill>
                  <a:schemeClr val="tx2"/>
                </a:solidFill>
                <a:latin typeface="Arial" pitchFamily="34" charset="0"/>
              </a:rPr>
              <a:t>Netscape DOM</a:t>
            </a:r>
          </a:p>
        </p:txBody>
      </p:sp>
      <p:sp>
        <p:nvSpPr>
          <p:cNvPr id="19459" name="Text Box 3"/>
          <p:cNvSpPr txBox="1">
            <a:spLocks noChangeArrowheads="1"/>
          </p:cNvSpPr>
          <p:nvPr/>
        </p:nvSpPr>
        <p:spPr bwMode="auto">
          <a:xfrm>
            <a:off x="990600" y="1600200"/>
            <a:ext cx="7391400" cy="3422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spcBef>
                <a:spcPct val="30000"/>
              </a:spcBef>
              <a:buClr>
                <a:schemeClr val="tx2"/>
              </a:buClr>
              <a:buSzPct val="90000"/>
              <a:buFont typeface="Wingdings" pitchFamily="2" charset="2"/>
              <a:buChar char="Ø"/>
            </a:pPr>
            <a:r>
              <a:rPr lang="en-US" sz="2200" dirty="0">
                <a:latin typeface="+mn-lt"/>
              </a:rPr>
              <a:t>DOM "begins" at the window object; </a:t>
            </a:r>
          </a:p>
          <a:p>
            <a:pPr algn="just" eaLnBrk="1" hangingPunct="1">
              <a:spcBef>
                <a:spcPct val="30000"/>
              </a:spcBef>
              <a:buClr>
                <a:schemeClr val="tx2"/>
              </a:buClr>
              <a:buSzPct val="90000"/>
              <a:buFont typeface="Wingdings" pitchFamily="2" charset="2"/>
              <a:buChar char="Ø"/>
            </a:pPr>
            <a:endParaRPr lang="en-US" sz="2200" dirty="0">
              <a:latin typeface="+mn-lt"/>
            </a:endParaRPr>
          </a:p>
          <a:p>
            <a:pPr algn="just" eaLnBrk="1" hangingPunct="1">
              <a:spcBef>
                <a:spcPct val="30000"/>
              </a:spcBef>
              <a:buClr>
                <a:schemeClr val="tx2"/>
              </a:buClr>
              <a:buSzPct val="90000"/>
              <a:buFont typeface="Wingdings" pitchFamily="2" charset="2"/>
              <a:buChar char="Ø"/>
            </a:pPr>
            <a:r>
              <a:rPr lang="en-US" sz="2200" dirty="0">
                <a:latin typeface="+mn-lt"/>
              </a:rPr>
              <a:t>Other objects are below the window object in the hierarchy</a:t>
            </a:r>
          </a:p>
          <a:p>
            <a:pPr algn="just" eaLnBrk="1" hangingPunct="1">
              <a:spcBef>
                <a:spcPct val="30000"/>
              </a:spcBef>
              <a:buClr>
                <a:schemeClr val="tx2"/>
              </a:buClr>
              <a:buSzPct val="90000"/>
              <a:buFont typeface="Wingdings" pitchFamily="2" charset="2"/>
              <a:buChar char="Ø"/>
            </a:pPr>
            <a:endParaRPr lang="en-US" sz="2200" dirty="0">
              <a:latin typeface="+mn-lt"/>
            </a:endParaRPr>
          </a:p>
          <a:p>
            <a:pPr algn="just" eaLnBrk="1" hangingPunct="1">
              <a:spcBef>
                <a:spcPct val="30000"/>
              </a:spcBef>
              <a:buClr>
                <a:schemeClr val="tx2"/>
              </a:buClr>
              <a:buSzPct val="90000"/>
              <a:buFont typeface="Wingdings" pitchFamily="2" charset="2"/>
              <a:buChar char="Ø"/>
            </a:pPr>
            <a:r>
              <a:rPr lang="en-US" sz="2200" dirty="0">
                <a:latin typeface="+mn-lt"/>
              </a:rPr>
              <a:t>Exception is the navigator object, (whose properties provide information about the browser  version,) which is a peer object of window rather than a child</a:t>
            </a:r>
          </a:p>
          <a:p>
            <a:pPr algn="just" eaLnBrk="1" hangingPunct="1">
              <a:spcBef>
                <a:spcPct val="50000"/>
              </a:spcBef>
            </a:pPr>
            <a:endParaRPr lang="en-US" sz="2200" dirty="0">
              <a:latin typeface="+mn-lt"/>
            </a:endParaRPr>
          </a:p>
        </p:txBody>
      </p:sp>
    </p:spTree>
    <p:extLst>
      <p:ext uri="{BB962C8B-B14F-4D97-AF65-F5344CB8AC3E}">
        <p14:creationId xmlns:p14="http://schemas.microsoft.com/office/powerpoint/2010/main" xmlns="" val="2652897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nav_hie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66800" y="304800"/>
            <a:ext cx="7620000" cy="632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7062735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p:cNvSpPr txBox="1">
            <a:spLocks noChangeArrowheads="1"/>
          </p:cNvSpPr>
          <p:nvPr/>
        </p:nvSpPr>
        <p:spPr bwMode="auto">
          <a:xfrm>
            <a:off x="1295400" y="1676400"/>
            <a:ext cx="7162800" cy="35455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lnSpc>
                <a:spcPct val="90000"/>
              </a:lnSpc>
              <a:spcBef>
                <a:spcPct val="20000"/>
              </a:spcBef>
              <a:buClr>
                <a:schemeClr val="tx2"/>
              </a:buClr>
              <a:buSzPct val="90000"/>
              <a:buFont typeface="Wingdings" pitchFamily="2" charset="2"/>
              <a:buChar char="Ø"/>
            </a:pPr>
            <a:r>
              <a:rPr lang="en-US" sz="2200" dirty="0" smtClean="0">
                <a:latin typeface="+mn-lt"/>
              </a:rPr>
              <a:t>DHTML can make your browser dynamic and interactive</a:t>
            </a:r>
          </a:p>
          <a:p>
            <a:pPr algn="just" eaLnBrk="1" hangingPunct="1">
              <a:lnSpc>
                <a:spcPct val="90000"/>
              </a:lnSpc>
              <a:spcBef>
                <a:spcPct val="2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20000"/>
              </a:spcBef>
              <a:buClr>
                <a:schemeClr val="tx2"/>
              </a:buClr>
              <a:buSzPct val="90000"/>
              <a:buFont typeface="Wingdings" pitchFamily="2" charset="2"/>
              <a:buChar char="Ø"/>
            </a:pPr>
            <a:r>
              <a:rPr lang="en-US" sz="2200" dirty="0">
                <a:latin typeface="+mn-lt"/>
              </a:rPr>
              <a:t>Content and design can be separated using Style sheets &amp; uniformity of the site can be maintained using them</a:t>
            </a:r>
          </a:p>
          <a:p>
            <a:pPr algn="just" eaLnBrk="1" hangingPunct="1">
              <a:lnSpc>
                <a:spcPct val="90000"/>
              </a:lnSpc>
              <a:spcBef>
                <a:spcPct val="2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20000"/>
              </a:spcBef>
              <a:buClr>
                <a:schemeClr val="tx2"/>
              </a:buClr>
              <a:buSzPct val="90000"/>
              <a:buFont typeface="Wingdings" pitchFamily="2" charset="2"/>
              <a:buChar char="Ø"/>
            </a:pPr>
            <a:r>
              <a:rPr lang="en-US" sz="2200" dirty="0">
                <a:latin typeface="+mn-lt"/>
              </a:rPr>
              <a:t>Validation of input’s given by the user can be done at the client side, without connection to the server</a:t>
            </a:r>
          </a:p>
          <a:p>
            <a:pPr algn="just" eaLnBrk="1" hangingPunct="1">
              <a:lnSpc>
                <a:spcPct val="90000"/>
              </a:lnSpc>
              <a:spcBef>
                <a:spcPct val="20000"/>
              </a:spcBef>
              <a:buClr>
                <a:schemeClr val="tx2"/>
              </a:buClr>
              <a:buSzPct val="90000"/>
              <a:buFont typeface="Wingdings" pitchFamily="2" charset="2"/>
              <a:buChar char="Ø"/>
            </a:pPr>
            <a:endParaRPr lang="en-US" sz="2200" dirty="0">
              <a:latin typeface="+mn-lt"/>
            </a:endParaRPr>
          </a:p>
          <a:p>
            <a:pPr algn="just" eaLnBrk="1" hangingPunct="1">
              <a:lnSpc>
                <a:spcPct val="90000"/>
              </a:lnSpc>
              <a:spcBef>
                <a:spcPct val="20000"/>
              </a:spcBef>
              <a:buClr>
                <a:schemeClr val="tx2"/>
              </a:buClr>
              <a:buSzPct val="90000"/>
              <a:buFont typeface="Wingdings" pitchFamily="2" charset="2"/>
              <a:buChar char="Ø"/>
            </a:pPr>
            <a:r>
              <a:rPr lang="en-US" sz="2200" dirty="0">
                <a:latin typeface="+mn-lt"/>
              </a:rPr>
              <a:t>Drop down menus can be used to put a lot of information on the site</a:t>
            </a:r>
          </a:p>
        </p:txBody>
      </p:sp>
      <p:sp>
        <p:nvSpPr>
          <p:cNvPr id="26627" name="Text Box 5"/>
          <p:cNvSpPr txBox="1">
            <a:spLocks noChangeArrowheads="1"/>
          </p:cNvSpPr>
          <p:nvPr/>
        </p:nvSpPr>
        <p:spPr bwMode="auto">
          <a:xfrm>
            <a:off x="1828800" y="762000"/>
            <a:ext cx="64008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spcBef>
                <a:spcPct val="50000"/>
              </a:spcBef>
            </a:pPr>
            <a:r>
              <a:rPr lang="en-US" sz="3200" b="1">
                <a:solidFill>
                  <a:schemeClr val="tx2"/>
                </a:solidFill>
                <a:latin typeface="Arial" pitchFamily="34" charset="0"/>
              </a:rPr>
              <a:t>Conclusion – Overview…</a:t>
            </a:r>
          </a:p>
        </p:txBody>
      </p:sp>
    </p:spTree>
    <p:extLst>
      <p:ext uri="{BB962C8B-B14F-4D97-AF65-F5344CB8AC3E}">
        <p14:creationId xmlns:p14="http://schemas.microsoft.com/office/powerpoint/2010/main" xmlns="" val="2539895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ctrTitle"/>
          </p:nvPr>
        </p:nvSpPr>
        <p:spPr/>
        <p:txBody>
          <a:bodyPr/>
          <a:lstStyle/>
          <a:p>
            <a:r>
              <a:rPr lang="en-US"/>
              <a:t>HTML DOM</a:t>
            </a:r>
          </a:p>
        </p:txBody>
      </p:sp>
    </p:spTree>
    <p:extLst>
      <p:ext uri="{BB962C8B-B14F-4D97-AF65-F5344CB8AC3E}">
        <p14:creationId xmlns:p14="http://schemas.microsoft.com/office/powerpoint/2010/main" xmlns="" val="394769474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HTML DOM</a:t>
            </a:r>
          </a:p>
        </p:txBody>
      </p:sp>
      <p:sp>
        <p:nvSpPr>
          <p:cNvPr id="10243" name="Rectangle 3"/>
          <p:cNvSpPr>
            <a:spLocks noGrp="1" noChangeArrowheads="1"/>
          </p:cNvSpPr>
          <p:nvPr>
            <p:ph type="body" idx="1"/>
          </p:nvPr>
        </p:nvSpPr>
        <p:spPr/>
        <p:txBody>
          <a:bodyPr/>
          <a:lstStyle/>
          <a:p>
            <a:pPr algn="ctr">
              <a:buFontTx/>
              <a:buNone/>
            </a:pPr>
            <a:r>
              <a:rPr lang="en-US" sz="3200" b="1" dirty="0"/>
              <a:t>From W3C</a:t>
            </a:r>
            <a:r>
              <a:rPr lang="en-US" sz="3200" b="1" dirty="0" smtClean="0"/>
              <a:t>:</a:t>
            </a:r>
          </a:p>
          <a:p>
            <a:pPr algn="ctr">
              <a:buFontTx/>
              <a:buNone/>
            </a:pPr>
            <a:endParaRPr lang="en-US" sz="3200" b="1" dirty="0"/>
          </a:p>
          <a:p>
            <a:pPr algn="just">
              <a:buFontTx/>
              <a:buNone/>
            </a:pPr>
            <a:r>
              <a:rPr lang="en-US" dirty="0"/>
              <a:t>	</a:t>
            </a:r>
            <a:r>
              <a:rPr lang="en-US" b="1" dirty="0">
                <a:solidFill>
                  <a:srgbClr val="CC0000"/>
                </a:solidFill>
              </a:rPr>
              <a:t>“</a:t>
            </a:r>
            <a:r>
              <a:rPr lang="en-US" dirty="0">
                <a:solidFill>
                  <a:srgbClr val="0000FF"/>
                </a:solidFill>
              </a:rPr>
              <a:t>A platform- and language-neutral interface that allows programs and</a:t>
            </a:r>
            <a:r>
              <a:rPr lang="en-US" dirty="0">
                <a:solidFill>
                  <a:srgbClr val="0066FF"/>
                </a:solidFill>
              </a:rPr>
              <a:t> </a:t>
            </a:r>
            <a:r>
              <a:rPr lang="en-US" dirty="0">
                <a:solidFill>
                  <a:srgbClr val="CC0000"/>
                </a:solidFill>
              </a:rPr>
              <a:t>scripts</a:t>
            </a:r>
            <a:r>
              <a:rPr lang="en-US" dirty="0">
                <a:solidFill>
                  <a:srgbClr val="0066FF"/>
                </a:solidFill>
              </a:rPr>
              <a:t> </a:t>
            </a:r>
            <a:r>
              <a:rPr lang="en-US" dirty="0">
                <a:solidFill>
                  <a:srgbClr val="0000FF"/>
                </a:solidFill>
              </a:rPr>
              <a:t>to dynamically access and</a:t>
            </a:r>
            <a:r>
              <a:rPr lang="en-US" dirty="0">
                <a:solidFill>
                  <a:srgbClr val="0066FF"/>
                </a:solidFill>
              </a:rPr>
              <a:t> </a:t>
            </a:r>
            <a:r>
              <a:rPr lang="en-US" dirty="0">
                <a:solidFill>
                  <a:srgbClr val="CC0000"/>
                </a:solidFill>
              </a:rPr>
              <a:t>update</a:t>
            </a:r>
            <a:r>
              <a:rPr lang="en-US" dirty="0">
                <a:solidFill>
                  <a:srgbClr val="0066FF"/>
                </a:solidFill>
              </a:rPr>
              <a:t> </a:t>
            </a:r>
            <a:r>
              <a:rPr lang="en-US" dirty="0">
                <a:solidFill>
                  <a:srgbClr val="0000FF"/>
                </a:solidFill>
              </a:rPr>
              <a:t>the</a:t>
            </a:r>
            <a:r>
              <a:rPr lang="en-US" dirty="0">
                <a:solidFill>
                  <a:srgbClr val="0066FF"/>
                </a:solidFill>
              </a:rPr>
              <a:t> </a:t>
            </a:r>
            <a:r>
              <a:rPr lang="en-US" dirty="0">
                <a:solidFill>
                  <a:srgbClr val="CC0000"/>
                </a:solidFill>
              </a:rPr>
              <a:t>content</a:t>
            </a:r>
            <a:r>
              <a:rPr lang="en-US" dirty="0">
                <a:solidFill>
                  <a:srgbClr val="0066FF"/>
                </a:solidFill>
              </a:rPr>
              <a:t> </a:t>
            </a:r>
            <a:r>
              <a:rPr lang="en-US" dirty="0">
                <a:solidFill>
                  <a:srgbClr val="0000FF"/>
                </a:solidFill>
              </a:rPr>
              <a:t>and</a:t>
            </a:r>
            <a:r>
              <a:rPr lang="en-US" dirty="0">
                <a:solidFill>
                  <a:srgbClr val="0066FF"/>
                </a:solidFill>
              </a:rPr>
              <a:t> </a:t>
            </a:r>
            <a:r>
              <a:rPr lang="en-US" dirty="0">
                <a:solidFill>
                  <a:srgbClr val="CC0000"/>
                </a:solidFill>
              </a:rPr>
              <a:t>structure </a:t>
            </a:r>
            <a:r>
              <a:rPr lang="en-US" dirty="0">
                <a:solidFill>
                  <a:srgbClr val="0000FF"/>
                </a:solidFill>
              </a:rPr>
              <a:t>of HTML and XHTML documents.</a:t>
            </a:r>
            <a:r>
              <a:rPr lang="en-US" b="1" dirty="0">
                <a:solidFill>
                  <a:srgbClr val="CC0000"/>
                </a:solidFill>
              </a:rPr>
              <a:t>”</a:t>
            </a:r>
          </a:p>
        </p:txBody>
      </p:sp>
    </p:spTree>
    <p:extLst>
      <p:ext uri="{BB962C8B-B14F-4D97-AF65-F5344CB8AC3E}">
        <p14:creationId xmlns:p14="http://schemas.microsoft.com/office/powerpoint/2010/main" xmlns="" val="144901483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792162"/>
          </a:xfrm>
        </p:spPr>
        <p:txBody>
          <a:bodyPr/>
          <a:lstStyle/>
          <a:p>
            <a:r>
              <a:rPr lang="en-US" dirty="0"/>
              <a:t>DOM and JavaScript</a:t>
            </a:r>
          </a:p>
        </p:txBody>
      </p:sp>
      <p:sp>
        <p:nvSpPr>
          <p:cNvPr id="11267" name="Rectangle 3"/>
          <p:cNvSpPr>
            <a:spLocks noGrp="1" noChangeArrowheads="1"/>
          </p:cNvSpPr>
          <p:nvPr>
            <p:ph type="body" idx="1"/>
          </p:nvPr>
        </p:nvSpPr>
        <p:spPr>
          <a:xfrm>
            <a:off x="304800" y="1295400"/>
            <a:ext cx="8610600" cy="4876800"/>
          </a:xfrm>
        </p:spPr>
        <p:txBody>
          <a:bodyPr/>
          <a:lstStyle/>
          <a:p>
            <a:pPr algn="just"/>
            <a:r>
              <a:rPr lang="en-US" sz="3200" dirty="0"/>
              <a:t>Combined with </a:t>
            </a:r>
            <a:r>
              <a:rPr lang="en-US" sz="3200" dirty="0">
                <a:solidFill>
                  <a:srgbClr val="0000FF"/>
                </a:solidFill>
              </a:rPr>
              <a:t>JavaScript</a:t>
            </a:r>
            <a:r>
              <a:rPr lang="en-US" sz="3200" dirty="0"/>
              <a:t>, every element in the HTML document is represented by an </a:t>
            </a:r>
            <a:r>
              <a:rPr lang="en-US" sz="3200" i="1" dirty="0" smtClean="0">
                <a:solidFill>
                  <a:srgbClr val="CC0000"/>
                </a:solidFill>
              </a:rPr>
              <a:t>object</a:t>
            </a:r>
          </a:p>
          <a:p>
            <a:pPr algn="just"/>
            <a:endParaRPr lang="en-US" sz="3200" i="1" dirty="0">
              <a:solidFill>
                <a:srgbClr val="CC0000"/>
              </a:solidFill>
            </a:endParaRPr>
          </a:p>
          <a:p>
            <a:pPr algn="just"/>
            <a:r>
              <a:rPr lang="en-US" sz="3200" dirty="0"/>
              <a:t>Elements can be manipulated using the </a:t>
            </a:r>
            <a:r>
              <a:rPr lang="en-US" sz="3200" dirty="0">
                <a:solidFill>
                  <a:srgbClr val="0000FF"/>
                </a:solidFill>
              </a:rPr>
              <a:t>properties </a:t>
            </a:r>
            <a:r>
              <a:rPr lang="en-US" sz="3200" dirty="0"/>
              <a:t>and </a:t>
            </a:r>
            <a:r>
              <a:rPr lang="en-US" sz="3200" dirty="0">
                <a:solidFill>
                  <a:srgbClr val="0000FF"/>
                </a:solidFill>
              </a:rPr>
              <a:t>methods </a:t>
            </a:r>
            <a:r>
              <a:rPr lang="en-US" sz="3200" dirty="0"/>
              <a:t>of the corresponding </a:t>
            </a:r>
            <a:r>
              <a:rPr lang="en-US" sz="3200" dirty="0" smtClean="0"/>
              <a:t>objects</a:t>
            </a:r>
          </a:p>
          <a:p>
            <a:pPr algn="just"/>
            <a:endParaRPr lang="en-US" sz="3200" dirty="0"/>
          </a:p>
          <a:p>
            <a:pPr algn="just"/>
            <a:r>
              <a:rPr lang="en-US" sz="3200" dirty="0"/>
              <a:t>Changes in the element properties are immediately reflected by the browser</a:t>
            </a:r>
          </a:p>
          <a:p>
            <a:endParaRPr lang="en-US" sz="3200" dirty="0">
              <a:solidFill>
                <a:srgbClr val="0066FF"/>
              </a:solidFill>
            </a:endParaRPr>
          </a:p>
        </p:txBody>
      </p:sp>
    </p:spTree>
    <p:extLst>
      <p:ext uri="{BB962C8B-B14F-4D97-AF65-F5344CB8AC3E}">
        <p14:creationId xmlns:p14="http://schemas.microsoft.com/office/powerpoint/2010/main" xmlns="" val="87616680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Accessing HTML Elements </a:t>
            </a:r>
          </a:p>
        </p:txBody>
      </p:sp>
      <p:sp>
        <p:nvSpPr>
          <p:cNvPr id="8195" name="Rectangle 3"/>
          <p:cNvSpPr>
            <a:spLocks noGrp="1" noChangeArrowheads="1"/>
          </p:cNvSpPr>
          <p:nvPr>
            <p:ph type="body" idx="1"/>
          </p:nvPr>
        </p:nvSpPr>
        <p:spPr/>
        <p:txBody>
          <a:bodyPr>
            <a:normAutofit lnSpcReduction="10000"/>
          </a:bodyPr>
          <a:lstStyle/>
          <a:p>
            <a:pPr algn="just"/>
            <a:r>
              <a:rPr lang="en-US" sz="3200" dirty="0"/>
              <a:t>All HTML elements (objects) are accessed through the </a:t>
            </a:r>
            <a:r>
              <a:rPr lang="en-US" sz="3200" dirty="0">
                <a:solidFill>
                  <a:srgbClr val="0000FF"/>
                </a:solidFill>
              </a:rPr>
              <a:t>document </a:t>
            </a:r>
            <a:r>
              <a:rPr lang="en-US" sz="3200" dirty="0" smtClean="0"/>
              <a:t>object</a:t>
            </a:r>
          </a:p>
          <a:p>
            <a:pPr algn="just"/>
            <a:endParaRPr lang="en-US" sz="3200" dirty="0"/>
          </a:p>
          <a:p>
            <a:pPr algn="just"/>
            <a:r>
              <a:rPr lang="en-US" sz="3200" dirty="0">
                <a:solidFill>
                  <a:srgbClr val="0000FF"/>
                </a:solidFill>
              </a:rPr>
              <a:t>document</a:t>
            </a:r>
            <a:r>
              <a:rPr lang="en-US" sz="3200" dirty="0"/>
              <a:t> itself is automatically </a:t>
            </a:r>
            <a:r>
              <a:rPr lang="en-US" sz="3200" dirty="0" smtClean="0"/>
              <a:t>created</a:t>
            </a:r>
          </a:p>
          <a:p>
            <a:pPr algn="just"/>
            <a:endParaRPr lang="en-US" sz="3200" dirty="0"/>
          </a:p>
          <a:p>
            <a:pPr algn="just"/>
            <a:r>
              <a:rPr lang="en-US" sz="3200" dirty="0"/>
              <a:t>Several ways to access a specific element</a:t>
            </a:r>
          </a:p>
          <a:p>
            <a:pPr lvl="1" algn="just"/>
            <a:r>
              <a:rPr lang="en-US" sz="2800" dirty="0">
                <a:solidFill>
                  <a:srgbClr val="CC0000"/>
                </a:solidFill>
              </a:rPr>
              <a:t>paths</a:t>
            </a:r>
            <a:r>
              <a:rPr lang="en-US" sz="2800" dirty="0"/>
              <a:t> in the DOM tree</a:t>
            </a:r>
          </a:p>
          <a:p>
            <a:pPr lvl="1" algn="just"/>
            <a:r>
              <a:rPr lang="en-US" sz="2800" dirty="0"/>
              <a:t>retrieval by </a:t>
            </a:r>
            <a:r>
              <a:rPr lang="en-US" sz="2800" dirty="0">
                <a:solidFill>
                  <a:srgbClr val="CC0000"/>
                </a:solidFill>
              </a:rPr>
              <a:t>tag</a:t>
            </a:r>
          </a:p>
          <a:p>
            <a:pPr lvl="1" algn="just"/>
            <a:r>
              <a:rPr lang="en-US" sz="2800" dirty="0"/>
              <a:t>retrieval by </a:t>
            </a:r>
            <a:r>
              <a:rPr lang="en-US" sz="2800" dirty="0">
                <a:solidFill>
                  <a:srgbClr val="CC0000"/>
                </a:solidFill>
              </a:rPr>
              <a:t>ID</a:t>
            </a:r>
          </a:p>
          <a:p>
            <a:pPr lvl="1" algn="just"/>
            <a:endParaRPr lang="en-US" sz="2800" dirty="0"/>
          </a:p>
        </p:txBody>
      </p:sp>
    </p:spTree>
    <p:extLst>
      <p:ext uri="{BB962C8B-B14F-4D97-AF65-F5344CB8AC3E}">
        <p14:creationId xmlns:p14="http://schemas.microsoft.com/office/powerpoint/2010/main" xmlns="" val="360052089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HTML DOM Tree</a:t>
            </a:r>
          </a:p>
        </p:txBody>
      </p:sp>
      <p:graphicFrame>
        <p:nvGraphicFramePr>
          <p:cNvPr id="9222" name="Object 6"/>
          <p:cNvGraphicFramePr>
            <a:graphicFrameLocks noChangeAspect="1"/>
          </p:cNvGraphicFramePr>
          <p:nvPr/>
        </p:nvGraphicFramePr>
        <p:xfrm>
          <a:off x="152400" y="1541463"/>
          <a:ext cx="8915400" cy="4706937"/>
        </p:xfrm>
        <a:graphic>
          <a:graphicData uri="http://schemas.openxmlformats.org/presentationml/2006/ole">
            <p:oleObj spid="_x0000_s1031" name="Visio" r:id="rId3" imgW="7381646" imgH="3897782" progId="">
              <p:embed/>
            </p:oleObj>
          </a:graphicData>
        </a:graphic>
      </p:graphicFrame>
    </p:spTree>
    <p:extLst>
      <p:ext uri="{BB962C8B-B14F-4D97-AF65-F5344CB8AC3E}">
        <p14:creationId xmlns:p14="http://schemas.microsoft.com/office/powerpoint/2010/main" xmlns="" val="21844038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2800" b="1" dirty="0"/>
              <a:t>The HTML DOM Document Object</a:t>
            </a:r>
          </a:p>
          <a:p>
            <a:pPr algn="just"/>
            <a:r>
              <a:rPr lang="en-US" sz="2800" b="1" dirty="0"/>
              <a:t>HTML DOM Nodes</a:t>
            </a:r>
          </a:p>
          <a:p>
            <a:pPr algn="just"/>
            <a:r>
              <a:rPr lang="en-US" sz="2800" dirty="0"/>
              <a:t>In the HTML DOM (Document Object Model), everything is a </a:t>
            </a:r>
            <a:r>
              <a:rPr lang="en-US" sz="2800" b="1" dirty="0"/>
              <a:t>node</a:t>
            </a:r>
            <a:r>
              <a:rPr lang="en-US" sz="2800" dirty="0"/>
              <a:t>: </a:t>
            </a:r>
          </a:p>
          <a:p>
            <a:pPr algn="just"/>
            <a:r>
              <a:rPr lang="en-US" sz="2800" dirty="0"/>
              <a:t>The document itself is a document node</a:t>
            </a:r>
          </a:p>
          <a:p>
            <a:pPr algn="just"/>
            <a:r>
              <a:rPr lang="en-US" sz="2800" dirty="0"/>
              <a:t>All HTML elements are element nodes</a:t>
            </a:r>
          </a:p>
          <a:p>
            <a:pPr algn="just"/>
            <a:r>
              <a:rPr lang="en-US" sz="2800" dirty="0"/>
              <a:t>All HTML attributes are attribute nodes</a:t>
            </a:r>
          </a:p>
          <a:p>
            <a:pPr algn="just"/>
            <a:r>
              <a:rPr lang="en-US" sz="2800" dirty="0"/>
              <a:t>Text inside HTML elements are text nodes</a:t>
            </a:r>
          </a:p>
          <a:p>
            <a:pPr algn="just"/>
            <a:r>
              <a:rPr lang="en-US" sz="2800" dirty="0"/>
              <a:t>Comments are comment nodes</a:t>
            </a:r>
          </a:p>
          <a:p>
            <a:pPr algn="just"/>
            <a:endParaRPr lang="en-US" sz="2800" dirty="0"/>
          </a:p>
        </p:txBody>
      </p:sp>
    </p:spTree>
    <p:extLst>
      <p:ext uri="{BB962C8B-B14F-4D97-AF65-F5344CB8AC3E}">
        <p14:creationId xmlns:p14="http://schemas.microsoft.com/office/powerpoint/2010/main" xmlns="" val="8005520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lgn="just"/>
            <a:r>
              <a:rPr lang="en-US" sz="2600" b="1" dirty="0"/>
              <a:t>The Document Object</a:t>
            </a:r>
          </a:p>
          <a:p>
            <a:pPr algn="just"/>
            <a:r>
              <a:rPr lang="en-US" sz="2600" dirty="0"/>
              <a:t>When an HTML document is loaded into a web browser, it becomes a </a:t>
            </a:r>
            <a:r>
              <a:rPr lang="en-US" sz="2600" b="1" dirty="0"/>
              <a:t>document object</a:t>
            </a:r>
            <a:r>
              <a:rPr lang="en-US" sz="2600" dirty="0" smtClean="0"/>
              <a:t>.</a:t>
            </a:r>
          </a:p>
          <a:p>
            <a:pPr algn="just"/>
            <a:endParaRPr lang="en-US" sz="2600" dirty="0"/>
          </a:p>
          <a:p>
            <a:pPr algn="just"/>
            <a:r>
              <a:rPr lang="en-US" sz="2600" dirty="0"/>
              <a:t>The document object is the root node of the HTML document and the "owner" of all other nodes:</a:t>
            </a:r>
            <a:br>
              <a:rPr lang="en-US" sz="2600" dirty="0"/>
            </a:br>
            <a:r>
              <a:rPr lang="en-US" sz="2600" dirty="0"/>
              <a:t>(element nodes, text nodes, attribute nodes, and comment nodes</a:t>
            </a:r>
            <a:r>
              <a:rPr lang="en-US" sz="2600" dirty="0" smtClean="0"/>
              <a:t>).</a:t>
            </a:r>
          </a:p>
          <a:p>
            <a:pPr algn="just"/>
            <a:endParaRPr lang="en-US" sz="2600" dirty="0"/>
          </a:p>
          <a:p>
            <a:pPr algn="just"/>
            <a:r>
              <a:rPr lang="en-US" sz="2600" dirty="0"/>
              <a:t>The document object provides properties and methods to access all node objects, from within JavaScript</a:t>
            </a:r>
            <a:r>
              <a:rPr lang="en-US" sz="2600" dirty="0" smtClean="0"/>
              <a:t>.</a:t>
            </a:r>
          </a:p>
          <a:p>
            <a:pPr algn="just"/>
            <a:endParaRPr lang="en-US" sz="2600" dirty="0"/>
          </a:p>
          <a:p>
            <a:pPr algn="just"/>
            <a:r>
              <a:rPr lang="en-US" sz="2600" b="1" dirty="0"/>
              <a:t>Tip:</a:t>
            </a:r>
            <a:r>
              <a:rPr lang="en-US" sz="2600" dirty="0"/>
              <a:t> The document is a part of the Window object and can be accessed as </a:t>
            </a:r>
            <a:r>
              <a:rPr lang="en-US" sz="2600" dirty="0" err="1"/>
              <a:t>window.document</a:t>
            </a:r>
            <a:r>
              <a:rPr lang="en-US" sz="2600" dirty="0"/>
              <a:t>.</a:t>
            </a:r>
          </a:p>
          <a:p>
            <a:pPr algn="just"/>
            <a:endParaRPr lang="en-US" sz="2600" dirty="0"/>
          </a:p>
        </p:txBody>
      </p:sp>
    </p:spTree>
    <p:extLst>
      <p:ext uri="{BB962C8B-B14F-4D97-AF65-F5344CB8AC3E}">
        <p14:creationId xmlns:p14="http://schemas.microsoft.com/office/powerpoint/2010/main" xmlns="" val="2099498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xmlns="" val="1830255830"/>
              </p:ext>
            </p:extLst>
          </p:nvPr>
        </p:nvGraphicFramePr>
        <p:xfrm>
          <a:off x="609600" y="228601"/>
          <a:ext cx="8229600" cy="6629399"/>
        </p:xfrm>
        <a:graphic>
          <a:graphicData uri="http://schemas.openxmlformats.org/drawingml/2006/table">
            <a:tbl>
              <a:tblPr/>
              <a:tblGrid>
                <a:gridCol w="4114800"/>
                <a:gridCol w="4114800"/>
              </a:tblGrid>
              <a:tr h="389965">
                <a:tc>
                  <a:txBody>
                    <a:bodyPr/>
                    <a:lstStyle/>
                    <a:p>
                      <a:r>
                        <a:rPr lang="en-US" b="1" dirty="0">
                          <a:effectLst/>
                        </a:rPr>
                        <a:t>Property / Method</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r>
              <a:tr h="682438">
                <a:tc>
                  <a:txBody>
                    <a:bodyPr/>
                    <a:lstStyle/>
                    <a:p>
                      <a:r>
                        <a:rPr lang="en-US" b="0" dirty="0" err="1">
                          <a:hlinkClick r:id="rId2"/>
                        </a:rPr>
                        <a:t>document.activeElement</a:t>
                      </a:r>
                      <a:endParaRPr lang="en-US" b="0" dirty="0"/>
                    </a:p>
                  </a:txBody>
                  <a:tcPr anchor="ctr">
                    <a:lnL>
                      <a:noFill/>
                    </a:lnL>
                    <a:lnR>
                      <a:noFill/>
                    </a:lnR>
                    <a:lnT>
                      <a:noFill/>
                    </a:lnT>
                    <a:lnB>
                      <a:noFill/>
                    </a:lnB>
                  </a:tcPr>
                </a:tc>
                <a:tc>
                  <a:txBody>
                    <a:bodyPr/>
                    <a:lstStyle/>
                    <a:p>
                      <a:r>
                        <a:rPr lang="en-US" b="0" dirty="0"/>
                        <a:t>Returns the currently focused element in the document</a:t>
                      </a:r>
                    </a:p>
                  </a:txBody>
                  <a:tcPr anchor="ctr">
                    <a:lnL>
                      <a:noFill/>
                    </a:lnL>
                    <a:lnR>
                      <a:noFill/>
                    </a:lnR>
                    <a:lnT>
                      <a:noFill/>
                    </a:lnT>
                    <a:lnB>
                      <a:noFill/>
                    </a:lnB>
                  </a:tcPr>
                </a:tc>
              </a:tr>
              <a:tr h="682438">
                <a:tc>
                  <a:txBody>
                    <a:bodyPr/>
                    <a:lstStyle/>
                    <a:p>
                      <a:r>
                        <a:rPr lang="en-US" b="0" dirty="0" err="1">
                          <a:hlinkClick r:id="rId3"/>
                        </a:rPr>
                        <a:t>document.addEventListener</a:t>
                      </a:r>
                      <a:r>
                        <a:rPr lang="en-US" b="0" dirty="0">
                          <a:hlinkClick r:id="rId3"/>
                        </a:rPr>
                        <a:t>()</a:t>
                      </a:r>
                      <a:endParaRPr lang="en-US" b="0" dirty="0"/>
                    </a:p>
                  </a:txBody>
                  <a:tcPr anchor="ctr">
                    <a:lnL>
                      <a:noFill/>
                    </a:lnL>
                    <a:lnR>
                      <a:noFill/>
                    </a:lnR>
                    <a:lnT>
                      <a:noFill/>
                    </a:lnT>
                    <a:lnB>
                      <a:noFill/>
                    </a:lnB>
                  </a:tcPr>
                </a:tc>
                <a:tc>
                  <a:txBody>
                    <a:bodyPr/>
                    <a:lstStyle/>
                    <a:p>
                      <a:r>
                        <a:rPr lang="en-US" b="0" dirty="0"/>
                        <a:t>Attaches an event handler to the document</a:t>
                      </a:r>
                    </a:p>
                  </a:txBody>
                  <a:tcPr anchor="ctr">
                    <a:lnL>
                      <a:noFill/>
                    </a:lnL>
                    <a:lnR>
                      <a:noFill/>
                    </a:lnR>
                    <a:lnT>
                      <a:noFill/>
                    </a:lnT>
                    <a:lnB>
                      <a:noFill/>
                    </a:lnB>
                  </a:tcPr>
                </a:tc>
              </a:tr>
              <a:tr h="389965">
                <a:tc>
                  <a:txBody>
                    <a:bodyPr/>
                    <a:lstStyle/>
                    <a:p>
                      <a:r>
                        <a:rPr lang="en-US" b="0">
                          <a:hlinkClick r:id="rId4"/>
                        </a:rPr>
                        <a:t>document.adoptNode()</a:t>
                      </a:r>
                      <a:endParaRPr lang="en-US" b="0"/>
                    </a:p>
                  </a:txBody>
                  <a:tcPr anchor="ctr">
                    <a:lnL>
                      <a:noFill/>
                    </a:lnL>
                    <a:lnR>
                      <a:noFill/>
                    </a:lnR>
                    <a:lnT>
                      <a:noFill/>
                    </a:lnT>
                    <a:lnB>
                      <a:noFill/>
                    </a:lnB>
                  </a:tcPr>
                </a:tc>
                <a:tc>
                  <a:txBody>
                    <a:bodyPr/>
                    <a:lstStyle/>
                    <a:p>
                      <a:r>
                        <a:rPr lang="en-US" b="0" dirty="0"/>
                        <a:t>Adopts a node from another document</a:t>
                      </a:r>
                    </a:p>
                  </a:txBody>
                  <a:tcPr anchor="ctr">
                    <a:lnL>
                      <a:noFill/>
                    </a:lnL>
                    <a:lnR>
                      <a:noFill/>
                    </a:lnR>
                    <a:lnT>
                      <a:noFill/>
                    </a:lnT>
                    <a:lnB>
                      <a:noFill/>
                    </a:lnB>
                  </a:tcPr>
                </a:tc>
              </a:tr>
              <a:tr h="682438">
                <a:tc>
                  <a:txBody>
                    <a:bodyPr/>
                    <a:lstStyle/>
                    <a:p>
                      <a:r>
                        <a:rPr lang="en-US" b="0">
                          <a:hlinkClick r:id="rId5"/>
                        </a:rPr>
                        <a:t>document.anchors</a:t>
                      </a:r>
                      <a:endParaRPr lang="en-US" b="0"/>
                    </a:p>
                  </a:txBody>
                  <a:tcPr anchor="ctr">
                    <a:lnL>
                      <a:noFill/>
                    </a:lnL>
                    <a:lnR>
                      <a:noFill/>
                    </a:lnR>
                    <a:lnT>
                      <a:noFill/>
                    </a:lnT>
                    <a:lnB>
                      <a:noFill/>
                    </a:lnB>
                  </a:tcPr>
                </a:tc>
                <a:tc>
                  <a:txBody>
                    <a:bodyPr/>
                    <a:lstStyle/>
                    <a:p>
                      <a:r>
                        <a:rPr lang="en-US" b="0" dirty="0"/>
                        <a:t>Returns a collection of all &lt;a&gt; elements in the document that have a name attribute</a:t>
                      </a:r>
                    </a:p>
                  </a:txBody>
                  <a:tcPr anchor="ctr">
                    <a:lnL>
                      <a:noFill/>
                    </a:lnL>
                    <a:lnR>
                      <a:noFill/>
                    </a:lnR>
                    <a:lnT>
                      <a:noFill/>
                    </a:lnT>
                    <a:lnB>
                      <a:noFill/>
                    </a:lnB>
                  </a:tcPr>
                </a:tc>
              </a:tr>
              <a:tr h="682438">
                <a:tc>
                  <a:txBody>
                    <a:bodyPr/>
                    <a:lstStyle/>
                    <a:p>
                      <a:r>
                        <a:rPr lang="en-US" b="0">
                          <a:hlinkClick r:id="rId6"/>
                        </a:rPr>
                        <a:t>document.applets</a:t>
                      </a:r>
                      <a:endParaRPr lang="en-US" b="0"/>
                    </a:p>
                  </a:txBody>
                  <a:tcPr anchor="ctr">
                    <a:lnL>
                      <a:noFill/>
                    </a:lnL>
                    <a:lnR>
                      <a:noFill/>
                    </a:lnR>
                    <a:lnT>
                      <a:noFill/>
                    </a:lnT>
                    <a:lnB>
                      <a:noFill/>
                    </a:lnB>
                  </a:tcPr>
                </a:tc>
                <a:tc>
                  <a:txBody>
                    <a:bodyPr/>
                    <a:lstStyle/>
                    <a:p>
                      <a:r>
                        <a:rPr lang="en-US" b="0" dirty="0"/>
                        <a:t>Returns a collection of all &lt;applet&gt; elements in the document</a:t>
                      </a:r>
                    </a:p>
                  </a:txBody>
                  <a:tcPr anchor="ctr">
                    <a:lnL>
                      <a:noFill/>
                    </a:lnL>
                    <a:lnR>
                      <a:noFill/>
                    </a:lnR>
                    <a:lnT>
                      <a:noFill/>
                    </a:lnT>
                    <a:lnB>
                      <a:noFill/>
                    </a:lnB>
                  </a:tcPr>
                </a:tc>
              </a:tr>
              <a:tr h="682438">
                <a:tc>
                  <a:txBody>
                    <a:bodyPr/>
                    <a:lstStyle/>
                    <a:p>
                      <a:r>
                        <a:rPr lang="en-US" b="0">
                          <a:hlinkClick r:id="rId7"/>
                        </a:rPr>
                        <a:t>document.baseURI</a:t>
                      </a:r>
                      <a:endParaRPr lang="en-US" b="0"/>
                    </a:p>
                  </a:txBody>
                  <a:tcPr anchor="ctr">
                    <a:lnL>
                      <a:noFill/>
                    </a:lnL>
                    <a:lnR>
                      <a:noFill/>
                    </a:lnR>
                    <a:lnT>
                      <a:noFill/>
                    </a:lnT>
                    <a:lnB>
                      <a:noFill/>
                    </a:lnB>
                  </a:tcPr>
                </a:tc>
                <a:tc>
                  <a:txBody>
                    <a:bodyPr/>
                    <a:lstStyle/>
                    <a:p>
                      <a:r>
                        <a:rPr lang="en-US" b="0" dirty="0"/>
                        <a:t>Returns the absolute base URI of a document</a:t>
                      </a:r>
                    </a:p>
                  </a:txBody>
                  <a:tcPr anchor="ctr">
                    <a:lnL>
                      <a:noFill/>
                    </a:lnL>
                    <a:lnR>
                      <a:noFill/>
                    </a:lnR>
                    <a:lnT>
                      <a:noFill/>
                    </a:lnT>
                    <a:lnB>
                      <a:noFill/>
                    </a:lnB>
                  </a:tcPr>
                </a:tc>
              </a:tr>
              <a:tr h="682438">
                <a:tc>
                  <a:txBody>
                    <a:bodyPr/>
                    <a:lstStyle/>
                    <a:p>
                      <a:r>
                        <a:rPr lang="en-US" b="0">
                          <a:hlinkClick r:id="rId8"/>
                        </a:rPr>
                        <a:t>document.body</a:t>
                      </a:r>
                      <a:endParaRPr lang="en-US" b="0"/>
                    </a:p>
                  </a:txBody>
                  <a:tcPr anchor="ctr">
                    <a:lnL>
                      <a:noFill/>
                    </a:lnL>
                    <a:lnR>
                      <a:noFill/>
                    </a:lnR>
                    <a:lnT>
                      <a:noFill/>
                    </a:lnT>
                    <a:lnB>
                      <a:noFill/>
                    </a:lnB>
                  </a:tcPr>
                </a:tc>
                <a:tc>
                  <a:txBody>
                    <a:bodyPr/>
                    <a:lstStyle/>
                    <a:p>
                      <a:r>
                        <a:rPr lang="en-US" b="0" dirty="0"/>
                        <a:t>Sets or returns the document's body (the &lt;body&gt; element)</a:t>
                      </a:r>
                    </a:p>
                  </a:txBody>
                  <a:tcPr anchor="ctr">
                    <a:lnL>
                      <a:noFill/>
                    </a:lnL>
                    <a:lnR>
                      <a:noFill/>
                    </a:lnR>
                    <a:lnT>
                      <a:noFill/>
                    </a:lnT>
                    <a:lnB>
                      <a:noFill/>
                    </a:lnB>
                  </a:tcPr>
                </a:tc>
              </a:tr>
              <a:tr h="682438">
                <a:tc>
                  <a:txBody>
                    <a:bodyPr/>
                    <a:lstStyle/>
                    <a:p>
                      <a:r>
                        <a:rPr lang="en-US" b="0">
                          <a:hlinkClick r:id="rId9"/>
                        </a:rPr>
                        <a:t>document.close()</a:t>
                      </a:r>
                      <a:endParaRPr lang="en-US" b="0"/>
                    </a:p>
                  </a:txBody>
                  <a:tcPr anchor="ctr">
                    <a:lnL>
                      <a:noFill/>
                    </a:lnL>
                    <a:lnR>
                      <a:noFill/>
                    </a:lnR>
                    <a:lnT>
                      <a:noFill/>
                    </a:lnT>
                    <a:lnB>
                      <a:noFill/>
                    </a:lnB>
                  </a:tcPr>
                </a:tc>
                <a:tc>
                  <a:txBody>
                    <a:bodyPr/>
                    <a:lstStyle/>
                    <a:p>
                      <a:r>
                        <a:rPr lang="en-US" b="0" dirty="0"/>
                        <a:t>Closes the output stream previously opened with </a:t>
                      </a:r>
                      <a:r>
                        <a:rPr lang="en-US" b="0" dirty="0" err="1"/>
                        <a:t>document.open</a:t>
                      </a:r>
                      <a:r>
                        <a:rPr lang="en-US" b="0" dirty="0"/>
                        <a:t>()</a:t>
                      </a:r>
                    </a:p>
                  </a:txBody>
                  <a:tcPr anchor="ctr">
                    <a:lnL>
                      <a:noFill/>
                    </a:lnL>
                    <a:lnR>
                      <a:noFill/>
                    </a:lnR>
                    <a:lnT>
                      <a:noFill/>
                    </a:lnT>
                    <a:lnB>
                      <a:noFill/>
                    </a:lnB>
                  </a:tcPr>
                </a:tc>
              </a:tr>
              <a:tr h="682438">
                <a:tc>
                  <a:txBody>
                    <a:bodyPr/>
                    <a:lstStyle/>
                    <a:p>
                      <a:r>
                        <a:rPr lang="en-US" b="0">
                          <a:hlinkClick r:id="rId10"/>
                        </a:rPr>
                        <a:t>document.cookie</a:t>
                      </a:r>
                      <a:endParaRPr lang="en-US" b="0"/>
                    </a:p>
                  </a:txBody>
                  <a:tcPr anchor="ctr">
                    <a:lnL>
                      <a:noFill/>
                    </a:lnL>
                    <a:lnR>
                      <a:noFill/>
                    </a:lnR>
                    <a:lnT>
                      <a:noFill/>
                    </a:lnT>
                    <a:lnB>
                      <a:noFill/>
                    </a:lnB>
                  </a:tcPr>
                </a:tc>
                <a:tc>
                  <a:txBody>
                    <a:bodyPr/>
                    <a:lstStyle/>
                    <a:p>
                      <a:r>
                        <a:rPr lang="en-US" b="0" dirty="0"/>
                        <a:t>Returns all name/value pairs of cookies in the document</a:t>
                      </a:r>
                    </a:p>
                  </a:txBody>
                  <a:tcPr anchor="ctr">
                    <a:lnL>
                      <a:noFill/>
                    </a:lnL>
                    <a:lnR>
                      <a:noFill/>
                    </a:lnR>
                    <a:lnT>
                      <a:noFill/>
                    </a:lnT>
                    <a:lnB>
                      <a:noFill/>
                    </a:lnB>
                  </a:tcPr>
                </a:tc>
              </a:tr>
              <a:tr h="389965">
                <a:tc>
                  <a:txBody>
                    <a:bodyPr/>
                    <a:lstStyle/>
                    <a:p>
                      <a:r>
                        <a:rPr lang="en-US" b="0">
                          <a:hlinkClick r:id="rId11"/>
                        </a:rPr>
                        <a:t>document.createAttribute()</a:t>
                      </a:r>
                      <a:endParaRPr lang="en-US" b="0"/>
                    </a:p>
                  </a:txBody>
                  <a:tcPr anchor="ctr">
                    <a:lnL>
                      <a:noFill/>
                    </a:lnL>
                    <a:lnR>
                      <a:noFill/>
                    </a:lnR>
                    <a:lnT>
                      <a:noFill/>
                    </a:lnT>
                    <a:lnB>
                      <a:noFill/>
                    </a:lnB>
                  </a:tcPr>
                </a:tc>
                <a:tc>
                  <a:txBody>
                    <a:bodyPr/>
                    <a:lstStyle/>
                    <a:p>
                      <a:r>
                        <a:rPr lang="en-US" b="0" dirty="0"/>
                        <a:t>Creates an attribute node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xmlns="" val="39843227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lgn="just">
              <a:buNone/>
            </a:pPr>
            <a:r>
              <a:rPr lang="en-US" b="1" dirty="0"/>
              <a:t>The Element </a:t>
            </a:r>
            <a:r>
              <a:rPr lang="en-US" b="1" dirty="0" smtClean="0"/>
              <a:t>Object</a:t>
            </a:r>
          </a:p>
          <a:p>
            <a:pPr algn="just"/>
            <a:endParaRPr lang="en-US" sz="2600" b="1" dirty="0"/>
          </a:p>
          <a:p>
            <a:pPr algn="just"/>
            <a:r>
              <a:rPr lang="en-US" sz="2600" dirty="0"/>
              <a:t>In the HTML DOM, the </a:t>
            </a:r>
            <a:r>
              <a:rPr lang="en-US" sz="2600" b="1" dirty="0"/>
              <a:t>Element object</a:t>
            </a:r>
            <a:r>
              <a:rPr lang="en-US" sz="2600" dirty="0"/>
              <a:t> represents an HTML element</a:t>
            </a:r>
            <a:r>
              <a:rPr lang="en-US" sz="2600" dirty="0" smtClean="0"/>
              <a:t>.</a:t>
            </a:r>
          </a:p>
          <a:p>
            <a:pPr algn="just"/>
            <a:endParaRPr lang="en-US" sz="2600" dirty="0"/>
          </a:p>
          <a:p>
            <a:pPr algn="just"/>
            <a:r>
              <a:rPr lang="en-US" sz="2600" dirty="0"/>
              <a:t>Element objects can have </a:t>
            </a:r>
            <a:r>
              <a:rPr lang="en-US" sz="2600" b="1" dirty="0"/>
              <a:t>child nodes</a:t>
            </a:r>
            <a:r>
              <a:rPr lang="en-US" sz="2600" dirty="0"/>
              <a:t> of type element nodes, text nodes, or comment nodes</a:t>
            </a:r>
            <a:r>
              <a:rPr lang="en-US" sz="2600" dirty="0" smtClean="0"/>
              <a:t>.</a:t>
            </a:r>
          </a:p>
          <a:p>
            <a:pPr algn="just"/>
            <a:endParaRPr lang="en-US" sz="2600" dirty="0"/>
          </a:p>
          <a:p>
            <a:pPr algn="just"/>
            <a:r>
              <a:rPr lang="en-US" sz="2600" dirty="0"/>
              <a:t>A </a:t>
            </a:r>
            <a:r>
              <a:rPr lang="en-US" sz="2600" b="1" dirty="0" err="1"/>
              <a:t>NodeList</a:t>
            </a:r>
            <a:r>
              <a:rPr lang="en-US" sz="2600" b="1" dirty="0"/>
              <a:t> object</a:t>
            </a:r>
            <a:r>
              <a:rPr lang="en-US" sz="2600" dirty="0"/>
              <a:t> represents a list of nodes, like an HTML element's collection of child nodes</a:t>
            </a:r>
            <a:r>
              <a:rPr lang="en-US" sz="2600" dirty="0" smtClean="0"/>
              <a:t>.</a:t>
            </a:r>
          </a:p>
          <a:p>
            <a:pPr algn="just"/>
            <a:endParaRPr lang="en-US" sz="2600" dirty="0"/>
          </a:p>
          <a:p>
            <a:pPr algn="just"/>
            <a:r>
              <a:rPr lang="en-US" sz="2600" dirty="0"/>
              <a:t>Elements can also have attributes. Attributes are attribute </a:t>
            </a:r>
            <a:r>
              <a:rPr lang="en-US" sz="2600" dirty="0" smtClean="0"/>
              <a:t>nodes.</a:t>
            </a:r>
            <a:endParaRPr lang="en-US" sz="2600" dirty="0"/>
          </a:p>
          <a:p>
            <a:pPr algn="just"/>
            <a:endParaRPr lang="en-US" sz="2600" dirty="0"/>
          </a:p>
        </p:txBody>
      </p:sp>
    </p:spTree>
    <p:extLst>
      <p:ext uri="{BB962C8B-B14F-4D97-AF65-F5344CB8AC3E}">
        <p14:creationId xmlns:p14="http://schemas.microsoft.com/office/powerpoint/2010/main" xmlns="" val="39843227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228603"/>
          <a:ext cx="8229600" cy="6324598"/>
        </p:xfrm>
        <a:graphic>
          <a:graphicData uri="http://schemas.openxmlformats.org/drawingml/2006/table">
            <a:tbl>
              <a:tblPr/>
              <a:tblGrid>
                <a:gridCol w="4114800"/>
                <a:gridCol w="4114800"/>
              </a:tblGrid>
              <a:tr h="588334">
                <a:tc>
                  <a:txBody>
                    <a:bodyPr/>
                    <a:lstStyle/>
                    <a:p>
                      <a:r>
                        <a:rPr lang="en-US" b="1" dirty="0">
                          <a:effectLst/>
                        </a:rPr>
                        <a:t>Property / Method</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r>
              <a:tr h="1029586">
                <a:tc>
                  <a:txBody>
                    <a:bodyPr/>
                    <a:lstStyle/>
                    <a:p>
                      <a:r>
                        <a:rPr lang="en-US" i="1">
                          <a:hlinkClick r:id="rId2"/>
                        </a:rPr>
                        <a:t>element</a:t>
                      </a:r>
                      <a:r>
                        <a:rPr lang="en-US">
                          <a:hlinkClick r:id="rId2"/>
                        </a:rPr>
                        <a:t>.accessKey</a:t>
                      </a:r>
                      <a:endParaRPr lang="en-US"/>
                    </a:p>
                  </a:txBody>
                  <a:tcPr anchor="ctr">
                    <a:lnL>
                      <a:noFill/>
                    </a:lnL>
                    <a:lnR>
                      <a:noFill/>
                    </a:lnR>
                    <a:lnT>
                      <a:noFill/>
                    </a:lnT>
                    <a:lnB>
                      <a:noFill/>
                    </a:lnB>
                  </a:tcPr>
                </a:tc>
                <a:tc>
                  <a:txBody>
                    <a:bodyPr/>
                    <a:lstStyle/>
                    <a:p>
                      <a:r>
                        <a:rPr lang="en-US" dirty="0"/>
                        <a:t>Sets or returns the </a:t>
                      </a:r>
                      <a:r>
                        <a:rPr lang="en-US" dirty="0" err="1"/>
                        <a:t>accesskey</a:t>
                      </a:r>
                      <a:r>
                        <a:rPr lang="en-US" dirty="0"/>
                        <a:t> attribute of an element</a:t>
                      </a:r>
                    </a:p>
                  </a:txBody>
                  <a:tcPr anchor="ctr">
                    <a:lnL>
                      <a:noFill/>
                    </a:lnL>
                    <a:lnR>
                      <a:noFill/>
                    </a:lnR>
                    <a:lnT>
                      <a:noFill/>
                    </a:lnT>
                    <a:lnB>
                      <a:noFill/>
                    </a:lnB>
                  </a:tcPr>
                </a:tc>
              </a:tr>
              <a:tr h="1029586">
                <a:tc>
                  <a:txBody>
                    <a:bodyPr/>
                    <a:lstStyle/>
                    <a:p>
                      <a:r>
                        <a:rPr lang="en-US" i="1">
                          <a:hlinkClick r:id="rId3"/>
                        </a:rPr>
                        <a:t>element</a:t>
                      </a:r>
                      <a:r>
                        <a:rPr lang="en-US">
                          <a:hlinkClick r:id="rId3"/>
                        </a:rPr>
                        <a:t>.addEventListener()</a:t>
                      </a:r>
                      <a:endParaRPr lang="en-US"/>
                    </a:p>
                  </a:txBody>
                  <a:tcPr anchor="ctr">
                    <a:lnL>
                      <a:noFill/>
                    </a:lnL>
                    <a:lnR>
                      <a:noFill/>
                    </a:lnR>
                    <a:lnT>
                      <a:noFill/>
                    </a:lnT>
                    <a:lnB>
                      <a:noFill/>
                    </a:lnB>
                  </a:tcPr>
                </a:tc>
                <a:tc>
                  <a:txBody>
                    <a:bodyPr/>
                    <a:lstStyle/>
                    <a:p>
                      <a:r>
                        <a:rPr lang="en-US"/>
                        <a:t>Attaches an event handler to the specified element</a:t>
                      </a:r>
                    </a:p>
                  </a:txBody>
                  <a:tcPr anchor="ctr">
                    <a:lnL>
                      <a:noFill/>
                    </a:lnL>
                    <a:lnR>
                      <a:noFill/>
                    </a:lnR>
                    <a:lnT>
                      <a:noFill/>
                    </a:lnT>
                    <a:lnB>
                      <a:noFill/>
                    </a:lnB>
                  </a:tcPr>
                </a:tc>
              </a:tr>
              <a:tr h="1029586">
                <a:tc>
                  <a:txBody>
                    <a:bodyPr/>
                    <a:lstStyle/>
                    <a:p>
                      <a:r>
                        <a:rPr lang="en-US" i="1">
                          <a:hlinkClick r:id="rId4"/>
                        </a:rPr>
                        <a:t>element</a:t>
                      </a:r>
                      <a:r>
                        <a:rPr lang="en-US">
                          <a:hlinkClick r:id="rId4"/>
                        </a:rPr>
                        <a:t>.appendChild()</a:t>
                      </a:r>
                      <a:endParaRPr lang="en-US"/>
                    </a:p>
                  </a:txBody>
                  <a:tcPr anchor="ctr">
                    <a:lnL>
                      <a:noFill/>
                    </a:lnL>
                    <a:lnR>
                      <a:noFill/>
                    </a:lnR>
                    <a:lnT>
                      <a:noFill/>
                    </a:lnT>
                    <a:lnB>
                      <a:noFill/>
                    </a:lnB>
                  </a:tcPr>
                </a:tc>
                <a:tc>
                  <a:txBody>
                    <a:bodyPr/>
                    <a:lstStyle/>
                    <a:p>
                      <a:r>
                        <a:rPr lang="en-US"/>
                        <a:t>Adds a new child node, to an element, as the last child node</a:t>
                      </a:r>
                    </a:p>
                  </a:txBody>
                  <a:tcPr anchor="ctr">
                    <a:lnL>
                      <a:noFill/>
                    </a:lnL>
                    <a:lnR>
                      <a:noFill/>
                    </a:lnR>
                    <a:lnT>
                      <a:noFill/>
                    </a:lnT>
                    <a:lnB>
                      <a:noFill/>
                    </a:lnB>
                  </a:tcPr>
                </a:tc>
              </a:tr>
              <a:tr h="1029586">
                <a:tc>
                  <a:txBody>
                    <a:bodyPr/>
                    <a:lstStyle/>
                    <a:p>
                      <a:r>
                        <a:rPr lang="en-US" i="1">
                          <a:hlinkClick r:id="rId5"/>
                        </a:rPr>
                        <a:t>element</a:t>
                      </a:r>
                      <a:r>
                        <a:rPr lang="en-US">
                          <a:hlinkClick r:id="rId5"/>
                        </a:rPr>
                        <a:t>.attributes</a:t>
                      </a:r>
                      <a:endParaRPr lang="en-US"/>
                    </a:p>
                  </a:txBody>
                  <a:tcPr anchor="ctr">
                    <a:lnL>
                      <a:noFill/>
                    </a:lnL>
                    <a:lnR>
                      <a:noFill/>
                    </a:lnR>
                    <a:lnT>
                      <a:noFill/>
                    </a:lnT>
                    <a:lnB>
                      <a:noFill/>
                    </a:lnB>
                  </a:tcPr>
                </a:tc>
                <a:tc>
                  <a:txBody>
                    <a:bodyPr/>
                    <a:lstStyle/>
                    <a:p>
                      <a:r>
                        <a:rPr lang="en-US"/>
                        <a:t>Returns a NamedNodeMap of an element's attributes</a:t>
                      </a:r>
                    </a:p>
                  </a:txBody>
                  <a:tcPr anchor="ctr">
                    <a:lnL>
                      <a:noFill/>
                    </a:lnL>
                    <a:lnR>
                      <a:noFill/>
                    </a:lnR>
                    <a:lnT>
                      <a:noFill/>
                    </a:lnT>
                    <a:lnB>
                      <a:noFill/>
                    </a:lnB>
                  </a:tcPr>
                </a:tc>
              </a:tr>
              <a:tr h="588334">
                <a:tc>
                  <a:txBody>
                    <a:bodyPr/>
                    <a:lstStyle/>
                    <a:p>
                      <a:r>
                        <a:rPr lang="en-US" i="1">
                          <a:hlinkClick r:id="rId6"/>
                        </a:rPr>
                        <a:t>element</a:t>
                      </a:r>
                      <a:r>
                        <a:rPr lang="en-US">
                          <a:hlinkClick r:id="rId6"/>
                        </a:rPr>
                        <a:t>.blur()</a:t>
                      </a:r>
                      <a:endParaRPr lang="en-US"/>
                    </a:p>
                  </a:txBody>
                  <a:tcPr anchor="ctr">
                    <a:lnL>
                      <a:noFill/>
                    </a:lnL>
                    <a:lnR>
                      <a:noFill/>
                    </a:lnR>
                    <a:lnT>
                      <a:noFill/>
                    </a:lnT>
                    <a:lnB>
                      <a:noFill/>
                    </a:lnB>
                  </a:tcPr>
                </a:tc>
                <a:tc>
                  <a:txBody>
                    <a:bodyPr/>
                    <a:lstStyle/>
                    <a:p>
                      <a:r>
                        <a:rPr lang="en-US"/>
                        <a:t>Removes focus from an element</a:t>
                      </a:r>
                    </a:p>
                  </a:txBody>
                  <a:tcPr anchor="ctr">
                    <a:lnL>
                      <a:noFill/>
                    </a:lnL>
                    <a:lnR>
                      <a:noFill/>
                    </a:lnR>
                    <a:lnT>
                      <a:noFill/>
                    </a:lnT>
                    <a:lnB>
                      <a:noFill/>
                    </a:lnB>
                  </a:tcPr>
                </a:tc>
              </a:tr>
              <a:tr h="1029586">
                <a:tc>
                  <a:txBody>
                    <a:bodyPr/>
                    <a:lstStyle/>
                    <a:p>
                      <a:r>
                        <a:rPr lang="en-US" i="1">
                          <a:hlinkClick r:id="rId7"/>
                        </a:rPr>
                        <a:t>element</a:t>
                      </a:r>
                      <a:r>
                        <a:rPr lang="en-US">
                          <a:hlinkClick r:id="rId7"/>
                        </a:rPr>
                        <a:t>.childElementCount</a:t>
                      </a:r>
                      <a:endParaRPr lang="en-US"/>
                    </a:p>
                  </a:txBody>
                  <a:tcPr anchor="ctr">
                    <a:lnL>
                      <a:noFill/>
                    </a:lnL>
                    <a:lnR>
                      <a:noFill/>
                    </a:lnR>
                    <a:lnT>
                      <a:noFill/>
                    </a:lnT>
                    <a:lnB>
                      <a:noFill/>
                    </a:lnB>
                  </a:tcPr>
                </a:tc>
                <a:tc>
                  <a:txBody>
                    <a:bodyPr/>
                    <a:lstStyle/>
                    <a:p>
                      <a:r>
                        <a:rPr lang="en-US" dirty="0"/>
                        <a:t>Returns the number of child elements an element has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xmlns="" val="39843227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lgn="just"/>
            <a:r>
              <a:rPr lang="en-US" sz="2600" b="1" dirty="0"/>
              <a:t>HTML DOM </a:t>
            </a:r>
            <a:r>
              <a:rPr lang="en-US" sz="2600" b="1" dirty="0" smtClean="0"/>
              <a:t>Events</a:t>
            </a:r>
          </a:p>
          <a:p>
            <a:pPr algn="just"/>
            <a:endParaRPr lang="en-US" sz="2600" b="1" dirty="0"/>
          </a:p>
          <a:p>
            <a:pPr algn="just"/>
            <a:r>
              <a:rPr lang="en-US" sz="2600" dirty="0"/>
              <a:t>HTML DOM events allow JavaScript to register different event handlers on elements in an HTML document</a:t>
            </a:r>
            <a:r>
              <a:rPr lang="en-US" sz="2600" dirty="0" smtClean="0"/>
              <a:t>.</a:t>
            </a:r>
          </a:p>
          <a:p>
            <a:pPr algn="just"/>
            <a:endParaRPr lang="en-US" sz="2600" dirty="0"/>
          </a:p>
          <a:p>
            <a:pPr algn="just"/>
            <a:r>
              <a:rPr lang="en-US" sz="2600" dirty="0"/>
              <a:t>Events are normally used in combination with functions, and the function will not be executed before the event occurs (such as when a user clicks a button</a:t>
            </a:r>
            <a:r>
              <a:rPr lang="en-US" sz="2600" dirty="0" smtClean="0"/>
              <a:t>).</a:t>
            </a:r>
          </a:p>
          <a:p>
            <a:pPr algn="just"/>
            <a:endParaRPr lang="en-US" sz="2600" dirty="0"/>
          </a:p>
          <a:p>
            <a:pPr algn="just"/>
            <a:r>
              <a:rPr lang="en-US" sz="2600" b="1" i="1" dirty="0"/>
              <a:t>Tip:</a:t>
            </a:r>
            <a:r>
              <a:rPr lang="en-US" sz="2600" i="1" dirty="0"/>
              <a:t> The event model was standardized by the W3C in DOM Level 2.</a:t>
            </a:r>
          </a:p>
          <a:p>
            <a:pPr algn="just"/>
            <a:endParaRPr lang="en-US" sz="2600" dirty="0"/>
          </a:p>
        </p:txBody>
      </p:sp>
    </p:spTree>
    <p:extLst>
      <p:ext uri="{BB962C8B-B14F-4D97-AF65-F5344CB8AC3E}">
        <p14:creationId xmlns:p14="http://schemas.microsoft.com/office/powerpoint/2010/main" xmlns="" val="39843227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xmlns="" val="2036154859"/>
              </p:ext>
            </p:extLst>
          </p:nvPr>
        </p:nvGraphicFramePr>
        <p:xfrm>
          <a:off x="762000" y="-1"/>
          <a:ext cx="8001000" cy="6666802"/>
        </p:xfrm>
        <a:graphic>
          <a:graphicData uri="http://schemas.openxmlformats.org/drawingml/2006/table">
            <a:tbl>
              <a:tblPr/>
              <a:tblGrid>
                <a:gridCol w="2667000"/>
                <a:gridCol w="2667000"/>
                <a:gridCol w="2667000"/>
              </a:tblGrid>
              <a:tr h="250114">
                <a:tc>
                  <a:txBody>
                    <a:bodyPr/>
                    <a:lstStyle/>
                    <a:p>
                      <a:r>
                        <a:rPr lang="en-US" sz="1200" b="1" dirty="0">
                          <a:effectLst/>
                        </a:rPr>
                        <a:t>Event</a:t>
                      </a:r>
                    </a:p>
                  </a:txBody>
                  <a:tcPr marL="58189" marR="58189" marT="29095" marB="29095" anchor="ctr">
                    <a:lnL>
                      <a:noFill/>
                    </a:lnL>
                    <a:lnR>
                      <a:noFill/>
                    </a:lnR>
                    <a:lnT>
                      <a:noFill/>
                    </a:lnT>
                    <a:lnB>
                      <a:noFill/>
                    </a:lnB>
                  </a:tcPr>
                </a:tc>
                <a:tc>
                  <a:txBody>
                    <a:bodyPr/>
                    <a:lstStyle/>
                    <a:p>
                      <a:r>
                        <a:rPr lang="en-US" sz="1200" b="1" dirty="0"/>
                        <a:t>Description</a:t>
                      </a:r>
                    </a:p>
                  </a:txBody>
                  <a:tcPr marL="58189" marR="58189" marT="29095" marB="29095" anchor="ctr">
                    <a:lnL>
                      <a:noFill/>
                    </a:lnL>
                    <a:lnR>
                      <a:noFill/>
                    </a:lnR>
                    <a:lnT>
                      <a:noFill/>
                    </a:lnT>
                    <a:lnB>
                      <a:noFill/>
                    </a:lnB>
                  </a:tcPr>
                </a:tc>
                <a:tc>
                  <a:txBody>
                    <a:bodyPr/>
                    <a:lstStyle/>
                    <a:p>
                      <a:pPr algn="ctr"/>
                      <a:r>
                        <a:rPr lang="en-US" sz="1200" b="1" dirty="0">
                          <a:effectLst/>
                        </a:rPr>
                        <a:t>DOM</a:t>
                      </a:r>
                    </a:p>
                  </a:txBody>
                  <a:tcPr marL="58189" marR="58189" marT="29095" marB="29095" anchor="ctr">
                    <a:lnL>
                      <a:noFill/>
                    </a:lnL>
                    <a:lnR>
                      <a:noFill/>
                    </a:lnR>
                    <a:lnT>
                      <a:noFill/>
                    </a:lnT>
                    <a:lnB>
                      <a:noFill/>
                    </a:lnB>
                  </a:tcPr>
                </a:tc>
              </a:tr>
              <a:tr h="439854">
                <a:tc>
                  <a:txBody>
                    <a:bodyPr/>
                    <a:lstStyle/>
                    <a:p>
                      <a:r>
                        <a:rPr lang="en-US" sz="1200">
                          <a:hlinkClick r:id="rId2"/>
                        </a:rPr>
                        <a:t>onclick</a:t>
                      </a:r>
                      <a:endParaRPr lang="en-US" sz="1200"/>
                    </a:p>
                  </a:txBody>
                  <a:tcPr marL="58189" marR="58189" marT="29095" marB="29095" anchor="ctr">
                    <a:lnL>
                      <a:noFill/>
                    </a:lnL>
                    <a:lnR>
                      <a:noFill/>
                    </a:lnR>
                    <a:lnT>
                      <a:noFill/>
                    </a:lnT>
                    <a:lnB>
                      <a:noFill/>
                    </a:lnB>
                  </a:tcPr>
                </a:tc>
                <a:tc>
                  <a:txBody>
                    <a:bodyPr/>
                    <a:lstStyle/>
                    <a:p>
                      <a:r>
                        <a:rPr lang="en-US" sz="1200"/>
                        <a:t>The event occurs when the user clicks on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784836">
                <a:tc>
                  <a:txBody>
                    <a:bodyPr/>
                    <a:lstStyle/>
                    <a:p>
                      <a:r>
                        <a:rPr lang="en-US" sz="1200">
                          <a:hlinkClick r:id="rId3"/>
                        </a:rPr>
                        <a:t>oncontextmenu</a:t>
                      </a:r>
                      <a:endParaRPr lang="en-US" sz="1200"/>
                    </a:p>
                  </a:txBody>
                  <a:tcPr marL="58189" marR="58189" marT="29095" marB="29095" anchor="ctr">
                    <a:lnL>
                      <a:noFill/>
                    </a:lnL>
                    <a:lnR>
                      <a:noFill/>
                    </a:lnR>
                    <a:lnT>
                      <a:noFill/>
                    </a:lnT>
                    <a:lnB>
                      <a:noFill/>
                    </a:lnB>
                  </a:tcPr>
                </a:tc>
                <a:tc>
                  <a:txBody>
                    <a:bodyPr/>
                    <a:lstStyle/>
                    <a:p>
                      <a:r>
                        <a:rPr lang="en-US" sz="1200"/>
                        <a:t>The event occurs when the user right-clicks on an element to open a context menu</a:t>
                      </a:r>
                    </a:p>
                  </a:txBody>
                  <a:tcPr marL="58189" marR="58189" marT="29095" marB="29095" anchor="ctr">
                    <a:lnL>
                      <a:noFill/>
                    </a:lnL>
                    <a:lnR>
                      <a:noFill/>
                    </a:lnR>
                    <a:lnT>
                      <a:noFill/>
                    </a:lnT>
                    <a:lnB>
                      <a:noFill/>
                    </a:lnB>
                  </a:tcPr>
                </a:tc>
                <a:tc>
                  <a:txBody>
                    <a:bodyPr/>
                    <a:lstStyle/>
                    <a:p>
                      <a:pPr algn="ctr"/>
                      <a:r>
                        <a:rPr lang="en-US" sz="1200" dirty="0"/>
                        <a:t>3</a:t>
                      </a:r>
                    </a:p>
                  </a:txBody>
                  <a:tcPr marL="58189" marR="58189" marT="29095" marB="29095" anchor="ctr">
                    <a:lnL>
                      <a:noFill/>
                    </a:lnL>
                    <a:lnR>
                      <a:noFill/>
                    </a:lnR>
                    <a:lnT>
                      <a:noFill/>
                    </a:lnT>
                    <a:lnB>
                      <a:noFill/>
                    </a:lnB>
                  </a:tcPr>
                </a:tc>
              </a:tr>
              <a:tr h="603721">
                <a:tc>
                  <a:txBody>
                    <a:bodyPr/>
                    <a:lstStyle/>
                    <a:p>
                      <a:r>
                        <a:rPr lang="en-US" sz="1200">
                          <a:hlinkClick r:id="rId4"/>
                        </a:rPr>
                        <a:t>ondblclick</a:t>
                      </a:r>
                      <a:endParaRPr lang="en-US" sz="1200"/>
                    </a:p>
                  </a:txBody>
                  <a:tcPr marL="58189" marR="58189" marT="29095" marB="29095" anchor="ctr">
                    <a:lnL>
                      <a:noFill/>
                    </a:lnL>
                    <a:lnR>
                      <a:noFill/>
                    </a:lnR>
                    <a:lnT>
                      <a:noFill/>
                    </a:lnT>
                    <a:lnB>
                      <a:noFill/>
                    </a:lnB>
                  </a:tcPr>
                </a:tc>
                <a:tc>
                  <a:txBody>
                    <a:bodyPr/>
                    <a:lstStyle/>
                    <a:p>
                      <a:r>
                        <a:rPr lang="en-US" sz="1200"/>
                        <a:t>The event occurs when the user double-clicks on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603721">
                <a:tc>
                  <a:txBody>
                    <a:bodyPr/>
                    <a:lstStyle/>
                    <a:p>
                      <a:r>
                        <a:rPr lang="en-US" sz="1200">
                          <a:hlinkClick r:id="rId5"/>
                        </a:rPr>
                        <a:t>onmousedown</a:t>
                      </a:r>
                      <a:endParaRPr lang="en-US" sz="1200"/>
                    </a:p>
                  </a:txBody>
                  <a:tcPr marL="58189" marR="58189" marT="29095" marB="29095" anchor="ctr">
                    <a:lnL>
                      <a:noFill/>
                    </a:lnL>
                    <a:lnR>
                      <a:noFill/>
                    </a:lnR>
                    <a:lnT>
                      <a:noFill/>
                    </a:lnT>
                    <a:lnB>
                      <a:noFill/>
                    </a:lnB>
                  </a:tcPr>
                </a:tc>
                <a:tc>
                  <a:txBody>
                    <a:bodyPr/>
                    <a:lstStyle/>
                    <a:p>
                      <a:r>
                        <a:rPr lang="en-US" sz="1200" dirty="0"/>
                        <a:t>The event occurs when the user presses a mouse button over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603721">
                <a:tc>
                  <a:txBody>
                    <a:bodyPr/>
                    <a:lstStyle/>
                    <a:p>
                      <a:r>
                        <a:rPr lang="en-US" sz="1200">
                          <a:hlinkClick r:id="rId6"/>
                        </a:rPr>
                        <a:t>onmouseenter</a:t>
                      </a:r>
                      <a:endParaRPr lang="en-US" sz="1200"/>
                    </a:p>
                  </a:txBody>
                  <a:tcPr marL="58189" marR="58189" marT="29095" marB="29095" anchor="ctr">
                    <a:lnL>
                      <a:noFill/>
                    </a:lnL>
                    <a:lnR>
                      <a:noFill/>
                    </a:lnR>
                    <a:lnT>
                      <a:noFill/>
                    </a:lnT>
                    <a:lnB>
                      <a:noFill/>
                    </a:lnB>
                  </a:tcPr>
                </a:tc>
                <a:tc>
                  <a:txBody>
                    <a:bodyPr/>
                    <a:lstStyle/>
                    <a:p>
                      <a:r>
                        <a:rPr lang="en-US" sz="1200"/>
                        <a:t>The event occurs when the pointer is moved onto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603721">
                <a:tc>
                  <a:txBody>
                    <a:bodyPr/>
                    <a:lstStyle/>
                    <a:p>
                      <a:r>
                        <a:rPr lang="en-US" sz="1200">
                          <a:hlinkClick r:id="rId7"/>
                        </a:rPr>
                        <a:t>onmouseleave</a:t>
                      </a:r>
                      <a:endParaRPr lang="en-US" sz="1200"/>
                    </a:p>
                  </a:txBody>
                  <a:tcPr marL="58189" marR="58189" marT="29095" marB="29095" anchor="ctr">
                    <a:lnL>
                      <a:noFill/>
                    </a:lnL>
                    <a:lnR>
                      <a:noFill/>
                    </a:lnR>
                    <a:lnT>
                      <a:noFill/>
                    </a:lnT>
                    <a:lnB>
                      <a:noFill/>
                    </a:lnB>
                  </a:tcPr>
                </a:tc>
                <a:tc>
                  <a:txBody>
                    <a:bodyPr/>
                    <a:lstStyle/>
                    <a:p>
                      <a:r>
                        <a:rPr lang="en-US" sz="1200"/>
                        <a:t>The event occurs when the pointer is moved out of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603721">
                <a:tc>
                  <a:txBody>
                    <a:bodyPr/>
                    <a:lstStyle/>
                    <a:p>
                      <a:r>
                        <a:rPr lang="en-US" sz="1200">
                          <a:hlinkClick r:id="rId8"/>
                        </a:rPr>
                        <a:t>onmousemove</a:t>
                      </a:r>
                      <a:endParaRPr lang="en-US" sz="1200"/>
                    </a:p>
                  </a:txBody>
                  <a:tcPr marL="58189" marR="58189" marT="29095" marB="29095" anchor="ctr">
                    <a:lnL>
                      <a:noFill/>
                    </a:lnL>
                    <a:lnR>
                      <a:noFill/>
                    </a:lnR>
                    <a:lnT>
                      <a:noFill/>
                    </a:lnT>
                    <a:lnB>
                      <a:noFill/>
                    </a:lnB>
                  </a:tcPr>
                </a:tc>
                <a:tc>
                  <a:txBody>
                    <a:bodyPr/>
                    <a:lstStyle/>
                    <a:p>
                      <a:r>
                        <a:rPr lang="en-US" sz="1200" dirty="0"/>
                        <a:t>The event occurs when the pointer is moving while it is over an element</a:t>
                      </a:r>
                    </a:p>
                  </a:txBody>
                  <a:tcPr marL="58189" marR="58189" marT="29095" marB="29095" anchor="ctr">
                    <a:lnL>
                      <a:noFill/>
                    </a:lnL>
                    <a:lnR>
                      <a:noFill/>
                    </a:lnR>
                    <a:lnT>
                      <a:noFill/>
                    </a:lnT>
                    <a:lnB>
                      <a:noFill/>
                    </a:lnB>
                  </a:tcPr>
                </a:tc>
                <a:tc>
                  <a:txBody>
                    <a:bodyPr/>
                    <a:lstStyle/>
                    <a:p>
                      <a:pPr algn="ctr"/>
                      <a:r>
                        <a:rPr lang="en-US" sz="1200"/>
                        <a:t>2</a:t>
                      </a:r>
                    </a:p>
                  </a:txBody>
                  <a:tcPr marL="58189" marR="58189" marT="29095" marB="29095" anchor="ctr">
                    <a:lnL>
                      <a:noFill/>
                    </a:lnL>
                    <a:lnR>
                      <a:noFill/>
                    </a:lnR>
                    <a:lnT>
                      <a:noFill/>
                    </a:lnT>
                    <a:lnB>
                      <a:noFill/>
                    </a:lnB>
                  </a:tcPr>
                </a:tc>
              </a:tr>
              <a:tr h="784836">
                <a:tc>
                  <a:txBody>
                    <a:bodyPr/>
                    <a:lstStyle/>
                    <a:p>
                      <a:r>
                        <a:rPr lang="en-US" sz="1200">
                          <a:hlinkClick r:id="rId9"/>
                        </a:rPr>
                        <a:t>onmouseover</a:t>
                      </a:r>
                      <a:endParaRPr lang="en-US" sz="1200"/>
                    </a:p>
                  </a:txBody>
                  <a:tcPr marL="58189" marR="58189" marT="29095" marB="29095" anchor="ctr">
                    <a:lnL>
                      <a:noFill/>
                    </a:lnL>
                    <a:lnR>
                      <a:noFill/>
                    </a:lnR>
                    <a:lnT>
                      <a:noFill/>
                    </a:lnT>
                    <a:lnB>
                      <a:noFill/>
                    </a:lnB>
                  </a:tcPr>
                </a:tc>
                <a:tc>
                  <a:txBody>
                    <a:bodyPr/>
                    <a:lstStyle/>
                    <a:p>
                      <a:r>
                        <a:rPr lang="en-US" sz="1200"/>
                        <a:t>The event occurs when the pointer is moved onto an element, or onto one of its children</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784836">
                <a:tc>
                  <a:txBody>
                    <a:bodyPr/>
                    <a:lstStyle/>
                    <a:p>
                      <a:r>
                        <a:rPr lang="en-US" sz="1200">
                          <a:hlinkClick r:id="rId10"/>
                        </a:rPr>
                        <a:t>onmouseout</a:t>
                      </a:r>
                      <a:endParaRPr lang="en-US" sz="1200"/>
                    </a:p>
                  </a:txBody>
                  <a:tcPr marL="58189" marR="58189" marT="29095" marB="29095" anchor="ctr">
                    <a:lnL>
                      <a:noFill/>
                    </a:lnL>
                    <a:lnR>
                      <a:noFill/>
                    </a:lnR>
                    <a:lnT>
                      <a:noFill/>
                    </a:lnT>
                    <a:lnB>
                      <a:noFill/>
                    </a:lnB>
                  </a:tcPr>
                </a:tc>
                <a:tc>
                  <a:txBody>
                    <a:bodyPr/>
                    <a:lstStyle/>
                    <a:p>
                      <a:r>
                        <a:rPr lang="en-US" sz="1200"/>
                        <a:t>The event occurs when a user moves the mouse pointer out of an element, or out of one of its children</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r h="603721">
                <a:tc>
                  <a:txBody>
                    <a:bodyPr/>
                    <a:lstStyle/>
                    <a:p>
                      <a:r>
                        <a:rPr lang="en-US" sz="1200">
                          <a:hlinkClick r:id="rId11"/>
                        </a:rPr>
                        <a:t>onmouseup</a:t>
                      </a:r>
                      <a:endParaRPr lang="en-US" sz="1200"/>
                    </a:p>
                  </a:txBody>
                  <a:tcPr marL="58189" marR="58189" marT="29095" marB="29095" anchor="ctr">
                    <a:lnL>
                      <a:noFill/>
                    </a:lnL>
                    <a:lnR>
                      <a:noFill/>
                    </a:lnR>
                    <a:lnT>
                      <a:noFill/>
                    </a:lnT>
                    <a:lnB>
                      <a:noFill/>
                    </a:lnB>
                  </a:tcPr>
                </a:tc>
                <a:tc>
                  <a:txBody>
                    <a:bodyPr/>
                    <a:lstStyle/>
                    <a:p>
                      <a:r>
                        <a:rPr lang="en-US" sz="1200"/>
                        <a:t>The event occurs when a user releases a mouse button over an element</a:t>
                      </a:r>
                    </a:p>
                  </a:txBody>
                  <a:tcPr marL="58189" marR="58189" marT="29095" marB="29095" anchor="ctr">
                    <a:lnL>
                      <a:noFill/>
                    </a:lnL>
                    <a:lnR>
                      <a:noFill/>
                    </a:lnR>
                    <a:lnT>
                      <a:noFill/>
                    </a:lnT>
                    <a:lnB>
                      <a:noFill/>
                    </a:lnB>
                  </a:tcPr>
                </a:tc>
                <a:tc>
                  <a:txBody>
                    <a:bodyPr/>
                    <a:lstStyle/>
                    <a:p>
                      <a:pPr algn="ctr"/>
                      <a:r>
                        <a:rPr lang="en-US" sz="1200" dirty="0"/>
                        <a:t>2</a:t>
                      </a:r>
                    </a:p>
                  </a:txBody>
                  <a:tcPr marL="58189" marR="58189" marT="29095" marB="29095" anchor="ctr">
                    <a:lnL>
                      <a:noFill/>
                    </a:lnL>
                    <a:lnR>
                      <a:noFill/>
                    </a:lnR>
                    <a:lnT>
                      <a:noFill/>
                    </a:lnT>
                    <a:lnB>
                      <a:noFill/>
                    </a:lnB>
                  </a:tcPr>
                </a:tc>
              </a:tr>
            </a:tbl>
          </a:graphicData>
        </a:graphic>
      </p:graphicFrame>
    </p:spTree>
    <p:extLst>
      <p:ext uri="{BB962C8B-B14F-4D97-AF65-F5344CB8AC3E}">
        <p14:creationId xmlns:p14="http://schemas.microsoft.com/office/powerpoint/2010/main" xmlns="" val="39843227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2286000"/>
          <a:ext cx="8229600" cy="3200400"/>
        </p:xfrm>
        <a:graphic>
          <a:graphicData uri="http://schemas.openxmlformats.org/drawingml/2006/table">
            <a:tbl>
              <a:tblPr/>
              <a:tblGrid>
                <a:gridCol w="2743200"/>
                <a:gridCol w="2743200"/>
                <a:gridCol w="2743200"/>
              </a:tblGrid>
              <a:tr h="512064">
                <a:tc>
                  <a:txBody>
                    <a:bodyPr/>
                    <a:lstStyle/>
                    <a:p>
                      <a:r>
                        <a:rPr lang="en-US" b="1" dirty="0">
                          <a:effectLst/>
                        </a:rPr>
                        <a:t>Event</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c>
                  <a:txBody>
                    <a:bodyPr/>
                    <a:lstStyle/>
                    <a:p>
                      <a:pPr algn="ctr"/>
                      <a:r>
                        <a:rPr lang="en-US" b="1" dirty="0">
                          <a:effectLst/>
                        </a:rPr>
                        <a:t>DOM</a:t>
                      </a:r>
                    </a:p>
                  </a:txBody>
                  <a:tcPr anchor="ctr">
                    <a:lnL>
                      <a:noFill/>
                    </a:lnL>
                    <a:lnR>
                      <a:noFill/>
                    </a:lnR>
                    <a:lnT>
                      <a:noFill/>
                    </a:lnT>
                    <a:lnB>
                      <a:noFill/>
                    </a:lnB>
                  </a:tcPr>
                </a:tc>
              </a:tr>
              <a:tr h="896112">
                <a:tc>
                  <a:txBody>
                    <a:bodyPr/>
                    <a:lstStyle/>
                    <a:p>
                      <a:r>
                        <a:rPr lang="en-US" dirty="0" err="1">
                          <a:hlinkClick r:id="rId2"/>
                        </a:rPr>
                        <a:t>onkeydown</a:t>
                      </a:r>
                      <a:endParaRPr lang="en-US" dirty="0"/>
                    </a:p>
                  </a:txBody>
                  <a:tcPr anchor="ctr">
                    <a:lnL>
                      <a:noFill/>
                    </a:lnL>
                    <a:lnR>
                      <a:noFill/>
                    </a:lnR>
                    <a:lnT>
                      <a:noFill/>
                    </a:lnT>
                    <a:lnB>
                      <a:noFill/>
                    </a:lnB>
                  </a:tcPr>
                </a:tc>
                <a:tc>
                  <a:txBody>
                    <a:bodyPr/>
                    <a:lstStyle/>
                    <a:p>
                      <a:r>
                        <a:rPr lang="en-US"/>
                        <a:t>The event occurs when the user is pressing a key</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896112">
                <a:tc>
                  <a:txBody>
                    <a:bodyPr/>
                    <a:lstStyle/>
                    <a:p>
                      <a:r>
                        <a:rPr lang="en-US">
                          <a:hlinkClick r:id="rId3"/>
                        </a:rPr>
                        <a:t>onkeypress</a:t>
                      </a:r>
                      <a:endParaRPr lang="en-US"/>
                    </a:p>
                  </a:txBody>
                  <a:tcPr anchor="ctr">
                    <a:lnL>
                      <a:noFill/>
                    </a:lnL>
                    <a:lnR>
                      <a:noFill/>
                    </a:lnR>
                    <a:lnT>
                      <a:noFill/>
                    </a:lnT>
                    <a:lnB>
                      <a:noFill/>
                    </a:lnB>
                  </a:tcPr>
                </a:tc>
                <a:tc>
                  <a:txBody>
                    <a:bodyPr/>
                    <a:lstStyle/>
                    <a:p>
                      <a:r>
                        <a:rPr lang="en-US"/>
                        <a:t>The event occurs when the user presses a key</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896112">
                <a:tc>
                  <a:txBody>
                    <a:bodyPr/>
                    <a:lstStyle/>
                    <a:p>
                      <a:r>
                        <a:rPr lang="en-US">
                          <a:hlinkClick r:id="rId4"/>
                        </a:rPr>
                        <a:t>onkeyup</a:t>
                      </a:r>
                      <a:endParaRPr lang="en-US"/>
                    </a:p>
                  </a:txBody>
                  <a:tcPr anchor="ctr">
                    <a:lnL>
                      <a:noFill/>
                    </a:lnL>
                    <a:lnR>
                      <a:noFill/>
                    </a:lnR>
                    <a:lnT>
                      <a:noFill/>
                    </a:lnT>
                    <a:lnB>
                      <a:noFill/>
                    </a:lnB>
                  </a:tcPr>
                </a:tc>
                <a:tc>
                  <a:txBody>
                    <a:bodyPr/>
                    <a:lstStyle/>
                    <a:p>
                      <a:r>
                        <a:rPr lang="en-US"/>
                        <a:t>The event occurs when the user releases a key</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bl>
          </a:graphicData>
        </a:graphic>
      </p:graphicFrame>
      <p:sp>
        <p:nvSpPr>
          <p:cNvPr id="4" name="Rectangle 1"/>
          <p:cNvSpPr>
            <a:spLocks noChangeArrowheads="1"/>
          </p:cNvSpPr>
          <p:nvPr/>
        </p:nvSpPr>
        <p:spPr bwMode="auto">
          <a:xfrm>
            <a:off x="609600" y="799357"/>
            <a:ext cx="75438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Keyboard Events</a:t>
            </a:r>
            <a:endParaRPr kumimoji="0" lang="en-US" sz="2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39843227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640080"/>
          <a:ext cx="8229600" cy="6065522"/>
        </p:xfrm>
        <a:graphic>
          <a:graphicData uri="http://schemas.openxmlformats.org/drawingml/2006/table">
            <a:tbl>
              <a:tblPr/>
              <a:tblGrid>
                <a:gridCol w="2743200"/>
                <a:gridCol w="2743200"/>
                <a:gridCol w="2743200"/>
              </a:tblGrid>
              <a:tr h="397739">
                <a:tc>
                  <a:txBody>
                    <a:bodyPr/>
                    <a:lstStyle/>
                    <a:p>
                      <a:r>
                        <a:rPr lang="en-US" b="1" dirty="0">
                          <a:effectLst/>
                        </a:rPr>
                        <a:t>Event</a:t>
                      </a:r>
                    </a:p>
                  </a:txBody>
                  <a:tcPr anchor="ctr">
                    <a:lnL>
                      <a:noFill/>
                    </a:lnL>
                    <a:lnR>
                      <a:noFill/>
                    </a:lnR>
                    <a:lnT>
                      <a:noFill/>
                    </a:lnT>
                    <a:lnB>
                      <a:noFill/>
                    </a:lnB>
                  </a:tcPr>
                </a:tc>
                <a:tc>
                  <a:txBody>
                    <a:bodyPr/>
                    <a:lstStyle/>
                    <a:p>
                      <a:r>
                        <a:rPr lang="en-US" b="1" dirty="0"/>
                        <a:t>Description</a:t>
                      </a:r>
                    </a:p>
                  </a:txBody>
                  <a:tcPr anchor="ctr">
                    <a:lnL>
                      <a:noFill/>
                    </a:lnL>
                    <a:lnR>
                      <a:noFill/>
                    </a:lnR>
                    <a:lnT>
                      <a:noFill/>
                    </a:lnT>
                    <a:lnB>
                      <a:noFill/>
                    </a:lnB>
                  </a:tcPr>
                </a:tc>
                <a:tc>
                  <a:txBody>
                    <a:bodyPr/>
                    <a:lstStyle/>
                    <a:p>
                      <a:pPr algn="ctr"/>
                      <a:r>
                        <a:rPr lang="en-US" b="1" dirty="0">
                          <a:effectLst/>
                        </a:rPr>
                        <a:t>DOM</a:t>
                      </a:r>
                    </a:p>
                  </a:txBody>
                  <a:tcPr anchor="ctr">
                    <a:lnL>
                      <a:noFill/>
                    </a:lnL>
                    <a:lnR>
                      <a:noFill/>
                    </a:lnR>
                    <a:lnT>
                      <a:noFill/>
                    </a:lnT>
                    <a:lnB>
                      <a:noFill/>
                    </a:lnB>
                  </a:tcPr>
                </a:tc>
              </a:tr>
              <a:tr h="994348">
                <a:tc>
                  <a:txBody>
                    <a:bodyPr/>
                    <a:lstStyle/>
                    <a:p>
                      <a:r>
                        <a:rPr lang="en-US">
                          <a:hlinkClick r:id="rId2"/>
                        </a:rPr>
                        <a:t>onabort</a:t>
                      </a:r>
                      <a:endParaRPr lang="en-US"/>
                    </a:p>
                  </a:txBody>
                  <a:tcPr anchor="ctr">
                    <a:lnL>
                      <a:noFill/>
                    </a:lnL>
                    <a:lnR>
                      <a:noFill/>
                    </a:lnR>
                    <a:lnT>
                      <a:noFill/>
                    </a:lnT>
                    <a:lnB>
                      <a:noFill/>
                    </a:lnB>
                  </a:tcPr>
                </a:tc>
                <a:tc>
                  <a:txBody>
                    <a:bodyPr/>
                    <a:lstStyle/>
                    <a:p>
                      <a:r>
                        <a:rPr lang="en-US" dirty="0"/>
                        <a:t>The event occurs when the loading of a resource has been aborted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994348">
                <a:tc>
                  <a:txBody>
                    <a:bodyPr/>
                    <a:lstStyle/>
                    <a:p>
                      <a:r>
                        <a:rPr lang="en-US">
                          <a:hlinkClick r:id="rId3"/>
                        </a:rPr>
                        <a:t>onbeforeunload</a:t>
                      </a:r>
                      <a:endParaRPr lang="en-US"/>
                    </a:p>
                  </a:txBody>
                  <a:tcPr anchor="ctr">
                    <a:lnL>
                      <a:noFill/>
                    </a:lnL>
                    <a:lnR>
                      <a:noFill/>
                    </a:lnR>
                    <a:lnT>
                      <a:noFill/>
                    </a:lnT>
                    <a:lnB>
                      <a:noFill/>
                    </a:lnB>
                  </a:tcPr>
                </a:tc>
                <a:tc>
                  <a:txBody>
                    <a:bodyPr/>
                    <a:lstStyle/>
                    <a:p>
                      <a:r>
                        <a:rPr lang="en-US"/>
                        <a:t>The event occurs before the document is about to be unloaded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994348">
                <a:tc>
                  <a:txBody>
                    <a:bodyPr/>
                    <a:lstStyle/>
                    <a:p>
                      <a:r>
                        <a:rPr lang="en-US">
                          <a:hlinkClick r:id="rId4"/>
                        </a:rPr>
                        <a:t>onerror</a:t>
                      </a:r>
                      <a:endParaRPr lang="en-US"/>
                    </a:p>
                  </a:txBody>
                  <a:tcPr anchor="ctr">
                    <a:lnL>
                      <a:noFill/>
                    </a:lnL>
                    <a:lnR>
                      <a:noFill/>
                    </a:lnR>
                    <a:lnT>
                      <a:noFill/>
                    </a:lnT>
                    <a:lnB>
                      <a:noFill/>
                    </a:lnB>
                  </a:tcPr>
                </a:tc>
                <a:tc>
                  <a:txBody>
                    <a:bodyPr/>
                    <a:lstStyle/>
                    <a:p>
                      <a:r>
                        <a:rPr lang="en-US"/>
                        <a:t>The event occurs when an error occurs while loading an external file </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994348">
                <a:tc>
                  <a:txBody>
                    <a:bodyPr/>
                    <a:lstStyle/>
                    <a:p>
                      <a:r>
                        <a:rPr lang="en-US">
                          <a:hlinkClick r:id="rId5"/>
                        </a:rPr>
                        <a:t>onhashchange</a:t>
                      </a:r>
                      <a:endParaRPr lang="en-US"/>
                    </a:p>
                  </a:txBody>
                  <a:tcPr anchor="ctr">
                    <a:lnL>
                      <a:noFill/>
                    </a:lnL>
                    <a:lnR>
                      <a:noFill/>
                    </a:lnR>
                    <a:lnT>
                      <a:noFill/>
                    </a:lnT>
                    <a:lnB>
                      <a:noFill/>
                    </a:lnB>
                  </a:tcPr>
                </a:tc>
                <a:tc>
                  <a:txBody>
                    <a:bodyPr/>
                    <a:lstStyle/>
                    <a:p>
                      <a:r>
                        <a:rPr lang="en-US"/>
                        <a:t>The event occurs when there has been changes to the anchor part of a URL</a:t>
                      </a:r>
                    </a:p>
                  </a:txBody>
                  <a:tcPr anchor="ctr">
                    <a:lnL>
                      <a:noFill/>
                    </a:lnL>
                    <a:lnR>
                      <a:noFill/>
                    </a:lnR>
                    <a:lnT>
                      <a:noFill/>
                    </a:lnT>
                    <a:lnB>
                      <a:noFill/>
                    </a:lnB>
                  </a:tcPr>
                </a:tc>
                <a:tc>
                  <a:txBody>
                    <a:bodyPr/>
                    <a:lstStyle/>
                    <a:p>
                      <a:pPr algn="ctr"/>
                      <a:r>
                        <a:rPr lang="en-US" dirty="0"/>
                        <a:t>3</a:t>
                      </a:r>
                    </a:p>
                  </a:txBody>
                  <a:tcPr anchor="ctr">
                    <a:lnL>
                      <a:noFill/>
                    </a:lnL>
                    <a:lnR>
                      <a:noFill/>
                    </a:lnR>
                    <a:lnT>
                      <a:noFill/>
                    </a:lnT>
                    <a:lnB>
                      <a:noFill/>
                    </a:lnB>
                  </a:tcPr>
                </a:tc>
              </a:tr>
              <a:tr h="696043">
                <a:tc>
                  <a:txBody>
                    <a:bodyPr/>
                    <a:lstStyle/>
                    <a:p>
                      <a:r>
                        <a:rPr lang="en-US">
                          <a:hlinkClick r:id="rId6"/>
                        </a:rPr>
                        <a:t>onload</a:t>
                      </a:r>
                      <a:endParaRPr lang="en-US"/>
                    </a:p>
                  </a:txBody>
                  <a:tcPr anchor="ctr">
                    <a:lnL>
                      <a:noFill/>
                    </a:lnL>
                    <a:lnR>
                      <a:noFill/>
                    </a:lnR>
                    <a:lnT>
                      <a:noFill/>
                    </a:lnT>
                    <a:lnB>
                      <a:noFill/>
                    </a:lnB>
                  </a:tcPr>
                </a:tc>
                <a:tc>
                  <a:txBody>
                    <a:bodyPr/>
                    <a:lstStyle/>
                    <a:p>
                      <a:r>
                        <a:rPr lang="en-US"/>
                        <a:t>The event occurs when an object has loaded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994348">
                <a:tc>
                  <a:txBody>
                    <a:bodyPr/>
                    <a:lstStyle/>
                    <a:p>
                      <a:r>
                        <a:rPr lang="en-US" dirty="0" err="1">
                          <a:hlinkClick r:id="rId7"/>
                        </a:rPr>
                        <a:t>onpageshow</a:t>
                      </a:r>
                      <a:endParaRPr lang="en-US" dirty="0"/>
                    </a:p>
                  </a:txBody>
                  <a:tcPr anchor="ctr">
                    <a:lnL>
                      <a:noFill/>
                    </a:lnL>
                    <a:lnR>
                      <a:noFill/>
                    </a:lnR>
                    <a:lnT>
                      <a:noFill/>
                    </a:lnT>
                    <a:lnB>
                      <a:noFill/>
                    </a:lnB>
                  </a:tcPr>
                </a:tc>
                <a:tc>
                  <a:txBody>
                    <a:bodyPr/>
                    <a:lstStyle/>
                    <a:p>
                      <a:r>
                        <a:rPr lang="en-US"/>
                        <a:t>The event occurs when the user navigates to a webpage</a:t>
                      </a:r>
                    </a:p>
                  </a:txBody>
                  <a:tcPr anchor="ctr">
                    <a:lnL>
                      <a:noFill/>
                    </a:lnL>
                    <a:lnR>
                      <a:noFill/>
                    </a:lnR>
                    <a:lnT>
                      <a:noFill/>
                    </a:lnT>
                    <a:lnB>
                      <a:noFill/>
                    </a:lnB>
                  </a:tcPr>
                </a:tc>
                <a:tc>
                  <a:txBody>
                    <a:bodyPr/>
                    <a:lstStyle/>
                    <a:p>
                      <a:pPr algn="ctr"/>
                      <a:r>
                        <a:rPr lang="en-US" dirty="0"/>
                        <a:t>3</a:t>
                      </a:r>
                    </a:p>
                  </a:txBody>
                  <a:tcPr anchor="ctr">
                    <a:lnL>
                      <a:noFill/>
                    </a:lnL>
                    <a:lnR>
                      <a:noFill/>
                    </a:lnR>
                    <a:lnT>
                      <a:noFill/>
                    </a:lnT>
                    <a:lnB>
                      <a:noFill/>
                    </a:lnB>
                  </a:tcPr>
                </a:tc>
              </a:tr>
            </a:tbl>
          </a:graphicData>
        </a:graphic>
      </p:graphicFrame>
      <p:sp>
        <p:nvSpPr>
          <p:cNvPr id="4" name="Rectangle 1"/>
          <p:cNvSpPr>
            <a:spLocks noChangeArrowheads="1"/>
          </p:cNvSpPr>
          <p:nvPr/>
        </p:nvSpPr>
        <p:spPr bwMode="auto">
          <a:xfrm>
            <a:off x="304800" y="180332"/>
            <a:ext cx="80772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charset="0"/>
                <a:cs typeface="Arial" charset="0"/>
              </a:rPr>
              <a:t>Frame/Object Events</a:t>
            </a:r>
            <a:endParaRPr kumimoji="0" lang="en-US" sz="2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39843227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1219201"/>
          <a:ext cx="8229600" cy="4876800"/>
        </p:xfrm>
        <a:graphic>
          <a:graphicData uri="http://schemas.openxmlformats.org/drawingml/2006/table">
            <a:tbl>
              <a:tblPr/>
              <a:tblGrid>
                <a:gridCol w="2743200"/>
                <a:gridCol w="2743200"/>
                <a:gridCol w="2743200"/>
              </a:tblGrid>
              <a:tr h="1318054">
                <a:tc>
                  <a:txBody>
                    <a:bodyPr/>
                    <a:lstStyle/>
                    <a:p>
                      <a:r>
                        <a:rPr lang="en-US" dirty="0" err="1">
                          <a:hlinkClick r:id="rId2"/>
                        </a:rPr>
                        <a:t>onpagehide</a:t>
                      </a:r>
                      <a:endParaRPr lang="en-US" dirty="0"/>
                    </a:p>
                  </a:txBody>
                  <a:tcPr anchor="ctr">
                    <a:lnL>
                      <a:noFill/>
                    </a:lnL>
                    <a:lnR>
                      <a:noFill/>
                    </a:lnR>
                    <a:lnT>
                      <a:noFill/>
                    </a:lnT>
                    <a:lnB>
                      <a:noFill/>
                    </a:lnB>
                  </a:tcPr>
                </a:tc>
                <a:tc>
                  <a:txBody>
                    <a:bodyPr/>
                    <a:lstStyle/>
                    <a:p>
                      <a:r>
                        <a:rPr lang="en-US" dirty="0"/>
                        <a:t>The event occurs when the user navigates away from a webpage</a:t>
                      </a:r>
                    </a:p>
                  </a:txBody>
                  <a:tcPr anchor="ctr">
                    <a:lnL>
                      <a:noFill/>
                    </a:lnL>
                    <a:lnR>
                      <a:noFill/>
                    </a:lnR>
                    <a:lnT>
                      <a:noFill/>
                    </a:lnT>
                    <a:lnB>
                      <a:noFill/>
                    </a:lnB>
                  </a:tcPr>
                </a:tc>
                <a:tc>
                  <a:txBody>
                    <a:bodyPr/>
                    <a:lstStyle/>
                    <a:p>
                      <a:pPr algn="ctr"/>
                      <a:r>
                        <a:rPr lang="en-US" dirty="0"/>
                        <a:t>3</a:t>
                      </a:r>
                    </a:p>
                  </a:txBody>
                  <a:tcPr anchor="ctr">
                    <a:lnL>
                      <a:noFill/>
                    </a:lnL>
                    <a:lnR>
                      <a:noFill/>
                    </a:lnR>
                    <a:lnT>
                      <a:noFill/>
                    </a:lnT>
                    <a:lnB>
                      <a:noFill/>
                    </a:lnB>
                  </a:tcPr>
                </a:tc>
              </a:tr>
              <a:tr h="922638">
                <a:tc>
                  <a:txBody>
                    <a:bodyPr/>
                    <a:lstStyle/>
                    <a:p>
                      <a:r>
                        <a:rPr lang="en-US">
                          <a:hlinkClick r:id="rId3"/>
                        </a:rPr>
                        <a:t>onresize</a:t>
                      </a:r>
                      <a:endParaRPr lang="en-US"/>
                    </a:p>
                  </a:txBody>
                  <a:tcPr anchor="ctr">
                    <a:lnL>
                      <a:noFill/>
                    </a:lnL>
                    <a:lnR>
                      <a:noFill/>
                    </a:lnR>
                    <a:lnT>
                      <a:noFill/>
                    </a:lnT>
                    <a:lnB>
                      <a:noFill/>
                    </a:lnB>
                  </a:tcPr>
                </a:tc>
                <a:tc>
                  <a:txBody>
                    <a:bodyPr/>
                    <a:lstStyle/>
                    <a:p>
                      <a:r>
                        <a:rPr lang="en-US"/>
                        <a:t>The event occurs when the document view is resized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1318054">
                <a:tc>
                  <a:txBody>
                    <a:bodyPr/>
                    <a:lstStyle/>
                    <a:p>
                      <a:r>
                        <a:rPr lang="en-US" dirty="0" err="1">
                          <a:hlinkClick r:id="rId4"/>
                        </a:rPr>
                        <a:t>onscroll</a:t>
                      </a:r>
                      <a:endParaRPr lang="en-US" dirty="0"/>
                    </a:p>
                  </a:txBody>
                  <a:tcPr anchor="ctr">
                    <a:lnL>
                      <a:noFill/>
                    </a:lnL>
                    <a:lnR>
                      <a:noFill/>
                    </a:lnR>
                    <a:lnT>
                      <a:noFill/>
                    </a:lnT>
                    <a:lnB>
                      <a:noFill/>
                    </a:lnB>
                  </a:tcPr>
                </a:tc>
                <a:tc>
                  <a:txBody>
                    <a:bodyPr/>
                    <a:lstStyle/>
                    <a:p>
                      <a:r>
                        <a:rPr lang="en-US"/>
                        <a:t>The event occurs when an element's scrollbar is being scrolled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1318054">
                <a:tc>
                  <a:txBody>
                    <a:bodyPr/>
                    <a:lstStyle/>
                    <a:p>
                      <a:r>
                        <a:rPr lang="en-US">
                          <a:hlinkClick r:id="rId5"/>
                        </a:rPr>
                        <a:t>onunload</a:t>
                      </a:r>
                      <a:endParaRPr lang="en-US"/>
                    </a:p>
                  </a:txBody>
                  <a:tcPr anchor="ctr">
                    <a:lnL>
                      <a:noFill/>
                    </a:lnL>
                    <a:lnR>
                      <a:noFill/>
                    </a:lnR>
                    <a:lnT>
                      <a:noFill/>
                    </a:lnT>
                    <a:lnB>
                      <a:noFill/>
                    </a:lnB>
                  </a:tcPr>
                </a:tc>
                <a:tc>
                  <a:txBody>
                    <a:bodyPr/>
                    <a:lstStyle/>
                    <a:p>
                      <a:r>
                        <a:rPr lang="en-US"/>
                        <a:t>The event occurs once a page has unloaded (for &lt;body&gt;)</a:t>
                      </a:r>
                    </a:p>
                  </a:txBody>
                  <a:tcPr anchor="ctr">
                    <a:lnL>
                      <a:noFill/>
                    </a:lnL>
                    <a:lnR>
                      <a:noFill/>
                    </a:lnR>
                    <a:lnT>
                      <a:noFill/>
                    </a:lnT>
                    <a:lnB>
                      <a:noFill/>
                    </a:lnB>
                  </a:tcPr>
                </a:tc>
                <a:tc>
                  <a:txBody>
                    <a:bodyPr/>
                    <a:lstStyle/>
                    <a:p>
                      <a:pPr algn="ctr"/>
                      <a:endParaRPr lang="en-US" dirty="0"/>
                    </a:p>
                  </a:txBody>
                  <a:tcPr>
                    <a:lnL>
                      <a:noFill/>
                    </a:lnL>
                    <a:lnT>
                      <a:noFill/>
                    </a:lnT>
                  </a:tcPr>
                </a:tc>
              </a:tr>
            </a:tbl>
          </a:graphicData>
        </a:graphic>
      </p:graphicFrame>
    </p:spTree>
    <p:extLst>
      <p:ext uri="{BB962C8B-B14F-4D97-AF65-F5344CB8AC3E}">
        <p14:creationId xmlns:p14="http://schemas.microsoft.com/office/powerpoint/2010/main" xmlns="" val="3984322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609601" y="267093"/>
          <a:ext cx="8077200" cy="6355533"/>
        </p:xfrm>
        <a:graphic>
          <a:graphicData uri="http://schemas.openxmlformats.org/drawingml/2006/table">
            <a:tbl>
              <a:tblPr/>
              <a:tblGrid>
                <a:gridCol w="2692400"/>
                <a:gridCol w="2692400"/>
                <a:gridCol w="2692400"/>
              </a:tblGrid>
              <a:tr h="311211">
                <a:tc>
                  <a:txBody>
                    <a:bodyPr/>
                    <a:lstStyle/>
                    <a:p>
                      <a:r>
                        <a:rPr lang="en-US" sz="1600" b="1" dirty="0">
                          <a:effectLst/>
                        </a:rPr>
                        <a:t>Event</a:t>
                      </a:r>
                    </a:p>
                  </a:txBody>
                  <a:tcPr marL="79022" marR="79022" marT="39511" marB="39511" anchor="ctr">
                    <a:lnL>
                      <a:noFill/>
                    </a:lnL>
                    <a:lnR>
                      <a:noFill/>
                    </a:lnR>
                    <a:lnT>
                      <a:noFill/>
                    </a:lnT>
                    <a:lnB>
                      <a:noFill/>
                    </a:lnB>
                  </a:tcPr>
                </a:tc>
                <a:tc>
                  <a:txBody>
                    <a:bodyPr/>
                    <a:lstStyle/>
                    <a:p>
                      <a:r>
                        <a:rPr lang="en-US" sz="1600" b="1" dirty="0"/>
                        <a:t>Description</a:t>
                      </a:r>
                    </a:p>
                  </a:txBody>
                  <a:tcPr marL="79022" marR="79022" marT="39511" marB="39511" anchor="ctr">
                    <a:lnL>
                      <a:noFill/>
                    </a:lnL>
                    <a:lnR>
                      <a:noFill/>
                    </a:lnR>
                    <a:lnT>
                      <a:noFill/>
                    </a:lnT>
                    <a:lnB>
                      <a:noFill/>
                    </a:lnB>
                  </a:tcPr>
                </a:tc>
                <a:tc>
                  <a:txBody>
                    <a:bodyPr/>
                    <a:lstStyle/>
                    <a:p>
                      <a:pPr algn="ctr"/>
                      <a:r>
                        <a:rPr lang="en-US" sz="1600" b="1" dirty="0">
                          <a:effectLst/>
                        </a:rPr>
                        <a:t>DOM</a:t>
                      </a:r>
                    </a:p>
                  </a:txBody>
                  <a:tcPr marL="79022" marR="79022" marT="39511" marB="39511" anchor="ctr">
                    <a:lnL>
                      <a:noFill/>
                    </a:lnL>
                    <a:lnR>
                      <a:noFill/>
                    </a:lnR>
                    <a:lnT>
                      <a:noFill/>
                    </a:lnT>
                    <a:lnB>
                      <a:noFill/>
                    </a:lnB>
                  </a:tcPr>
                </a:tc>
              </a:tr>
              <a:tr h="546251">
                <a:tc>
                  <a:txBody>
                    <a:bodyPr/>
                    <a:lstStyle/>
                    <a:p>
                      <a:r>
                        <a:rPr lang="en-US" sz="1600" dirty="0" err="1">
                          <a:hlinkClick r:id="rId2"/>
                        </a:rPr>
                        <a:t>onblur</a:t>
                      </a:r>
                      <a:endParaRPr lang="en-US" sz="1600" dirty="0"/>
                    </a:p>
                  </a:txBody>
                  <a:tcPr marL="79022" marR="79022" marT="39511" marB="39511" anchor="ctr">
                    <a:lnL>
                      <a:noFill/>
                    </a:lnL>
                    <a:lnR>
                      <a:noFill/>
                    </a:lnR>
                    <a:lnT>
                      <a:noFill/>
                    </a:lnT>
                    <a:lnB>
                      <a:noFill/>
                    </a:lnB>
                  </a:tcPr>
                </a:tc>
                <a:tc>
                  <a:txBody>
                    <a:bodyPr/>
                    <a:lstStyle/>
                    <a:p>
                      <a:r>
                        <a:rPr lang="en-US" sz="1600"/>
                        <a:t>The event occurs when an element loses focus</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r h="1675751">
                <a:tc>
                  <a:txBody>
                    <a:bodyPr/>
                    <a:lstStyle/>
                    <a:p>
                      <a:r>
                        <a:rPr lang="en-US" sz="1600" dirty="0" err="1">
                          <a:hlinkClick r:id="rId3"/>
                        </a:rPr>
                        <a:t>onchange</a:t>
                      </a:r>
                      <a:endParaRPr lang="en-US" sz="1600" dirty="0"/>
                    </a:p>
                  </a:txBody>
                  <a:tcPr marL="79022" marR="79022" marT="39511" marB="39511" anchor="ctr">
                    <a:lnL>
                      <a:noFill/>
                    </a:lnL>
                    <a:lnR>
                      <a:noFill/>
                    </a:lnR>
                    <a:lnT>
                      <a:noFill/>
                    </a:lnT>
                    <a:lnB>
                      <a:noFill/>
                    </a:lnB>
                  </a:tcPr>
                </a:tc>
                <a:tc>
                  <a:txBody>
                    <a:bodyPr/>
                    <a:lstStyle/>
                    <a:p>
                      <a:r>
                        <a:rPr lang="en-US" sz="1600" dirty="0"/>
                        <a:t>The event occurs when the content of a form element, the selection, or the checked state have changed (for &lt;input&gt;, &lt;</a:t>
                      </a:r>
                      <a:r>
                        <a:rPr lang="en-US" sz="1600" dirty="0" err="1"/>
                        <a:t>keygen</a:t>
                      </a:r>
                      <a:r>
                        <a:rPr lang="en-US" sz="1600" dirty="0"/>
                        <a:t>&gt;, &lt;select&gt;, and &lt;</a:t>
                      </a:r>
                      <a:r>
                        <a:rPr lang="en-US" sz="1600" dirty="0" err="1"/>
                        <a:t>textarea</a:t>
                      </a:r>
                      <a:r>
                        <a:rPr lang="en-US" sz="1600" dirty="0"/>
                        <a:t>&gt;)</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r h="546251">
                <a:tc>
                  <a:txBody>
                    <a:bodyPr/>
                    <a:lstStyle/>
                    <a:p>
                      <a:r>
                        <a:rPr lang="en-US" sz="1600">
                          <a:hlinkClick r:id="rId4"/>
                        </a:rPr>
                        <a:t>onfocus</a:t>
                      </a:r>
                      <a:endParaRPr lang="en-US" sz="1600"/>
                    </a:p>
                  </a:txBody>
                  <a:tcPr marL="79022" marR="79022" marT="39511" marB="39511" anchor="ctr">
                    <a:lnL>
                      <a:noFill/>
                    </a:lnL>
                    <a:lnR>
                      <a:noFill/>
                    </a:lnR>
                    <a:lnT>
                      <a:noFill/>
                    </a:lnT>
                    <a:lnB>
                      <a:noFill/>
                    </a:lnB>
                  </a:tcPr>
                </a:tc>
                <a:tc>
                  <a:txBody>
                    <a:bodyPr/>
                    <a:lstStyle/>
                    <a:p>
                      <a:r>
                        <a:rPr lang="en-US" sz="1600"/>
                        <a:t>The event occurs when an element gets focus</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r h="761705">
                <a:tc>
                  <a:txBody>
                    <a:bodyPr/>
                    <a:lstStyle/>
                    <a:p>
                      <a:r>
                        <a:rPr lang="en-US" sz="1600">
                          <a:hlinkClick r:id="rId5"/>
                        </a:rPr>
                        <a:t>onfocusin</a:t>
                      </a:r>
                      <a:endParaRPr lang="en-US" sz="1600"/>
                    </a:p>
                  </a:txBody>
                  <a:tcPr marL="79022" marR="79022" marT="39511" marB="39511" anchor="ctr">
                    <a:lnL>
                      <a:noFill/>
                    </a:lnL>
                    <a:lnR>
                      <a:noFill/>
                    </a:lnR>
                    <a:lnT>
                      <a:noFill/>
                    </a:lnT>
                    <a:lnB>
                      <a:noFill/>
                    </a:lnB>
                  </a:tcPr>
                </a:tc>
                <a:tc>
                  <a:txBody>
                    <a:bodyPr/>
                    <a:lstStyle/>
                    <a:p>
                      <a:r>
                        <a:rPr lang="en-US" sz="1600" dirty="0"/>
                        <a:t>The event occurs when an element is about to get focus</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r h="761705">
                <a:tc>
                  <a:txBody>
                    <a:bodyPr/>
                    <a:lstStyle/>
                    <a:p>
                      <a:r>
                        <a:rPr lang="en-US" sz="1600">
                          <a:hlinkClick r:id="rId6"/>
                        </a:rPr>
                        <a:t>onfocusout</a:t>
                      </a:r>
                      <a:endParaRPr lang="en-US" sz="1600"/>
                    </a:p>
                  </a:txBody>
                  <a:tcPr marL="79022" marR="79022" marT="39511" marB="39511" anchor="ctr">
                    <a:lnL>
                      <a:noFill/>
                    </a:lnL>
                    <a:lnR>
                      <a:noFill/>
                    </a:lnR>
                    <a:lnT>
                      <a:noFill/>
                    </a:lnT>
                    <a:lnB>
                      <a:noFill/>
                    </a:lnB>
                  </a:tcPr>
                </a:tc>
                <a:tc>
                  <a:txBody>
                    <a:bodyPr/>
                    <a:lstStyle/>
                    <a:p>
                      <a:r>
                        <a:rPr lang="en-US" sz="1600"/>
                        <a:t>The event occurs when an element is about to lose focus</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r h="546251">
                <a:tc>
                  <a:txBody>
                    <a:bodyPr/>
                    <a:lstStyle/>
                    <a:p>
                      <a:r>
                        <a:rPr lang="en-US" sz="1600">
                          <a:hlinkClick r:id="rId7"/>
                        </a:rPr>
                        <a:t>oninput</a:t>
                      </a:r>
                      <a:endParaRPr lang="en-US" sz="1600"/>
                    </a:p>
                  </a:txBody>
                  <a:tcPr marL="79022" marR="79022" marT="39511" marB="39511" anchor="ctr">
                    <a:lnL>
                      <a:noFill/>
                    </a:lnL>
                    <a:lnR>
                      <a:noFill/>
                    </a:lnR>
                    <a:lnT>
                      <a:noFill/>
                    </a:lnT>
                    <a:lnB>
                      <a:noFill/>
                    </a:lnB>
                  </a:tcPr>
                </a:tc>
                <a:tc>
                  <a:txBody>
                    <a:bodyPr/>
                    <a:lstStyle/>
                    <a:p>
                      <a:r>
                        <a:rPr lang="en-US" sz="1600"/>
                        <a:t>The event occurs when an element gets user input</a:t>
                      </a:r>
                    </a:p>
                  </a:txBody>
                  <a:tcPr marL="79022" marR="79022" marT="39511" marB="39511" anchor="ctr">
                    <a:lnL>
                      <a:noFill/>
                    </a:lnL>
                    <a:lnR>
                      <a:noFill/>
                    </a:lnR>
                    <a:lnT>
                      <a:noFill/>
                    </a:lnT>
                    <a:lnB>
                      <a:noFill/>
                    </a:lnB>
                  </a:tcPr>
                </a:tc>
                <a:tc>
                  <a:txBody>
                    <a:bodyPr/>
                    <a:lstStyle/>
                    <a:p>
                      <a:pPr algn="ctr"/>
                      <a:r>
                        <a:rPr lang="en-US" sz="1600" dirty="0"/>
                        <a:t>3</a:t>
                      </a:r>
                    </a:p>
                  </a:txBody>
                  <a:tcPr marL="79022" marR="79022" marT="39511" marB="39511" anchor="ctr">
                    <a:lnL>
                      <a:noFill/>
                    </a:lnL>
                    <a:lnR>
                      <a:noFill/>
                    </a:lnR>
                    <a:lnT>
                      <a:noFill/>
                    </a:lnT>
                    <a:lnB>
                      <a:noFill/>
                    </a:lnB>
                  </a:tcPr>
                </a:tc>
              </a:tr>
              <a:tr h="546251">
                <a:tc>
                  <a:txBody>
                    <a:bodyPr/>
                    <a:lstStyle/>
                    <a:p>
                      <a:r>
                        <a:rPr lang="en-US" sz="1600">
                          <a:hlinkClick r:id="rId8"/>
                        </a:rPr>
                        <a:t>oninvalid</a:t>
                      </a:r>
                      <a:endParaRPr lang="en-US" sz="1600"/>
                    </a:p>
                  </a:txBody>
                  <a:tcPr marL="79022" marR="79022" marT="39511" marB="39511" anchor="ctr">
                    <a:lnL>
                      <a:noFill/>
                    </a:lnL>
                    <a:lnR>
                      <a:noFill/>
                    </a:lnR>
                    <a:lnT>
                      <a:noFill/>
                    </a:lnT>
                    <a:lnB>
                      <a:noFill/>
                    </a:lnB>
                  </a:tcPr>
                </a:tc>
                <a:tc>
                  <a:txBody>
                    <a:bodyPr/>
                    <a:lstStyle/>
                    <a:p>
                      <a:r>
                        <a:rPr lang="en-US" sz="1600"/>
                        <a:t>The event occurs when an element is invalid</a:t>
                      </a:r>
                    </a:p>
                  </a:txBody>
                  <a:tcPr marL="79022" marR="79022" marT="39511" marB="39511" anchor="ctr">
                    <a:lnL>
                      <a:noFill/>
                    </a:lnL>
                    <a:lnR>
                      <a:noFill/>
                    </a:lnR>
                    <a:lnT>
                      <a:noFill/>
                    </a:lnT>
                    <a:lnB>
                      <a:noFill/>
                    </a:lnB>
                  </a:tcPr>
                </a:tc>
                <a:tc>
                  <a:txBody>
                    <a:bodyPr/>
                    <a:lstStyle/>
                    <a:p>
                      <a:pPr algn="ctr"/>
                      <a:r>
                        <a:rPr lang="en-US" sz="1600" dirty="0"/>
                        <a:t>3</a:t>
                      </a:r>
                    </a:p>
                  </a:txBody>
                  <a:tcPr marL="79022" marR="79022" marT="39511" marB="39511" anchor="ctr">
                    <a:lnL>
                      <a:noFill/>
                    </a:lnL>
                    <a:lnR>
                      <a:noFill/>
                    </a:lnR>
                    <a:lnT>
                      <a:noFill/>
                    </a:lnT>
                    <a:lnB>
                      <a:noFill/>
                    </a:lnB>
                  </a:tcPr>
                </a:tc>
              </a:tr>
              <a:tr h="546251">
                <a:tc>
                  <a:txBody>
                    <a:bodyPr/>
                    <a:lstStyle/>
                    <a:p>
                      <a:r>
                        <a:rPr lang="en-US" sz="1600" dirty="0" err="1">
                          <a:hlinkClick r:id="rId9"/>
                        </a:rPr>
                        <a:t>onreset</a:t>
                      </a:r>
                      <a:endParaRPr lang="en-US" sz="1600" dirty="0"/>
                    </a:p>
                  </a:txBody>
                  <a:tcPr marL="79022" marR="79022" marT="39511" marB="39511" anchor="ctr">
                    <a:lnL>
                      <a:noFill/>
                    </a:lnL>
                    <a:lnR>
                      <a:noFill/>
                    </a:lnR>
                    <a:lnT>
                      <a:noFill/>
                    </a:lnT>
                    <a:lnB>
                      <a:noFill/>
                    </a:lnB>
                  </a:tcPr>
                </a:tc>
                <a:tc>
                  <a:txBody>
                    <a:bodyPr/>
                    <a:lstStyle/>
                    <a:p>
                      <a:r>
                        <a:rPr lang="en-US" sz="1600"/>
                        <a:t>The event occurs when a form is reset</a:t>
                      </a:r>
                    </a:p>
                  </a:txBody>
                  <a:tcPr marL="79022" marR="79022" marT="39511" marB="39511" anchor="ctr">
                    <a:lnL>
                      <a:noFill/>
                    </a:lnL>
                    <a:lnR>
                      <a:noFill/>
                    </a:lnR>
                    <a:lnT>
                      <a:noFill/>
                    </a:lnT>
                    <a:lnB>
                      <a:noFill/>
                    </a:lnB>
                  </a:tcPr>
                </a:tc>
                <a:tc>
                  <a:txBody>
                    <a:bodyPr/>
                    <a:lstStyle/>
                    <a:p>
                      <a:pPr algn="ctr"/>
                      <a:r>
                        <a:rPr lang="en-US" sz="1600" dirty="0"/>
                        <a:t>2</a:t>
                      </a:r>
                    </a:p>
                  </a:txBody>
                  <a:tcPr marL="79022" marR="79022" marT="39511" marB="39511" anchor="ctr">
                    <a:lnL>
                      <a:noFill/>
                    </a:lnL>
                    <a:lnR>
                      <a:noFill/>
                    </a:lnR>
                    <a:lnT>
                      <a:noFill/>
                    </a:lnT>
                    <a:lnB>
                      <a:noFill/>
                    </a:lnB>
                  </a:tcPr>
                </a:tc>
              </a:tr>
            </a:tbl>
          </a:graphicData>
        </a:graphic>
      </p:graphicFrame>
      <p:sp>
        <p:nvSpPr>
          <p:cNvPr id="4" name="Rectangle 1"/>
          <p:cNvSpPr>
            <a:spLocks noChangeArrowheads="1"/>
          </p:cNvSpPr>
          <p:nvPr/>
        </p:nvSpPr>
        <p:spPr bwMode="auto">
          <a:xfrm>
            <a:off x="0" y="43934"/>
            <a:ext cx="754380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Arial" charset="0"/>
                <a:cs typeface="Arial" charset="0"/>
              </a:rPr>
              <a:t>Form Events</a:t>
            </a:r>
            <a:endParaRPr kumimoji="0" lang="en-US" sz="20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39843227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1295400"/>
          <a:ext cx="8229600" cy="4343400"/>
        </p:xfrm>
        <a:graphic>
          <a:graphicData uri="http://schemas.openxmlformats.org/drawingml/2006/table">
            <a:tbl>
              <a:tblPr/>
              <a:tblGrid>
                <a:gridCol w="2743200"/>
                <a:gridCol w="2743200"/>
                <a:gridCol w="2743200"/>
              </a:tblGrid>
              <a:tr h="1882140">
                <a:tc>
                  <a:txBody>
                    <a:bodyPr/>
                    <a:lstStyle/>
                    <a:p>
                      <a:r>
                        <a:rPr lang="en-US" dirty="0" err="1">
                          <a:hlinkClick r:id="rId2"/>
                        </a:rPr>
                        <a:t>onsearch</a:t>
                      </a:r>
                      <a:endParaRPr lang="en-US" dirty="0"/>
                    </a:p>
                  </a:txBody>
                  <a:tcPr anchor="ctr">
                    <a:lnL>
                      <a:noFill/>
                    </a:lnL>
                    <a:lnR>
                      <a:noFill/>
                    </a:lnR>
                    <a:lnT>
                      <a:noFill/>
                    </a:lnT>
                    <a:lnB>
                      <a:noFill/>
                    </a:lnB>
                  </a:tcPr>
                </a:tc>
                <a:tc>
                  <a:txBody>
                    <a:bodyPr/>
                    <a:lstStyle/>
                    <a:p>
                      <a:r>
                        <a:rPr lang="en-US" dirty="0"/>
                        <a:t>The event occurs when the user writes something in a search field (for &lt;input="search"&gt;)</a:t>
                      </a:r>
                    </a:p>
                  </a:txBody>
                  <a:tcPr anchor="ctr">
                    <a:lnL>
                      <a:noFill/>
                    </a:lnL>
                    <a:lnR>
                      <a:noFill/>
                    </a:lnR>
                    <a:lnT>
                      <a:noFill/>
                    </a:lnT>
                    <a:lnB>
                      <a:noFill/>
                    </a:lnB>
                  </a:tcPr>
                </a:tc>
                <a:tc>
                  <a:txBody>
                    <a:bodyPr/>
                    <a:lstStyle/>
                    <a:p>
                      <a:pPr algn="ctr"/>
                      <a:r>
                        <a:rPr lang="en-US" dirty="0"/>
                        <a:t>3</a:t>
                      </a:r>
                    </a:p>
                  </a:txBody>
                  <a:tcPr anchor="ctr">
                    <a:lnL>
                      <a:noFill/>
                    </a:lnL>
                    <a:lnR>
                      <a:noFill/>
                    </a:lnR>
                    <a:lnT>
                      <a:noFill/>
                    </a:lnT>
                    <a:lnB>
                      <a:noFill/>
                    </a:lnB>
                  </a:tcPr>
                </a:tc>
              </a:tr>
              <a:tr h="1447800">
                <a:tc>
                  <a:txBody>
                    <a:bodyPr/>
                    <a:lstStyle/>
                    <a:p>
                      <a:r>
                        <a:rPr lang="en-US">
                          <a:hlinkClick r:id="rId3"/>
                        </a:rPr>
                        <a:t>onselect</a:t>
                      </a:r>
                      <a:endParaRPr lang="en-US"/>
                    </a:p>
                  </a:txBody>
                  <a:tcPr anchor="ctr">
                    <a:lnL>
                      <a:noFill/>
                    </a:lnL>
                    <a:lnR>
                      <a:noFill/>
                    </a:lnR>
                    <a:lnT>
                      <a:noFill/>
                    </a:lnT>
                    <a:lnB>
                      <a:noFill/>
                    </a:lnB>
                  </a:tcPr>
                </a:tc>
                <a:tc>
                  <a:txBody>
                    <a:bodyPr/>
                    <a:lstStyle/>
                    <a:p>
                      <a:r>
                        <a:rPr lang="en-US"/>
                        <a:t>The event occurs after the user selects some text (for &lt;input&gt; and &lt;textarea&gt;)</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r h="1013460">
                <a:tc>
                  <a:txBody>
                    <a:bodyPr/>
                    <a:lstStyle/>
                    <a:p>
                      <a:r>
                        <a:rPr lang="en-US">
                          <a:hlinkClick r:id="rId4"/>
                        </a:rPr>
                        <a:t>onsubmit</a:t>
                      </a:r>
                      <a:endParaRPr lang="en-US"/>
                    </a:p>
                  </a:txBody>
                  <a:tcPr anchor="ctr">
                    <a:lnL>
                      <a:noFill/>
                    </a:lnL>
                    <a:lnR>
                      <a:noFill/>
                    </a:lnR>
                    <a:lnT>
                      <a:noFill/>
                    </a:lnT>
                    <a:lnB>
                      <a:noFill/>
                    </a:lnB>
                  </a:tcPr>
                </a:tc>
                <a:tc>
                  <a:txBody>
                    <a:bodyPr/>
                    <a:lstStyle/>
                    <a:p>
                      <a:r>
                        <a:rPr lang="en-US"/>
                        <a:t>The event occurs when a form is submitted</a:t>
                      </a:r>
                    </a:p>
                  </a:txBody>
                  <a:tcPr anchor="ctr">
                    <a:lnL>
                      <a:noFill/>
                    </a:lnL>
                    <a:lnR>
                      <a:noFill/>
                    </a:lnR>
                    <a:lnT>
                      <a:noFill/>
                    </a:lnT>
                    <a:lnB>
                      <a:noFill/>
                    </a:lnB>
                  </a:tcPr>
                </a:tc>
                <a:tc>
                  <a:txBody>
                    <a:bodyPr/>
                    <a:lstStyle/>
                    <a:p>
                      <a:pPr algn="ctr"/>
                      <a:r>
                        <a:rPr lang="en-US" dirty="0"/>
                        <a:t>2</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xmlns="" val="3984322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57200" y="1874520"/>
          <a:ext cx="8229600" cy="4069079"/>
        </p:xfrm>
        <a:graphic>
          <a:graphicData uri="http://schemas.openxmlformats.org/drawingml/2006/table">
            <a:tbl>
              <a:tblPr/>
              <a:tblGrid>
                <a:gridCol w="2743200"/>
                <a:gridCol w="2743200"/>
                <a:gridCol w="2743200"/>
              </a:tblGrid>
              <a:tr h="478715">
                <a:tc>
                  <a:txBody>
                    <a:bodyPr/>
                    <a:lstStyle/>
                    <a:p>
                      <a:r>
                        <a:rPr lang="en-US" dirty="0">
                          <a:effectLst/>
                        </a:rPr>
                        <a:t>Event</a:t>
                      </a:r>
                    </a:p>
                  </a:txBody>
                  <a:tcPr anchor="ctr">
                    <a:lnL>
                      <a:noFill/>
                    </a:lnL>
                    <a:lnR>
                      <a:noFill/>
                    </a:lnR>
                    <a:lnT>
                      <a:noFill/>
                    </a:lnT>
                    <a:lnB>
                      <a:noFill/>
                    </a:lnB>
                  </a:tcPr>
                </a:tc>
                <a:tc>
                  <a:txBody>
                    <a:bodyPr/>
                    <a:lstStyle/>
                    <a:p>
                      <a:r>
                        <a:rPr lang="en-US"/>
                        <a:t>Description</a:t>
                      </a:r>
                    </a:p>
                  </a:txBody>
                  <a:tcPr anchor="ctr">
                    <a:lnL>
                      <a:noFill/>
                    </a:lnL>
                    <a:lnR>
                      <a:noFill/>
                    </a:lnR>
                    <a:lnT>
                      <a:noFill/>
                    </a:lnT>
                    <a:lnB>
                      <a:noFill/>
                    </a:lnB>
                  </a:tcPr>
                </a:tc>
                <a:tc>
                  <a:txBody>
                    <a:bodyPr/>
                    <a:lstStyle/>
                    <a:p>
                      <a:r>
                        <a:rPr lang="en-US">
                          <a:effectLst/>
                        </a:rPr>
                        <a:t>DOM</a:t>
                      </a:r>
                    </a:p>
                  </a:txBody>
                  <a:tcPr anchor="ctr">
                    <a:lnL>
                      <a:noFill/>
                    </a:lnL>
                    <a:lnR>
                      <a:noFill/>
                    </a:lnR>
                    <a:lnT>
                      <a:noFill/>
                    </a:lnT>
                    <a:lnB>
                      <a:noFill/>
                    </a:lnB>
                  </a:tcPr>
                </a:tc>
              </a:tr>
              <a:tr h="1196788">
                <a:tc>
                  <a:txBody>
                    <a:bodyPr/>
                    <a:lstStyle/>
                    <a:p>
                      <a:r>
                        <a:rPr lang="en-US">
                          <a:hlinkClick r:id="rId2"/>
                        </a:rPr>
                        <a:t>oncopy</a:t>
                      </a:r>
                      <a:endParaRPr lang="en-US"/>
                    </a:p>
                  </a:txBody>
                  <a:tcPr anchor="ctr">
                    <a:lnL>
                      <a:noFill/>
                    </a:lnL>
                    <a:lnR>
                      <a:noFill/>
                    </a:lnR>
                    <a:lnT>
                      <a:noFill/>
                    </a:lnT>
                    <a:lnB>
                      <a:noFill/>
                    </a:lnB>
                  </a:tcPr>
                </a:tc>
                <a:tc>
                  <a:txBody>
                    <a:bodyPr/>
                    <a:lstStyle/>
                    <a:p>
                      <a:r>
                        <a:rPr lang="en-US"/>
                        <a:t>The event occurs when the user copies the content of an element</a:t>
                      </a:r>
                    </a:p>
                  </a:txBody>
                  <a:tcPr anchor="ctr">
                    <a:lnL>
                      <a:noFill/>
                    </a:lnL>
                    <a:lnR>
                      <a:noFill/>
                    </a:lnR>
                    <a:lnT>
                      <a:noFill/>
                    </a:lnT>
                    <a:lnB>
                      <a:noFill/>
                    </a:lnB>
                  </a:tcPr>
                </a:tc>
                <a:tc>
                  <a:txBody>
                    <a:bodyPr/>
                    <a:lstStyle/>
                    <a:p>
                      <a:r>
                        <a:rPr lang="en-US"/>
                        <a:t> </a:t>
                      </a:r>
                    </a:p>
                  </a:txBody>
                  <a:tcPr anchor="ctr">
                    <a:lnL>
                      <a:noFill/>
                    </a:lnL>
                    <a:lnR>
                      <a:noFill/>
                    </a:lnR>
                    <a:lnT>
                      <a:noFill/>
                    </a:lnT>
                    <a:lnB>
                      <a:noFill/>
                    </a:lnB>
                  </a:tcPr>
                </a:tc>
              </a:tr>
              <a:tr h="1196788">
                <a:tc>
                  <a:txBody>
                    <a:bodyPr/>
                    <a:lstStyle/>
                    <a:p>
                      <a:r>
                        <a:rPr lang="en-US">
                          <a:hlinkClick r:id="rId3"/>
                        </a:rPr>
                        <a:t>oncut</a:t>
                      </a:r>
                      <a:endParaRPr lang="en-US"/>
                    </a:p>
                  </a:txBody>
                  <a:tcPr anchor="ctr">
                    <a:lnL>
                      <a:noFill/>
                    </a:lnL>
                    <a:lnR>
                      <a:noFill/>
                    </a:lnR>
                    <a:lnT>
                      <a:noFill/>
                    </a:lnT>
                    <a:lnB>
                      <a:noFill/>
                    </a:lnB>
                  </a:tcPr>
                </a:tc>
                <a:tc>
                  <a:txBody>
                    <a:bodyPr/>
                    <a:lstStyle/>
                    <a:p>
                      <a:r>
                        <a:rPr lang="en-US" dirty="0"/>
                        <a:t>The event occurs when the user cuts the content of an element</a:t>
                      </a:r>
                    </a:p>
                  </a:txBody>
                  <a:tcPr anchor="ctr">
                    <a:lnL>
                      <a:noFill/>
                    </a:lnL>
                    <a:lnR>
                      <a:noFill/>
                    </a:lnR>
                    <a:lnT>
                      <a:noFill/>
                    </a:lnT>
                    <a:lnB>
                      <a:noFill/>
                    </a:lnB>
                  </a:tcPr>
                </a:tc>
                <a:tc>
                  <a:txBody>
                    <a:bodyPr/>
                    <a:lstStyle/>
                    <a:p>
                      <a:r>
                        <a:rPr lang="en-US"/>
                        <a:t> </a:t>
                      </a:r>
                    </a:p>
                  </a:txBody>
                  <a:tcPr anchor="ctr">
                    <a:lnL>
                      <a:noFill/>
                    </a:lnL>
                    <a:lnR>
                      <a:noFill/>
                    </a:lnR>
                    <a:lnT>
                      <a:noFill/>
                    </a:lnT>
                    <a:lnB>
                      <a:noFill/>
                    </a:lnB>
                  </a:tcPr>
                </a:tc>
              </a:tr>
              <a:tr h="1196788">
                <a:tc>
                  <a:txBody>
                    <a:bodyPr/>
                    <a:lstStyle/>
                    <a:p>
                      <a:r>
                        <a:rPr lang="en-US">
                          <a:hlinkClick r:id="rId4"/>
                        </a:rPr>
                        <a:t>onpaste</a:t>
                      </a:r>
                      <a:endParaRPr lang="en-US"/>
                    </a:p>
                  </a:txBody>
                  <a:tcPr anchor="ctr">
                    <a:lnL>
                      <a:noFill/>
                    </a:lnL>
                    <a:lnR>
                      <a:noFill/>
                    </a:lnR>
                    <a:lnT>
                      <a:noFill/>
                    </a:lnT>
                    <a:lnB>
                      <a:noFill/>
                    </a:lnB>
                  </a:tcPr>
                </a:tc>
                <a:tc>
                  <a:txBody>
                    <a:bodyPr/>
                    <a:lstStyle/>
                    <a:p>
                      <a:r>
                        <a:rPr lang="en-US"/>
                        <a:t>The event occurs when the user pastes some content in an element</a:t>
                      </a:r>
                    </a:p>
                  </a:txBody>
                  <a:tcPr anchor="ctr">
                    <a:lnL>
                      <a:noFill/>
                    </a:lnL>
                    <a:lnR>
                      <a:noFill/>
                    </a:lnR>
                    <a:lnT>
                      <a:noFill/>
                    </a:lnT>
                    <a:lnB>
                      <a:noFill/>
                    </a:lnB>
                  </a:tcPr>
                </a:tc>
                <a:tc>
                  <a:txBody>
                    <a:bodyPr/>
                    <a:lstStyle/>
                    <a:p>
                      <a:endParaRPr lang="en-US" dirty="0"/>
                    </a:p>
                  </a:txBody>
                  <a:tcPr>
                    <a:lnL>
                      <a:noFill/>
                    </a:lnL>
                    <a:lnT>
                      <a:noFill/>
                    </a:lnT>
                  </a:tcPr>
                </a:tc>
              </a:tr>
            </a:tbl>
          </a:graphicData>
        </a:graphic>
      </p:graphicFrame>
      <p:sp>
        <p:nvSpPr>
          <p:cNvPr id="4" name="Rectangle 1"/>
          <p:cNvSpPr>
            <a:spLocks noChangeArrowheads="1"/>
          </p:cNvSpPr>
          <p:nvPr/>
        </p:nvSpPr>
        <p:spPr bwMode="auto">
          <a:xfrm>
            <a:off x="304800" y="880647"/>
            <a:ext cx="8382000"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charset="0"/>
                <a:cs typeface="Arial" charset="0"/>
              </a:rPr>
              <a:t>Clipboard Events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xmlns="" val="39843227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0"/>
            <a:ext cx="8229600" cy="1143000"/>
          </a:xfrm>
        </p:spPr>
        <p:txBody>
          <a:bodyPr/>
          <a:lstStyle/>
          <a:p>
            <a:r>
              <a:rPr lang="en-US" b="1" dirty="0" smtClean="0"/>
              <a:t>DOM Events </a:t>
            </a:r>
            <a:endParaRPr lang="en-US" b="1" dirty="0"/>
          </a:p>
        </p:txBody>
      </p:sp>
    </p:spTree>
    <p:extLst>
      <p:ext uri="{BB962C8B-B14F-4D97-AF65-F5344CB8AC3E}">
        <p14:creationId xmlns:p14="http://schemas.microsoft.com/office/powerpoint/2010/main" xmlns="" val="34756954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47500" lnSpcReduction="20000"/>
          </a:bodyPr>
          <a:lstStyle/>
          <a:p>
            <a:r>
              <a:rPr lang="en-US" sz="5100" b="1" dirty="0" err="1" smtClean="0"/>
              <a:t>Onclick</a:t>
            </a:r>
            <a:endParaRPr lang="en-US" sz="5100" b="1" dirty="0" smtClean="0"/>
          </a:p>
          <a:p>
            <a:endParaRPr lang="en-US" dirty="0" smtClean="0"/>
          </a:p>
          <a:p>
            <a:pPr>
              <a:buNone/>
            </a:pPr>
            <a:r>
              <a:rPr lang="en-US" sz="4200" dirty="0" smtClean="0"/>
              <a:t>&lt;!</a:t>
            </a:r>
            <a:r>
              <a:rPr lang="en-US" sz="4200" dirty="0"/>
              <a:t>DOCTYPE html&gt;</a:t>
            </a:r>
          </a:p>
          <a:p>
            <a:pPr>
              <a:buNone/>
            </a:pPr>
            <a:r>
              <a:rPr lang="en-US" sz="4200" dirty="0"/>
              <a:t>&lt;html&gt;</a:t>
            </a:r>
          </a:p>
          <a:p>
            <a:pPr>
              <a:buNone/>
            </a:pPr>
            <a:r>
              <a:rPr lang="en-US" sz="4200" dirty="0"/>
              <a:t>&lt;body&gt;</a:t>
            </a:r>
          </a:p>
          <a:p>
            <a:pPr>
              <a:buNone/>
            </a:pPr>
            <a:endParaRPr lang="en-US" sz="4200" dirty="0"/>
          </a:p>
          <a:p>
            <a:pPr>
              <a:buNone/>
            </a:pPr>
            <a:r>
              <a:rPr lang="en-US" sz="4200" dirty="0"/>
              <a:t>&lt;p&gt;Click the button to trigger a function that will output "Hello World" in a p element with id="demo".&lt;/p&gt;</a:t>
            </a:r>
          </a:p>
          <a:p>
            <a:pPr>
              <a:buNone/>
            </a:pPr>
            <a:endParaRPr lang="en-US" sz="4200" dirty="0"/>
          </a:p>
          <a:p>
            <a:pPr>
              <a:buNone/>
            </a:pPr>
            <a:r>
              <a:rPr lang="en-US" sz="4200" dirty="0"/>
              <a:t>&lt;button </a:t>
            </a:r>
            <a:r>
              <a:rPr lang="en-US" sz="4200" b="1" dirty="0" err="1"/>
              <a:t>onclick</a:t>
            </a:r>
            <a:r>
              <a:rPr lang="en-US" sz="4200" dirty="0"/>
              <a:t>="</a:t>
            </a:r>
            <a:r>
              <a:rPr lang="en-US" sz="4200" dirty="0" err="1"/>
              <a:t>myFunction</a:t>
            </a:r>
            <a:r>
              <a:rPr lang="en-US" sz="4200" dirty="0"/>
              <a:t>()"&gt;Click me&lt;/button&gt;</a:t>
            </a:r>
          </a:p>
          <a:p>
            <a:pPr>
              <a:buNone/>
            </a:pPr>
            <a:endParaRPr lang="en-US" sz="4200" dirty="0"/>
          </a:p>
          <a:p>
            <a:pPr>
              <a:buNone/>
            </a:pPr>
            <a:r>
              <a:rPr lang="en-US" sz="4200" dirty="0"/>
              <a:t>&lt;p id="demo"&gt;&lt;/p&gt;</a:t>
            </a:r>
          </a:p>
          <a:p>
            <a:pPr>
              <a:buNone/>
            </a:pPr>
            <a:endParaRPr lang="en-US" sz="4200" dirty="0"/>
          </a:p>
          <a:p>
            <a:pPr>
              <a:buNone/>
            </a:pPr>
            <a:r>
              <a:rPr lang="en-US" sz="4200" dirty="0"/>
              <a:t>&lt;script&gt;</a:t>
            </a:r>
          </a:p>
          <a:p>
            <a:pPr>
              <a:buNone/>
            </a:pPr>
            <a:r>
              <a:rPr lang="en-US" sz="4200" dirty="0"/>
              <a:t>function </a:t>
            </a:r>
            <a:r>
              <a:rPr lang="en-US" sz="4200" dirty="0" err="1"/>
              <a:t>myFunction</a:t>
            </a:r>
            <a:r>
              <a:rPr lang="en-US" sz="4200" dirty="0"/>
              <a:t>() {</a:t>
            </a:r>
          </a:p>
          <a:p>
            <a:pPr>
              <a:buNone/>
            </a:pPr>
            <a:r>
              <a:rPr lang="en-US" sz="4200" dirty="0"/>
              <a:t>    </a:t>
            </a:r>
            <a:r>
              <a:rPr lang="en-US" sz="4200" dirty="0" err="1"/>
              <a:t>document.getElementById</a:t>
            </a:r>
            <a:r>
              <a:rPr lang="en-US" sz="4200" dirty="0"/>
              <a:t>("demo").</a:t>
            </a:r>
            <a:r>
              <a:rPr lang="en-US" sz="4200" dirty="0" err="1"/>
              <a:t>innerHTML</a:t>
            </a:r>
            <a:r>
              <a:rPr lang="en-US" sz="4200" dirty="0"/>
              <a:t> = "Hello World";</a:t>
            </a:r>
          </a:p>
          <a:p>
            <a:pPr>
              <a:buNone/>
            </a:pPr>
            <a:r>
              <a:rPr lang="en-US" sz="4200" dirty="0"/>
              <a:t>}</a:t>
            </a:r>
          </a:p>
          <a:p>
            <a:pPr>
              <a:buNone/>
            </a:pPr>
            <a:r>
              <a:rPr lang="en-US" sz="4200" dirty="0"/>
              <a:t>&lt;/script&gt;</a:t>
            </a:r>
          </a:p>
          <a:p>
            <a:pPr>
              <a:buNone/>
            </a:pPr>
            <a:endParaRPr lang="en-US" sz="4200" dirty="0"/>
          </a:p>
          <a:p>
            <a:pPr>
              <a:buNone/>
            </a:pPr>
            <a:r>
              <a:rPr lang="en-US" sz="4200" dirty="0"/>
              <a:t>&lt;/body&gt;</a:t>
            </a:r>
          </a:p>
          <a:p>
            <a:pPr>
              <a:buNone/>
            </a:pPr>
            <a:r>
              <a:rPr lang="en-US" sz="4200" dirty="0"/>
              <a:t>&lt;/html&gt;</a:t>
            </a:r>
            <a:endParaRPr lang="en-US" sz="4200" dirty="0" smtClean="0"/>
          </a:p>
          <a:p>
            <a:pPr>
              <a:buNone/>
            </a:pPr>
            <a:endParaRPr lang="en-US" sz="4200" dirty="0"/>
          </a:p>
        </p:txBody>
      </p:sp>
    </p:spTree>
    <p:extLst>
      <p:ext uri="{BB962C8B-B14F-4D97-AF65-F5344CB8AC3E}">
        <p14:creationId xmlns:p14="http://schemas.microsoft.com/office/powerpoint/2010/main" xmlns="" val="39843227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r>
              <a:rPr lang="en-US" sz="2000" dirty="0"/>
              <a:t>&lt;!DOCTYPE html&gt;</a:t>
            </a:r>
          </a:p>
          <a:p>
            <a:r>
              <a:rPr lang="en-US" sz="2000" dirty="0"/>
              <a:t>&lt;html&gt;</a:t>
            </a:r>
          </a:p>
          <a:p>
            <a:r>
              <a:rPr lang="en-US" sz="2000" dirty="0"/>
              <a:t>&lt;body&gt;</a:t>
            </a:r>
          </a:p>
          <a:p>
            <a:endParaRPr lang="en-US" sz="2000" dirty="0"/>
          </a:p>
          <a:p>
            <a:r>
              <a:rPr lang="en-US" sz="2000" dirty="0"/>
              <a:t>&lt;</a:t>
            </a:r>
            <a:r>
              <a:rPr lang="en-US" sz="2000" b="1" dirty="0"/>
              <a:t>p&gt;This example demonstrates how to assign an "</a:t>
            </a:r>
            <a:r>
              <a:rPr lang="en-US" sz="2000" b="1" dirty="0" err="1"/>
              <a:t>onclick</a:t>
            </a:r>
            <a:r>
              <a:rPr lang="en-US" sz="2000" b="1" dirty="0"/>
              <a:t>" event to a p element.</a:t>
            </a:r>
            <a:r>
              <a:rPr lang="en-US" sz="2000" dirty="0"/>
              <a:t>&lt;/p&gt;</a:t>
            </a:r>
          </a:p>
          <a:p>
            <a:endParaRPr lang="en-US" sz="2000" dirty="0"/>
          </a:p>
          <a:p>
            <a:r>
              <a:rPr lang="en-US" sz="2000" dirty="0"/>
              <a:t>&lt;p id="demo" </a:t>
            </a:r>
            <a:r>
              <a:rPr lang="en-US" sz="2000" b="1" dirty="0" err="1"/>
              <a:t>onclick</a:t>
            </a:r>
            <a:r>
              <a:rPr lang="en-US" sz="2000" dirty="0"/>
              <a:t>="</a:t>
            </a:r>
            <a:r>
              <a:rPr lang="en-US" sz="2000" dirty="0" err="1"/>
              <a:t>myFunction</a:t>
            </a:r>
            <a:r>
              <a:rPr lang="en-US" sz="2000" dirty="0"/>
              <a:t>()"&gt;Click me.&lt;/p&gt;</a:t>
            </a:r>
          </a:p>
          <a:p>
            <a:endParaRPr lang="en-US" sz="2000" dirty="0"/>
          </a:p>
          <a:p>
            <a:r>
              <a:rPr lang="en-US" sz="2000" dirty="0"/>
              <a:t>&lt;script&gt;</a:t>
            </a:r>
          </a:p>
          <a:p>
            <a:r>
              <a:rPr lang="en-US" sz="2000" dirty="0"/>
              <a:t>function </a:t>
            </a:r>
            <a:r>
              <a:rPr lang="en-US" sz="2000" dirty="0" err="1"/>
              <a:t>myFunction</a:t>
            </a:r>
            <a:r>
              <a:rPr lang="en-US" sz="2000" dirty="0"/>
              <a:t>() {</a:t>
            </a:r>
          </a:p>
          <a:p>
            <a:r>
              <a:rPr lang="en-US" sz="2000" dirty="0"/>
              <a:t>    </a:t>
            </a:r>
            <a:r>
              <a:rPr lang="en-US" sz="2000" dirty="0" err="1"/>
              <a:t>document.getElementById</a:t>
            </a:r>
            <a:r>
              <a:rPr lang="en-US" sz="2000" dirty="0"/>
              <a:t>("demo").</a:t>
            </a:r>
            <a:r>
              <a:rPr lang="en-US" sz="2000" dirty="0" err="1"/>
              <a:t>innerHTML</a:t>
            </a:r>
            <a:r>
              <a:rPr lang="en-US" sz="2000" dirty="0"/>
              <a:t> = "YOU CLICKED ME!";</a:t>
            </a:r>
          </a:p>
          <a:p>
            <a:r>
              <a:rPr lang="en-US" sz="2000" dirty="0"/>
              <a:t>}</a:t>
            </a:r>
          </a:p>
          <a:p>
            <a:r>
              <a:rPr lang="en-US" sz="2000" dirty="0"/>
              <a:t>&lt;/script&gt;</a:t>
            </a:r>
          </a:p>
          <a:p>
            <a:endParaRPr lang="en-US" sz="2000" dirty="0"/>
          </a:p>
          <a:p>
            <a:r>
              <a:rPr lang="en-US" sz="2000" dirty="0"/>
              <a:t>&lt;/body&gt;</a:t>
            </a:r>
          </a:p>
          <a:p>
            <a:r>
              <a:rPr lang="en-US" sz="2000" dirty="0"/>
              <a:t>&lt;/html&gt;</a:t>
            </a:r>
          </a:p>
          <a:p>
            <a:endParaRPr lang="en-US" sz="2000" dirty="0"/>
          </a:p>
        </p:txBody>
      </p:sp>
    </p:spTree>
    <p:extLst>
      <p:ext uri="{BB962C8B-B14F-4D97-AF65-F5344CB8AC3E}">
        <p14:creationId xmlns:p14="http://schemas.microsoft.com/office/powerpoint/2010/main" xmlns="" val="39843227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62500" lnSpcReduction="20000"/>
          </a:bodyPr>
          <a:lstStyle/>
          <a:p>
            <a:pPr marL="0" indent="0">
              <a:buNone/>
            </a:pPr>
            <a:r>
              <a:rPr lang="en-US" dirty="0"/>
              <a:t>&lt;!DOCTYPE html&gt;</a:t>
            </a:r>
          </a:p>
          <a:p>
            <a:pPr marL="0" indent="0">
              <a:buNone/>
            </a:pPr>
            <a:r>
              <a:rPr lang="en-US" dirty="0"/>
              <a:t>&lt;html&gt;</a:t>
            </a:r>
          </a:p>
          <a:p>
            <a:pPr marL="0" indent="0">
              <a:buNone/>
            </a:pPr>
            <a:r>
              <a:rPr lang="en-US" dirty="0"/>
              <a:t>&lt;body&gt;</a:t>
            </a:r>
          </a:p>
          <a:p>
            <a:pPr marL="0" indent="0">
              <a:buNone/>
            </a:pPr>
            <a:endParaRPr lang="en-US" dirty="0"/>
          </a:p>
          <a:p>
            <a:pPr marL="0" indent="0">
              <a:buNone/>
            </a:pPr>
            <a:r>
              <a:rPr lang="en-US" dirty="0"/>
              <a:t>&lt;</a:t>
            </a:r>
            <a:r>
              <a:rPr lang="en-US" b="1" dirty="0"/>
              <a:t>p&gt;This example uses the HTML DOM to assign an "</a:t>
            </a:r>
            <a:r>
              <a:rPr lang="en-US" b="1" dirty="0" err="1"/>
              <a:t>onclick</a:t>
            </a:r>
            <a:r>
              <a:rPr lang="en-US" b="1" dirty="0"/>
              <a:t>" event to a p element.</a:t>
            </a:r>
            <a:r>
              <a:rPr lang="en-US" dirty="0"/>
              <a:t>&lt;/p&gt;</a:t>
            </a:r>
          </a:p>
          <a:p>
            <a:pPr marL="0" indent="0">
              <a:buNone/>
            </a:pPr>
            <a:endParaRPr lang="en-US" dirty="0"/>
          </a:p>
          <a:p>
            <a:pPr marL="0" indent="0">
              <a:buNone/>
            </a:pPr>
            <a:r>
              <a:rPr lang="en-US" dirty="0"/>
              <a:t>&lt;p id="demo"&gt;Click me.&lt;/p&gt;</a:t>
            </a:r>
          </a:p>
          <a:p>
            <a:pPr marL="0" indent="0">
              <a:buNone/>
            </a:pPr>
            <a:endParaRPr lang="en-US" dirty="0"/>
          </a:p>
          <a:p>
            <a:pPr marL="0" indent="0">
              <a:buNone/>
            </a:pPr>
            <a:r>
              <a:rPr lang="en-US" dirty="0"/>
              <a:t>&lt;script&gt;</a:t>
            </a:r>
          </a:p>
          <a:p>
            <a:pPr marL="0" indent="0">
              <a:buNone/>
            </a:pPr>
            <a:r>
              <a:rPr lang="en-US" dirty="0" err="1"/>
              <a:t>document.getElementById</a:t>
            </a:r>
            <a:r>
              <a:rPr lang="en-US" dirty="0"/>
              <a:t>("demo").</a:t>
            </a:r>
            <a:r>
              <a:rPr lang="en-US" dirty="0" err="1"/>
              <a:t>onclick</a:t>
            </a:r>
            <a:r>
              <a:rPr lang="en-US" dirty="0"/>
              <a:t> = function() {</a:t>
            </a:r>
            <a:r>
              <a:rPr lang="en-US" dirty="0" err="1"/>
              <a:t>myFunction</a:t>
            </a:r>
            <a:r>
              <a:rPr lang="en-US" dirty="0"/>
              <a:t>()};</a:t>
            </a:r>
          </a:p>
          <a:p>
            <a:pPr marL="0" indent="0">
              <a:buNone/>
            </a:pPr>
            <a:endParaRPr lang="en-US" dirty="0"/>
          </a:p>
          <a:p>
            <a:pPr marL="0" indent="0">
              <a:buNone/>
            </a:pPr>
            <a:r>
              <a:rPr lang="en-US" dirty="0"/>
              <a:t>function </a:t>
            </a:r>
            <a:r>
              <a:rPr lang="en-US" dirty="0" err="1"/>
              <a:t>myFunction</a:t>
            </a:r>
            <a:r>
              <a:rPr lang="en-US" dirty="0"/>
              <a:t>() {</a:t>
            </a:r>
          </a:p>
          <a:p>
            <a:pPr marL="0" indent="0">
              <a:buNone/>
            </a:pPr>
            <a:r>
              <a:rPr lang="en-US" dirty="0"/>
              <a:t>    </a:t>
            </a:r>
            <a:r>
              <a:rPr lang="en-US" dirty="0" err="1"/>
              <a:t>document.getElementById</a:t>
            </a:r>
            <a:r>
              <a:rPr lang="en-US" dirty="0"/>
              <a:t>("demo").</a:t>
            </a:r>
            <a:r>
              <a:rPr lang="en-US" dirty="0" err="1"/>
              <a:t>innerHTML</a:t>
            </a:r>
            <a:r>
              <a:rPr lang="en-US" dirty="0"/>
              <a:t> = "YOU CLICKED ME!";</a:t>
            </a:r>
          </a:p>
          <a:p>
            <a:pPr marL="0" indent="0">
              <a:buNone/>
            </a:pPr>
            <a:r>
              <a:rPr lang="en-US" dirty="0"/>
              <a:t>}</a:t>
            </a:r>
          </a:p>
          <a:p>
            <a:pPr marL="0" indent="0">
              <a:buNone/>
            </a:pPr>
            <a:r>
              <a:rPr lang="en-US" dirty="0"/>
              <a:t>&lt;/script&gt;</a:t>
            </a:r>
          </a:p>
          <a:p>
            <a:pPr marL="0" indent="0">
              <a:buNone/>
            </a:pPr>
            <a:endParaRPr lang="en-US" dirty="0"/>
          </a:p>
          <a:p>
            <a:pPr marL="0" indent="0">
              <a:buNone/>
            </a:pPr>
            <a:r>
              <a:rPr lang="en-US" dirty="0"/>
              <a:t>&lt;/body&gt;</a:t>
            </a:r>
          </a:p>
          <a:p>
            <a:pPr marL="0" indent="0">
              <a:buNone/>
            </a:pPr>
            <a:r>
              <a:rPr lang="en-US" dirty="0"/>
              <a:t>&lt;/html&gt;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xmlns="" val="39843227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lgn="just">
              <a:buNone/>
            </a:pPr>
            <a:r>
              <a:rPr lang="en-US" b="1" dirty="0" err="1"/>
              <a:t>onmouseenter</a:t>
            </a:r>
            <a:r>
              <a:rPr lang="en-US" b="1" dirty="0"/>
              <a:t> Event</a:t>
            </a:r>
          </a:p>
          <a:p>
            <a:pPr algn="just"/>
            <a:endParaRPr lang="en-US" sz="2600" b="1" dirty="0" smtClean="0"/>
          </a:p>
          <a:p>
            <a:pPr algn="just"/>
            <a:r>
              <a:rPr lang="en-US" sz="2600" b="1" dirty="0" smtClean="0"/>
              <a:t>Definition </a:t>
            </a:r>
            <a:r>
              <a:rPr lang="en-US" sz="2600" b="1" dirty="0"/>
              <a:t>and Usage</a:t>
            </a:r>
          </a:p>
          <a:p>
            <a:pPr algn="just"/>
            <a:r>
              <a:rPr lang="en-US" sz="2600" i="1" dirty="0"/>
              <a:t>The </a:t>
            </a:r>
            <a:r>
              <a:rPr lang="en-US" sz="2600" i="1" dirty="0" err="1"/>
              <a:t>onmouseenter</a:t>
            </a:r>
            <a:r>
              <a:rPr lang="en-US" sz="2600" i="1" dirty="0"/>
              <a:t> event occurs when the mouse pointer is moved onto an element.</a:t>
            </a:r>
          </a:p>
          <a:p>
            <a:pPr algn="just"/>
            <a:endParaRPr lang="en-US" sz="2600" b="1" dirty="0" smtClean="0"/>
          </a:p>
          <a:p>
            <a:pPr algn="just"/>
            <a:r>
              <a:rPr lang="en-US" sz="2600" b="1" dirty="0" smtClean="0"/>
              <a:t>Tip</a:t>
            </a:r>
            <a:r>
              <a:rPr lang="en-US" sz="2600" b="1" dirty="0"/>
              <a:t>:</a:t>
            </a:r>
            <a:r>
              <a:rPr lang="en-US" sz="2600" dirty="0"/>
              <a:t> This event is often used together with the </a:t>
            </a:r>
            <a:r>
              <a:rPr lang="en-US" sz="2600" dirty="0" err="1">
                <a:hlinkClick r:id="rId2"/>
              </a:rPr>
              <a:t>onmouseleave</a:t>
            </a:r>
            <a:r>
              <a:rPr lang="en-US" sz="2600" dirty="0"/>
              <a:t> event, which occurs when the mouse pointer is moved out of an element.</a:t>
            </a:r>
          </a:p>
          <a:p>
            <a:pPr algn="just"/>
            <a:endParaRPr lang="en-US" sz="2600" b="1" dirty="0" smtClean="0"/>
          </a:p>
          <a:p>
            <a:pPr algn="just"/>
            <a:r>
              <a:rPr lang="en-US" sz="2600" b="1" dirty="0" smtClean="0"/>
              <a:t>Tip</a:t>
            </a:r>
            <a:r>
              <a:rPr lang="en-US" sz="2600" b="1" dirty="0"/>
              <a:t>:</a:t>
            </a:r>
            <a:r>
              <a:rPr lang="en-US" sz="2600" dirty="0"/>
              <a:t> The </a:t>
            </a:r>
            <a:r>
              <a:rPr lang="en-US" sz="2600" dirty="0" err="1"/>
              <a:t>onmouseenter</a:t>
            </a:r>
            <a:r>
              <a:rPr lang="en-US" sz="2600" dirty="0"/>
              <a:t> event is similar to the </a:t>
            </a:r>
            <a:r>
              <a:rPr lang="en-US" sz="2600" dirty="0" err="1">
                <a:hlinkClick r:id="rId3"/>
              </a:rPr>
              <a:t>onmouseover</a:t>
            </a:r>
            <a:r>
              <a:rPr lang="en-US" sz="2600" dirty="0"/>
              <a:t> event. The only difference is that the </a:t>
            </a:r>
            <a:r>
              <a:rPr lang="en-US" sz="2600" dirty="0" err="1"/>
              <a:t>onmouseenter</a:t>
            </a:r>
            <a:r>
              <a:rPr lang="en-US" sz="2600" dirty="0"/>
              <a:t> event does not bubble (does not propagate up the document hierarchy).</a:t>
            </a:r>
          </a:p>
          <a:p>
            <a:pPr algn="just"/>
            <a:endParaRPr lang="en-US" sz="2600" dirty="0"/>
          </a:p>
        </p:txBody>
      </p:sp>
    </p:spTree>
    <p:extLst>
      <p:ext uri="{BB962C8B-B14F-4D97-AF65-F5344CB8AC3E}">
        <p14:creationId xmlns:p14="http://schemas.microsoft.com/office/powerpoint/2010/main" xmlns="" val="39843227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55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demonstrates how to assign an "</a:t>
            </a:r>
            <a:r>
              <a:rPr lang="en-US" b="1" dirty="0" err="1"/>
              <a:t>onmouseenter</a:t>
            </a:r>
            <a:r>
              <a:rPr lang="en-US" b="1" dirty="0"/>
              <a:t>" and "</a:t>
            </a:r>
            <a:r>
              <a:rPr lang="en-US" b="1" dirty="0" err="1"/>
              <a:t>onmouseleave</a:t>
            </a:r>
            <a:r>
              <a:rPr lang="en-US" b="1" dirty="0"/>
              <a:t>" event to a h1 element</a:t>
            </a:r>
            <a:r>
              <a:rPr lang="en-US" dirty="0"/>
              <a:t>.&lt;/p&gt;</a:t>
            </a:r>
          </a:p>
          <a:p>
            <a:pPr>
              <a:buNone/>
            </a:pPr>
            <a:endParaRPr lang="en-US" dirty="0"/>
          </a:p>
          <a:p>
            <a:pPr>
              <a:buNone/>
            </a:pPr>
            <a:r>
              <a:rPr lang="en-US" dirty="0"/>
              <a:t>&lt;h1 id="demo" </a:t>
            </a:r>
            <a:r>
              <a:rPr lang="en-US" dirty="0" err="1"/>
              <a:t>onmouseenter</a:t>
            </a:r>
            <a:r>
              <a:rPr lang="en-US" dirty="0"/>
              <a:t>="</a:t>
            </a:r>
            <a:r>
              <a:rPr lang="en-US" dirty="0" err="1"/>
              <a:t>mouseEnter</a:t>
            </a:r>
            <a:r>
              <a:rPr lang="en-US" dirty="0"/>
              <a:t>()" </a:t>
            </a:r>
            <a:r>
              <a:rPr lang="en-US" dirty="0" err="1"/>
              <a:t>onmouseleave</a:t>
            </a:r>
            <a:r>
              <a:rPr lang="en-US" dirty="0"/>
              <a:t>="</a:t>
            </a:r>
            <a:r>
              <a:rPr lang="en-US" dirty="0" err="1"/>
              <a:t>mouseLeave</a:t>
            </a:r>
            <a:r>
              <a:rPr lang="en-US" dirty="0"/>
              <a:t>()"&gt;Mouse over me&lt;/h1&gt;</a:t>
            </a:r>
          </a:p>
          <a:p>
            <a:pPr>
              <a:buNone/>
            </a:pPr>
            <a:endParaRPr lang="en-US" dirty="0"/>
          </a:p>
          <a:p>
            <a:pPr>
              <a:buNone/>
            </a:pPr>
            <a:r>
              <a:rPr lang="en-US" dirty="0"/>
              <a:t>&lt;script&gt;</a:t>
            </a:r>
          </a:p>
          <a:p>
            <a:pPr>
              <a:buNone/>
            </a:pPr>
            <a:r>
              <a:rPr lang="en-US" dirty="0"/>
              <a:t>function </a:t>
            </a:r>
            <a:r>
              <a:rPr lang="en-US" dirty="0" err="1"/>
              <a:t>mouseEnter</a:t>
            </a:r>
            <a:r>
              <a:rPr lang="en-US" dirty="0"/>
              <a:t>() {</a:t>
            </a:r>
          </a:p>
          <a:p>
            <a:pPr>
              <a:buNone/>
            </a:pPr>
            <a:r>
              <a:rPr lang="en-US" dirty="0"/>
              <a:t>    </a:t>
            </a:r>
            <a:r>
              <a:rPr lang="en-US" dirty="0" err="1"/>
              <a:t>document.getElementById</a:t>
            </a:r>
            <a:r>
              <a:rPr lang="en-US" dirty="0"/>
              <a:t>("demo").</a:t>
            </a:r>
            <a:r>
              <a:rPr lang="en-US" dirty="0" err="1"/>
              <a:t>style.color</a:t>
            </a:r>
            <a:r>
              <a:rPr lang="en-US" dirty="0"/>
              <a:t> = "red";</a:t>
            </a:r>
          </a:p>
          <a:p>
            <a:pPr>
              <a:buNone/>
            </a:pPr>
            <a:r>
              <a:rPr lang="en-US" dirty="0"/>
              <a:t>}</a:t>
            </a:r>
          </a:p>
          <a:p>
            <a:pPr>
              <a:buNone/>
            </a:pPr>
            <a:endParaRPr lang="en-US" dirty="0"/>
          </a:p>
          <a:p>
            <a:pPr>
              <a:buNone/>
            </a:pPr>
            <a:r>
              <a:rPr lang="en-US" dirty="0"/>
              <a:t>function </a:t>
            </a:r>
            <a:r>
              <a:rPr lang="en-US" dirty="0" err="1"/>
              <a:t>mouseLeave</a:t>
            </a:r>
            <a:r>
              <a:rPr lang="en-US" dirty="0"/>
              <a:t>() {</a:t>
            </a:r>
          </a:p>
          <a:p>
            <a:pPr>
              <a:buNone/>
            </a:pPr>
            <a:r>
              <a:rPr lang="en-US" dirty="0"/>
              <a:t>    </a:t>
            </a:r>
            <a:r>
              <a:rPr lang="en-US" dirty="0" err="1"/>
              <a:t>document.getElementById</a:t>
            </a:r>
            <a:r>
              <a:rPr lang="en-US" dirty="0"/>
              <a:t>("demo").</a:t>
            </a:r>
            <a:r>
              <a:rPr lang="en-US" dirty="0" err="1"/>
              <a:t>style.color</a:t>
            </a:r>
            <a:r>
              <a:rPr lang="en-US" dirty="0"/>
              <a:t> = "black";</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39843227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Autofit/>
          </a:bodyPr>
          <a:lstStyle/>
          <a:p>
            <a:pPr marL="0" indent="0">
              <a:buNone/>
            </a:pPr>
            <a:r>
              <a:rPr lang="en-US" sz="1600" dirty="0"/>
              <a:t>&lt;!DOCTYPE html&gt;</a:t>
            </a:r>
          </a:p>
          <a:p>
            <a:pPr marL="0" indent="0">
              <a:buNone/>
            </a:pPr>
            <a:r>
              <a:rPr lang="en-US" sz="1600" dirty="0"/>
              <a:t>&lt;html&gt;</a:t>
            </a:r>
          </a:p>
          <a:p>
            <a:pPr marL="0" indent="0">
              <a:buNone/>
            </a:pPr>
            <a:r>
              <a:rPr lang="en-US" sz="1600" dirty="0"/>
              <a:t>&lt;body&gt;</a:t>
            </a:r>
          </a:p>
          <a:p>
            <a:pPr marL="0" indent="0">
              <a:buNone/>
            </a:pPr>
            <a:endParaRPr lang="en-US" sz="1600" dirty="0"/>
          </a:p>
          <a:p>
            <a:pPr marL="0" indent="0">
              <a:buNone/>
            </a:pPr>
            <a:r>
              <a:rPr lang="en-US" sz="1600" dirty="0"/>
              <a:t>&lt;</a:t>
            </a:r>
            <a:r>
              <a:rPr lang="en-US" sz="1600" b="1" dirty="0"/>
              <a:t>p&gt;This example uses the HTML DOM to assign an "</a:t>
            </a:r>
            <a:r>
              <a:rPr lang="en-US" sz="1600" b="1" dirty="0" err="1"/>
              <a:t>onmouseenter</a:t>
            </a:r>
            <a:r>
              <a:rPr lang="en-US" sz="1600" b="1" dirty="0"/>
              <a:t>" and "</a:t>
            </a:r>
            <a:r>
              <a:rPr lang="en-US" sz="1600" b="1" dirty="0" err="1"/>
              <a:t>onmouseleave</a:t>
            </a:r>
            <a:r>
              <a:rPr lang="en-US" sz="1600" b="1" dirty="0"/>
              <a:t>" event to a h1 element.&lt;/</a:t>
            </a:r>
            <a:r>
              <a:rPr lang="en-US" sz="1600" dirty="0"/>
              <a:t>p&gt;</a:t>
            </a:r>
          </a:p>
          <a:p>
            <a:pPr marL="0" indent="0">
              <a:buNone/>
            </a:pPr>
            <a:endParaRPr lang="en-US" sz="1600" dirty="0"/>
          </a:p>
          <a:p>
            <a:pPr marL="0" indent="0">
              <a:buNone/>
            </a:pPr>
            <a:r>
              <a:rPr lang="en-US" sz="1600" dirty="0"/>
              <a:t>&lt;h1 id="demo"&gt;Mouse over me&lt;/h1&gt;</a:t>
            </a:r>
          </a:p>
          <a:p>
            <a:pPr marL="0" indent="0">
              <a:buNone/>
            </a:pPr>
            <a:endParaRPr lang="en-US" sz="1600" dirty="0"/>
          </a:p>
          <a:p>
            <a:pPr marL="0" indent="0">
              <a:buNone/>
            </a:pPr>
            <a:r>
              <a:rPr lang="en-US" sz="1600" dirty="0"/>
              <a:t>&lt;script&gt;</a:t>
            </a:r>
          </a:p>
          <a:p>
            <a:pPr marL="0" indent="0">
              <a:buNone/>
            </a:pPr>
            <a:r>
              <a:rPr lang="en-US" sz="1600" dirty="0" err="1"/>
              <a:t>document.getElementById</a:t>
            </a:r>
            <a:r>
              <a:rPr lang="en-US" sz="1600" dirty="0"/>
              <a:t>("demo").</a:t>
            </a:r>
            <a:r>
              <a:rPr lang="en-US" sz="1600" dirty="0" err="1"/>
              <a:t>onmouseenter</a:t>
            </a:r>
            <a:r>
              <a:rPr lang="en-US" sz="1600" dirty="0"/>
              <a:t> = function() {</a:t>
            </a:r>
            <a:r>
              <a:rPr lang="en-US" sz="1600" dirty="0" err="1"/>
              <a:t>mouseEnter</a:t>
            </a:r>
            <a:r>
              <a:rPr lang="en-US" sz="1600" dirty="0"/>
              <a:t>()};</a:t>
            </a:r>
          </a:p>
          <a:p>
            <a:pPr marL="0" indent="0">
              <a:buNone/>
            </a:pPr>
            <a:r>
              <a:rPr lang="en-US" sz="1600" dirty="0" err="1"/>
              <a:t>document.getElementById</a:t>
            </a:r>
            <a:r>
              <a:rPr lang="en-US" sz="1600" dirty="0"/>
              <a:t>("demo").</a:t>
            </a:r>
            <a:r>
              <a:rPr lang="en-US" sz="1600" dirty="0" err="1"/>
              <a:t>onmouseleave</a:t>
            </a:r>
            <a:r>
              <a:rPr lang="en-US" sz="1600" dirty="0"/>
              <a:t> = function() {</a:t>
            </a:r>
            <a:r>
              <a:rPr lang="en-US" sz="1600" dirty="0" err="1"/>
              <a:t>mouseLeave</a:t>
            </a:r>
            <a:r>
              <a:rPr lang="en-US" sz="1600" dirty="0"/>
              <a:t>()};</a:t>
            </a:r>
          </a:p>
          <a:p>
            <a:pPr marL="0" indent="0">
              <a:buNone/>
            </a:pPr>
            <a:endParaRPr lang="en-US" sz="1600" dirty="0"/>
          </a:p>
          <a:p>
            <a:pPr marL="0" indent="0">
              <a:buNone/>
            </a:pPr>
            <a:r>
              <a:rPr lang="en-US" sz="1600" dirty="0"/>
              <a:t>function </a:t>
            </a:r>
            <a:r>
              <a:rPr lang="en-US" sz="1600" dirty="0" err="1"/>
              <a:t>mouseEnter</a:t>
            </a:r>
            <a:r>
              <a:rPr lang="en-US" sz="1600" dirty="0"/>
              <a:t>() {</a:t>
            </a:r>
          </a:p>
          <a:p>
            <a:pPr marL="0" indent="0">
              <a:buNone/>
            </a:pPr>
            <a:r>
              <a:rPr lang="en-US" sz="1600" dirty="0"/>
              <a:t>    </a:t>
            </a:r>
            <a:r>
              <a:rPr lang="en-US" sz="1600" dirty="0" err="1"/>
              <a:t>document.getElementById</a:t>
            </a:r>
            <a:r>
              <a:rPr lang="en-US" sz="1600" dirty="0"/>
              <a:t>("demo").</a:t>
            </a:r>
            <a:r>
              <a:rPr lang="en-US" sz="1600" dirty="0" err="1"/>
              <a:t>style.color</a:t>
            </a:r>
            <a:r>
              <a:rPr lang="en-US" sz="1600" dirty="0"/>
              <a:t> = "red";</a:t>
            </a:r>
          </a:p>
          <a:p>
            <a:pPr marL="0" indent="0">
              <a:buNone/>
            </a:pPr>
            <a:r>
              <a:rPr lang="en-US" sz="1600" dirty="0"/>
              <a:t>}</a:t>
            </a:r>
          </a:p>
          <a:p>
            <a:pPr marL="0" indent="0">
              <a:buNone/>
            </a:pPr>
            <a:r>
              <a:rPr lang="en-US" sz="1600" dirty="0" smtClean="0"/>
              <a:t>function </a:t>
            </a:r>
            <a:r>
              <a:rPr lang="en-US" sz="1600" dirty="0" err="1"/>
              <a:t>mouseLeave</a:t>
            </a:r>
            <a:r>
              <a:rPr lang="en-US" sz="1600" dirty="0"/>
              <a:t>() {</a:t>
            </a:r>
          </a:p>
          <a:p>
            <a:pPr marL="0" indent="0">
              <a:buNone/>
            </a:pPr>
            <a:r>
              <a:rPr lang="en-US" sz="1600" dirty="0"/>
              <a:t>    </a:t>
            </a:r>
            <a:r>
              <a:rPr lang="en-US" sz="1600" dirty="0" err="1"/>
              <a:t>document.getElementById</a:t>
            </a:r>
            <a:r>
              <a:rPr lang="en-US" sz="1600" dirty="0"/>
              <a:t>("demo").</a:t>
            </a:r>
            <a:r>
              <a:rPr lang="en-US" sz="1600" dirty="0" err="1"/>
              <a:t>style.color</a:t>
            </a:r>
            <a:r>
              <a:rPr lang="en-US" sz="1600" dirty="0"/>
              <a:t> = "black";</a:t>
            </a:r>
          </a:p>
          <a:p>
            <a:pPr marL="0" indent="0">
              <a:buNone/>
            </a:pPr>
            <a:r>
              <a:rPr lang="en-US" sz="1600" dirty="0"/>
              <a:t>}</a:t>
            </a:r>
          </a:p>
          <a:p>
            <a:pPr marL="0" indent="0">
              <a:buNone/>
            </a:pPr>
            <a:r>
              <a:rPr lang="en-US" sz="1600" dirty="0"/>
              <a:t>&lt;/script&gt;</a:t>
            </a:r>
          </a:p>
          <a:p>
            <a:pPr marL="0" indent="0">
              <a:buNone/>
            </a:pPr>
            <a:r>
              <a:rPr lang="en-US" sz="1600" dirty="0" smtClean="0"/>
              <a:t>&lt;/</a:t>
            </a:r>
            <a:r>
              <a:rPr lang="en-US" sz="1600" dirty="0"/>
              <a:t>body&gt;</a:t>
            </a:r>
          </a:p>
          <a:p>
            <a:pPr marL="0" indent="0">
              <a:buNone/>
            </a:pPr>
            <a:r>
              <a:rPr lang="en-US" sz="1600" dirty="0"/>
              <a:t>&lt;/html&gt;</a:t>
            </a:r>
          </a:p>
        </p:txBody>
      </p:sp>
    </p:spTree>
    <p:extLst>
      <p:ext uri="{BB962C8B-B14F-4D97-AF65-F5344CB8AC3E}">
        <p14:creationId xmlns:p14="http://schemas.microsoft.com/office/powerpoint/2010/main" xmlns="" val="39843227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14600"/>
            <a:ext cx="8229600" cy="1143000"/>
          </a:xfrm>
        </p:spPr>
        <p:txBody>
          <a:bodyPr>
            <a:normAutofit fontScale="90000"/>
          </a:bodyPr>
          <a:lstStyle/>
          <a:p>
            <a:r>
              <a:rPr lang="en-US" b="1" dirty="0" err="1"/>
              <a:t>onkeydown</a:t>
            </a:r>
            <a:r>
              <a:rPr lang="en-US" b="1" dirty="0"/>
              <a:t> Event</a:t>
            </a:r>
            <a:br>
              <a:rPr lang="en-US" b="1" dirty="0"/>
            </a:br>
            <a:endParaRPr lang="en-US" dirty="0"/>
          </a:p>
        </p:txBody>
      </p:sp>
    </p:spTree>
    <p:extLst>
      <p:ext uri="{BB962C8B-B14F-4D97-AF65-F5344CB8AC3E}">
        <p14:creationId xmlns:p14="http://schemas.microsoft.com/office/powerpoint/2010/main" xmlns="" val="5561948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buNone/>
            </a:pPr>
            <a:r>
              <a:rPr lang="en-US" sz="2000" dirty="0"/>
              <a:t>&lt;!DOCTYPE html&gt;</a:t>
            </a:r>
          </a:p>
          <a:p>
            <a:pPr>
              <a:buNone/>
            </a:pPr>
            <a:r>
              <a:rPr lang="en-US" sz="2000" dirty="0"/>
              <a:t>&lt;html&gt;</a:t>
            </a:r>
          </a:p>
          <a:p>
            <a:pPr>
              <a:buNone/>
            </a:pPr>
            <a:r>
              <a:rPr lang="en-US" sz="2000" dirty="0"/>
              <a:t>&lt;body&gt;</a:t>
            </a:r>
          </a:p>
          <a:p>
            <a:pPr>
              <a:buNone/>
            </a:pPr>
            <a:endParaRPr lang="en-US" sz="2000" dirty="0"/>
          </a:p>
          <a:p>
            <a:pPr>
              <a:buNone/>
            </a:pPr>
            <a:r>
              <a:rPr lang="en-US" sz="2000" dirty="0"/>
              <a:t>&lt;</a:t>
            </a:r>
            <a:r>
              <a:rPr lang="en-US" sz="2000" b="1" dirty="0"/>
              <a:t>p&gt;A function is triggered when the user is pressing a key in the input field</a:t>
            </a:r>
            <a:r>
              <a:rPr lang="en-US" sz="2000" dirty="0"/>
              <a:t>.&lt;/p&gt;</a:t>
            </a:r>
          </a:p>
          <a:p>
            <a:pPr>
              <a:buNone/>
            </a:pPr>
            <a:endParaRPr lang="en-US" sz="2000" dirty="0"/>
          </a:p>
          <a:p>
            <a:pPr>
              <a:buNone/>
            </a:pPr>
            <a:r>
              <a:rPr lang="en-US" sz="2000" dirty="0"/>
              <a:t>&lt;input type="text" </a:t>
            </a:r>
            <a:r>
              <a:rPr lang="en-US" sz="2000" dirty="0" err="1"/>
              <a:t>onkeydown</a:t>
            </a:r>
            <a:r>
              <a:rPr lang="en-US" sz="2000" dirty="0"/>
              <a:t>="</a:t>
            </a:r>
            <a:r>
              <a:rPr lang="en-US" sz="2000" dirty="0" err="1"/>
              <a:t>myFunction</a:t>
            </a:r>
            <a:r>
              <a:rPr lang="en-US" sz="2000" dirty="0"/>
              <a:t>()"&gt;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alert("You pressed a key inside the input field");</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39843227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70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demonstrates how to assign an "</a:t>
            </a:r>
            <a:r>
              <a:rPr lang="en-US" b="1" dirty="0" err="1"/>
              <a:t>onkeydown</a:t>
            </a:r>
            <a:r>
              <a:rPr lang="en-US" b="1" dirty="0"/>
              <a:t>" event to an input element</a:t>
            </a:r>
            <a:r>
              <a:rPr lang="en-US" dirty="0"/>
              <a:t>.&lt;/p&gt;</a:t>
            </a:r>
          </a:p>
          <a:p>
            <a:pPr>
              <a:buNone/>
            </a:pPr>
            <a:endParaRPr lang="en-US" dirty="0"/>
          </a:p>
          <a:p>
            <a:pPr>
              <a:buNone/>
            </a:pPr>
            <a:r>
              <a:rPr lang="en-US" dirty="0"/>
              <a:t>&lt;p&gt;Press a key inside the text field to set a red background color.&lt;/p&gt;</a:t>
            </a:r>
          </a:p>
          <a:p>
            <a:pPr>
              <a:buNone/>
            </a:pPr>
            <a:endParaRPr lang="en-US" dirty="0"/>
          </a:p>
          <a:p>
            <a:pPr>
              <a:buNone/>
            </a:pPr>
            <a:r>
              <a:rPr lang="en-US" dirty="0"/>
              <a:t>&lt;input type="text" id="demo" </a:t>
            </a:r>
            <a:r>
              <a:rPr lang="en-US" dirty="0" err="1"/>
              <a:t>onkeydown</a:t>
            </a:r>
            <a:r>
              <a:rPr lang="en-US" dirty="0"/>
              <a:t>="</a:t>
            </a:r>
            <a:r>
              <a:rPr lang="en-US" dirty="0" err="1"/>
              <a:t>myFunction</a:t>
            </a:r>
            <a:r>
              <a:rPr lang="en-US" dirty="0"/>
              <a:t>()"&gt;</a:t>
            </a:r>
          </a:p>
          <a:p>
            <a:pPr>
              <a:buNone/>
            </a:pPr>
            <a:endParaRPr lang="en-US" dirty="0"/>
          </a:p>
          <a:p>
            <a:pPr>
              <a:buNone/>
            </a:pPr>
            <a:r>
              <a:rPr lang="en-US" dirty="0"/>
              <a:t>&lt;script&gt;</a:t>
            </a:r>
          </a:p>
          <a:p>
            <a:pPr>
              <a:buNone/>
            </a:pPr>
            <a:r>
              <a:rPr lang="en-US" dirty="0"/>
              <a:t>function </a:t>
            </a:r>
            <a:r>
              <a:rPr lang="en-US" dirty="0" err="1"/>
              <a:t>myFunction</a:t>
            </a:r>
            <a:r>
              <a:rPr lang="en-US" dirty="0"/>
              <a:t>() {</a:t>
            </a:r>
          </a:p>
          <a:p>
            <a:pPr>
              <a:buNone/>
            </a:pPr>
            <a:r>
              <a:rPr lang="en-US" dirty="0"/>
              <a:t>    </a:t>
            </a:r>
            <a:r>
              <a:rPr lang="en-US" dirty="0" err="1"/>
              <a:t>document.getElementById</a:t>
            </a:r>
            <a:r>
              <a:rPr lang="en-US" dirty="0"/>
              <a:t>("demo").</a:t>
            </a:r>
            <a:r>
              <a:rPr lang="en-US" dirty="0" err="1"/>
              <a:t>style.backgroundColor</a:t>
            </a:r>
            <a:r>
              <a:rPr lang="en-US" dirty="0"/>
              <a:t> = "red";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39843227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onkeydown</a:t>
            </a:r>
            <a:r>
              <a:rPr lang="en-US" b="1" dirty="0"/>
              <a:t>" event to an input element</a:t>
            </a:r>
            <a:r>
              <a:rPr lang="en-US" dirty="0"/>
              <a:t>.&lt;/p&gt;</a:t>
            </a:r>
          </a:p>
          <a:p>
            <a:pPr>
              <a:buNone/>
            </a:pPr>
            <a:endParaRPr lang="en-US" dirty="0"/>
          </a:p>
          <a:p>
            <a:pPr>
              <a:buNone/>
            </a:pPr>
            <a:r>
              <a:rPr lang="en-US" dirty="0"/>
              <a:t>&lt;p&gt;Press a key inside the text field to set a red background color.&lt;/p&gt;</a:t>
            </a:r>
          </a:p>
          <a:p>
            <a:pPr>
              <a:buNone/>
            </a:pPr>
            <a:endParaRPr lang="en-US" dirty="0"/>
          </a:p>
          <a:p>
            <a:pPr>
              <a:buNone/>
            </a:pPr>
            <a:r>
              <a:rPr lang="en-US" dirty="0"/>
              <a:t>&lt;input type="text" id="demo"&gt;</a:t>
            </a:r>
          </a:p>
          <a:p>
            <a:pPr>
              <a:buNone/>
            </a:pPr>
            <a:endParaRPr lang="en-US" dirty="0"/>
          </a:p>
          <a:p>
            <a:pPr>
              <a:buNone/>
            </a:pPr>
            <a:r>
              <a:rPr lang="en-US" dirty="0"/>
              <a:t>&lt;script&gt;</a:t>
            </a:r>
          </a:p>
          <a:p>
            <a:pPr>
              <a:buNone/>
            </a:pPr>
            <a:r>
              <a:rPr lang="en-US" dirty="0" err="1"/>
              <a:t>document.getElementById</a:t>
            </a:r>
            <a:r>
              <a:rPr lang="en-US" dirty="0"/>
              <a:t>("demo").</a:t>
            </a:r>
            <a:r>
              <a:rPr lang="en-US" dirty="0" err="1"/>
              <a:t>onkeydown</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t>
            </a:r>
            <a:r>
              <a:rPr lang="en-US" dirty="0" err="1"/>
              <a:t>document.getElementById</a:t>
            </a:r>
            <a:r>
              <a:rPr lang="en-US" dirty="0"/>
              <a:t>("demo").</a:t>
            </a:r>
            <a:r>
              <a:rPr lang="en-US" dirty="0" err="1"/>
              <a:t>style.backgroundColor</a:t>
            </a:r>
            <a:r>
              <a:rPr lang="en-US" dirty="0"/>
              <a:t> = "red";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39843227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onkeyup</a:t>
            </a:r>
            <a:r>
              <a:rPr lang="en-US" b="1" dirty="0"/>
              <a:t> Event</a:t>
            </a:r>
            <a:br>
              <a:rPr lang="en-US" b="1" dirty="0"/>
            </a:br>
            <a:endParaRPr lang="en-US" dirty="0"/>
          </a:p>
        </p:txBody>
      </p:sp>
      <p:sp>
        <p:nvSpPr>
          <p:cNvPr id="3" name="Content Placeholder 2"/>
          <p:cNvSpPr>
            <a:spLocks noGrp="1"/>
          </p:cNvSpPr>
          <p:nvPr>
            <p:ph idx="1"/>
          </p:nvPr>
        </p:nvSpPr>
        <p:spPr/>
        <p:txBody>
          <a:bodyPr>
            <a:noAutofit/>
          </a:bodyPr>
          <a:lstStyle/>
          <a:p>
            <a:pPr algn="just"/>
            <a:r>
              <a:rPr lang="en-US" sz="2600" dirty="0"/>
              <a:t>The </a:t>
            </a:r>
            <a:r>
              <a:rPr lang="en-US" sz="2600" dirty="0" err="1"/>
              <a:t>onkeyup</a:t>
            </a:r>
            <a:r>
              <a:rPr lang="en-US" sz="2600" dirty="0"/>
              <a:t> event occurs when the user releases a key (on the keyboard)</a:t>
            </a:r>
          </a:p>
        </p:txBody>
      </p:sp>
    </p:spTree>
    <p:extLst>
      <p:ext uri="{BB962C8B-B14F-4D97-AF65-F5344CB8AC3E}">
        <p14:creationId xmlns:p14="http://schemas.microsoft.com/office/powerpoint/2010/main" xmlns="" val="10385948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a:bodyPr>
          <a:lstStyle/>
          <a:p>
            <a:pPr>
              <a:buNone/>
            </a:pPr>
            <a:r>
              <a:rPr lang="en-US" sz="2000" dirty="0"/>
              <a:t>&lt;!DOCTYPE html&gt;</a:t>
            </a:r>
          </a:p>
          <a:p>
            <a:pPr>
              <a:buNone/>
            </a:pPr>
            <a:r>
              <a:rPr lang="en-US" sz="2000" dirty="0"/>
              <a:t>&lt;html&gt;</a:t>
            </a:r>
          </a:p>
          <a:p>
            <a:pPr>
              <a:buNone/>
            </a:pPr>
            <a:r>
              <a:rPr lang="en-US" sz="2000" dirty="0"/>
              <a:t>&lt;body&gt;</a:t>
            </a:r>
          </a:p>
          <a:p>
            <a:pPr>
              <a:buNone/>
            </a:pPr>
            <a:endParaRPr lang="en-US" sz="2000" dirty="0"/>
          </a:p>
          <a:p>
            <a:pPr>
              <a:buNone/>
            </a:pPr>
            <a:r>
              <a:rPr lang="en-US" sz="2000" dirty="0"/>
              <a:t>&lt;</a:t>
            </a:r>
            <a:r>
              <a:rPr lang="en-US" sz="2000" b="1" dirty="0"/>
              <a:t>p&gt;A function is triggered when the user releases a key in the input field. The function transforms the character to upper case</a:t>
            </a:r>
            <a:r>
              <a:rPr lang="en-US" sz="2000" dirty="0"/>
              <a:t>.&lt;/p&gt;</a:t>
            </a:r>
          </a:p>
          <a:p>
            <a:pPr>
              <a:buNone/>
            </a:pPr>
            <a:r>
              <a:rPr lang="en-US" sz="2000" dirty="0"/>
              <a:t>Enter your name: &lt;input type="text" id="</a:t>
            </a:r>
            <a:r>
              <a:rPr lang="en-US" sz="2000" dirty="0" err="1"/>
              <a:t>fname</a:t>
            </a:r>
            <a:r>
              <a:rPr lang="en-US" sz="2000" dirty="0"/>
              <a:t>" </a:t>
            </a:r>
            <a:r>
              <a:rPr lang="en-US" sz="2000" dirty="0" err="1"/>
              <a:t>onkeyup</a:t>
            </a:r>
            <a:r>
              <a:rPr lang="en-US" sz="2000" dirty="0"/>
              <a:t>="</a:t>
            </a:r>
            <a:r>
              <a:rPr lang="en-US" sz="2000" dirty="0" err="1"/>
              <a:t>myFunction</a:t>
            </a:r>
            <a:r>
              <a:rPr lang="en-US" sz="2000" dirty="0"/>
              <a:t>()"&gt;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t>
            </a:r>
            <a:r>
              <a:rPr lang="en-US" sz="2000" dirty="0" err="1"/>
              <a:t>var</a:t>
            </a:r>
            <a:r>
              <a:rPr lang="en-US" sz="2000" dirty="0"/>
              <a:t> x = </a:t>
            </a:r>
            <a:r>
              <a:rPr lang="en-US" sz="2000" dirty="0" err="1"/>
              <a:t>document.getElementById</a:t>
            </a:r>
            <a:r>
              <a:rPr lang="en-US" sz="2000" dirty="0"/>
              <a:t>("</a:t>
            </a:r>
            <a:r>
              <a:rPr lang="en-US" sz="2000" dirty="0" err="1"/>
              <a:t>fname</a:t>
            </a:r>
            <a:r>
              <a:rPr lang="en-US" sz="2000" dirty="0"/>
              <a:t>");</a:t>
            </a:r>
          </a:p>
          <a:p>
            <a:pPr>
              <a:buNone/>
            </a:pPr>
            <a:r>
              <a:rPr lang="en-US" sz="2000" dirty="0"/>
              <a:t>    </a:t>
            </a:r>
            <a:r>
              <a:rPr lang="en-US" sz="2000" dirty="0" err="1"/>
              <a:t>x.value</a:t>
            </a:r>
            <a:r>
              <a:rPr lang="en-US" sz="2000" dirty="0"/>
              <a:t> = </a:t>
            </a:r>
            <a:r>
              <a:rPr lang="en-US" sz="2000" dirty="0" err="1"/>
              <a:t>x.value.toUpperCase</a:t>
            </a:r>
            <a:r>
              <a:rPr lang="en-US" sz="2000" dirty="0"/>
              <a:t>();</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39843227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705600"/>
          </a:xfrm>
        </p:spPr>
        <p:txBody>
          <a:bodyPr>
            <a:normAutofit fontScale="55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sz="3600" b="1" dirty="0"/>
              <a:t>p&gt;This</a:t>
            </a:r>
            <a:r>
              <a:rPr lang="en-US" b="1" dirty="0"/>
              <a:t> example uses the HTML DOM to assign an "</a:t>
            </a:r>
            <a:r>
              <a:rPr lang="en-US" b="1" dirty="0" err="1"/>
              <a:t>onkeyup</a:t>
            </a:r>
            <a:r>
              <a:rPr lang="en-US" b="1" dirty="0"/>
              <a:t>" event to an input element.&lt;/</a:t>
            </a:r>
            <a:r>
              <a:rPr lang="en-US" dirty="0"/>
              <a:t>p&gt;</a:t>
            </a:r>
          </a:p>
          <a:p>
            <a:pPr>
              <a:buNone/>
            </a:pPr>
            <a:endParaRPr lang="en-US" dirty="0"/>
          </a:p>
          <a:p>
            <a:pPr>
              <a:buNone/>
            </a:pPr>
            <a:r>
              <a:rPr lang="en-US" dirty="0"/>
              <a:t>&lt;p&gt;Press a key inside the text field and release it to set the text to uppercase.&lt;/p&gt;</a:t>
            </a:r>
          </a:p>
          <a:p>
            <a:pPr>
              <a:buNone/>
            </a:pPr>
            <a:endParaRPr lang="en-US" dirty="0"/>
          </a:p>
          <a:p>
            <a:pPr>
              <a:buNone/>
            </a:pPr>
            <a:r>
              <a:rPr lang="en-US" dirty="0"/>
              <a:t>Enter your name: &lt;input type="text" id="</a:t>
            </a:r>
            <a:r>
              <a:rPr lang="en-US" dirty="0" err="1"/>
              <a:t>fname</a:t>
            </a:r>
            <a:r>
              <a:rPr lang="en-US" dirty="0"/>
              <a:t>"&gt;</a:t>
            </a:r>
          </a:p>
          <a:p>
            <a:pPr>
              <a:buNone/>
            </a:pPr>
            <a:endParaRPr lang="en-US" dirty="0"/>
          </a:p>
          <a:p>
            <a:pPr>
              <a:buNone/>
            </a:pPr>
            <a:r>
              <a:rPr lang="en-US" dirty="0"/>
              <a:t>&lt;script&gt;</a:t>
            </a:r>
          </a:p>
          <a:p>
            <a:pPr>
              <a:buNone/>
            </a:pPr>
            <a:r>
              <a:rPr lang="en-US" dirty="0" err="1"/>
              <a:t>document.getElementById</a:t>
            </a:r>
            <a:r>
              <a:rPr lang="en-US" dirty="0"/>
              <a:t>("</a:t>
            </a:r>
            <a:r>
              <a:rPr lang="en-US" dirty="0" err="1"/>
              <a:t>fname</a:t>
            </a:r>
            <a:r>
              <a:rPr lang="en-US" dirty="0"/>
              <a:t>").</a:t>
            </a:r>
            <a:r>
              <a:rPr lang="en-US" dirty="0" err="1"/>
              <a:t>onkeyup</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t>
            </a:r>
            <a:r>
              <a:rPr lang="en-US" dirty="0" err="1"/>
              <a:t>var</a:t>
            </a:r>
            <a:r>
              <a:rPr lang="en-US" dirty="0"/>
              <a:t> x = </a:t>
            </a:r>
            <a:r>
              <a:rPr lang="en-US" dirty="0" err="1"/>
              <a:t>document.getElementById</a:t>
            </a:r>
            <a:r>
              <a:rPr lang="en-US" dirty="0"/>
              <a:t>("</a:t>
            </a:r>
            <a:r>
              <a:rPr lang="en-US" dirty="0" err="1"/>
              <a:t>fname</a:t>
            </a:r>
            <a:r>
              <a:rPr lang="en-US" dirty="0"/>
              <a:t>");</a:t>
            </a:r>
          </a:p>
          <a:p>
            <a:pPr>
              <a:buNone/>
            </a:pPr>
            <a:r>
              <a:rPr lang="en-US" dirty="0"/>
              <a:t>    </a:t>
            </a:r>
            <a:r>
              <a:rPr lang="en-US" dirty="0" err="1"/>
              <a:t>x.value</a:t>
            </a:r>
            <a:r>
              <a:rPr lang="en-US" dirty="0"/>
              <a:t> = </a:t>
            </a:r>
            <a:r>
              <a:rPr lang="en-US" dirty="0" err="1"/>
              <a:t>x.value.toUpperCase</a:t>
            </a:r>
            <a:r>
              <a:rPr lang="en-US" dirty="0"/>
              <a:t>();</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15358193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3200"/>
            <a:ext cx="8229600" cy="1143000"/>
          </a:xfrm>
        </p:spPr>
        <p:txBody>
          <a:bodyPr>
            <a:normAutofit fontScale="90000"/>
          </a:bodyPr>
          <a:lstStyle/>
          <a:p>
            <a:r>
              <a:rPr lang="en-US" b="1" dirty="0"/>
              <a:t>Frame/Object Events</a:t>
            </a:r>
            <a:br>
              <a:rPr lang="en-US" b="1" dirty="0"/>
            </a:br>
            <a:endParaRPr lang="en-US" dirty="0"/>
          </a:p>
        </p:txBody>
      </p:sp>
    </p:spTree>
    <p:extLst>
      <p:ext uri="{BB962C8B-B14F-4D97-AF65-F5344CB8AC3E}">
        <p14:creationId xmlns:p14="http://schemas.microsoft.com/office/powerpoint/2010/main" xmlns="" val="12678733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15000"/>
          </a:xfrm>
        </p:spPr>
        <p:txBody>
          <a:bodyPr>
            <a:normAutofit/>
          </a:bodyPr>
          <a:lstStyle/>
          <a:p>
            <a:pPr algn="just">
              <a:buNone/>
            </a:pPr>
            <a:r>
              <a:rPr lang="en-US" b="1" dirty="0" err="1"/>
              <a:t>onerror</a:t>
            </a:r>
            <a:r>
              <a:rPr lang="en-US" b="1" dirty="0"/>
              <a:t> Event</a:t>
            </a:r>
          </a:p>
          <a:p>
            <a:pPr algn="just"/>
            <a:endParaRPr lang="en-US" sz="2600" b="1" dirty="0" smtClean="0"/>
          </a:p>
          <a:p>
            <a:pPr algn="just">
              <a:buNone/>
            </a:pPr>
            <a:r>
              <a:rPr lang="en-US" sz="2600" b="1" dirty="0" smtClean="0"/>
              <a:t>Definition </a:t>
            </a:r>
            <a:r>
              <a:rPr lang="en-US" sz="2600" b="1" dirty="0"/>
              <a:t>and Usage</a:t>
            </a:r>
          </a:p>
          <a:p>
            <a:pPr algn="just"/>
            <a:r>
              <a:rPr lang="en-US" sz="2600" dirty="0"/>
              <a:t>The </a:t>
            </a:r>
            <a:r>
              <a:rPr lang="en-US" sz="2600" dirty="0" err="1"/>
              <a:t>onerror</a:t>
            </a:r>
            <a:r>
              <a:rPr lang="en-US" sz="2600" dirty="0"/>
              <a:t> event is triggered if an error occurs while loading an external file (e.g. a document or an image).</a:t>
            </a:r>
          </a:p>
          <a:p>
            <a:pPr algn="just"/>
            <a:endParaRPr lang="en-US" sz="2600" dirty="0"/>
          </a:p>
        </p:txBody>
      </p:sp>
    </p:spTree>
    <p:extLst>
      <p:ext uri="{BB962C8B-B14F-4D97-AF65-F5344CB8AC3E}">
        <p14:creationId xmlns:p14="http://schemas.microsoft.com/office/powerpoint/2010/main" xmlns="" val="9217704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Autofit/>
          </a:bodyPr>
          <a:lstStyle/>
          <a:p>
            <a:pPr>
              <a:buNone/>
            </a:pPr>
            <a:r>
              <a:rPr lang="en-US" sz="2000" dirty="0"/>
              <a:t>&lt;!DOCTYPE html&gt;</a:t>
            </a:r>
          </a:p>
          <a:p>
            <a:pPr>
              <a:buNone/>
            </a:pPr>
            <a:r>
              <a:rPr lang="en-US" sz="2000" dirty="0"/>
              <a:t>&lt;html&gt;</a:t>
            </a:r>
          </a:p>
          <a:p>
            <a:pPr>
              <a:buNone/>
            </a:pPr>
            <a:r>
              <a:rPr lang="en-US" sz="2000" dirty="0"/>
              <a:t>&lt;body&gt;</a:t>
            </a:r>
          </a:p>
          <a:p>
            <a:pPr>
              <a:buNone/>
            </a:pPr>
            <a:endParaRPr lang="en-US" sz="2000" dirty="0"/>
          </a:p>
          <a:p>
            <a:pPr>
              <a:buNone/>
            </a:pPr>
            <a:r>
              <a:rPr lang="en-US" sz="2000" dirty="0"/>
              <a:t>&lt;</a:t>
            </a:r>
            <a:r>
              <a:rPr lang="en-US" sz="2000" dirty="0" err="1"/>
              <a:t>img</a:t>
            </a:r>
            <a:r>
              <a:rPr lang="en-US" sz="2000" dirty="0"/>
              <a:t> </a:t>
            </a:r>
            <a:r>
              <a:rPr lang="en-US" sz="2000" dirty="0" err="1"/>
              <a:t>src</a:t>
            </a:r>
            <a:r>
              <a:rPr lang="en-US" sz="2000" dirty="0"/>
              <a:t>="image.gif" </a:t>
            </a:r>
            <a:r>
              <a:rPr lang="en-US" sz="2000" dirty="0" err="1"/>
              <a:t>onerror</a:t>
            </a:r>
            <a:r>
              <a:rPr lang="en-US" sz="2000" dirty="0"/>
              <a:t>="</a:t>
            </a:r>
            <a:r>
              <a:rPr lang="en-US" sz="2000" dirty="0" err="1"/>
              <a:t>myFunction</a:t>
            </a:r>
            <a:r>
              <a:rPr lang="en-US" sz="2000" dirty="0"/>
              <a:t>()"&gt;</a:t>
            </a:r>
          </a:p>
          <a:p>
            <a:pPr>
              <a:buNone/>
            </a:pPr>
            <a:endParaRPr lang="en-US" sz="2000" dirty="0"/>
          </a:p>
          <a:p>
            <a:pPr>
              <a:buNone/>
            </a:pPr>
            <a:r>
              <a:rPr lang="en-US" sz="2000" dirty="0"/>
              <a:t>&lt;</a:t>
            </a:r>
            <a:r>
              <a:rPr lang="en-US" sz="2000" b="1" dirty="0"/>
              <a:t>p&gt;A function is triggered if an error occurs when loading the image. The function shows an alert box with a text.</a:t>
            </a:r>
          </a:p>
          <a:p>
            <a:pPr>
              <a:buNone/>
            </a:pPr>
            <a:r>
              <a:rPr lang="en-US" sz="2000" i="1" dirty="0"/>
              <a:t>In this example we refer to an image that does not exist, therefore the </a:t>
            </a:r>
            <a:r>
              <a:rPr lang="en-US" sz="2000" i="1" dirty="0" err="1"/>
              <a:t>onerror</a:t>
            </a:r>
            <a:r>
              <a:rPr lang="en-US" sz="2000" i="1" dirty="0"/>
              <a:t> event occurs.</a:t>
            </a:r>
            <a:r>
              <a:rPr lang="en-US" sz="2000" dirty="0"/>
              <a:t>&lt;/p&gt;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alert('The image could not be loaded.');</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p:txBody>
      </p:sp>
    </p:spTree>
    <p:extLst>
      <p:ext uri="{BB962C8B-B14F-4D97-AF65-F5344CB8AC3E}">
        <p14:creationId xmlns:p14="http://schemas.microsoft.com/office/powerpoint/2010/main" xmlns="" val="40533538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onerror</a:t>
            </a:r>
            <a:r>
              <a:rPr lang="en-US" b="1" dirty="0"/>
              <a:t>" event to an </a:t>
            </a:r>
            <a:r>
              <a:rPr lang="en-US" b="1" dirty="0" err="1"/>
              <a:t>img</a:t>
            </a:r>
            <a:r>
              <a:rPr lang="en-US" b="1" dirty="0"/>
              <a:t> element</a:t>
            </a:r>
            <a:r>
              <a:rPr lang="en-US" dirty="0"/>
              <a:t>.&lt;/p&gt;</a:t>
            </a:r>
          </a:p>
          <a:p>
            <a:pPr>
              <a:buNone/>
            </a:pPr>
            <a:endParaRPr lang="en-US" dirty="0"/>
          </a:p>
          <a:p>
            <a:pPr>
              <a:buNone/>
            </a:pPr>
            <a:r>
              <a:rPr lang="en-US" dirty="0"/>
              <a:t>&lt;</a:t>
            </a:r>
            <a:r>
              <a:rPr lang="en-US" dirty="0" err="1"/>
              <a:t>img</a:t>
            </a:r>
            <a:r>
              <a:rPr lang="en-US" dirty="0"/>
              <a:t> id="</a:t>
            </a:r>
            <a:r>
              <a:rPr lang="en-US" dirty="0" err="1"/>
              <a:t>myImg</a:t>
            </a:r>
            <a:r>
              <a:rPr lang="en-US" dirty="0"/>
              <a:t>" </a:t>
            </a:r>
            <a:r>
              <a:rPr lang="en-US" dirty="0" err="1"/>
              <a:t>src</a:t>
            </a:r>
            <a:r>
              <a:rPr lang="en-US" dirty="0"/>
              <a:t>="image.gif"&gt;</a:t>
            </a:r>
          </a:p>
          <a:p>
            <a:pPr>
              <a:buNone/>
            </a:pPr>
            <a:endParaRPr lang="en-US" dirty="0"/>
          </a:p>
          <a:p>
            <a:pPr>
              <a:buNone/>
            </a:pPr>
            <a:r>
              <a:rPr lang="en-US" dirty="0"/>
              <a:t>&lt;p id="demo"&gt;&lt;/p&gt;</a:t>
            </a:r>
          </a:p>
          <a:p>
            <a:pPr>
              <a:buNone/>
            </a:pPr>
            <a:endParaRPr lang="en-US" dirty="0"/>
          </a:p>
          <a:p>
            <a:pPr>
              <a:buNone/>
            </a:pPr>
            <a:r>
              <a:rPr lang="en-US" dirty="0"/>
              <a:t>&lt;script&gt;</a:t>
            </a:r>
          </a:p>
          <a:p>
            <a:pPr>
              <a:buNone/>
            </a:pPr>
            <a:r>
              <a:rPr lang="en-US" dirty="0" err="1"/>
              <a:t>document.getElementById</a:t>
            </a:r>
            <a:r>
              <a:rPr lang="en-US" dirty="0"/>
              <a:t>("</a:t>
            </a:r>
            <a:r>
              <a:rPr lang="en-US" dirty="0" err="1"/>
              <a:t>myImg</a:t>
            </a:r>
            <a:r>
              <a:rPr lang="en-US" dirty="0"/>
              <a:t>").</a:t>
            </a:r>
            <a:r>
              <a:rPr lang="en-US" dirty="0" err="1"/>
              <a:t>onerror</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t>
            </a:r>
            <a:r>
              <a:rPr lang="en-US" dirty="0" err="1"/>
              <a:t>document.getElementById</a:t>
            </a:r>
            <a:r>
              <a:rPr lang="en-US" dirty="0"/>
              <a:t>("demo").</a:t>
            </a:r>
            <a:r>
              <a:rPr lang="en-US" dirty="0" err="1"/>
              <a:t>innerHTML</a:t>
            </a:r>
            <a:r>
              <a:rPr lang="en-US" dirty="0"/>
              <a:t> = "The image could not be loaded.";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40533538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lnSpcReduction="10000"/>
          </a:bodyPr>
          <a:lstStyle/>
          <a:p>
            <a:pPr algn="just">
              <a:buNone/>
            </a:pPr>
            <a:r>
              <a:rPr lang="en-US" sz="2600" b="1" dirty="0" err="1"/>
              <a:t>onload</a:t>
            </a:r>
            <a:r>
              <a:rPr lang="en-US" sz="2600" b="1" dirty="0"/>
              <a:t> Event</a:t>
            </a:r>
          </a:p>
          <a:p>
            <a:pPr algn="just"/>
            <a:endParaRPr lang="en-US" sz="2600" b="1" dirty="0" smtClean="0"/>
          </a:p>
          <a:p>
            <a:pPr algn="just"/>
            <a:r>
              <a:rPr lang="en-US" sz="2600" b="1" dirty="0" smtClean="0"/>
              <a:t>Definition </a:t>
            </a:r>
            <a:r>
              <a:rPr lang="en-US" sz="2600" b="1" dirty="0"/>
              <a:t>and Usage</a:t>
            </a:r>
          </a:p>
          <a:p>
            <a:pPr algn="just"/>
            <a:r>
              <a:rPr lang="en-US" sz="2600" dirty="0"/>
              <a:t>The </a:t>
            </a:r>
            <a:r>
              <a:rPr lang="en-US" sz="2600" dirty="0" err="1"/>
              <a:t>onload</a:t>
            </a:r>
            <a:r>
              <a:rPr lang="en-US" sz="2600" dirty="0"/>
              <a:t> event occurs when an object has been loaded.</a:t>
            </a:r>
          </a:p>
          <a:p>
            <a:pPr algn="just"/>
            <a:endParaRPr lang="en-US" sz="2600" dirty="0" smtClean="0"/>
          </a:p>
          <a:p>
            <a:pPr algn="just"/>
            <a:r>
              <a:rPr lang="en-US" sz="2600" dirty="0" err="1" smtClean="0"/>
              <a:t>onload</a:t>
            </a:r>
            <a:r>
              <a:rPr lang="en-US" sz="2600" dirty="0" smtClean="0"/>
              <a:t> </a:t>
            </a:r>
            <a:r>
              <a:rPr lang="en-US" sz="2600" dirty="0"/>
              <a:t>is most often used within the &lt;body&gt; element to execute a script once a web page has completely loaded all content (including images, script files, CSS files, etc.).</a:t>
            </a:r>
          </a:p>
          <a:p>
            <a:pPr algn="just"/>
            <a:endParaRPr lang="en-US" sz="2600" dirty="0" smtClean="0"/>
          </a:p>
          <a:p>
            <a:pPr algn="just"/>
            <a:r>
              <a:rPr lang="en-US" sz="2600" dirty="0" smtClean="0"/>
              <a:t>The </a:t>
            </a:r>
            <a:r>
              <a:rPr lang="en-US" sz="2600" dirty="0" err="1"/>
              <a:t>onload</a:t>
            </a:r>
            <a:r>
              <a:rPr lang="en-US" sz="2600" dirty="0"/>
              <a:t> event can be used to check the visitor's browser type and browser version, and load the proper version of the web page based on the information.</a:t>
            </a:r>
          </a:p>
          <a:p>
            <a:pPr algn="just"/>
            <a:endParaRPr lang="en-US" sz="2600" dirty="0" smtClean="0"/>
          </a:p>
          <a:p>
            <a:pPr algn="just"/>
            <a:r>
              <a:rPr lang="en-US" sz="2600" dirty="0" smtClean="0"/>
              <a:t>The </a:t>
            </a:r>
            <a:r>
              <a:rPr lang="en-US" sz="2600" dirty="0" err="1"/>
              <a:t>onload</a:t>
            </a:r>
            <a:r>
              <a:rPr lang="en-US" sz="2600" dirty="0"/>
              <a:t> event can also be used to deal with cookies </a:t>
            </a:r>
          </a:p>
          <a:p>
            <a:pPr algn="just"/>
            <a:endParaRPr lang="en-US" sz="2600" dirty="0"/>
          </a:p>
        </p:txBody>
      </p:sp>
    </p:spTree>
    <p:extLst>
      <p:ext uri="{BB962C8B-B14F-4D97-AF65-F5344CB8AC3E}">
        <p14:creationId xmlns:p14="http://schemas.microsoft.com/office/powerpoint/2010/main" xmlns="" val="40533538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05800" cy="6172200"/>
          </a:xfrm>
        </p:spPr>
        <p:txBody>
          <a:bodyPr>
            <a:normAutofit/>
          </a:bodyPr>
          <a:lstStyle/>
          <a:p>
            <a:pPr>
              <a:buNone/>
            </a:pPr>
            <a:r>
              <a:rPr lang="en-US" sz="2000" dirty="0"/>
              <a:t>&lt;!DOCTYPE html&gt;</a:t>
            </a:r>
          </a:p>
          <a:p>
            <a:pPr>
              <a:buNone/>
            </a:pPr>
            <a:r>
              <a:rPr lang="en-US" sz="2000" dirty="0"/>
              <a:t>&lt;html&gt;</a:t>
            </a:r>
          </a:p>
          <a:p>
            <a:pPr>
              <a:buNone/>
            </a:pPr>
            <a:r>
              <a:rPr lang="en-US" sz="2000" dirty="0"/>
              <a:t>&lt;body </a:t>
            </a:r>
            <a:r>
              <a:rPr lang="en-US" sz="2000" b="1" dirty="0" err="1"/>
              <a:t>onload</a:t>
            </a:r>
            <a:r>
              <a:rPr lang="en-US" sz="2000" dirty="0"/>
              <a:t>="</a:t>
            </a:r>
            <a:r>
              <a:rPr lang="en-US" sz="2000" dirty="0" err="1"/>
              <a:t>myFunction</a:t>
            </a:r>
            <a:r>
              <a:rPr lang="en-US" sz="2000" dirty="0"/>
              <a:t>()"&gt;</a:t>
            </a:r>
          </a:p>
          <a:p>
            <a:pPr>
              <a:buNone/>
            </a:pPr>
            <a:endParaRPr lang="en-US" sz="2000" dirty="0"/>
          </a:p>
          <a:p>
            <a:pPr>
              <a:buNone/>
            </a:pPr>
            <a:r>
              <a:rPr lang="en-US" sz="2000" dirty="0"/>
              <a:t>&lt;h1&gt;Hello World!&lt;/h1&gt;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alert("Page is loaded");</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p:txBody>
      </p:sp>
    </p:spTree>
    <p:extLst>
      <p:ext uri="{BB962C8B-B14F-4D97-AF65-F5344CB8AC3E}">
        <p14:creationId xmlns:p14="http://schemas.microsoft.com/office/powerpoint/2010/main" xmlns="" val="40533538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onload</a:t>
            </a:r>
            <a:r>
              <a:rPr lang="en-US" b="1" dirty="0"/>
              <a:t>" event to an </a:t>
            </a:r>
            <a:r>
              <a:rPr lang="en-US" b="1" dirty="0" err="1"/>
              <a:t>iframe</a:t>
            </a:r>
            <a:r>
              <a:rPr lang="en-US" b="1" dirty="0"/>
              <a:t> element.</a:t>
            </a:r>
            <a:r>
              <a:rPr lang="en-US" dirty="0"/>
              <a:t>&lt;/p&gt;</a:t>
            </a:r>
          </a:p>
          <a:p>
            <a:pPr>
              <a:buNone/>
            </a:pPr>
            <a:endParaRPr lang="en-US" dirty="0"/>
          </a:p>
          <a:p>
            <a:pPr>
              <a:buNone/>
            </a:pPr>
            <a:r>
              <a:rPr lang="en-US" dirty="0"/>
              <a:t>&lt;</a:t>
            </a:r>
            <a:r>
              <a:rPr lang="en-US" dirty="0" err="1"/>
              <a:t>iframe</a:t>
            </a:r>
            <a:r>
              <a:rPr lang="en-US" dirty="0"/>
              <a:t> id="</a:t>
            </a:r>
            <a:r>
              <a:rPr lang="en-US" b="1" dirty="0" err="1"/>
              <a:t>myFrame</a:t>
            </a:r>
            <a:r>
              <a:rPr lang="en-US" dirty="0"/>
              <a:t>" </a:t>
            </a:r>
            <a:r>
              <a:rPr lang="en-US" dirty="0" err="1"/>
              <a:t>src</a:t>
            </a:r>
            <a:r>
              <a:rPr lang="en-US" dirty="0"/>
              <a:t>="/default.asp"&gt;&lt;/</a:t>
            </a:r>
            <a:r>
              <a:rPr lang="en-US" dirty="0" err="1"/>
              <a:t>iframe</a:t>
            </a:r>
            <a:r>
              <a:rPr lang="en-US" dirty="0"/>
              <a:t>&gt;</a:t>
            </a:r>
          </a:p>
          <a:p>
            <a:pPr>
              <a:buNone/>
            </a:pPr>
            <a:endParaRPr lang="en-US" dirty="0"/>
          </a:p>
          <a:p>
            <a:pPr>
              <a:buNone/>
            </a:pPr>
            <a:r>
              <a:rPr lang="en-US" dirty="0"/>
              <a:t>&lt;p id="demo"&gt;&lt;/p&gt;</a:t>
            </a:r>
          </a:p>
          <a:p>
            <a:pPr>
              <a:buNone/>
            </a:pPr>
            <a:endParaRPr lang="en-US" dirty="0"/>
          </a:p>
          <a:p>
            <a:pPr>
              <a:buNone/>
            </a:pPr>
            <a:r>
              <a:rPr lang="en-US" dirty="0"/>
              <a:t>&lt;script&gt;</a:t>
            </a:r>
          </a:p>
          <a:p>
            <a:pPr>
              <a:buNone/>
            </a:pPr>
            <a:r>
              <a:rPr lang="en-US" dirty="0" err="1"/>
              <a:t>document.getElementById</a:t>
            </a:r>
            <a:r>
              <a:rPr lang="en-US" dirty="0"/>
              <a:t>("</a:t>
            </a:r>
            <a:r>
              <a:rPr lang="en-US" dirty="0" err="1"/>
              <a:t>myFrame</a:t>
            </a:r>
            <a:r>
              <a:rPr lang="en-US" dirty="0"/>
              <a:t>").</a:t>
            </a:r>
            <a:r>
              <a:rPr lang="en-US" dirty="0" err="1"/>
              <a:t>onload</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t>
            </a:r>
            <a:r>
              <a:rPr lang="en-US" dirty="0" err="1"/>
              <a:t>document.getElementById</a:t>
            </a:r>
            <a:r>
              <a:rPr lang="en-US" dirty="0"/>
              <a:t>("demo").</a:t>
            </a:r>
            <a:r>
              <a:rPr lang="en-US" dirty="0" err="1"/>
              <a:t>innerHTML</a:t>
            </a:r>
            <a:r>
              <a:rPr lang="en-US" dirty="0"/>
              <a:t> = "</a:t>
            </a:r>
            <a:r>
              <a:rPr lang="en-US" dirty="0" err="1"/>
              <a:t>Iframe</a:t>
            </a:r>
            <a:r>
              <a:rPr lang="en-US" dirty="0"/>
              <a:t> is loaded.";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a:p>
            <a:pPr>
              <a:buNone/>
            </a:pPr>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0"/>
            <a:ext cx="8229600" cy="1143000"/>
          </a:xfrm>
        </p:spPr>
        <p:txBody>
          <a:bodyPr>
            <a:normAutofit/>
          </a:bodyPr>
          <a:lstStyle/>
          <a:p>
            <a:r>
              <a:rPr lang="en-US" sz="5400" b="1" dirty="0"/>
              <a:t>"</a:t>
            </a:r>
            <a:r>
              <a:rPr lang="en-US" sz="5400" b="1" dirty="0" err="1"/>
              <a:t>onresize</a:t>
            </a:r>
            <a:r>
              <a:rPr lang="en-US" sz="5400" b="1" dirty="0"/>
              <a:t>" event</a:t>
            </a:r>
          </a:p>
        </p:txBody>
      </p:sp>
    </p:spTree>
    <p:extLst>
      <p:ext uri="{BB962C8B-B14F-4D97-AF65-F5344CB8AC3E}">
        <p14:creationId xmlns:p14="http://schemas.microsoft.com/office/powerpoint/2010/main" xmlns="" val="17923010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 </a:t>
            </a:r>
            <a:r>
              <a:rPr lang="en-US" b="1" dirty="0" err="1"/>
              <a:t>onresize</a:t>
            </a:r>
            <a:r>
              <a:rPr lang="en-US" dirty="0"/>
              <a:t>="</a:t>
            </a:r>
            <a:r>
              <a:rPr lang="en-US" dirty="0" err="1"/>
              <a:t>myFunction</a:t>
            </a:r>
            <a:r>
              <a:rPr lang="en-US" dirty="0"/>
              <a:t>()"&gt;</a:t>
            </a:r>
          </a:p>
          <a:p>
            <a:pPr>
              <a:buNone/>
            </a:pPr>
            <a:endParaRPr lang="en-US" dirty="0"/>
          </a:p>
          <a:p>
            <a:pPr>
              <a:buNone/>
            </a:pPr>
            <a:r>
              <a:rPr lang="en-US" dirty="0"/>
              <a:t>&lt;</a:t>
            </a:r>
            <a:r>
              <a:rPr lang="en-US" b="1" dirty="0"/>
              <a:t>p&gt;This example demonstrates how to assign an "</a:t>
            </a:r>
            <a:r>
              <a:rPr lang="en-US" b="1" dirty="0" err="1"/>
              <a:t>onresize</a:t>
            </a:r>
            <a:r>
              <a:rPr lang="en-US" b="1" dirty="0"/>
              <a:t>" event to a body element.&lt;/p&gt;</a:t>
            </a:r>
          </a:p>
          <a:p>
            <a:pPr>
              <a:buNone/>
            </a:pPr>
            <a:endParaRPr lang="en-US" dirty="0"/>
          </a:p>
          <a:p>
            <a:pPr>
              <a:buNone/>
            </a:pPr>
            <a:r>
              <a:rPr lang="en-US" dirty="0"/>
              <a:t>&lt;p&gt;Try to resize the browser window.&lt;/p&gt;</a:t>
            </a:r>
          </a:p>
          <a:p>
            <a:pPr>
              <a:buNone/>
            </a:pPr>
            <a:endParaRPr lang="en-US" dirty="0"/>
          </a:p>
          <a:p>
            <a:pPr>
              <a:buNone/>
            </a:pPr>
            <a:r>
              <a:rPr lang="en-US" dirty="0"/>
              <a:t>&lt;p&gt;Window resized &lt;span id="demo"&gt;0&lt;/span&gt; times.&lt;/p&gt;</a:t>
            </a:r>
          </a:p>
          <a:p>
            <a:pPr>
              <a:buNone/>
            </a:pPr>
            <a:endParaRPr lang="en-US" dirty="0"/>
          </a:p>
          <a:p>
            <a:pPr>
              <a:buNone/>
            </a:pPr>
            <a:r>
              <a:rPr lang="en-US" dirty="0"/>
              <a:t>&lt;script&gt;</a:t>
            </a:r>
          </a:p>
          <a:p>
            <a:pPr>
              <a:buNone/>
            </a:pPr>
            <a:r>
              <a:rPr lang="en-US" dirty="0" err="1"/>
              <a:t>var</a:t>
            </a:r>
            <a:r>
              <a:rPr lang="en-US" dirty="0"/>
              <a:t> x = 0;</a:t>
            </a:r>
          </a:p>
          <a:p>
            <a:pPr>
              <a:buNone/>
            </a:pPr>
            <a:r>
              <a:rPr lang="en-US" dirty="0"/>
              <a:t>function </a:t>
            </a:r>
            <a:r>
              <a:rPr lang="en-US" dirty="0" err="1"/>
              <a:t>myFunction</a:t>
            </a:r>
            <a:r>
              <a:rPr lang="en-US" dirty="0"/>
              <a:t>() {</a:t>
            </a:r>
          </a:p>
          <a:p>
            <a:pPr>
              <a:buNone/>
            </a:pPr>
            <a:r>
              <a:rPr lang="en-US" dirty="0"/>
              <a:t>    </a:t>
            </a:r>
            <a:r>
              <a:rPr lang="en-US" dirty="0" err="1"/>
              <a:t>var</a:t>
            </a:r>
            <a:r>
              <a:rPr lang="en-US" dirty="0"/>
              <a:t> txt = x += 1;</a:t>
            </a:r>
          </a:p>
          <a:p>
            <a:pPr>
              <a:buNone/>
            </a:pPr>
            <a:r>
              <a:rPr lang="en-US" dirty="0"/>
              <a:t>    </a:t>
            </a:r>
            <a:r>
              <a:rPr lang="en-US" dirty="0" err="1"/>
              <a:t>document.getElementById</a:t>
            </a:r>
            <a:r>
              <a:rPr lang="en-US" dirty="0"/>
              <a:t>("demo").</a:t>
            </a:r>
            <a:r>
              <a:rPr lang="en-US" dirty="0" err="1"/>
              <a:t>innerHTML</a:t>
            </a:r>
            <a:r>
              <a:rPr lang="en-US" dirty="0"/>
              <a:t> = txt;</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40533538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553200"/>
          </a:xfrm>
        </p:spPr>
        <p:txBody>
          <a:bodyPr>
            <a:normAutofit fontScale="55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sz="3600" b="1" dirty="0"/>
              <a:t>p&gt;This</a:t>
            </a:r>
            <a:r>
              <a:rPr lang="en-US" b="1" dirty="0"/>
              <a:t> example uses the HTML DOM to assign an "</a:t>
            </a:r>
            <a:r>
              <a:rPr lang="en-US" b="1" dirty="0" err="1"/>
              <a:t>onresize</a:t>
            </a:r>
            <a:r>
              <a:rPr lang="en-US" b="1" dirty="0"/>
              <a:t>" event to the body element.&lt;/</a:t>
            </a:r>
            <a:r>
              <a:rPr lang="en-US" dirty="0"/>
              <a:t>p&gt;</a:t>
            </a:r>
          </a:p>
          <a:p>
            <a:pPr>
              <a:buNone/>
            </a:pPr>
            <a:endParaRPr lang="en-US" dirty="0"/>
          </a:p>
          <a:p>
            <a:pPr>
              <a:buNone/>
            </a:pPr>
            <a:r>
              <a:rPr lang="en-US" dirty="0"/>
              <a:t>&lt;p&gt;Try to resize the browser window.&lt;/p&gt;</a:t>
            </a:r>
          </a:p>
          <a:p>
            <a:pPr>
              <a:buNone/>
            </a:pPr>
            <a:endParaRPr lang="en-US" dirty="0"/>
          </a:p>
          <a:p>
            <a:pPr>
              <a:buNone/>
            </a:pPr>
            <a:r>
              <a:rPr lang="en-US" dirty="0"/>
              <a:t>&lt;p&gt;Window resized &lt;span id="demo"&gt;0&lt;/span&gt; times.&lt;/p&gt;</a:t>
            </a:r>
          </a:p>
          <a:p>
            <a:pPr>
              <a:buNone/>
            </a:pPr>
            <a:endParaRPr lang="en-US" dirty="0"/>
          </a:p>
          <a:p>
            <a:pPr>
              <a:buNone/>
            </a:pPr>
            <a:r>
              <a:rPr lang="en-US" dirty="0"/>
              <a:t>&lt;script&gt;</a:t>
            </a:r>
          </a:p>
          <a:p>
            <a:pPr>
              <a:buNone/>
            </a:pPr>
            <a:r>
              <a:rPr lang="en-US" dirty="0" err="1"/>
              <a:t>document.getElementsByTagName</a:t>
            </a:r>
            <a:r>
              <a:rPr lang="en-US" dirty="0"/>
              <a:t>("BODY")[0].</a:t>
            </a:r>
            <a:r>
              <a:rPr lang="en-US" dirty="0" err="1"/>
              <a:t>onresize</a:t>
            </a:r>
            <a:r>
              <a:rPr lang="en-US" dirty="0"/>
              <a:t> = function() {</a:t>
            </a:r>
            <a:r>
              <a:rPr lang="en-US" dirty="0" err="1"/>
              <a:t>myFunction</a:t>
            </a:r>
            <a:r>
              <a:rPr lang="en-US" dirty="0"/>
              <a:t>()};</a:t>
            </a:r>
          </a:p>
          <a:p>
            <a:pPr>
              <a:buNone/>
            </a:pPr>
            <a:endParaRPr lang="en-US" dirty="0"/>
          </a:p>
          <a:p>
            <a:pPr>
              <a:buNone/>
            </a:pPr>
            <a:r>
              <a:rPr lang="en-US" dirty="0" err="1"/>
              <a:t>var</a:t>
            </a:r>
            <a:r>
              <a:rPr lang="en-US" dirty="0"/>
              <a:t> x = 0;</a:t>
            </a:r>
          </a:p>
          <a:p>
            <a:pPr>
              <a:buNone/>
            </a:pPr>
            <a:r>
              <a:rPr lang="en-US" dirty="0"/>
              <a:t>function </a:t>
            </a:r>
            <a:r>
              <a:rPr lang="en-US" dirty="0" err="1"/>
              <a:t>myFunction</a:t>
            </a:r>
            <a:r>
              <a:rPr lang="en-US" dirty="0"/>
              <a:t>() {</a:t>
            </a:r>
          </a:p>
          <a:p>
            <a:pPr>
              <a:buNone/>
            </a:pPr>
            <a:r>
              <a:rPr lang="en-US" dirty="0"/>
              <a:t>    </a:t>
            </a:r>
            <a:r>
              <a:rPr lang="en-US" dirty="0" err="1"/>
              <a:t>var</a:t>
            </a:r>
            <a:r>
              <a:rPr lang="en-US" dirty="0"/>
              <a:t> txt = x += 1;</a:t>
            </a:r>
          </a:p>
          <a:p>
            <a:pPr>
              <a:buNone/>
            </a:pPr>
            <a:r>
              <a:rPr lang="en-US" dirty="0"/>
              <a:t>    </a:t>
            </a:r>
            <a:r>
              <a:rPr lang="en-US" dirty="0" err="1"/>
              <a:t>document.getElementById</a:t>
            </a:r>
            <a:r>
              <a:rPr lang="en-US" dirty="0"/>
              <a:t>("demo").</a:t>
            </a:r>
            <a:r>
              <a:rPr lang="en-US" dirty="0" err="1"/>
              <a:t>innerHTML</a:t>
            </a:r>
            <a:r>
              <a:rPr lang="en-US" dirty="0"/>
              <a:t> = txt;</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a:p>
            <a:pPr>
              <a:buNone/>
            </a:pPr>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onunload</a:t>
            </a:r>
            <a:r>
              <a:rPr lang="en-US" b="1" dirty="0"/>
              <a:t> event</a:t>
            </a:r>
          </a:p>
        </p:txBody>
      </p:sp>
      <p:sp>
        <p:nvSpPr>
          <p:cNvPr id="3" name="Content Placeholder 2"/>
          <p:cNvSpPr>
            <a:spLocks noGrp="1"/>
          </p:cNvSpPr>
          <p:nvPr>
            <p:ph idx="1"/>
          </p:nvPr>
        </p:nvSpPr>
        <p:spPr/>
        <p:txBody>
          <a:bodyPr>
            <a:normAutofit/>
          </a:bodyPr>
          <a:lstStyle/>
          <a:p>
            <a:pPr algn="just">
              <a:buNone/>
            </a:pPr>
            <a:r>
              <a:rPr lang="en-US" sz="2600" b="1" dirty="0"/>
              <a:t>Definition and Usage</a:t>
            </a:r>
          </a:p>
          <a:p>
            <a:pPr algn="just"/>
            <a:r>
              <a:rPr lang="en-US" sz="2600" dirty="0"/>
              <a:t>The </a:t>
            </a:r>
            <a:r>
              <a:rPr lang="en-US" sz="2600" dirty="0" err="1"/>
              <a:t>onunload</a:t>
            </a:r>
            <a:r>
              <a:rPr lang="en-US" sz="2600" dirty="0"/>
              <a:t> event occurs once a page has unloaded (or the browser window has been closed</a:t>
            </a:r>
            <a:r>
              <a:rPr lang="en-US" sz="2600" dirty="0" smtClean="0"/>
              <a:t>).</a:t>
            </a:r>
          </a:p>
          <a:p>
            <a:pPr algn="just"/>
            <a:endParaRPr lang="en-US" sz="2600" dirty="0"/>
          </a:p>
          <a:p>
            <a:pPr algn="just"/>
            <a:r>
              <a:rPr lang="en-US" sz="2600" dirty="0" err="1"/>
              <a:t>onunload</a:t>
            </a:r>
            <a:r>
              <a:rPr lang="en-US" sz="2600" dirty="0"/>
              <a:t> occurs when the user navigates away from the page (by clicking on a link, submitting a form, closing the browser window, etc</a:t>
            </a:r>
            <a:r>
              <a:rPr lang="en-US" sz="2600" dirty="0" smtClean="0"/>
              <a:t>.).</a:t>
            </a:r>
          </a:p>
          <a:p>
            <a:pPr algn="just"/>
            <a:endParaRPr lang="en-US" sz="2600" dirty="0"/>
          </a:p>
          <a:p>
            <a:pPr algn="just"/>
            <a:r>
              <a:rPr lang="en-US" sz="2600" b="1" i="1" dirty="0"/>
              <a:t>Note:</a:t>
            </a:r>
            <a:r>
              <a:rPr lang="en-US" sz="2600" i="1" dirty="0"/>
              <a:t> The </a:t>
            </a:r>
            <a:r>
              <a:rPr lang="en-US" sz="2600" i="1" dirty="0" err="1"/>
              <a:t>onunload</a:t>
            </a:r>
            <a:r>
              <a:rPr lang="en-US" sz="2600" i="1" dirty="0"/>
              <a:t> event is also triggered when a user reloads the page (and the </a:t>
            </a:r>
            <a:r>
              <a:rPr lang="en-US" sz="2600" i="1" dirty="0" err="1">
                <a:hlinkClick r:id="rId2"/>
              </a:rPr>
              <a:t>onload</a:t>
            </a:r>
            <a:r>
              <a:rPr lang="en-US" sz="2600" i="1" dirty="0"/>
              <a:t> event).</a:t>
            </a:r>
          </a:p>
          <a:p>
            <a:pPr algn="just"/>
            <a:endParaRPr lang="en-US" sz="2600" dirty="0"/>
          </a:p>
        </p:txBody>
      </p:sp>
    </p:spTree>
    <p:extLst>
      <p:ext uri="{BB962C8B-B14F-4D97-AF65-F5344CB8AC3E}">
        <p14:creationId xmlns:p14="http://schemas.microsoft.com/office/powerpoint/2010/main" xmlns="" val="6101155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a:bodyPr>
          <a:lstStyle/>
          <a:p>
            <a:pPr>
              <a:buNone/>
            </a:pPr>
            <a:r>
              <a:rPr lang="en-US" sz="2000" dirty="0"/>
              <a:t>&lt;!DOCTYPE html&gt;</a:t>
            </a:r>
          </a:p>
          <a:p>
            <a:pPr>
              <a:buNone/>
            </a:pPr>
            <a:r>
              <a:rPr lang="en-US" sz="2000" dirty="0"/>
              <a:t>&lt;html&gt;</a:t>
            </a:r>
          </a:p>
          <a:p>
            <a:pPr>
              <a:buNone/>
            </a:pPr>
            <a:r>
              <a:rPr lang="en-US" sz="2000" dirty="0"/>
              <a:t>&lt;body </a:t>
            </a:r>
            <a:r>
              <a:rPr lang="en-US" sz="2000" b="1" dirty="0" err="1"/>
              <a:t>onunload</a:t>
            </a:r>
            <a:r>
              <a:rPr lang="en-US" sz="2000" dirty="0"/>
              <a:t>="</a:t>
            </a:r>
            <a:r>
              <a:rPr lang="en-US" sz="2000" dirty="0" err="1"/>
              <a:t>myFunction</a:t>
            </a:r>
            <a:r>
              <a:rPr lang="en-US" sz="2000" dirty="0"/>
              <a:t>()"&gt;</a:t>
            </a:r>
          </a:p>
          <a:p>
            <a:pPr>
              <a:buNone/>
            </a:pPr>
            <a:endParaRPr lang="en-US" sz="2000" dirty="0"/>
          </a:p>
          <a:p>
            <a:pPr>
              <a:buNone/>
            </a:pPr>
            <a:r>
              <a:rPr lang="en-US" sz="2000" dirty="0"/>
              <a:t>&lt;h1&gt;Welcome to my Home Page&lt;/h1&gt;</a:t>
            </a:r>
          </a:p>
          <a:p>
            <a:pPr>
              <a:buNone/>
            </a:pPr>
            <a:endParaRPr lang="en-US" sz="2000" dirty="0"/>
          </a:p>
          <a:p>
            <a:pPr>
              <a:buNone/>
            </a:pPr>
            <a:r>
              <a:rPr lang="en-US" sz="2000" dirty="0"/>
              <a:t>&lt;p&gt;Close this window or press F5 to reload the page.&lt;/p&gt;</a:t>
            </a:r>
          </a:p>
          <a:p>
            <a:pPr>
              <a:buNone/>
            </a:pPr>
            <a:r>
              <a:rPr lang="en-US" sz="2000" dirty="0"/>
              <a:t>&lt;p&gt;&lt;strong&gt;Note:&lt;/strong&gt; Due to different browser settings, this event may not always work as expected.&lt;/p&gt;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alert("Thank you for visiting W3Schools!");</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p:txBody>
      </p:sp>
    </p:spTree>
    <p:extLst>
      <p:ext uri="{BB962C8B-B14F-4D97-AF65-F5344CB8AC3E}">
        <p14:creationId xmlns:p14="http://schemas.microsoft.com/office/powerpoint/2010/main" xmlns="" val="40533538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438400"/>
            <a:ext cx="8229600" cy="1371600"/>
          </a:xfrm>
        </p:spPr>
        <p:txBody>
          <a:bodyPr>
            <a:noAutofit/>
          </a:bodyPr>
          <a:lstStyle/>
          <a:p>
            <a:r>
              <a:rPr lang="en-US" sz="5400" b="1" dirty="0"/>
              <a:t>Form </a:t>
            </a:r>
            <a:r>
              <a:rPr lang="en-US" sz="5400" b="1" dirty="0" smtClean="0"/>
              <a:t>Events</a:t>
            </a:r>
            <a:endParaRPr lang="en-US" sz="5400" dirty="0"/>
          </a:p>
        </p:txBody>
      </p:sp>
    </p:spTree>
    <p:extLst>
      <p:ext uri="{BB962C8B-B14F-4D97-AF65-F5344CB8AC3E}">
        <p14:creationId xmlns:p14="http://schemas.microsoft.com/office/powerpoint/2010/main" xmlns="" val="41182119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Autofit/>
          </a:bodyPr>
          <a:lstStyle/>
          <a:p>
            <a:pPr>
              <a:buNone/>
            </a:pPr>
            <a:r>
              <a:rPr lang="en-US" sz="2000" dirty="0"/>
              <a:t>&lt;!DOCTYPE html&gt;</a:t>
            </a:r>
          </a:p>
          <a:p>
            <a:pPr>
              <a:buNone/>
            </a:pPr>
            <a:r>
              <a:rPr lang="en-US" sz="2000" dirty="0"/>
              <a:t>&lt;html&gt;</a:t>
            </a:r>
          </a:p>
          <a:p>
            <a:pPr>
              <a:buNone/>
            </a:pPr>
            <a:r>
              <a:rPr lang="en-US" sz="2000" dirty="0"/>
              <a:t>&lt;body&gt;</a:t>
            </a:r>
          </a:p>
          <a:p>
            <a:pPr>
              <a:buNone/>
            </a:pPr>
            <a:r>
              <a:rPr lang="en-US" sz="2000" dirty="0" smtClean="0"/>
              <a:t>&lt;</a:t>
            </a:r>
            <a:r>
              <a:rPr lang="en-US" sz="2000" b="1" dirty="0"/>
              <a:t>form action</a:t>
            </a:r>
            <a:r>
              <a:rPr lang="en-US" sz="2000" dirty="0"/>
              <a:t>="action_page.php"&gt;</a:t>
            </a:r>
          </a:p>
          <a:p>
            <a:pPr>
              <a:buNone/>
            </a:pPr>
            <a:r>
              <a:rPr lang="en-US" sz="2000" dirty="0"/>
              <a:t>  First name:&lt;</a:t>
            </a:r>
            <a:r>
              <a:rPr lang="en-US" sz="2000" dirty="0" err="1"/>
              <a:t>br</a:t>
            </a:r>
            <a:r>
              <a:rPr lang="en-US" sz="2000" dirty="0"/>
              <a:t>&gt;</a:t>
            </a:r>
          </a:p>
          <a:p>
            <a:pPr>
              <a:buNone/>
            </a:pPr>
            <a:r>
              <a:rPr lang="en-US" sz="2000" dirty="0"/>
              <a:t>  &lt;input type="text" value="Mickey"&gt;</a:t>
            </a:r>
          </a:p>
          <a:p>
            <a:pPr>
              <a:buNone/>
            </a:pPr>
            <a:r>
              <a:rPr lang="en-US" sz="2000" dirty="0"/>
              <a:t>  &lt;</a:t>
            </a:r>
            <a:r>
              <a:rPr lang="en-US" sz="2000" dirty="0" err="1"/>
              <a:t>br</a:t>
            </a:r>
            <a:r>
              <a:rPr lang="en-US" sz="2000" dirty="0"/>
              <a:t>&gt;</a:t>
            </a:r>
          </a:p>
          <a:p>
            <a:pPr>
              <a:buNone/>
            </a:pPr>
            <a:r>
              <a:rPr lang="en-US" sz="2000" dirty="0"/>
              <a:t>  Last name:&lt;</a:t>
            </a:r>
            <a:r>
              <a:rPr lang="en-US" sz="2000" dirty="0" err="1"/>
              <a:t>br</a:t>
            </a:r>
            <a:r>
              <a:rPr lang="en-US" sz="2000" dirty="0"/>
              <a:t>&gt;</a:t>
            </a:r>
          </a:p>
          <a:p>
            <a:pPr>
              <a:buNone/>
            </a:pPr>
            <a:r>
              <a:rPr lang="en-US" sz="2000" dirty="0"/>
              <a:t>  &lt;input type="text" name="</a:t>
            </a:r>
            <a:r>
              <a:rPr lang="en-US" sz="2000" dirty="0" err="1"/>
              <a:t>lastname</a:t>
            </a:r>
            <a:r>
              <a:rPr lang="en-US" sz="2000" dirty="0"/>
              <a:t>" value="Mouse"&gt;</a:t>
            </a:r>
          </a:p>
          <a:p>
            <a:pPr>
              <a:buNone/>
            </a:pPr>
            <a:r>
              <a:rPr lang="en-US" sz="2000" dirty="0"/>
              <a:t>  &lt;</a:t>
            </a:r>
            <a:r>
              <a:rPr lang="en-US" sz="2000" dirty="0" err="1"/>
              <a:t>br</a:t>
            </a:r>
            <a:r>
              <a:rPr lang="en-US" sz="2000" dirty="0"/>
              <a:t>&gt;&lt;</a:t>
            </a:r>
            <a:r>
              <a:rPr lang="en-US" sz="2000" dirty="0" err="1"/>
              <a:t>br</a:t>
            </a:r>
            <a:r>
              <a:rPr lang="en-US" sz="2000" dirty="0"/>
              <a:t>&gt;</a:t>
            </a:r>
          </a:p>
          <a:p>
            <a:pPr>
              <a:buNone/>
            </a:pPr>
            <a:r>
              <a:rPr lang="en-US" sz="2000" dirty="0"/>
              <a:t>  &lt;input type="submit" value="Submit"&gt;</a:t>
            </a:r>
          </a:p>
          <a:p>
            <a:pPr>
              <a:buNone/>
            </a:pPr>
            <a:r>
              <a:rPr lang="en-US" sz="2000" dirty="0"/>
              <a:t>&lt;/form&gt; </a:t>
            </a:r>
          </a:p>
          <a:p>
            <a:pPr>
              <a:buNone/>
            </a:pPr>
            <a:r>
              <a:rPr lang="en-US" sz="2000" dirty="0" smtClean="0"/>
              <a:t>&lt;</a:t>
            </a:r>
            <a:r>
              <a:rPr lang="en-US" sz="2000" dirty="0"/>
              <a:t>p&gt;If you click the "Submit" button, the form-data will be sent to a page called "action_page.php".&lt;/p&gt;</a:t>
            </a:r>
          </a:p>
          <a:p>
            <a:pPr>
              <a:buNone/>
            </a:pPr>
            <a:r>
              <a:rPr lang="en-US" sz="2000" dirty="0" smtClean="0"/>
              <a:t>&lt;</a:t>
            </a:r>
            <a:r>
              <a:rPr lang="en-US" sz="2000" dirty="0"/>
              <a:t>p&gt;Notice that the value of the "First name" field will not be submitted, because the input element does not have a name attribute.&lt;/p&gt;</a:t>
            </a:r>
          </a:p>
          <a:p>
            <a:pPr>
              <a:buNone/>
            </a:pPr>
            <a:r>
              <a:rPr lang="en-US" sz="2000" dirty="0" smtClean="0"/>
              <a:t>&lt;/</a:t>
            </a:r>
            <a:r>
              <a:rPr lang="en-US" sz="2000" dirty="0"/>
              <a: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27544203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b="1" dirty="0" err="1"/>
              <a:t>onblur</a:t>
            </a:r>
            <a:r>
              <a:rPr lang="en-US" b="1" dirty="0"/>
              <a:t> </a:t>
            </a:r>
            <a:r>
              <a:rPr lang="en-US" b="1" dirty="0" smtClean="0"/>
              <a:t>Event</a:t>
            </a:r>
            <a:endParaRPr lang="en-US" dirty="0"/>
          </a:p>
        </p:txBody>
      </p:sp>
      <p:sp>
        <p:nvSpPr>
          <p:cNvPr id="3" name="Content Placeholder 2"/>
          <p:cNvSpPr>
            <a:spLocks noGrp="1"/>
          </p:cNvSpPr>
          <p:nvPr>
            <p:ph idx="1"/>
          </p:nvPr>
        </p:nvSpPr>
        <p:spPr>
          <a:xfrm>
            <a:off x="457200" y="1371600"/>
            <a:ext cx="8229600" cy="5287963"/>
          </a:xfrm>
        </p:spPr>
        <p:txBody>
          <a:bodyPr>
            <a:normAutofit lnSpcReduction="10000"/>
          </a:bodyPr>
          <a:lstStyle/>
          <a:p>
            <a:pPr algn="just"/>
            <a:r>
              <a:rPr lang="en-US" sz="2600" dirty="0"/>
              <a:t>The </a:t>
            </a:r>
            <a:r>
              <a:rPr lang="en-US" sz="2600" dirty="0" err="1"/>
              <a:t>onblur</a:t>
            </a:r>
            <a:r>
              <a:rPr lang="en-US" sz="2600" dirty="0"/>
              <a:t> event occurs when an object loses focus</a:t>
            </a:r>
            <a:r>
              <a:rPr lang="en-US" sz="2600" dirty="0" smtClean="0"/>
              <a:t>.</a:t>
            </a:r>
          </a:p>
          <a:p>
            <a:pPr algn="just"/>
            <a:endParaRPr lang="en-US" sz="2600" dirty="0"/>
          </a:p>
          <a:p>
            <a:pPr algn="just"/>
            <a:r>
              <a:rPr lang="en-US" sz="2600" dirty="0"/>
              <a:t>The </a:t>
            </a:r>
            <a:r>
              <a:rPr lang="en-US" sz="2600" dirty="0" err="1"/>
              <a:t>onblur</a:t>
            </a:r>
            <a:r>
              <a:rPr lang="en-US" sz="2600" dirty="0"/>
              <a:t> event is most often used with form validation code (e.g. when the user leaves a form field</a:t>
            </a:r>
            <a:r>
              <a:rPr lang="en-US" sz="2600" dirty="0" smtClean="0"/>
              <a:t>).</a:t>
            </a:r>
          </a:p>
          <a:p>
            <a:pPr algn="just"/>
            <a:endParaRPr lang="en-US" sz="2600" dirty="0"/>
          </a:p>
          <a:p>
            <a:pPr algn="just"/>
            <a:r>
              <a:rPr lang="en-US" sz="2600" b="1" i="1" dirty="0"/>
              <a:t>Tip:</a:t>
            </a:r>
            <a:r>
              <a:rPr lang="en-US" sz="2600" i="1" dirty="0"/>
              <a:t> The </a:t>
            </a:r>
            <a:r>
              <a:rPr lang="en-US" sz="2600" i="1" dirty="0" err="1"/>
              <a:t>onblur</a:t>
            </a:r>
            <a:r>
              <a:rPr lang="en-US" sz="2600" i="1" dirty="0"/>
              <a:t> event is the opposite of the </a:t>
            </a:r>
            <a:r>
              <a:rPr lang="en-US" sz="2600" i="1" dirty="0" err="1">
                <a:hlinkClick r:id="rId2"/>
              </a:rPr>
              <a:t>onfocus</a:t>
            </a:r>
            <a:r>
              <a:rPr lang="en-US" sz="2600" i="1" dirty="0"/>
              <a:t> event</a:t>
            </a:r>
            <a:r>
              <a:rPr lang="en-US" sz="2600" i="1" dirty="0" smtClean="0"/>
              <a:t>.</a:t>
            </a:r>
          </a:p>
          <a:p>
            <a:pPr algn="just"/>
            <a:endParaRPr lang="en-US" sz="2600" i="1" dirty="0"/>
          </a:p>
          <a:p>
            <a:pPr algn="just"/>
            <a:r>
              <a:rPr lang="en-US" sz="2600" b="1" i="1" dirty="0"/>
              <a:t>Tip: </a:t>
            </a:r>
            <a:r>
              <a:rPr lang="en-US" sz="2600" i="1" dirty="0"/>
              <a:t>The </a:t>
            </a:r>
            <a:r>
              <a:rPr lang="en-US" sz="2600" i="1" dirty="0" err="1"/>
              <a:t>onblur</a:t>
            </a:r>
            <a:r>
              <a:rPr lang="en-US" sz="2600" i="1" dirty="0"/>
              <a:t> event is similar to the </a:t>
            </a:r>
            <a:r>
              <a:rPr lang="en-US" sz="2600" i="1" dirty="0" err="1">
                <a:hlinkClick r:id="rId3"/>
              </a:rPr>
              <a:t>onfocusout</a:t>
            </a:r>
            <a:r>
              <a:rPr lang="en-US" sz="2600" i="1" dirty="0"/>
              <a:t> event. The main difference is that the </a:t>
            </a:r>
            <a:r>
              <a:rPr lang="en-US" sz="2600" i="1" dirty="0" err="1"/>
              <a:t>onblur</a:t>
            </a:r>
            <a:r>
              <a:rPr lang="en-US" sz="2600" i="1" dirty="0"/>
              <a:t> event does not bubble. Therefore, if you want to find out whether an element or its child loses focus, you could use the </a:t>
            </a:r>
            <a:r>
              <a:rPr lang="en-US" sz="2600" i="1" dirty="0" err="1"/>
              <a:t>onfocusout</a:t>
            </a:r>
            <a:r>
              <a:rPr lang="en-US" sz="2600" i="1" dirty="0"/>
              <a:t> event. </a:t>
            </a:r>
          </a:p>
        </p:txBody>
      </p:sp>
    </p:spTree>
    <p:extLst>
      <p:ext uri="{BB962C8B-B14F-4D97-AF65-F5344CB8AC3E}">
        <p14:creationId xmlns:p14="http://schemas.microsoft.com/office/powerpoint/2010/main" xmlns="" val="8623814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600" b="1" dirty="0" smtClean="0"/>
              <a:t>Syntax</a:t>
            </a:r>
          </a:p>
          <a:p>
            <a:pPr>
              <a:buNone/>
            </a:pPr>
            <a:endParaRPr lang="en-US" sz="2600" b="1" dirty="0"/>
          </a:p>
          <a:p>
            <a:pPr>
              <a:buNone/>
            </a:pPr>
            <a:r>
              <a:rPr lang="en-US" sz="2600" dirty="0"/>
              <a:t>In HTML</a:t>
            </a:r>
            <a:r>
              <a:rPr lang="en-US" sz="2600" dirty="0" smtClean="0"/>
              <a:t>:</a:t>
            </a:r>
          </a:p>
          <a:p>
            <a:pPr>
              <a:buNone/>
            </a:pPr>
            <a:endParaRPr lang="en-US" sz="2600" dirty="0"/>
          </a:p>
          <a:p>
            <a:pPr>
              <a:buNone/>
            </a:pPr>
            <a:r>
              <a:rPr lang="en-US" sz="2600" dirty="0"/>
              <a:t>&lt;</a:t>
            </a:r>
            <a:r>
              <a:rPr lang="en-US" sz="2600" i="1" dirty="0"/>
              <a:t>element</a:t>
            </a:r>
            <a:r>
              <a:rPr lang="en-US" sz="2600" dirty="0"/>
              <a:t> </a:t>
            </a:r>
            <a:r>
              <a:rPr lang="en-US" sz="2600" b="1" dirty="0" err="1"/>
              <a:t>onblur</a:t>
            </a:r>
            <a:r>
              <a:rPr lang="en-US" sz="2600" dirty="0"/>
              <a:t>="</a:t>
            </a:r>
            <a:r>
              <a:rPr lang="en-US" sz="2600" i="1" dirty="0" err="1"/>
              <a:t>myScript</a:t>
            </a:r>
            <a:r>
              <a:rPr lang="en-US" sz="2600" dirty="0"/>
              <a:t>"&gt; </a:t>
            </a:r>
          </a:p>
          <a:p>
            <a:pPr>
              <a:buNone/>
            </a:pPr>
            <a:r>
              <a:rPr lang="en-US" sz="2600" dirty="0"/>
              <a:t>In JavaScript:</a:t>
            </a:r>
          </a:p>
          <a:p>
            <a:pPr>
              <a:buNone/>
            </a:pPr>
            <a:r>
              <a:rPr lang="en-US" sz="2600" i="1" dirty="0" err="1"/>
              <a:t>object</a:t>
            </a:r>
            <a:r>
              <a:rPr lang="en-US" sz="2600" dirty="0" err="1"/>
              <a:t>.onblur</a:t>
            </a:r>
            <a:r>
              <a:rPr lang="en-US" sz="2600" dirty="0"/>
              <a:t>=function(){</a:t>
            </a:r>
            <a:r>
              <a:rPr lang="en-US" sz="2600" i="1" dirty="0" err="1"/>
              <a:t>myScript</a:t>
            </a:r>
            <a:r>
              <a:rPr lang="en-US" sz="2600" dirty="0"/>
              <a:t>}; </a:t>
            </a:r>
          </a:p>
          <a:p>
            <a:pPr>
              <a:buNone/>
            </a:pPr>
            <a:endParaRPr lang="en-US" sz="2600" dirty="0"/>
          </a:p>
        </p:txBody>
      </p:sp>
    </p:spTree>
    <p:extLst>
      <p:ext uri="{BB962C8B-B14F-4D97-AF65-F5344CB8AC3E}">
        <p14:creationId xmlns:p14="http://schemas.microsoft.com/office/powerpoint/2010/main" xmlns="" val="14779468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477000"/>
          </a:xfrm>
        </p:spPr>
        <p:txBody>
          <a:bodyPr>
            <a:noAutofit/>
          </a:bodyPr>
          <a:lstStyle/>
          <a:p>
            <a:pPr>
              <a:buNone/>
            </a:pPr>
            <a:r>
              <a:rPr lang="en-US" sz="2000" dirty="0"/>
              <a:t>&lt;!DOCTYPE html&gt;</a:t>
            </a:r>
          </a:p>
          <a:p>
            <a:pPr>
              <a:buNone/>
            </a:pPr>
            <a:r>
              <a:rPr lang="en-US" sz="2000" dirty="0"/>
              <a:t>&lt;html&gt;</a:t>
            </a:r>
          </a:p>
          <a:p>
            <a:pPr>
              <a:buNone/>
            </a:pPr>
            <a:r>
              <a:rPr lang="en-US" sz="2000" dirty="0"/>
              <a:t>&lt;body&gt;</a:t>
            </a:r>
          </a:p>
          <a:p>
            <a:pPr>
              <a:buNone/>
            </a:pPr>
            <a:r>
              <a:rPr lang="en-US" sz="2000" dirty="0" smtClean="0"/>
              <a:t>&lt;</a:t>
            </a:r>
            <a:r>
              <a:rPr lang="en-US" sz="2000" b="1" dirty="0"/>
              <a:t>p&gt;This example demonstrates how to assign an "</a:t>
            </a:r>
            <a:r>
              <a:rPr lang="en-US" sz="2000" b="1" dirty="0" err="1"/>
              <a:t>onblur</a:t>
            </a:r>
            <a:r>
              <a:rPr lang="en-US" sz="2000" b="1" dirty="0"/>
              <a:t>" event to an input element</a:t>
            </a:r>
            <a:r>
              <a:rPr lang="en-US" sz="2000" dirty="0"/>
              <a:t>.&lt;/p&gt;</a:t>
            </a:r>
          </a:p>
          <a:p>
            <a:pPr>
              <a:buNone/>
            </a:pPr>
            <a:endParaRPr lang="en-US" sz="2000" dirty="0"/>
          </a:p>
          <a:p>
            <a:pPr>
              <a:buNone/>
            </a:pPr>
            <a:r>
              <a:rPr lang="en-US" sz="2000" dirty="0"/>
              <a:t>&lt;p&gt;Write something in the input field, and then click outside the field to lose focus (blur).&lt;/p&gt;</a:t>
            </a:r>
          </a:p>
          <a:p>
            <a:pPr>
              <a:buNone/>
            </a:pPr>
            <a:endParaRPr lang="en-US" sz="2000" dirty="0"/>
          </a:p>
          <a:p>
            <a:pPr>
              <a:buNone/>
            </a:pPr>
            <a:r>
              <a:rPr lang="en-US" sz="2000" dirty="0"/>
              <a:t>&lt;input type="text" </a:t>
            </a:r>
            <a:r>
              <a:rPr lang="en-US" sz="2000" dirty="0" err="1"/>
              <a:t>onblur</a:t>
            </a:r>
            <a:r>
              <a:rPr lang="en-US" sz="2000" dirty="0"/>
              <a:t>="</a:t>
            </a:r>
            <a:r>
              <a:rPr lang="en-US" sz="2000" dirty="0" err="1"/>
              <a:t>myFunction</a:t>
            </a:r>
            <a:r>
              <a:rPr lang="en-US" sz="2000" dirty="0"/>
              <a:t>()"&gt;</a:t>
            </a:r>
          </a:p>
          <a:p>
            <a:pPr>
              <a:buNone/>
            </a:pPr>
            <a:r>
              <a:rPr lang="en-US" sz="2000" dirty="0" smtClean="0"/>
              <a:t>&lt;</a:t>
            </a:r>
            <a:r>
              <a:rPr lang="en-US" sz="2000" dirty="0"/>
              <a:t>script&gt;</a:t>
            </a:r>
          </a:p>
          <a:p>
            <a:pPr>
              <a:buNone/>
            </a:pPr>
            <a:r>
              <a:rPr lang="en-US" sz="2000" dirty="0"/>
              <a:t>function </a:t>
            </a:r>
            <a:r>
              <a:rPr lang="en-US" sz="2000" dirty="0" err="1"/>
              <a:t>myFunction</a:t>
            </a:r>
            <a:r>
              <a:rPr lang="en-US" sz="2000" dirty="0"/>
              <a:t>() {</a:t>
            </a:r>
          </a:p>
          <a:p>
            <a:pPr>
              <a:buNone/>
            </a:pPr>
            <a:r>
              <a:rPr lang="en-US" sz="2000" dirty="0"/>
              <a:t>    alert("Input field lost focus.");</a:t>
            </a:r>
          </a:p>
          <a:p>
            <a:pPr>
              <a:buNone/>
            </a:pPr>
            <a:r>
              <a:rPr lang="en-US" sz="2000" dirty="0"/>
              <a:t>}</a:t>
            </a:r>
          </a:p>
          <a:p>
            <a:pPr>
              <a:buNone/>
            </a:pPr>
            <a:r>
              <a:rPr lang="en-US" sz="2000" dirty="0"/>
              <a:t>&lt;/script&gt;</a:t>
            </a:r>
          </a:p>
          <a:p>
            <a:pPr>
              <a:buNone/>
            </a:pPr>
            <a:r>
              <a:rPr lang="en-US" sz="2000" dirty="0" smtClean="0"/>
              <a:t>&lt;/</a:t>
            </a:r>
            <a:r>
              <a:rPr lang="en-US" sz="2000" dirty="0"/>
              <a: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40533538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onblur</a:t>
            </a:r>
            <a:r>
              <a:rPr lang="en-US" b="1" dirty="0"/>
              <a:t>" event to an input element</a:t>
            </a:r>
            <a:r>
              <a:rPr lang="en-US" dirty="0"/>
              <a:t>.&lt;/p&gt;</a:t>
            </a:r>
          </a:p>
          <a:p>
            <a:pPr>
              <a:buNone/>
            </a:pPr>
            <a:endParaRPr lang="en-US" dirty="0"/>
          </a:p>
          <a:p>
            <a:pPr>
              <a:buNone/>
            </a:pPr>
            <a:r>
              <a:rPr lang="en-US" dirty="0"/>
              <a:t>&lt;p&gt;Write something in the input field, and then click outside the field to lose focus (blur).&lt;/p&gt;</a:t>
            </a:r>
          </a:p>
          <a:p>
            <a:pPr>
              <a:buNone/>
            </a:pPr>
            <a:endParaRPr lang="en-US" dirty="0"/>
          </a:p>
          <a:p>
            <a:pPr>
              <a:buNone/>
            </a:pPr>
            <a:r>
              <a:rPr lang="en-US" dirty="0"/>
              <a:t>&lt;input type="text" id="</a:t>
            </a:r>
            <a:r>
              <a:rPr lang="en-US" dirty="0" err="1"/>
              <a:t>fname</a:t>
            </a:r>
            <a:r>
              <a:rPr lang="en-US" dirty="0"/>
              <a:t>"&gt;</a:t>
            </a:r>
          </a:p>
          <a:p>
            <a:pPr>
              <a:buNone/>
            </a:pPr>
            <a:endParaRPr lang="en-US" dirty="0"/>
          </a:p>
          <a:p>
            <a:pPr>
              <a:buNone/>
            </a:pPr>
            <a:r>
              <a:rPr lang="en-US" dirty="0"/>
              <a:t>&lt;script&gt;</a:t>
            </a:r>
          </a:p>
          <a:p>
            <a:pPr>
              <a:buNone/>
            </a:pPr>
            <a:r>
              <a:rPr lang="en-US" dirty="0" err="1"/>
              <a:t>document.getElementById</a:t>
            </a:r>
            <a:r>
              <a:rPr lang="en-US" dirty="0"/>
              <a:t>("</a:t>
            </a:r>
            <a:r>
              <a:rPr lang="en-US" dirty="0" err="1"/>
              <a:t>fname</a:t>
            </a:r>
            <a:r>
              <a:rPr lang="en-US" dirty="0"/>
              <a:t>").</a:t>
            </a:r>
            <a:r>
              <a:rPr lang="en-US" b="1" dirty="0" err="1"/>
              <a:t>onblur</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alert("Input field lost focus.");</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405335381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b="1" dirty="0" err="1"/>
              <a:t>onfocus</a:t>
            </a:r>
            <a:r>
              <a:rPr lang="en-US" b="1" dirty="0"/>
              <a:t> </a:t>
            </a:r>
            <a:r>
              <a:rPr lang="en-US" b="1" dirty="0" smtClean="0"/>
              <a:t>Event</a:t>
            </a:r>
            <a:endParaRPr lang="en-US" dirty="0"/>
          </a:p>
        </p:txBody>
      </p:sp>
      <p:sp>
        <p:nvSpPr>
          <p:cNvPr id="3" name="Content Placeholder 2"/>
          <p:cNvSpPr>
            <a:spLocks noGrp="1"/>
          </p:cNvSpPr>
          <p:nvPr>
            <p:ph idx="1"/>
          </p:nvPr>
        </p:nvSpPr>
        <p:spPr>
          <a:xfrm>
            <a:off x="457200" y="1066800"/>
            <a:ext cx="8229600" cy="5410200"/>
          </a:xfrm>
        </p:spPr>
        <p:txBody>
          <a:bodyPr>
            <a:noAutofit/>
          </a:bodyPr>
          <a:lstStyle/>
          <a:p>
            <a:pPr>
              <a:buNone/>
            </a:pPr>
            <a:r>
              <a:rPr lang="en-US" sz="2400" b="1" dirty="0" smtClean="0"/>
              <a:t>Definition </a:t>
            </a:r>
            <a:r>
              <a:rPr lang="en-US" sz="2400" b="1" dirty="0"/>
              <a:t>and </a:t>
            </a:r>
            <a:r>
              <a:rPr lang="en-US" sz="2400" b="1" dirty="0" smtClean="0"/>
              <a:t>Usage</a:t>
            </a:r>
          </a:p>
          <a:p>
            <a:pPr>
              <a:buNone/>
            </a:pPr>
            <a:endParaRPr lang="en-US" sz="2400" b="1" dirty="0"/>
          </a:p>
          <a:p>
            <a:r>
              <a:rPr lang="en-US" sz="2400" dirty="0"/>
              <a:t>The </a:t>
            </a:r>
            <a:r>
              <a:rPr lang="en-US" sz="2400" dirty="0" err="1"/>
              <a:t>onfocus</a:t>
            </a:r>
            <a:r>
              <a:rPr lang="en-US" sz="2400" dirty="0"/>
              <a:t> event occurs when an element gets focus.</a:t>
            </a:r>
          </a:p>
          <a:p>
            <a:endParaRPr lang="en-US" sz="2400" dirty="0" smtClean="0"/>
          </a:p>
          <a:p>
            <a:r>
              <a:rPr lang="en-US" sz="2400" dirty="0" smtClean="0"/>
              <a:t>The </a:t>
            </a:r>
            <a:r>
              <a:rPr lang="en-US" sz="2400" dirty="0" err="1"/>
              <a:t>onfocus</a:t>
            </a:r>
            <a:r>
              <a:rPr lang="en-US" sz="2400" dirty="0"/>
              <a:t> event is most often used with &lt;input&gt;, &lt;select&gt;, and &lt;a&gt;.</a:t>
            </a:r>
          </a:p>
          <a:p>
            <a:endParaRPr lang="en-US" sz="2400" b="1" dirty="0" smtClean="0"/>
          </a:p>
          <a:p>
            <a:pPr algn="just"/>
            <a:r>
              <a:rPr lang="en-US" sz="2400" b="1" i="1" dirty="0" smtClean="0"/>
              <a:t>Tip</a:t>
            </a:r>
            <a:r>
              <a:rPr lang="en-US" sz="2400" b="1" i="1" dirty="0"/>
              <a:t>:</a:t>
            </a:r>
            <a:r>
              <a:rPr lang="en-US" sz="2400" i="1" dirty="0"/>
              <a:t> The </a:t>
            </a:r>
            <a:r>
              <a:rPr lang="en-US" sz="2400" i="1" dirty="0" err="1"/>
              <a:t>onfocus</a:t>
            </a:r>
            <a:r>
              <a:rPr lang="en-US" sz="2400" i="1" dirty="0"/>
              <a:t> event is the opposite of the </a:t>
            </a:r>
            <a:r>
              <a:rPr lang="en-US" sz="2400" i="1" dirty="0" err="1">
                <a:hlinkClick r:id="rId2"/>
              </a:rPr>
              <a:t>onblur</a:t>
            </a:r>
            <a:r>
              <a:rPr lang="en-US" sz="2400" i="1" dirty="0"/>
              <a:t> event.</a:t>
            </a:r>
          </a:p>
          <a:p>
            <a:pPr algn="just"/>
            <a:r>
              <a:rPr lang="en-US" sz="2400" b="1" i="1" dirty="0"/>
              <a:t>Tip: </a:t>
            </a:r>
            <a:r>
              <a:rPr lang="en-US" sz="2400" i="1" dirty="0"/>
              <a:t>The </a:t>
            </a:r>
            <a:r>
              <a:rPr lang="en-US" sz="2400" i="1" dirty="0" err="1"/>
              <a:t>onfocus</a:t>
            </a:r>
            <a:r>
              <a:rPr lang="en-US" sz="2400" i="1" dirty="0"/>
              <a:t> event is similar to the </a:t>
            </a:r>
            <a:r>
              <a:rPr lang="en-US" sz="2400" i="1" dirty="0" err="1">
                <a:hlinkClick r:id="rId3"/>
              </a:rPr>
              <a:t>onfocusin</a:t>
            </a:r>
            <a:r>
              <a:rPr lang="en-US" sz="2400" i="1" dirty="0"/>
              <a:t> event. The main difference is that the </a:t>
            </a:r>
            <a:r>
              <a:rPr lang="en-US" sz="2400" i="1" dirty="0" err="1"/>
              <a:t>onfocus</a:t>
            </a:r>
            <a:r>
              <a:rPr lang="en-US" sz="2400" i="1" dirty="0"/>
              <a:t> event does not bubble. Therefore, if you want to find out whether an element or its child gets the focus, you could use the </a:t>
            </a:r>
            <a:r>
              <a:rPr lang="en-US" sz="2400" i="1" dirty="0" err="1"/>
              <a:t>onfocusin</a:t>
            </a:r>
            <a:r>
              <a:rPr lang="en-US" sz="2400" i="1" dirty="0"/>
              <a:t> event.</a:t>
            </a:r>
          </a:p>
          <a:p>
            <a:endParaRPr lang="en-US" sz="2400" dirty="0"/>
          </a:p>
        </p:txBody>
      </p:sp>
    </p:spTree>
    <p:extLst>
      <p:ext uri="{BB962C8B-B14F-4D97-AF65-F5344CB8AC3E}">
        <p14:creationId xmlns:p14="http://schemas.microsoft.com/office/powerpoint/2010/main" xmlns="" val="12043584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a:bodyPr>
          <a:lstStyle/>
          <a:p>
            <a:pPr>
              <a:buNone/>
            </a:pPr>
            <a:r>
              <a:rPr lang="en-US" sz="2000" dirty="0"/>
              <a:t>&lt;!DOCTYPE html&gt;</a:t>
            </a:r>
          </a:p>
          <a:p>
            <a:pPr>
              <a:buNone/>
            </a:pPr>
            <a:r>
              <a:rPr lang="en-US" sz="2000" dirty="0"/>
              <a:t>&lt;html&gt;</a:t>
            </a:r>
          </a:p>
          <a:p>
            <a:pPr>
              <a:buNone/>
            </a:pPr>
            <a:r>
              <a:rPr lang="en-US" sz="2000" dirty="0"/>
              <a:t>&lt;body&gt;</a:t>
            </a:r>
          </a:p>
          <a:p>
            <a:pPr>
              <a:buNone/>
            </a:pPr>
            <a:endParaRPr lang="en-US" sz="2000" dirty="0"/>
          </a:p>
          <a:p>
            <a:pPr>
              <a:buNone/>
            </a:pPr>
            <a:r>
              <a:rPr lang="en-US" sz="2000" dirty="0"/>
              <a:t>&lt;</a:t>
            </a:r>
            <a:r>
              <a:rPr lang="en-US" sz="2000" b="1" dirty="0"/>
              <a:t>p&gt;This example demonstrates how to assign an "</a:t>
            </a:r>
            <a:r>
              <a:rPr lang="en-US" sz="2000" b="1" dirty="0" err="1"/>
              <a:t>onfocus</a:t>
            </a:r>
            <a:r>
              <a:rPr lang="en-US" sz="2000" b="1" dirty="0"/>
              <a:t>" event to an input element</a:t>
            </a:r>
            <a:r>
              <a:rPr lang="en-US" sz="2000" dirty="0"/>
              <a:t>.&lt;/p&gt;</a:t>
            </a:r>
          </a:p>
          <a:p>
            <a:pPr>
              <a:buNone/>
            </a:pPr>
            <a:endParaRPr lang="en-US" sz="2000" dirty="0"/>
          </a:p>
          <a:p>
            <a:pPr>
              <a:buNone/>
            </a:pPr>
            <a:r>
              <a:rPr lang="en-US" sz="2000" dirty="0"/>
              <a:t>Enter your name: &lt;input type="text" id="</a:t>
            </a:r>
            <a:r>
              <a:rPr lang="en-US" sz="2000" dirty="0" err="1"/>
              <a:t>fname</a:t>
            </a:r>
            <a:r>
              <a:rPr lang="en-US" sz="2000" dirty="0"/>
              <a:t>" </a:t>
            </a:r>
            <a:r>
              <a:rPr lang="en-US" sz="2000" dirty="0" err="1"/>
              <a:t>onfocus</a:t>
            </a:r>
            <a:r>
              <a:rPr lang="en-US" sz="2000" dirty="0"/>
              <a:t>="</a:t>
            </a:r>
            <a:r>
              <a:rPr lang="en-US" sz="2000" dirty="0" err="1"/>
              <a:t>myFunction</a:t>
            </a:r>
            <a:r>
              <a:rPr lang="en-US" sz="2000" dirty="0"/>
              <a:t>()"&gt;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t>
            </a:r>
            <a:r>
              <a:rPr lang="en-US" sz="2000" dirty="0" err="1"/>
              <a:t>document.getElementById</a:t>
            </a:r>
            <a:r>
              <a:rPr lang="en-US" sz="2000" dirty="0"/>
              <a:t>("</a:t>
            </a:r>
            <a:r>
              <a:rPr lang="en-US" sz="2000" dirty="0" err="1"/>
              <a:t>fname</a:t>
            </a:r>
            <a:r>
              <a:rPr lang="en-US" sz="2000" dirty="0"/>
              <a:t>").</a:t>
            </a:r>
            <a:r>
              <a:rPr lang="en-US" sz="2000" dirty="0" err="1"/>
              <a:t>style.backgroundColor</a:t>
            </a:r>
            <a:r>
              <a:rPr lang="en-US" sz="2000" dirty="0"/>
              <a:t> = "red";</a:t>
            </a:r>
          </a:p>
          <a:p>
            <a:pPr>
              <a:buNone/>
            </a:pPr>
            <a:r>
              <a:rPr lang="en-US" sz="2000" dirty="0"/>
              <a:t>}</a:t>
            </a:r>
          </a:p>
          <a:p>
            <a:pPr>
              <a:buNone/>
            </a:pPr>
            <a:r>
              <a:rPr lang="en-US" sz="2000" dirty="0"/>
              <a:t>&lt;/script&gt;</a:t>
            </a:r>
          </a:p>
          <a:p>
            <a:pPr>
              <a:buNone/>
            </a:pPr>
            <a:endParaRPr lang="en-US" sz="2000" dirty="0"/>
          </a:p>
          <a:p>
            <a:pPr>
              <a:buNone/>
            </a:pPr>
            <a:r>
              <a:rPr lang="en-US" sz="2000" dirty="0"/>
              <a:t>&lt;/body&gt;</a:t>
            </a:r>
          </a:p>
          <a:p>
            <a:pPr>
              <a:buNone/>
            </a:pPr>
            <a:r>
              <a:rPr lang="en-US" sz="2000" dirty="0"/>
              <a:t>&lt;/html&gt;</a:t>
            </a:r>
          </a:p>
        </p:txBody>
      </p:sp>
    </p:spTree>
    <p:extLst>
      <p:ext uri="{BB962C8B-B14F-4D97-AF65-F5344CB8AC3E}">
        <p14:creationId xmlns:p14="http://schemas.microsoft.com/office/powerpoint/2010/main" xmlns="" val="40533538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r>
              <a:rPr lang="en-US" dirty="0"/>
              <a:t>&lt;!DOCTYPE html&gt;</a:t>
            </a:r>
          </a:p>
          <a:p>
            <a:r>
              <a:rPr lang="en-US" dirty="0"/>
              <a:t>&lt;html&gt;</a:t>
            </a:r>
          </a:p>
          <a:p>
            <a:r>
              <a:rPr lang="en-US" dirty="0"/>
              <a:t>&lt;body&gt;</a:t>
            </a:r>
          </a:p>
          <a:p>
            <a:endParaRPr lang="en-US" dirty="0"/>
          </a:p>
          <a:p>
            <a:r>
              <a:rPr lang="en-US" dirty="0"/>
              <a:t>&lt;p&gt;This example uses the HTML DOM to assign an "</a:t>
            </a:r>
            <a:r>
              <a:rPr lang="en-US" dirty="0" err="1"/>
              <a:t>onfocus</a:t>
            </a:r>
            <a:r>
              <a:rPr lang="en-US" dirty="0"/>
              <a:t>" event to an input element.&lt;/p&gt;</a:t>
            </a:r>
          </a:p>
          <a:p>
            <a:endParaRPr lang="en-US" dirty="0"/>
          </a:p>
          <a:p>
            <a:r>
              <a:rPr lang="en-US" dirty="0"/>
              <a:t>Enter your name: &lt;input type="text" id="</a:t>
            </a:r>
            <a:r>
              <a:rPr lang="en-US" dirty="0" err="1"/>
              <a:t>fname</a:t>
            </a:r>
            <a:r>
              <a:rPr lang="en-US" dirty="0"/>
              <a:t>"&gt;</a:t>
            </a:r>
          </a:p>
          <a:p>
            <a:endParaRPr lang="en-US" dirty="0"/>
          </a:p>
          <a:p>
            <a:r>
              <a:rPr lang="en-US" dirty="0"/>
              <a:t>&lt;script&gt;</a:t>
            </a:r>
          </a:p>
          <a:p>
            <a:r>
              <a:rPr lang="en-US" dirty="0" err="1"/>
              <a:t>document.getElementById</a:t>
            </a:r>
            <a:r>
              <a:rPr lang="en-US" dirty="0"/>
              <a:t>("</a:t>
            </a:r>
            <a:r>
              <a:rPr lang="en-US" dirty="0" err="1"/>
              <a:t>fname</a:t>
            </a:r>
            <a:r>
              <a:rPr lang="en-US" dirty="0"/>
              <a:t>").</a:t>
            </a:r>
            <a:r>
              <a:rPr lang="en-US" b="1" dirty="0" err="1"/>
              <a:t>onfocus</a:t>
            </a:r>
            <a:r>
              <a:rPr lang="en-US" dirty="0"/>
              <a:t> = function() {</a:t>
            </a:r>
            <a:r>
              <a:rPr lang="en-US" dirty="0" err="1"/>
              <a:t>myFunction</a:t>
            </a:r>
            <a:r>
              <a:rPr lang="en-US" dirty="0"/>
              <a:t>()};</a:t>
            </a:r>
          </a:p>
          <a:p>
            <a:endParaRPr lang="en-US" dirty="0"/>
          </a:p>
          <a:p>
            <a:r>
              <a:rPr lang="en-US" dirty="0"/>
              <a:t>function </a:t>
            </a:r>
            <a:r>
              <a:rPr lang="en-US" dirty="0" err="1"/>
              <a:t>myFunction</a:t>
            </a:r>
            <a:r>
              <a:rPr lang="en-US" dirty="0"/>
              <a:t>() {</a:t>
            </a:r>
          </a:p>
          <a:p>
            <a:r>
              <a:rPr lang="en-US" dirty="0"/>
              <a:t>    </a:t>
            </a:r>
            <a:r>
              <a:rPr lang="en-US" dirty="0" err="1"/>
              <a:t>document.getElementById</a:t>
            </a:r>
            <a:r>
              <a:rPr lang="en-US" dirty="0"/>
              <a:t>("</a:t>
            </a:r>
            <a:r>
              <a:rPr lang="en-US" dirty="0" err="1"/>
              <a:t>fname</a:t>
            </a:r>
            <a:r>
              <a:rPr lang="en-US" dirty="0"/>
              <a:t>").</a:t>
            </a:r>
            <a:r>
              <a:rPr lang="en-US" dirty="0" err="1"/>
              <a:t>style.backgroundColor</a:t>
            </a:r>
            <a:r>
              <a:rPr lang="en-US" dirty="0"/>
              <a:t> = "red";</a:t>
            </a:r>
          </a:p>
          <a:p>
            <a:r>
              <a:rPr lang="en-US" dirty="0"/>
              <a:t>}</a:t>
            </a:r>
          </a:p>
          <a:p>
            <a:r>
              <a:rPr lang="en-US" dirty="0"/>
              <a:t>&lt;/script&gt;</a:t>
            </a:r>
          </a:p>
          <a:p>
            <a:endParaRPr lang="en-US" dirty="0"/>
          </a:p>
          <a:p>
            <a:r>
              <a:rPr lang="en-US" dirty="0"/>
              <a:t>&lt;/body&gt;</a:t>
            </a:r>
          </a:p>
          <a:p>
            <a:r>
              <a:rPr lang="en-US" dirty="0"/>
              <a:t>&lt;/html&gt;</a:t>
            </a:r>
          </a:p>
          <a:p>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onfocusin</a:t>
            </a:r>
            <a:r>
              <a:rPr lang="en-US" b="1" dirty="0"/>
              <a:t> Event</a:t>
            </a:r>
            <a:br>
              <a:rPr lang="en-US" b="1" dirty="0"/>
            </a:br>
            <a:endParaRPr lang="en-US" dirty="0"/>
          </a:p>
        </p:txBody>
      </p:sp>
      <p:sp>
        <p:nvSpPr>
          <p:cNvPr id="3" name="Content Placeholder 2"/>
          <p:cNvSpPr>
            <a:spLocks noGrp="1"/>
          </p:cNvSpPr>
          <p:nvPr>
            <p:ph idx="1"/>
          </p:nvPr>
        </p:nvSpPr>
        <p:spPr/>
        <p:txBody>
          <a:bodyPr>
            <a:normAutofit/>
          </a:bodyPr>
          <a:lstStyle/>
          <a:p>
            <a:pPr algn="just">
              <a:buNone/>
            </a:pPr>
            <a:r>
              <a:rPr lang="en-US" sz="2600" b="1" dirty="0" smtClean="0"/>
              <a:t>Definition </a:t>
            </a:r>
            <a:r>
              <a:rPr lang="en-US" sz="2600" b="1" dirty="0"/>
              <a:t>and Usage</a:t>
            </a:r>
          </a:p>
          <a:p>
            <a:pPr algn="just"/>
            <a:endParaRPr lang="en-US" sz="2600" dirty="0" smtClean="0"/>
          </a:p>
          <a:p>
            <a:pPr algn="just"/>
            <a:r>
              <a:rPr lang="en-US" sz="2600" dirty="0" smtClean="0"/>
              <a:t>The </a:t>
            </a:r>
            <a:r>
              <a:rPr lang="en-US" sz="2600" dirty="0" err="1"/>
              <a:t>onfocusin</a:t>
            </a:r>
            <a:r>
              <a:rPr lang="en-US" sz="2600" dirty="0"/>
              <a:t> event occurs when an element is about to get focus.</a:t>
            </a:r>
          </a:p>
          <a:p>
            <a:pPr algn="just"/>
            <a:endParaRPr lang="en-US" sz="2600" b="1" dirty="0" smtClean="0"/>
          </a:p>
          <a:p>
            <a:pPr algn="just"/>
            <a:r>
              <a:rPr lang="en-US" sz="2600" b="1" i="1" dirty="0" smtClean="0"/>
              <a:t>Tip</a:t>
            </a:r>
            <a:r>
              <a:rPr lang="en-US" sz="2600" b="1" i="1" dirty="0"/>
              <a:t>: </a:t>
            </a:r>
            <a:r>
              <a:rPr lang="en-US" sz="2600" i="1" dirty="0"/>
              <a:t>The </a:t>
            </a:r>
            <a:r>
              <a:rPr lang="en-US" sz="2600" i="1" dirty="0" err="1"/>
              <a:t>onfocusin</a:t>
            </a:r>
            <a:r>
              <a:rPr lang="en-US" sz="2600" i="1" dirty="0"/>
              <a:t> event is similar to the </a:t>
            </a:r>
            <a:r>
              <a:rPr lang="en-US" sz="2600" i="1" dirty="0" err="1">
                <a:hlinkClick r:id="rId2"/>
              </a:rPr>
              <a:t>onfocus</a:t>
            </a:r>
            <a:r>
              <a:rPr lang="en-US" sz="2600" i="1" dirty="0"/>
              <a:t> event. The main difference is that the </a:t>
            </a:r>
            <a:r>
              <a:rPr lang="en-US" sz="2600" i="1" dirty="0" err="1"/>
              <a:t>onfocus</a:t>
            </a:r>
            <a:r>
              <a:rPr lang="en-US" sz="2600" i="1" dirty="0"/>
              <a:t> event does not bubble. Therefore, if you want to find out whether an element or its child gets the focus, you should use the </a:t>
            </a:r>
            <a:r>
              <a:rPr lang="en-US" sz="2600" i="1" dirty="0" err="1"/>
              <a:t>onfocusin</a:t>
            </a:r>
            <a:r>
              <a:rPr lang="en-US" sz="2600" i="1" dirty="0"/>
              <a:t> event.</a:t>
            </a:r>
          </a:p>
          <a:p>
            <a:pPr algn="just"/>
            <a:endParaRPr lang="en-US" sz="2600" dirty="0"/>
          </a:p>
        </p:txBody>
      </p:sp>
    </p:spTree>
    <p:extLst>
      <p:ext uri="{BB962C8B-B14F-4D97-AF65-F5344CB8AC3E}">
        <p14:creationId xmlns:p14="http://schemas.microsoft.com/office/powerpoint/2010/main" xmlns="" val="11047327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demonstrates how to assign an "</a:t>
            </a:r>
            <a:r>
              <a:rPr lang="en-US" b="1" dirty="0" err="1"/>
              <a:t>onfocusin</a:t>
            </a:r>
            <a:r>
              <a:rPr lang="en-US" b="1" dirty="0"/>
              <a:t>" event to an input element</a:t>
            </a:r>
            <a:r>
              <a:rPr lang="en-US" dirty="0"/>
              <a:t>.&lt;/p&gt;</a:t>
            </a:r>
          </a:p>
          <a:p>
            <a:pPr>
              <a:buNone/>
            </a:pPr>
            <a:endParaRPr lang="en-US" dirty="0"/>
          </a:p>
          <a:p>
            <a:pPr>
              <a:buNone/>
            </a:pPr>
            <a:r>
              <a:rPr lang="en-US" dirty="0"/>
              <a:t>Enter your name: &lt;input type="text" id="</a:t>
            </a:r>
            <a:r>
              <a:rPr lang="en-US" dirty="0" err="1"/>
              <a:t>fname</a:t>
            </a:r>
            <a:r>
              <a:rPr lang="en-US" dirty="0"/>
              <a:t>" </a:t>
            </a:r>
            <a:r>
              <a:rPr lang="en-US" dirty="0" err="1"/>
              <a:t>onfocusin</a:t>
            </a:r>
            <a:r>
              <a:rPr lang="en-US" dirty="0"/>
              <a:t>="</a:t>
            </a:r>
            <a:r>
              <a:rPr lang="en-US" dirty="0" err="1"/>
              <a:t>myFunction</a:t>
            </a:r>
            <a:r>
              <a:rPr lang="en-US" dirty="0"/>
              <a:t>()"&gt;</a:t>
            </a:r>
          </a:p>
          <a:p>
            <a:pPr>
              <a:buNone/>
            </a:pPr>
            <a:endParaRPr lang="en-US" dirty="0"/>
          </a:p>
          <a:p>
            <a:pPr>
              <a:buNone/>
            </a:pPr>
            <a:r>
              <a:rPr lang="en-US" dirty="0"/>
              <a:t>&lt;p&gt;&lt;strong&gt;Note:&lt;/strong&gt; Firefox does not support the </a:t>
            </a:r>
            <a:r>
              <a:rPr lang="en-US" dirty="0" err="1"/>
              <a:t>onfocusin</a:t>
            </a:r>
            <a:r>
              <a:rPr lang="en-US" dirty="0"/>
              <a:t> event.&lt;/p&gt;</a:t>
            </a:r>
          </a:p>
          <a:p>
            <a:pPr>
              <a:buNone/>
            </a:pPr>
            <a:endParaRPr lang="en-US" dirty="0"/>
          </a:p>
          <a:p>
            <a:pPr>
              <a:buNone/>
            </a:pPr>
            <a:r>
              <a:rPr lang="en-US" dirty="0"/>
              <a:t>&lt;script&gt;</a:t>
            </a:r>
          </a:p>
          <a:p>
            <a:pPr>
              <a:buNone/>
            </a:pPr>
            <a:r>
              <a:rPr lang="en-US" dirty="0"/>
              <a:t>function </a:t>
            </a:r>
            <a:r>
              <a:rPr lang="en-US" dirty="0" err="1"/>
              <a:t>myFunction</a:t>
            </a:r>
            <a:r>
              <a:rPr lang="en-US" dirty="0"/>
              <a:t>() {</a:t>
            </a:r>
          </a:p>
          <a:p>
            <a:pPr>
              <a:buNone/>
            </a:pPr>
            <a:r>
              <a:rPr lang="en-US" dirty="0"/>
              <a:t>    </a:t>
            </a:r>
            <a:r>
              <a:rPr lang="en-US" dirty="0" err="1"/>
              <a:t>document.getElementById</a:t>
            </a:r>
            <a:r>
              <a:rPr lang="en-US" dirty="0"/>
              <a:t>("</a:t>
            </a:r>
            <a:r>
              <a:rPr lang="en-US" dirty="0" err="1"/>
              <a:t>fname</a:t>
            </a:r>
            <a:r>
              <a:rPr lang="en-US" dirty="0"/>
              <a:t>").</a:t>
            </a:r>
            <a:r>
              <a:rPr lang="en-US" dirty="0" err="1"/>
              <a:t>style.backgroundColor</a:t>
            </a:r>
            <a:r>
              <a:rPr lang="en-US" dirty="0"/>
              <a:t> = "red";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p:txBody>
      </p:sp>
    </p:spTree>
    <p:extLst>
      <p:ext uri="{BB962C8B-B14F-4D97-AF65-F5344CB8AC3E}">
        <p14:creationId xmlns:p14="http://schemas.microsoft.com/office/powerpoint/2010/main" xmlns="" val="405335381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onfocusout</a:t>
            </a:r>
            <a:r>
              <a:rPr lang="en-US" b="1" dirty="0"/>
              <a:t> Event</a:t>
            </a:r>
            <a:br>
              <a:rPr lang="en-US" b="1" dirty="0"/>
            </a:br>
            <a:endParaRPr lang="en-US" dirty="0"/>
          </a:p>
        </p:txBody>
      </p:sp>
      <p:sp>
        <p:nvSpPr>
          <p:cNvPr id="3" name="Content Placeholder 2"/>
          <p:cNvSpPr>
            <a:spLocks noGrp="1"/>
          </p:cNvSpPr>
          <p:nvPr>
            <p:ph idx="1"/>
          </p:nvPr>
        </p:nvSpPr>
        <p:spPr/>
        <p:txBody>
          <a:bodyPr>
            <a:normAutofit/>
          </a:bodyPr>
          <a:lstStyle/>
          <a:p>
            <a:pPr algn="just">
              <a:buNone/>
            </a:pPr>
            <a:r>
              <a:rPr lang="en-US" sz="2600" b="1" dirty="0"/>
              <a:t>Definition and Usage</a:t>
            </a:r>
          </a:p>
          <a:p>
            <a:pPr algn="just"/>
            <a:endParaRPr lang="en-US" sz="2600" dirty="0" smtClean="0"/>
          </a:p>
          <a:p>
            <a:pPr algn="just"/>
            <a:r>
              <a:rPr lang="en-US" sz="2600" dirty="0" smtClean="0"/>
              <a:t>The </a:t>
            </a:r>
            <a:r>
              <a:rPr lang="en-US" sz="2600" dirty="0" err="1"/>
              <a:t>onfocusout</a:t>
            </a:r>
            <a:r>
              <a:rPr lang="en-US" sz="2600" dirty="0"/>
              <a:t> event occurs when an element is about to lose focus.</a:t>
            </a:r>
          </a:p>
          <a:p>
            <a:pPr algn="just"/>
            <a:endParaRPr lang="en-US" sz="2600" b="1" dirty="0" smtClean="0"/>
          </a:p>
          <a:p>
            <a:pPr algn="just"/>
            <a:r>
              <a:rPr lang="en-US" sz="2600" b="1" i="1" dirty="0" smtClean="0"/>
              <a:t>Tip</a:t>
            </a:r>
            <a:r>
              <a:rPr lang="en-US" sz="2600" b="1" i="1" dirty="0"/>
              <a:t>: </a:t>
            </a:r>
            <a:r>
              <a:rPr lang="en-US" sz="2600" i="1" dirty="0"/>
              <a:t>The </a:t>
            </a:r>
            <a:r>
              <a:rPr lang="en-US" sz="2600" i="1" dirty="0" err="1"/>
              <a:t>onfocusout</a:t>
            </a:r>
            <a:r>
              <a:rPr lang="en-US" sz="2600" i="1" dirty="0"/>
              <a:t> event is similar to the </a:t>
            </a:r>
            <a:r>
              <a:rPr lang="en-US" sz="2600" i="1" dirty="0" err="1">
                <a:hlinkClick r:id="rId2"/>
              </a:rPr>
              <a:t>onblur</a:t>
            </a:r>
            <a:r>
              <a:rPr lang="en-US" sz="2600" i="1" dirty="0"/>
              <a:t> event. The main difference is that the </a:t>
            </a:r>
            <a:r>
              <a:rPr lang="en-US" sz="2600" i="1" dirty="0" err="1"/>
              <a:t>onblur</a:t>
            </a:r>
            <a:r>
              <a:rPr lang="en-US" sz="2600" i="1" dirty="0"/>
              <a:t> event does not bubble. Therefore, if you want to find out whether an element or its child loses focus, you should use the </a:t>
            </a:r>
            <a:r>
              <a:rPr lang="en-US" sz="2600" i="1" dirty="0" err="1"/>
              <a:t>onfocusout</a:t>
            </a:r>
            <a:r>
              <a:rPr lang="en-US" sz="2600" i="1" dirty="0"/>
              <a:t> event.</a:t>
            </a:r>
          </a:p>
          <a:p>
            <a:pPr algn="just"/>
            <a:endParaRPr lang="en-US" sz="2600" dirty="0"/>
          </a:p>
        </p:txBody>
      </p:sp>
    </p:spTree>
    <p:extLst>
      <p:ext uri="{BB962C8B-B14F-4D97-AF65-F5344CB8AC3E}">
        <p14:creationId xmlns:p14="http://schemas.microsoft.com/office/powerpoint/2010/main" xmlns="" val="35569286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553200"/>
          </a:xfrm>
        </p:spPr>
        <p:txBody>
          <a:bodyPr>
            <a:noAutofit/>
          </a:bodyPr>
          <a:lstStyle/>
          <a:p>
            <a:pPr>
              <a:buNone/>
            </a:pPr>
            <a:r>
              <a:rPr lang="en-US" sz="2000" dirty="0"/>
              <a:t>&lt;!DOCTYPE html&gt;</a:t>
            </a:r>
          </a:p>
          <a:p>
            <a:pPr>
              <a:buNone/>
            </a:pPr>
            <a:r>
              <a:rPr lang="en-US" sz="2000" dirty="0"/>
              <a:t>&lt;html&gt;</a:t>
            </a:r>
          </a:p>
          <a:p>
            <a:pPr>
              <a:buNone/>
            </a:pPr>
            <a:r>
              <a:rPr lang="en-US" sz="2000" dirty="0"/>
              <a:t>&lt;body&gt;</a:t>
            </a:r>
          </a:p>
          <a:p>
            <a:pPr>
              <a:buNone/>
            </a:pPr>
            <a:r>
              <a:rPr lang="en-US" sz="2000" dirty="0" smtClean="0"/>
              <a:t>&lt;</a:t>
            </a:r>
            <a:r>
              <a:rPr lang="en-US" sz="2000" b="1" dirty="0"/>
              <a:t>p&gt;This example demonstrates how to assign an "</a:t>
            </a:r>
            <a:r>
              <a:rPr lang="en-US" sz="2000" b="1" dirty="0" err="1"/>
              <a:t>onfocusout</a:t>
            </a:r>
            <a:r>
              <a:rPr lang="en-US" sz="2000" b="1" dirty="0"/>
              <a:t>" event to an input element.&lt;/p</a:t>
            </a:r>
            <a:r>
              <a:rPr lang="en-US" sz="2000" dirty="0"/>
              <a:t>&gt;</a:t>
            </a:r>
          </a:p>
          <a:p>
            <a:pPr>
              <a:buNone/>
            </a:pPr>
            <a:endParaRPr lang="en-US" sz="2000" dirty="0"/>
          </a:p>
          <a:p>
            <a:pPr>
              <a:buNone/>
            </a:pPr>
            <a:r>
              <a:rPr lang="en-US" sz="2000" dirty="0"/>
              <a:t>&lt;p&gt;Write something in the input field, and then click outside the field to lose focus.&lt;/p&gt;</a:t>
            </a:r>
          </a:p>
          <a:p>
            <a:pPr>
              <a:buNone/>
            </a:pPr>
            <a:r>
              <a:rPr lang="en-US" sz="2000" dirty="0" smtClean="0"/>
              <a:t>&lt;</a:t>
            </a:r>
            <a:r>
              <a:rPr lang="en-US" sz="2000" dirty="0"/>
              <a:t>input type="text" </a:t>
            </a:r>
            <a:r>
              <a:rPr lang="en-US" sz="2000" dirty="0" err="1"/>
              <a:t>onfocusout</a:t>
            </a:r>
            <a:r>
              <a:rPr lang="en-US" sz="2000" dirty="0"/>
              <a:t>="</a:t>
            </a:r>
            <a:r>
              <a:rPr lang="en-US" sz="2000" dirty="0" err="1"/>
              <a:t>myFunction</a:t>
            </a:r>
            <a:r>
              <a:rPr lang="en-US" sz="2000" dirty="0"/>
              <a:t>()"&gt;</a:t>
            </a:r>
          </a:p>
          <a:p>
            <a:pPr>
              <a:buNone/>
            </a:pPr>
            <a:r>
              <a:rPr lang="en-US" sz="2000" dirty="0" smtClean="0"/>
              <a:t>&lt;</a:t>
            </a:r>
            <a:r>
              <a:rPr lang="en-US" sz="2000" dirty="0"/>
              <a:t>p&gt;&lt;strong&gt;Note:&lt;/strong&gt; Firefox does not support the </a:t>
            </a:r>
            <a:r>
              <a:rPr lang="en-US" sz="2000" dirty="0" err="1"/>
              <a:t>onfocusout</a:t>
            </a:r>
            <a:r>
              <a:rPr lang="en-US" sz="2000" dirty="0"/>
              <a:t> event.&lt;/p&gt;</a:t>
            </a:r>
          </a:p>
          <a:p>
            <a:pPr>
              <a:buNone/>
            </a:pPr>
            <a:r>
              <a:rPr lang="en-US" sz="2000" dirty="0" smtClean="0"/>
              <a:t>&lt;</a:t>
            </a:r>
            <a:r>
              <a:rPr lang="en-US" sz="2000" dirty="0"/>
              <a:t>script&gt;</a:t>
            </a:r>
          </a:p>
          <a:p>
            <a:pPr>
              <a:buNone/>
            </a:pPr>
            <a:r>
              <a:rPr lang="en-US" sz="2000" dirty="0"/>
              <a:t>function </a:t>
            </a:r>
            <a:r>
              <a:rPr lang="en-US" sz="2000" dirty="0" err="1"/>
              <a:t>myFunction</a:t>
            </a:r>
            <a:r>
              <a:rPr lang="en-US" sz="2000" dirty="0"/>
              <a:t>() {</a:t>
            </a:r>
          </a:p>
          <a:p>
            <a:pPr>
              <a:buNone/>
            </a:pPr>
            <a:r>
              <a:rPr lang="en-US" sz="2000" dirty="0"/>
              <a:t>    alert("Input field lost focus.");</a:t>
            </a:r>
          </a:p>
          <a:p>
            <a:pPr>
              <a:buNone/>
            </a:pPr>
            <a:r>
              <a:rPr lang="en-US" sz="2000" dirty="0"/>
              <a:t>}</a:t>
            </a:r>
          </a:p>
          <a:p>
            <a:pPr>
              <a:buNone/>
            </a:pPr>
            <a:r>
              <a:rPr lang="en-US" sz="2000" dirty="0"/>
              <a:t>&lt;/script&gt;</a:t>
            </a:r>
          </a:p>
          <a:p>
            <a:pPr>
              <a:buNone/>
            </a:pPr>
            <a:r>
              <a:rPr lang="en-US" sz="2000" dirty="0" smtClean="0"/>
              <a:t>&lt;/</a:t>
            </a:r>
            <a:r>
              <a:rPr lang="en-US" sz="2000" dirty="0"/>
              <a: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405335381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400800"/>
          </a:xfrm>
        </p:spPr>
        <p:txBody>
          <a:bodyPr>
            <a:noAutofit/>
          </a:bodyPr>
          <a:lstStyle/>
          <a:p>
            <a:pPr>
              <a:buNone/>
            </a:pPr>
            <a:r>
              <a:rPr lang="en-US" sz="1900" dirty="0"/>
              <a:t>&lt;!DOCTYPE html&gt;</a:t>
            </a:r>
          </a:p>
          <a:p>
            <a:pPr>
              <a:buNone/>
            </a:pPr>
            <a:r>
              <a:rPr lang="en-US" sz="1900" dirty="0"/>
              <a:t>&lt;html&gt;</a:t>
            </a:r>
          </a:p>
          <a:p>
            <a:pPr>
              <a:buNone/>
            </a:pPr>
            <a:r>
              <a:rPr lang="en-US" sz="1900" dirty="0"/>
              <a:t>&lt;body&gt;</a:t>
            </a:r>
          </a:p>
          <a:p>
            <a:pPr>
              <a:buNone/>
            </a:pPr>
            <a:r>
              <a:rPr lang="en-US" sz="1900" dirty="0" smtClean="0"/>
              <a:t>&lt;</a:t>
            </a:r>
            <a:r>
              <a:rPr lang="en-US" sz="1900" b="1" dirty="0"/>
              <a:t>p&gt;This example uses the HTML DOM to assign an "</a:t>
            </a:r>
            <a:r>
              <a:rPr lang="en-US" sz="1900" b="1" dirty="0" err="1"/>
              <a:t>onfocusout</a:t>
            </a:r>
            <a:r>
              <a:rPr lang="en-US" sz="1900" b="1" dirty="0"/>
              <a:t>" event to an input element.&lt;/</a:t>
            </a:r>
            <a:r>
              <a:rPr lang="en-US" sz="1900" dirty="0"/>
              <a:t>p&gt;</a:t>
            </a:r>
          </a:p>
          <a:p>
            <a:pPr>
              <a:buNone/>
            </a:pPr>
            <a:r>
              <a:rPr lang="en-US" sz="1900" dirty="0" smtClean="0"/>
              <a:t>&lt;</a:t>
            </a:r>
            <a:r>
              <a:rPr lang="en-US" sz="1900" dirty="0"/>
              <a:t>p&gt;Write something in the input field, and then click outside the field to lose focus.&lt;/p&gt;</a:t>
            </a:r>
          </a:p>
          <a:p>
            <a:pPr>
              <a:buNone/>
            </a:pPr>
            <a:r>
              <a:rPr lang="en-US" sz="1900" dirty="0" smtClean="0"/>
              <a:t>&lt;</a:t>
            </a:r>
            <a:r>
              <a:rPr lang="en-US" sz="1900" dirty="0"/>
              <a:t>input type="text" id="</a:t>
            </a:r>
            <a:r>
              <a:rPr lang="en-US" sz="1900" dirty="0" err="1"/>
              <a:t>fname</a:t>
            </a:r>
            <a:r>
              <a:rPr lang="en-US" sz="1900" dirty="0"/>
              <a:t>"&gt;</a:t>
            </a:r>
          </a:p>
          <a:p>
            <a:pPr>
              <a:buNone/>
            </a:pPr>
            <a:r>
              <a:rPr lang="en-US" sz="1900" dirty="0" smtClean="0"/>
              <a:t>&lt;</a:t>
            </a:r>
            <a:r>
              <a:rPr lang="en-US" sz="1900" dirty="0"/>
              <a:t>p&gt;&lt;strong&gt;Note:&lt;/strong&gt; Firefox does not support the </a:t>
            </a:r>
            <a:r>
              <a:rPr lang="en-US" sz="1900" dirty="0" err="1"/>
              <a:t>onfocusout</a:t>
            </a:r>
            <a:r>
              <a:rPr lang="en-US" sz="1900" dirty="0"/>
              <a:t> event.&lt;/p&gt;</a:t>
            </a:r>
          </a:p>
          <a:p>
            <a:pPr>
              <a:buNone/>
            </a:pPr>
            <a:r>
              <a:rPr lang="en-US" sz="1900" dirty="0"/>
              <a:t>&lt;p&gt;&lt;strong&gt;Note:&lt;/strong&gt; This example may not work as expected in Chrome, Safari and Opera 15+.&lt;/p&gt;</a:t>
            </a:r>
          </a:p>
          <a:p>
            <a:pPr>
              <a:buNone/>
            </a:pPr>
            <a:r>
              <a:rPr lang="en-US" sz="1900" dirty="0" smtClean="0"/>
              <a:t>&lt;</a:t>
            </a:r>
            <a:r>
              <a:rPr lang="en-US" sz="1900" dirty="0"/>
              <a:t>script&gt;</a:t>
            </a:r>
          </a:p>
          <a:p>
            <a:pPr>
              <a:buNone/>
            </a:pPr>
            <a:r>
              <a:rPr lang="en-US" sz="1900" dirty="0" err="1"/>
              <a:t>document.getElementById</a:t>
            </a:r>
            <a:r>
              <a:rPr lang="en-US" sz="1900" dirty="0"/>
              <a:t>("</a:t>
            </a:r>
            <a:r>
              <a:rPr lang="en-US" sz="1900" dirty="0" err="1"/>
              <a:t>fname</a:t>
            </a:r>
            <a:r>
              <a:rPr lang="en-US" sz="1900" dirty="0"/>
              <a:t>").</a:t>
            </a:r>
            <a:r>
              <a:rPr lang="en-US" sz="1900" dirty="0" err="1"/>
              <a:t>onfocusout</a:t>
            </a:r>
            <a:r>
              <a:rPr lang="en-US" sz="1900" dirty="0"/>
              <a:t> = function() {</a:t>
            </a:r>
            <a:r>
              <a:rPr lang="en-US" sz="1900" dirty="0" err="1"/>
              <a:t>myFunction</a:t>
            </a:r>
            <a:r>
              <a:rPr lang="en-US" sz="1900" dirty="0"/>
              <a:t>()};</a:t>
            </a:r>
          </a:p>
          <a:p>
            <a:pPr>
              <a:buNone/>
            </a:pPr>
            <a:r>
              <a:rPr lang="en-US" sz="1900" dirty="0" smtClean="0"/>
              <a:t>function </a:t>
            </a:r>
            <a:r>
              <a:rPr lang="en-US" sz="1900" dirty="0" err="1"/>
              <a:t>myFunction</a:t>
            </a:r>
            <a:r>
              <a:rPr lang="en-US" sz="1900" dirty="0"/>
              <a:t>() {</a:t>
            </a:r>
          </a:p>
          <a:p>
            <a:pPr>
              <a:buNone/>
            </a:pPr>
            <a:r>
              <a:rPr lang="en-US" sz="1900" dirty="0"/>
              <a:t>    alert("Input field lost focus.");</a:t>
            </a:r>
          </a:p>
          <a:p>
            <a:pPr>
              <a:buNone/>
            </a:pPr>
            <a:r>
              <a:rPr lang="en-US" sz="1900" dirty="0"/>
              <a:t>}</a:t>
            </a:r>
          </a:p>
          <a:p>
            <a:pPr>
              <a:buNone/>
            </a:pPr>
            <a:r>
              <a:rPr lang="en-US" sz="1900" dirty="0"/>
              <a:t>&lt;/script&gt;</a:t>
            </a:r>
          </a:p>
          <a:p>
            <a:pPr>
              <a:buNone/>
            </a:pPr>
            <a:r>
              <a:rPr lang="en-US" sz="1900" dirty="0" smtClean="0"/>
              <a:t>&lt;/</a:t>
            </a:r>
            <a:r>
              <a:rPr lang="en-US" sz="1900" dirty="0"/>
              <a:t>body&gt;</a:t>
            </a:r>
          </a:p>
          <a:p>
            <a:pPr>
              <a:buNone/>
            </a:pPr>
            <a:r>
              <a:rPr lang="en-US" sz="1900" dirty="0"/>
              <a:t>&lt;/html</a:t>
            </a:r>
            <a:r>
              <a:rPr lang="en-US" sz="1900" dirty="0" smtClean="0"/>
              <a:t>&gt;</a:t>
            </a:r>
            <a:endParaRPr lang="en-US" sz="1900" dirty="0"/>
          </a:p>
        </p:txBody>
      </p:sp>
    </p:spTree>
    <p:extLst>
      <p:ext uri="{BB962C8B-B14F-4D97-AF65-F5344CB8AC3E}">
        <p14:creationId xmlns:p14="http://schemas.microsoft.com/office/powerpoint/2010/main" xmlns="" val="40533538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4800" b="1" dirty="0" err="1"/>
              <a:t>oninput</a:t>
            </a:r>
            <a:r>
              <a:rPr lang="en-US" sz="4800" b="1" dirty="0"/>
              <a:t> </a:t>
            </a:r>
            <a:r>
              <a:rPr lang="en-US" sz="4800" b="1" dirty="0" smtClean="0"/>
              <a:t>Event</a:t>
            </a:r>
            <a:endParaRPr lang="en-US" sz="4800" dirty="0"/>
          </a:p>
        </p:txBody>
      </p:sp>
      <p:sp>
        <p:nvSpPr>
          <p:cNvPr id="3" name="Content Placeholder 2"/>
          <p:cNvSpPr>
            <a:spLocks noGrp="1"/>
          </p:cNvSpPr>
          <p:nvPr>
            <p:ph idx="1"/>
          </p:nvPr>
        </p:nvSpPr>
        <p:spPr>
          <a:xfrm>
            <a:off x="457200" y="1295400"/>
            <a:ext cx="8229600" cy="4830763"/>
          </a:xfrm>
        </p:spPr>
        <p:txBody>
          <a:bodyPr>
            <a:noAutofit/>
          </a:bodyPr>
          <a:lstStyle/>
          <a:p>
            <a:pPr algn="just">
              <a:buNone/>
            </a:pPr>
            <a:r>
              <a:rPr lang="en-US" sz="2400" b="1" dirty="0" smtClean="0"/>
              <a:t>Definition and Usage</a:t>
            </a:r>
          </a:p>
          <a:p>
            <a:pPr algn="just"/>
            <a:endParaRPr lang="en-US" sz="2400" dirty="0" smtClean="0"/>
          </a:p>
          <a:p>
            <a:pPr algn="just"/>
            <a:r>
              <a:rPr lang="en-US" sz="2400" dirty="0" smtClean="0"/>
              <a:t>The </a:t>
            </a:r>
            <a:r>
              <a:rPr lang="en-US" sz="2400" dirty="0" err="1" smtClean="0"/>
              <a:t>oninput</a:t>
            </a:r>
            <a:r>
              <a:rPr lang="en-US" sz="2400" dirty="0" smtClean="0"/>
              <a:t> event occurs when an element gets user input.</a:t>
            </a:r>
          </a:p>
          <a:p>
            <a:pPr algn="just"/>
            <a:endParaRPr lang="en-US" sz="2400" dirty="0" smtClean="0"/>
          </a:p>
          <a:p>
            <a:pPr algn="just"/>
            <a:r>
              <a:rPr lang="en-US" sz="2400" dirty="0" smtClean="0"/>
              <a:t>This event occurs when the value of an &lt;input&gt; or &lt;</a:t>
            </a:r>
            <a:r>
              <a:rPr lang="en-US" sz="2400" dirty="0" err="1" smtClean="0"/>
              <a:t>textarea</a:t>
            </a:r>
            <a:r>
              <a:rPr lang="en-US" sz="2400" dirty="0" smtClean="0"/>
              <a:t>&gt; element is changed.</a:t>
            </a:r>
          </a:p>
          <a:p>
            <a:pPr algn="just"/>
            <a:endParaRPr lang="en-US" sz="2400" b="1" dirty="0" smtClean="0"/>
          </a:p>
          <a:p>
            <a:pPr algn="just"/>
            <a:r>
              <a:rPr lang="en-US" sz="2400" b="1" i="1" dirty="0" smtClean="0"/>
              <a:t>Tip:</a:t>
            </a:r>
            <a:r>
              <a:rPr lang="en-US" sz="2400" i="1" dirty="0" smtClean="0"/>
              <a:t> This event is similar to the </a:t>
            </a:r>
            <a:r>
              <a:rPr lang="en-US" sz="2400" i="1" dirty="0" err="1" smtClean="0">
                <a:hlinkClick r:id="rId2"/>
              </a:rPr>
              <a:t>onchange</a:t>
            </a:r>
            <a:r>
              <a:rPr lang="en-US" sz="2400" i="1" dirty="0" smtClean="0"/>
              <a:t> event. The difference is that the </a:t>
            </a:r>
            <a:r>
              <a:rPr lang="en-US" sz="2400" i="1" dirty="0" err="1" smtClean="0"/>
              <a:t>oninput</a:t>
            </a:r>
            <a:r>
              <a:rPr lang="en-US" sz="2400" i="1" dirty="0" smtClean="0"/>
              <a:t> event occurs immediately after the value of an element has changed, while </a:t>
            </a:r>
            <a:r>
              <a:rPr lang="en-US" sz="2400" i="1" dirty="0" err="1" smtClean="0"/>
              <a:t>onchange</a:t>
            </a:r>
            <a:r>
              <a:rPr lang="en-US" sz="2400" i="1" dirty="0" smtClean="0"/>
              <a:t> occurs when the element loses focus, after the content has been changed. The other difference is that the </a:t>
            </a:r>
            <a:r>
              <a:rPr lang="en-US" sz="2400" i="1" dirty="0" err="1" smtClean="0"/>
              <a:t>onchange</a:t>
            </a:r>
            <a:r>
              <a:rPr lang="en-US" sz="2400" i="1" dirty="0" smtClean="0"/>
              <a:t> event also works on &lt;</a:t>
            </a:r>
            <a:r>
              <a:rPr lang="en-US" sz="2400" i="1" dirty="0" err="1" smtClean="0"/>
              <a:t>keygen</a:t>
            </a:r>
            <a:r>
              <a:rPr lang="en-US" sz="2400" i="1" dirty="0" smtClean="0"/>
              <a:t>&gt; and &lt;select&gt; elements.</a:t>
            </a:r>
          </a:p>
          <a:p>
            <a:pPr algn="just"/>
            <a:endParaRPr lang="en-US" sz="2400" i="1" dirty="0"/>
          </a:p>
        </p:txBody>
      </p:sp>
    </p:spTree>
    <p:extLst>
      <p:ext uri="{BB962C8B-B14F-4D97-AF65-F5344CB8AC3E}">
        <p14:creationId xmlns:p14="http://schemas.microsoft.com/office/powerpoint/2010/main" xmlns="" val="38973584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553200"/>
          </a:xfrm>
        </p:spPr>
        <p:txBody>
          <a:bodyPr>
            <a:noAutofit/>
          </a:bodyPr>
          <a:lstStyle/>
          <a:p>
            <a:pPr>
              <a:buNone/>
            </a:pPr>
            <a:r>
              <a:rPr lang="en-US" sz="2000" dirty="0"/>
              <a:t>&lt;!DOCTYPE html&gt;</a:t>
            </a:r>
          </a:p>
          <a:p>
            <a:pPr>
              <a:buNone/>
            </a:pPr>
            <a:r>
              <a:rPr lang="en-US" sz="2000" dirty="0"/>
              <a:t>&lt;html&gt;</a:t>
            </a:r>
          </a:p>
          <a:p>
            <a:pPr>
              <a:buNone/>
            </a:pPr>
            <a:r>
              <a:rPr lang="en-US" sz="2000" dirty="0"/>
              <a:t>&lt;body&gt;</a:t>
            </a:r>
          </a:p>
          <a:p>
            <a:pPr>
              <a:buNone/>
            </a:pPr>
            <a:endParaRPr lang="en-US" sz="2000" dirty="0"/>
          </a:p>
          <a:p>
            <a:pPr>
              <a:buNone/>
            </a:pPr>
            <a:r>
              <a:rPr lang="en-US" sz="2000" dirty="0"/>
              <a:t>&lt;p&gt;Write something in the text field to trigger a function.&lt;/p&gt;</a:t>
            </a:r>
          </a:p>
          <a:p>
            <a:pPr>
              <a:buNone/>
            </a:pPr>
            <a:endParaRPr lang="en-US" sz="2000" dirty="0"/>
          </a:p>
          <a:p>
            <a:pPr>
              <a:buNone/>
            </a:pPr>
            <a:r>
              <a:rPr lang="en-US" sz="2000" dirty="0"/>
              <a:t>&lt;input type="text" id="</a:t>
            </a:r>
            <a:r>
              <a:rPr lang="en-US" sz="2000" dirty="0" err="1"/>
              <a:t>myInput</a:t>
            </a:r>
            <a:r>
              <a:rPr lang="en-US" sz="2000" dirty="0"/>
              <a:t>" </a:t>
            </a:r>
            <a:r>
              <a:rPr lang="en-US" sz="2000" b="1" dirty="0" err="1"/>
              <a:t>oninput</a:t>
            </a:r>
            <a:r>
              <a:rPr lang="en-US" sz="2000" dirty="0"/>
              <a:t>="</a:t>
            </a:r>
            <a:r>
              <a:rPr lang="en-US" sz="2000" dirty="0" err="1"/>
              <a:t>myFunction</a:t>
            </a:r>
            <a:r>
              <a:rPr lang="en-US" sz="2000" dirty="0"/>
              <a:t>()"&gt;</a:t>
            </a:r>
          </a:p>
          <a:p>
            <a:pPr>
              <a:buNone/>
            </a:pPr>
            <a:endParaRPr lang="en-US" sz="2000" dirty="0"/>
          </a:p>
          <a:p>
            <a:pPr>
              <a:buNone/>
            </a:pPr>
            <a:r>
              <a:rPr lang="en-US" sz="2000" dirty="0"/>
              <a:t>&lt;p id="demo"&gt;&lt;/p&gt;</a:t>
            </a:r>
          </a:p>
          <a:p>
            <a:pPr>
              <a:buNone/>
            </a:pPr>
            <a:endParaRPr lang="en-US" sz="2000" dirty="0"/>
          </a:p>
          <a:p>
            <a:pPr>
              <a:buNone/>
            </a:pPr>
            <a:r>
              <a:rPr lang="en-US" sz="2000" dirty="0"/>
              <a:t>&lt;script&gt;</a:t>
            </a:r>
          </a:p>
          <a:p>
            <a:pPr>
              <a:buNone/>
            </a:pPr>
            <a:r>
              <a:rPr lang="en-US" sz="2000" dirty="0"/>
              <a:t>function </a:t>
            </a:r>
            <a:r>
              <a:rPr lang="en-US" sz="2000" dirty="0" err="1"/>
              <a:t>myFunction</a:t>
            </a:r>
            <a:r>
              <a:rPr lang="en-US" sz="2000" dirty="0"/>
              <a:t>() {</a:t>
            </a:r>
          </a:p>
          <a:p>
            <a:pPr>
              <a:buNone/>
            </a:pPr>
            <a:r>
              <a:rPr lang="en-US" sz="2000" dirty="0"/>
              <a:t>    </a:t>
            </a:r>
            <a:r>
              <a:rPr lang="en-US" sz="2000" dirty="0" err="1"/>
              <a:t>var</a:t>
            </a:r>
            <a:r>
              <a:rPr lang="en-US" sz="2000" dirty="0"/>
              <a:t> x = </a:t>
            </a:r>
            <a:r>
              <a:rPr lang="en-US" sz="2000" dirty="0" err="1"/>
              <a:t>document.getElementById</a:t>
            </a:r>
            <a:r>
              <a:rPr lang="en-US" sz="2000" dirty="0"/>
              <a:t>("</a:t>
            </a:r>
            <a:r>
              <a:rPr lang="en-US" sz="2000" dirty="0" err="1"/>
              <a:t>myInput</a:t>
            </a:r>
            <a:r>
              <a:rPr lang="en-US" sz="2000" dirty="0"/>
              <a:t>").value;</a:t>
            </a:r>
          </a:p>
          <a:p>
            <a:pPr>
              <a:buNone/>
            </a:pPr>
            <a:r>
              <a:rPr lang="en-US" sz="2000" dirty="0"/>
              <a:t>    </a:t>
            </a:r>
            <a:r>
              <a:rPr lang="en-US" sz="2000" dirty="0" err="1"/>
              <a:t>document.getElementById</a:t>
            </a:r>
            <a:r>
              <a:rPr lang="en-US" sz="2000" dirty="0"/>
              <a:t>("demo").</a:t>
            </a:r>
            <a:r>
              <a:rPr lang="en-US" sz="2000" dirty="0" err="1"/>
              <a:t>innerHTML</a:t>
            </a:r>
            <a:r>
              <a:rPr lang="en-US" sz="2000" dirty="0"/>
              <a:t> = "You wrote: " + x;</a:t>
            </a:r>
          </a:p>
          <a:p>
            <a:pPr>
              <a:buNone/>
            </a:pPr>
            <a:r>
              <a:rPr lang="en-US" sz="2000" dirty="0"/>
              <a:t>}</a:t>
            </a:r>
          </a:p>
          <a:p>
            <a:pPr>
              <a:buNone/>
            </a:pPr>
            <a:r>
              <a:rPr lang="en-US" sz="2000" dirty="0"/>
              <a:t>&lt;/script&gt;</a:t>
            </a:r>
          </a:p>
          <a:p>
            <a:pPr>
              <a:buNone/>
            </a:pPr>
            <a:r>
              <a:rPr lang="en-US" sz="2000" dirty="0" smtClean="0"/>
              <a:t>&lt;/</a:t>
            </a:r>
            <a:r>
              <a:rPr lang="en-US" sz="2000" dirty="0"/>
              <a:t>body&gt;</a:t>
            </a:r>
          </a:p>
          <a:p>
            <a:pPr>
              <a:buNone/>
            </a:pPr>
            <a:r>
              <a:rPr lang="en-US" sz="2000" dirty="0"/>
              <a:t>&lt;/html&gt;</a:t>
            </a:r>
          </a:p>
          <a:p>
            <a:pPr>
              <a:buNone/>
            </a:pPr>
            <a:endParaRPr lang="en-US" sz="2000" dirty="0"/>
          </a:p>
        </p:txBody>
      </p:sp>
    </p:spTree>
    <p:extLst>
      <p:ext uri="{BB962C8B-B14F-4D97-AF65-F5344CB8AC3E}">
        <p14:creationId xmlns:p14="http://schemas.microsoft.com/office/powerpoint/2010/main" xmlns="" val="405335381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625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oninput</a:t>
            </a:r>
            <a:r>
              <a:rPr lang="en-US" b="1" dirty="0"/>
              <a:t>" event to an input element</a:t>
            </a:r>
            <a:r>
              <a:rPr lang="en-US" dirty="0"/>
              <a:t>.&lt;/p&gt;</a:t>
            </a:r>
          </a:p>
          <a:p>
            <a:pPr>
              <a:buNone/>
            </a:pPr>
            <a:endParaRPr lang="en-US" dirty="0"/>
          </a:p>
          <a:p>
            <a:pPr>
              <a:buNone/>
            </a:pPr>
            <a:r>
              <a:rPr lang="en-US" dirty="0"/>
              <a:t>&lt;p&gt;Write something in the text field to trigger a function.&lt;/p&gt;</a:t>
            </a:r>
          </a:p>
          <a:p>
            <a:pPr>
              <a:buNone/>
            </a:pPr>
            <a:endParaRPr lang="en-US" dirty="0"/>
          </a:p>
          <a:p>
            <a:pPr>
              <a:buNone/>
            </a:pPr>
            <a:r>
              <a:rPr lang="en-US" dirty="0"/>
              <a:t>Enter name: &lt;input type="text" id="</a:t>
            </a:r>
            <a:r>
              <a:rPr lang="en-US" dirty="0" err="1"/>
              <a:t>myInput</a:t>
            </a:r>
            <a:r>
              <a:rPr lang="en-US" dirty="0"/>
              <a:t>" value="Mickey"&gt;</a:t>
            </a:r>
          </a:p>
          <a:p>
            <a:pPr>
              <a:buNone/>
            </a:pPr>
            <a:endParaRPr lang="en-US" dirty="0"/>
          </a:p>
          <a:p>
            <a:pPr>
              <a:buNone/>
            </a:pPr>
            <a:r>
              <a:rPr lang="en-US" dirty="0"/>
              <a:t>&lt;script&gt;</a:t>
            </a:r>
          </a:p>
          <a:p>
            <a:pPr>
              <a:buNone/>
            </a:pPr>
            <a:r>
              <a:rPr lang="en-US" dirty="0" err="1"/>
              <a:t>document.getElementById</a:t>
            </a:r>
            <a:r>
              <a:rPr lang="en-US" dirty="0"/>
              <a:t>("</a:t>
            </a:r>
            <a:r>
              <a:rPr lang="en-US" dirty="0" err="1"/>
              <a:t>myInput</a:t>
            </a:r>
            <a:r>
              <a:rPr lang="en-US" dirty="0"/>
              <a:t>").</a:t>
            </a:r>
            <a:r>
              <a:rPr lang="en-US" b="1" dirty="0" err="1"/>
              <a:t>oninput</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alert("The value of the input field was changed.");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a:p>
            <a:pPr>
              <a:buNone/>
            </a:pPr>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err="1"/>
              <a:t>onsubmit</a:t>
            </a:r>
            <a:r>
              <a:rPr lang="en-US" b="1" dirty="0"/>
              <a:t> </a:t>
            </a:r>
            <a:r>
              <a:rPr lang="en-US" b="1" dirty="0" smtClean="0"/>
              <a:t>Event</a:t>
            </a:r>
            <a:endParaRPr lang="en-US" dirty="0"/>
          </a:p>
        </p:txBody>
      </p:sp>
      <p:sp>
        <p:nvSpPr>
          <p:cNvPr id="3" name="Content Placeholder 2"/>
          <p:cNvSpPr>
            <a:spLocks noGrp="1"/>
          </p:cNvSpPr>
          <p:nvPr>
            <p:ph idx="1"/>
          </p:nvPr>
        </p:nvSpPr>
        <p:spPr/>
        <p:txBody>
          <a:bodyPr>
            <a:normAutofit/>
          </a:bodyPr>
          <a:lstStyle/>
          <a:p>
            <a:pPr algn="just"/>
            <a:r>
              <a:rPr lang="en-US" sz="2600" dirty="0"/>
              <a:t>The </a:t>
            </a:r>
            <a:r>
              <a:rPr lang="en-US" sz="2600" b="1" dirty="0" err="1"/>
              <a:t>onsubmit</a:t>
            </a:r>
            <a:r>
              <a:rPr lang="en-US" sz="2600" dirty="0"/>
              <a:t> event occurs when a form is submitted.</a:t>
            </a:r>
          </a:p>
        </p:txBody>
      </p:sp>
    </p:spTree>
    <p:extLst>
      <p:ext uri="{BB962C8B-B14F-4D97-AF65-F5344CB8AC3E}">
        <p14:creationId xmlns:p14="http://schemas.microsoft.com/office/powerpoint/2010/main" xmlns="" val="20523531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55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demonstrates how to assign an "</a:t>
            </a:r>
            <a:r>
              <a:rPr lang="en-US" b="1" dirty="0" err="1"/>
              <a:t>onsubmit</a:t>
            </a:r>
            <a:r>
              <a:rPr lang="en-US" b="1" dirty="0"/>
              <a:t>" event to a form element.&lt;/p&gt;</a:t>
            </a:r>
          </a:p>
          <a:p>
            <a:pPr>
              <a:buNone/>
            </a:pPr>
            <a:endParaRPr lang="en-US" dirty="0"/>
          </a:p>
          <a:p>
            <a:pPr>
              <a:buNone/>
            </a:pPr>
            <a:r>
              <a:rPr lang="en-US" dirty="0"/>
              <a:t>&lt;p&gt;When you submit the form, a function is triggered which alerts some text.&lt;/p&gt;</a:t>
            </a:r>
          </a:p>
          <a:p>
            <a:pPr>
              <a:buNone/>
            </a:pPr>
            <a:endParaRPr lang="en-US" dirty="0"/>
          </a:p>
          <a:p>
            <a:pPr>
              <a:buNone/>
            </a:pPr>
            <a:r>
              <a:rPr lang="en-US" dirty="0"/>
              <a:t>&lt;form action="demo_form.asp" </a:t>
            </a:r>
            <a:r>
              <a:rPr lang="en-US" b="1" dirty="0" err="1"/>
              <a:t>onsubmit</a:t>
            </a:r>
            <a:r>
              <a:rPr lang="en-US" dirty="0"/>
              <a:t>="</a:t>
            </a:r>
            <a:r>
              <a:rPr lang="en-US" dirty="0" err="1"/>
              <a:t>myFunction</a:t>
            </a:r>
            <a:r>
              <a:rPr lang="en-US" dirty="0"/>
              <a:t>()"&gt;</a:t>
            </a:r>
          </a:p>
          <a:p>
            <a:pPr>
              <a:buNone/>
            </a:pPr>
            <a:r>
              <a:rPr lang="en-US" dirty="0"/>
              <a:t>  Enter name: &lt;input type="text" name="</a:t>
            </a:r>
            <a:r>
              <a:rPr lang="en-US" dirty="0" err="1"/>
              <a:t>fname</a:t>
            </a:r>
            <a:r>
              <a:rPr lang="en-US" dirty="0"/>
              <a:t>"&gt;</a:t>
            </a:r>
          </a:p>
          <a:p>
            <a:pPr>
              <a:buNone/>
            </a:pPr>
            <a:r>
              <a:rPr lang="en-US" dirty="0"/>
              <a:t>  &lt;input type="submit" value="Submit"&gt;</a:t>
            </a:r>
          </a:p>
          <a:p>
            <a:pPr>
              <a:buNone/>
            </a:pPr>
            <a:r>
              <a:rPr lang="en-US" dirty="0"/>
              <a:t>&lt;/form&gt;</a:t>
            </a:r>
          </a:p>
          <a:p>
            <a:pPr>
              <a:buNone/>
            </a:pPr>
            <a:endParaRPr lang="en-US" dirty="0"/>
          </a:p>
          <a:p>
            <a:pPr>
              <a:buNone/>
            </a:pPr>
            <a:r>
              <a:rPr lang="en-US" dirty="0"/>
              <a:t>&lt;script&gt;</a:t>
            </a:r>
          </a:p>
          <a:p>
            <a:pPr>
              <a:buNone/>
            </a:pPr>
            <a:r>
              <a:rPr lang="en-US" dirty="0"/>
              <a:t>function </a:t>
            </a:r>
            <a:r>
              <a:rPr lang="en-US" dirty="0" err="1"/>
              <a:t>myFunction</a:t>
            </a:r>
            <a:r>
              <a:rPr lang="en-US" dirty="0"/>
              <a:t>() {</a:t>
            </a:r>
          </a:p>
          <a:p>
            <a:pPr>
              <a:buNone/>
            </a:pPr>
            <a:r>
              <a:rPr lang="en-US" dirty="0"/>
              <a:t>    alert("The form was submitted");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a:p>
            <a:pPr>
              <a:buNone/>
            </a:pPr>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781800"/>
          </a:xfrm>
        </p:spPr>
        <p:txBody>
          <a:bodyPr>
            <a:normAutofit fontScale="55000" lnSpcReduction="20000"/>
          </a:bodyPr>
          <a:lstStyle/>
          <a:p>
            <a:pPr>
              <a:buNone/>
            </a:pPr>
            <a:r>
              <a:rPr lang="en-US" dirty="0"/>
              <a:t>&lt;!DOCTYPE html&gt;</a:t>
            </a:r>
          </a:p>
          <a:p>
            <a:pPr>
              <a:buNone/>
            </a:pPr>
            <a:r>
              <a:rPr lang="en-US" dirty="0"/>
              <a:t>&lt;html&gt;</a:t>
            </a:r>
          </a:p>
          <a:p>
            <a:pPr>
              <a:buNone/>
            </a:pPr>
            <a:r>
              <a:rPr lang="en-US" dirty="0"/>
              <a:t>&lt;body&gt;</a:t>
            </a:r>
          </a:p>
          <a:p>
            <a:pPr>
              <a:buNone/>
            </a:pPr>
            <a:endParaRPr lang="en-US" dirty="0"/>
          </a:p>
          <a:p>
            <a:pPr>
              <a:buNone/>
            </a:pPr>
            <a:r>
              <a:rPr lang="en-US" dirty="0"/>
              <a:t>&lt;</a:t>
            </a:r>
            <a:r>
              <a:rPr lang="en-US" b="1" dirty="0"/>
              <a:t>p&gt;This example uses the HTML DOM to assign an "</a:t>
            </a:r>
            <a:r>
              <a:rPr lang="en-US" b="1" dirty="0" err="1"/>
              <a:t>onsubmit</a:t>
            </a:r>
            <a:r>
              <a:rPr lang="en-US" b="1" dirty="0"/>
              <a:t>" event to a form element</a:t>
            </a:r>
            <a:r>
              <a:rPr lang="en-US" dirty="0"/>
              <a:t>.&lt;/p&gt;</a:t>
            </a:r>
          </a:p>
          <a:p>
            <a:pPr>
              <a:buNone/>
            </a:pPr>
            <a:endParaRPr lang="en-US" dirty="0"/>
          </a:p>
          <a:p>
            <a:pPr>
              <a:buNone/>
            </a:pPr>
            <a:r>
              <a:rPr lang="en-US" dirty="0"/>
              <a:t>&lt;p&gt;When you submit the form, a function is triggered which alerts some text.&lt;/p&gt;</a:t>
            </a:r>
          </a:p>
          <a:p>
            <a:pPr>
              <a:buNone/>
            </a:pPr>
            <a:endParaRPr lang="en-US" dirty="0"/>
          </a:p>
          <a:p>
            <a:pPr>
              <a:buNone/>
            </a:pPr>
            <a:r>
              <a:rPr lang="en-US" dirty="0"/>
              <a:t>&lt;form id="</a:t>
            </a:r>
            <a:r>
              <a:rPr lang="en-US" dirty="0" err="1"/>
              <a:t>myForm</a:t>
            </a:r>
            <a:r>
              <a:rPr lang="en-US" dirty="0"/>
              <a:t>" action="demo_form.asp"&gt;</a:t>
            </a:r>
          </a:p>
          <a:p>
            <a:pPr>
              <a:buNone/>
            </a:pPr>
            <a:r>
              <a:rPr lang="en-US" dirty="0"/>
              <a:t>  Enter name: &lt;input type="text" name="</a:t>
            </a:r>
            <a:r>
              <a:rPr lang="en-US" dirty="0" err="1"/>
              <a:t>fname</a:t>
            </a:r>
            <a:r>
              <a:rPr lang="en-US" dirty="0"/>
              <a:t>"&gt;</a:t>
            </a:r>
          </a:p>
          <a:p>
            <a:pPr>
              <a:buNone/>
            </a:pPr>
            <a:r>
              <a:rPr lang="en-US" dirty="0"/>
              <a:t>  &lt;input type="submit" value="Submit"&gt;</a:t>
            </a:r>
          </a:p>
          <a:p>
            <a:pPr>
              <a:buNone/>
            </a:pPr>
            <a:r>
              <a:rPr lang="en-US" dirty="0"/>
              <a:t>&lt;/form&gt;</a:t>
            </a:r>
          </a:p>
          <a:p>
            <a:pPr>
              <a:buNone/>
            </a:pPr>
            <a:endParaRPr lang="en-US" dirty="0"/>
          </a:p>
          <a:p>
            <a:pPr>
              <a:buNone/>
            </a:pPr>
            <a:r>
              <a:rPr lang="en-US" dirty="0"/>
              <a:t>&lt;script&gt;</a:t>
            </a:r>
          </a:p>
          <a:p>
            <a:pPr>
              <a:buNone/>
            </a:pPr>
            <a:r>
              <a:rPr lang="en-US" dirty="0" err="1"/>
              <a:t>document.getElementById</a:t>
            </a:r>
            <a:r>
              <a:rPr lang="en-US" dirty="0"/>
              <a:t>("</a:t>
            </a:r>
            <a:r>
              <a:rPr lang="en-US" dirty="0" err="1"/>
              <a:t>myForm</a:t>
            </a:r>
            <a:r>
              <a:rPr lang="en-US" dirty="0"/>
              <a:t>").</a:t>
            </a:r>
            <a:r>
              <a:rPr lang="en-US" b="1" dirty="0" err="1"/>
              <a:t>onsubmit</a:t>
            </a:r>
            <a:r>
              <a:rPr lang="en-US" dirty="0"/>
              <a:t> = function() {</a:t>
            </a:r>
            <a:r>
              <a:rPr lang="en-US" dirty="0" err="1"/>
              <a:t>myFunction</a:t>
            </a:r>
            <a:r>
              <a:rPr lang="en-US" dirty="0"/>
              <a:t>()};</a:t>
            </a:r>
          </a:p>
          <a:p>
            <a:pPr>
              <a:buNone/>
            </a:pPr>
            <a:endParaRPr lang="en-US" dirty="0"/>
          </a:p>
          <a:p>
            <a:pPr>
              <a:buNone/>
            </a:pPr>
            <a:r>
              <a:rPr lang="en-US" dirty="0"/>
              <a:t>function </a:t>
            </a:r>
            <a:r>
              <a:rPr lang="en-US" dirty="0" err="1"/>
              <a:t>myFunction</a:t>
            </a:r>
            <a:r>
              <a:rPr lang="en-US" dirty="0"/>
              <a:t>() {</a:t>
            </a:r>
          </a:p>
          <a:p>
            <a:pPr>
              <a:buNone/>
            </a:pPr>
            <a:r>
              <a:rPr lang="en-US" dirty="0"/>
              <a:t>    alert("The form was submitted");</a:t>
            </a:r>
          </a:p>
          <a:p>
            <a:pPr>
              <a:buNone/>
            </a:pPr>
            <a:r>
              <a:rPr lang="en-US" dirty="0"/>
              <a:t>}</a:t>
            </a:r>
          </a:p>
          <a:p>
            <a:pPr>
              <a:buNone/>
            </a:pPr>
            <a:r>
              <a:rPr lang="en-US" dirty="0"/>
              <a:t>&lt;/script&gt;</a:t>
            </a:r>
          </a:p>
          <a:p>
            <a:pPr>
              <a:buNone/>
            </a:pPr>
            <a:endParaRPr lang="en-US" dirty="0"/>
          </a:p>
          <a:p>
            <a:pPr>
              <a:buNone/>
            </a:pPr>
            <a:r>
              <a:rPr lang="en-US" dirty="0"/>
              <a:t>&lt;/body&gt;</a:t>
            </a:r>
          </a:p>
          <a:p>
            <a:pPr>
              <a:buNone/>
            </a:pPr>
            <a:r>
              <a:rPr lang="en-US" dirty="0"/>
              <a:t>&lt;/html&gt;</a:t>
            </a:r>
          </a:p>
          <a:p>
            <a:pPr>
              <a:buNone/>
            </a:pPr>
            <a:endParaRPr lang="en-US" dirty="0"/>
          </a:p>
        </p:txBody>
      </p:sp>
    </p:spTree>
    <p:extLst>
      <p:ext uri="{BB962C8B-B14F-4D97-AF65-F5344CB8AC3E}">
        <p14:creationId xmlns:p14="http://schemas.microsoft.com/office/powerpoint/2010/main" xmlns="" val="40533538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4"/>
          <p:cNvSpPr>
            <a:spLocks noGrp="1" noChangeArrowheads="1"/>
          </p:cNvSpPr>
          <p:nvPr>
            <p:ph type="ctrTitle"/>
          </p:nvPr>
        </p:nvSpPr>
        <p:spPr/>
        <p:txBody>
          <a:bodyPr/>
          <a:lstStyle/>
          <a:p>
            <a:r>
              <a:rPr lang="en-US"/>
              <a:t>Manipulating the Document Structure</a:t>
            </a:r>
          </a:p>
        </p:txBody>
      </p:sp>
    </p:spTree>
    <p:extLst>
      <p:ext uri="{BB962C8B-B14F-4D97-AF65-F5344CB8AC3E}">
        <p14:creationId xmlns:p14="http://schemas.microsoft.com/office/powerpoint/2010/main" xmlns="" val="25816607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Structure Manipulation</a:t>
            </a:r>
          </a:p>
        </p:txBody>
      </p:sp>
      <p:sp>
        <p:nvSpPr>
          <p:cNvPr id="69635" name="Rectangle 3"/>
          <p:cNvSpPr>
            <a:spLocks noGrp="1" noChangeArrowheads="1"/>
          </p:cNvSpPr>
          <p:nvPr>
            <p:ph type="body" idx="1"/>
          </p:nvPr>
        </p:nvSpPr>
        <p:spPr/>
        <p:txBody>
          <a:bodyPr>
            <a:normAutofit/>
          </a:bodyPr>
          <a:lstStyle/>
          <a:p>
            <a:pPr algn="just"/>
            <a:r>
              <a:rPr lang="en-US" sz="2600" dirty="0"/>
              <a:t>In structure manipulation, we</a:t>
            </a:r>
          </a:p>
          <a:p>
            <a:pPr lvl="1" algn="just"/>
            <a:r>
              <a:rPr lang="en-US" sz="2600" dirty="0">
                <a:solidFill>
                  <a:srgbClr val="0000FF"/>
                </a:solidFill>
              </a:rPr>
              <a:t>add</a:t>
            </a:r>
            <a:r>
              <a:rPr lang="en-US" sz="2600" dirty="0"/>
              <a:t>/</a:t>
            </a:r>
            <a:r>
              <a:rPr lang="en-US" sz="2600" dirty="0">
                <a:solidFill>
                  <a:srgbClr val="0000FF"/>
                </a:solidFill>
              </a:rPr>
              <a:t>remove</a:t>
            </a:r>
            <a:r>
              <a:rPr lang="en-US" sz="2600" dirty="0"/>
              <a:t>/</a:t>
            </a:r>
            <a:r>
              <a:rPr lang="en-US" sz="2600" dirty="0">
                <a:solidFill>
                  <a:srgbClr val="0000FF"/>
                </a:solidFill>
              </a:rPr>
              <a:t>replace</a:t>
            </a:r>
            <a:r>
              <a:rPr lang="en-US" sz="2600" dirty="0">
                <a:solidFill>
                  <a:srgbClr val="CC0000"/>
                </a:solidFill>
              </a:rPr>
              <a:t> </a:t>
            </a:r>
            <a:r>
              <a:rPr lang="en-US" sz="2600" dirty="0"/>
              <a:t>HTML elements</a:t>
            </a:r>
          </a:p>
          <a:p>
            <a:pPr lvl="1" algn="just"/>
            <a:r>
              <a:rPr lang="en-US" sz="2600" dirty="0"/>
              <a:t>change the text under elements</a:t>
            </a:r>
          </a:p>
          <a:p>
            <a:pPr algn="just"/>
            <a:endParaRPr lang="en-US" sz="2600" dirty="0" smtClean="0"/>
          </a:p>
          <a:p>
            <a:pPr algn="just"/>
            <a:r>
              <a:rPr lang="en-US" sz="2600" dirty="0" smtClean="0"/>
              <a:t>Two </a:t>
            </a:r>
            <a:r>
              <a:rPr lang="en-US" sz="2600" dirty="0"/>
              <a:t>approaches:</a:t>
            </a:r>
          </a:p>
          <a:p>
            <a:pPr lvl="1" algn="just"/>
            <a:r>
              <a:rPr lang="en-US" sz="2600" dirty="0">
                <a:solidFill>
                  <a:srgbClr val="CC0000"/>
                </a:solidFill>
              </a:rPr>
              <a:t>DOM tree</a:t>
            </a:r>
            <a:r>
              <a:rPr lang="en-US" sz="2600" dirty="0"/>
              <a:t> manipulation (W3C specification)</a:t>
            </a:r>
          </a:p>
          <a:p>
            <a:pPr lvl="1" algn="just"/>
            <a:r>
              <a:rPr lang="en-US" sz="2600" dirty="0"/>
              <a:t>Setting the</a:t>
            </a:r>
            <a:r>
              <a:rPr lang="en-US" sz="2600" dirty="0">
                <a:solidFill>
                  <a:srgbClr val="CC0000"/>
                </a:solidFill>
              </a:rPr>
              <a:t> </a:t>
            </a:r>
            <a:r>
              <a:rPr lang="en-US" sz="2600" dirty="0" err="1">
                <a:solidFill>
                  <a:srgbClr val="CC0000"/>
                </a:solidFill>
              </a:rPr>
              <a:t>innerHTML</a:t>
            </a:r>
            <a:r>
              <a:rPr lang="en-US" sz="2600" dirty="0"/>
              <a:t> attribute (not a specification) </a:t>
            </a:r>
          </a:p>
        </p:txBody>
      </p:sp>
    </p:spTree>
    <p:extLst>
      <p:ext uri="{BB962C8B-B14F-4D97-AF65-F5344CB8AC3E}">
        <p14:creationId xmlns:p14="http://schemas.microsoft.com/office/powerpoint/2010/main" xmlns="" val="137180107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t>DOM Tree Manipulation</a:t>
            </a:r>
          </a:p>
        </p:txBody>
      </p:sp>
      <p:sp>
        <p:nvSpPr>
          <p:cNvPr id="70659" name="Rectangle 3"/>
          <p:cNvSpPr>
            <a:spLocks noGrp="1" noChangeArrowheads="1"/>
          </p:cNvSpPr>
          <p:nvPr>
            <p:ph type="body" idx="1"/>
          </p:nvPr>
        </p:nvSpPr>
        <p:spPr/>
        <p:txBody>
          <a:bodyPr>
            <a:normAutofit/>
          </a:bodyPr>
          <a:lstStyle/>
          <a:p>
            <a:r>
              <a:rPr lang="en-US" sz="2600" dirty="0"/>
              <a:t>In this approach, we explicitly </a:t>
            </a:r>
          </a:p>
          <a:p>
            <a:pPr lvl="1"/>
            <a:r>
              <a:rPr lang="en-US" sz="2600" dirty="0">
                <a:solidFill>
                  <a:srgbClr val="0000FF"/>
                </a:solidFill>
              </a:rPr>
              <a:t>create</a:t>
            </a:r>
            <a:r>
              <a:rPr lang="en-US" sz="2600" dirty="0"/>
              <a:t> new nodes </a:t>
            </a:r>
          </a:p>
          <a:p>
            <a:pPr lvl="1"/>
            <a:r>
              <a:rPr lang="en-US" sz="2600" dirty="0">
                <a:solidFill>
                  <a:srgbClr val="0000FF"/>
                </a:solidFill>
              </a:rPr>
              <a:t>add </a:t>
            </a:r>
            <a:r>
              <a:rPr lang="en-US" sz="2600" dirty="0"/>
              <a:t>created nodes to the DOM tree</a:t>
            </a:r>
          </a:p>
          <a:p>
            <a:pPr lvl="1"/>
            <a:r>
              <a:rPr lang="en-US" sz="2600" dirty="0">
                <a:solidFill>
                  <a:srgbClr val="0000FF"/>
                </a:solidFill>
              </a:rPr>
              <a:t>remove</a:t>
            </a:r>
            <a:r>
              <a:rPr lang="en-US" sz="2600" dirty="0"/>
              <a:t> old </a:t>
            </a:r>
            <a:r>
              <a:rPr lang="en-US" sz="2600" dirty="0" smtClean="0"/>
              <a:t>nodes</a:t>
            </a:r>
          </a:p>
          <a:p>
            <a:pPr lvl="1"/>
            <a:endParaRPr lang="en-US" sz="2600" dirty="0"/>
          </a:p>
          <a:p>
            <a:r>
              <a:rPr lang="en-US" sz="2600" dirty="0"/>
              <a:t>To create new nodes, use these methods of </a:t>
            </a:r>
            <a:r>
              <a:rPr lang="en-US" sz="2600" dirty="0">
                <a:solidFill>
                  <a:srgbClr val="0000FF"/>
                </a:solidFill>
              </a:rPr>
              <a:t>document</a:t>
            </a:r>
            <a:r>
              <a:rPr lang="en-US" sz="2600" dirty="0"/>
              <a:t>:</a:t>
            </a:r>
          </a:p>
          <a:p>
            <a:pPr lvl="1"/>
            <a:r>
              <a:rPr lang="en-US" sz="2600" dirty="0" err="1">
                <a:solidFill>
                  <a:srgbClr val="0000FF"/>
                </a:solidFill>
              </a:rPr>
              <a:t>document</a:t>
            </a:r>
            <a:r>
              <a:rPr lang="en-US" sz="2600" dirty="0" err="1"/>
              <a:t>.</a:t>
            </a:r>
            <a:r>
              <a:rPr lang="en-US" sz="2600" dirty="0" err="1">
                <a:solidFill>
                  <a:srgbClr val="CC0000"/>
                </a:solidFill>
              </a:rPr>
              <a:t>createElement</a:t>
            </a:r>
            <a:r>
              <a:rPr lang="en-US" sz="2600" dirty="0">
                <a:solidFill>
                  <a:srgbClr val="0000FF"/>
                </a:solidFill>
              </a:rPr>
              <a:t>("</a:t>
            </a:r>
            <a:r>
              <a:rPr lang="en-US" sz="2600" i="1" dirty="0">
                <a:solidFill>
                  <a:schemeClr val="tx1"/>
                </a:solidFill>
              </a:rPr>
              <a:t>tag</a:t>
            </a:r>
            <a:r>
              <a:rPr lang="en-US" sz="2600" dirty="0">
                <a:solidFill>
                  <a:srgbClr val="0000FF"/>
                </a:solidFill>
              </a:rPr>
              <a:t>")</a:t>
            </a:r>
            <a:r>
              <a:rPr lang="en-US" sz="2600" dirty="0"/>
              <a:t> </a:t>
            </a:r>
          </a:p>
          <a:p>
            <a:pPr lvl="1"/>
            <a:r>
              <a:rPr lang="en-US" sz="2600" dirty="0" err="1">
                <a:solidFill>
                  <a:srgbClr val="0000FF"/>
                </a:solidFill>
              </a:rPr>
              <a:t>document</a:t>
            </a:r>
            <a:r>
              <a:rPr lang="en-US" sz="2600" dirty="0" err="1"/>
              <a:t>.</a:t>
            </a:r>
            <a:r>
              <a:rPr lang="en-US" sz="2600" dirty="0" err="1">
                <a:solidFill>
                  <a:srgbClr val="CC0000"/>
                </a:solidFill>
              </a:rPr>
              <a:t>createTextNode</a:t>
            </a:r>
            <a:r>
              <a:rPr lang="en-US" sz="2600" dirty="0">
                <a:solidFill>
                  <a:srgbClr val="0000FF"/>
                </a:solidFill>
              </a:rPr>
              <a:t>("</a:t>
            </a:r>
            <a:r>
              <a:rPr lang="en-US" sz="2600" i="1" dirty="0">
                <a:solidFill>
                  <a:schemeClr val="tx1"/>
                </a:solidFill>
              </a:rPr>
              <a:t>text</a:t>
            </a:r>
            <a:r>
              <a:rPr lang="en-US" sz="2600" dirty="0">
                <a:solidFill>
                  <a:srgbClr val="0000FF"/>
                </a:solidFill>
              </a:rPr>
              <a:t>") </a:t>
            </a:r>
          </a:p>
          <a:p>
            <a:pPr lvl="1"/>
            <a:r>
              <a:rPr lang="en-US" sz="2600" dirty="0" err="1">
                <a:solidFill>
                  <a:srgbClr val="0000FF"/>
                </a:solidFill>
              </a:rPr>
              <a:t>document.</a:t>
            </a:r>
            <a:r>
              <a:rPr lang="en-US" sz="2600" dirty="0" err="1">
                <a:solidFill>
                  <a:srgbClr val="CC0000"/>
                </a:solidFill>
              </a:rPr>
              <a:t>createAttribute</a:t>
            </a:r>
            <a:r>
              <a:rPr lang="en-US" sz="2600" dirty="0">
                <a:solidFill>
                  <a:srgbClr val="0000FF"/>
                </a:solidFill>
              </a:rPr>
              <a:t>("</a:t>
            </a:r>
            <a:r>
              <a:rPr lang="en-US" sz="2600" i="1" dirty="0" err="1">
                <a:solidFill>
                  <a:schemeClr val="tx1"/>
                </a:solidFill>
              </a:rPr>
              <a:t>attname</a:t>
            </a:r>
            <a:r>
              <a:rPr lang="en-US" sz="2600" dirty="0">
                <a:solidFill>
                  <a:srgbClr val="0000FF"/>
                </a:solidFill>
              </a:rPr>
              <a:t>")</a:t>
            </a:r>
            <a:r>
              <a:rPr lang="en-US" sz="2600" dirty="0"/>
              <a:t> </a:t>
            </a:r>
          </a:p>
        </p:txBody>
      </p:sp>
    </p:spTree>
    <p:extLst>
      <p:ext uri="{BB962C8B-B14F-4D97-AF65-F5344CB8AC3E}">
        <p14:creationId xmlns:p14="http://schemas.microsoft.com/office/powerpoint/2010/main" xmlns="" val="397818661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t>DOM Tree Manipulation (cont)</a:t>
            </a:r>
          </a:p>
        </p:txBody>
      </p:sp>
      <p:sp>
        <p:nvSpPr>
          <p:cNvPr id="71683" name="Rectangle 3"/>
          <p:cNvSpPr>
            <a:spLocks noGrp="1" noChangeArrowheads="1"/>
          </p:cNvSpPr>
          <p:nvPr>
            <p:ph type="body" idx="1"/>
          </p:nvPr>
        </p:nvSpPr>
        <p:spPr/>
        <p:txBody>
          <a:bodyPr>
            <a:normAutofit/>
          </a:bodyPr>
          <a:lstStyle/>
          <a:p>
            <a:pPr algn="just"/>
            <a:r>
              <a:rPr lang="en-US" sz="2600" dirty="0"/>
              <a:t>To add and remove children of a specific element, use the following methods</a:t>
            </a:r>
            <a:r>
              <a:rPr lang="en-US" sz="2600" dirty="0" smtClean="0"/>
              <a:t>:</a:t>
            </a:r>
          </a:p>
          <a:p>
            <a:pPr algn="just"/>
            <a:endParaRPr lang="en-US" sz="2600" dirty="0"/>
          </a:p>
          <a:p>
            <a:pPr lvl="1" algn="just"/>
            <a:r>
              <a:rPr lang="en-US" sz="2600" i="1" dirty="0" err="1">
                <a:solidFill>
                  <a:srgbClr val="0000FF"/>
                </a:solidFill>
              </a:rPr>
              <a:t>element</a:t>
            </a:r>
            <a:r>
              <a:rPr lang="en-US" sz="2600" dirty="0" err="1">
                <a:solidFill>
                  <a:srgbClr val="0000FF"/>
                </a:solidFill>
              </a:rPr>
              <a:t>.</a:t>
            </a:r>
            <a:r>
              <a:rPr lang="en-US" sz="2600" dirty="0" err="1">
                <a:solidFill>
                  <a:srgbClr val="CC0000"/>
                </a:solidFill>
              </a:rPr>
              <a:t>appendChild</a:t>
            </a:r>
            <a:r>
              <a:rPr lang="en-US" sz="2600" dirty="0">
                <a:solidFill>
                  <a:srgbClr val="0000FF"/>
                </a:solidFill>
              </a:rPr>
              <a:t>(</a:t>
            </a:r>
            <a:r>
              <a:rPr lang="en-US" sz="2600" i="1" dirty="0" err="1">
                <a:solidFill>
                  <a:schemeClr val="tx1"/>
                </a:solidFill>
              </a:rPr>
              <a:t>newChild</a:t>
            </a:r>
            <a:r>
              <a:rPr lang="en-US" sz="2600" dirty="0">
                <a:solidFill>
                  <a:srgbClr val="0000FF"/>
                </a:solidFill>
              </a:rPr>
              <a:t>) </a:t>
            </a:r>
          </a:p>
          <a:p>
            <a:pPr lvl="1" algn="just"/>
            <a:r>
              <a:rPr lang="en-US" sz="2600" i="1" dirty="0" err="1">
                <a:solidFill>
                  <a:srgbClr val="0000FF"/>
                </a:solidFill>
              </a:rPr>
              <a:t>element</a:t>
            </a:r>
            <a:r>
              <a:rPr lang="en-US" sz="2600" dirty="0" err="1">
                <a:solidFill>
                  <a:srgbClr val="0000FF"/>
                </a:solidFill>
              </a:rPr>
              <a:t>.</a:t>
            </a:r>
            <a:r>
              <a:rPr lang="en-US" sz="2600" dirty="0" err="1">
                <a:solidFill>
                  <a:srgbClr val="CC0000"/>
                </a:solidFill>
              </a:rPr>
              <a:t>insertBefore</a:t>
            </a:r>
            <a:r>
              <a:rPr lang="en-US" sz="2600" dirty="0">
                <a:solidFill>
                  <a:srgbClr val="0000FF"/>
                </a:solidFill>
              </a:rPr>
              <a:t>(</a:t>
            </a:r>
            <a:r>
              <a:rPr lang="en-US" sz="2600" i="1" dirty="0" err="1">
                <a:solidFill>
                  <a:schemeClr val="tx1"/>
                </a:solidFill>
              </a:rPr>
              <a:t>newChild</a:t>
            </a:r>
            <a:r>
              <a:rPr lang="en-US" sz="2600" dirty="0">
                <a:solidFill>
                  <a:srgbClr val="0000FF"/>
                </a:solidFill>
              </a:rPr>
              <a:t>, </a:t>
            </a:r>
            <a:r>
              <a:rPr lang="en-US" sz="2600" i="1" dirty="0">
                <a:solidFill>
                  <a:schemeClr val="tx1"/>
                </a:solidFill>
              </a:rPr>
              <a:t>child</a:t>
            </a:r>
            <a:r>
              <a:rPr lang="en-US" sz="2600" dirty="0">
                <a:solidFill>
                  <a:srgbClr val="0000FF"/>
                </a:solidFill>
              </a:rPr>
              <a:t>) </a:t>
            </a:r>
          </a:p>
          <a:p>
            <a:pPr lvl="1" algn="just"/>
            <a:r>
              <a:rPr lang="en-US" sz="2600" i="1" dirty="0" err="1">
                <a:solidFill>
                  <a:srgbClr val="0000FF"/>
                </a:solidFill>
              </a:rPr>
              <a:t>element</a:t>
            </a:r>
            <a:r>
              <a:rPr lang="en-US" sz="2600" dirty="0" err="1">
                <a:solidFill>
                  <a:srgbClr val="0000FF"/>
                </a:solidFill>
              </a:rPr>
              <a:t>.</a:t>
            </a:r>
            <a:r>
              <a:rPr lang="en-US" sz="2600" dirty="0" err="1">
                <a:solidFill>
                  <a:srgbClr val="CC0000"/>
                </a:solidFill>
              </a:rPr>
              <a:t>removeChild</a:t>
            </a:r>
            <a:r>
              <a:rPr lang="en-US" sz="2600" dirty="0">
                <a:solidFill>
                  <a:srgbClr val="0000FF"/>
                </a:solidFill>
              </a:rPr>
              <a:t>(</a:t>
            </a:r>
            <a:r>
              <a:rPr lang="en-US" sz="2600" i="1" dirty="0">
                <a:solidFill>
                  <a:schemeClr val="tx1"/>
                </a:solidFill>
              </a:rPr>
              <a:t>child</a:t>
            </a:r>
            <a:r>
              <a:rPr lang="en-US" sz="2600" dirty="0">
                <a:solidFill>
                  <a:srgbClr val="0000FF"/>
                </a:solidFill>
              </a:rPr>
              <a:t>) </a:t>
            </a:r>
          </a:p>
          <a:p>
            <a:pPr lvl="1" algn="just"/>
            <a:r>
              <a:rPr lang="en-US" sz="2600" i="1" dirty="0" err="1">
                <a:solidFill>
                  <a:srgbClr val="0000FF"/>
                </a:solidFill>
              </a:rPr>
              <a:t>element</a:t>
            </a:r>
            <a:r>
              <a:rPr lang="en-US" sz="2600" dirty="0" err="1">
                <a:solidFill>
                  <a:srgbClr val="0000FF"/>
                </a:solidFill>
              </a:rPr>
              <a:t>.</a:t>
            </a:r>
            <a:r>
              <a:rPr lang="en-US" sz="2600" dirty="0" err="1">
                <a:solidFill>
                  <a:srgbClr val="CC0000"/>
                </a:solidFill>
              </a:rPr>
              <a:t>replaceChild</a:t>
            </a:r>
            <a:r>
              <a:rPr lang="en-US" sz="2600" dirty="0">
                <a:solidFill>
                  <a:srgbClr val="0000FF"/>
                </a:solidFill>
              </a:rPr>
              <a:t>(</a:t>
            </a:r>
            <a:r>
              <a:rPr lang="en-US" sz="2600" i="1" dirty="0" err="1">
                <a:solidFill>
                  <a:schemeClr val="tx1"/>
                </a:solidFill>
              </a:rPr>
              <a:t>newChild</a:t>
            </a:r>
            <a:r>
              <a:rPr lang="en-US" sz="2600" dirty="0">
                <a:solidFill>
                  <a:srgbClr val="0000FF"/>
                </a:solidFill>
              </a:rPr>
              <a:t>, </a:t>
            </a:r>
            <a:r>
              <a:rPr lang="en-US" sz="2600" i="1" dirty="0" err="1">
                <a:solidFill>
                  <a:schemeClr val="tx1"/>
                </a:solidFill>
              </a:rPr>
              <a:t>oldChild</a:t>
            </a:r>
            <a:r>
              <a:rPr lang="en-US" sz="2600" dirty="0">
                <a:solidFill>
                  <a:srgbClr val="0000FF"/>
                </a:solidFill>
              </a:rPr>
              <a:t>) </a:t>
            </a:r>
          </a:p>
          <a:p>
            <a:pPr algn="just"/>
            <a:endParaRPr lang="en-US" sz="2600" dirty="0"/>
          </a:p>
        </p:txBody>
      </p:sp>
    </p:spTree>
    <p:extLst>
      <p:ext uri="{BB962C8B-B14F-4D97-AF65-F5344CB8AC3E}">
        <p14:creationId xmlns:p14="http://schemas.microsoft.com/office/powerpoint/2010/main" xmlns="" val="150416794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An Example</a:t>
            </a:r>
          </a:p>
        </p:txBody>
      </p:sp>
      <p:sp>
        <p:nvSpPr>
          <p:cNvPr id="72708" name="Text Box 4"/>
          <p:cNvSpPr txBox="1">
            <a:spLocks noChangeArrowheads="1"/>
          </p:cNvSpPr>
          <p:nvPr/>
        </p:nvSpPr>
        <p:spPr bwMode="auto">
          <a:xfrm>
            <a:off x="457200" y="1600200"/>
            <a:ext cx="8305800" cy="44831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400" b="0">
                <a:solidFill>
                  <a:srgbClr val="A65700"/>
                </a:solidFill>
                <a:latin typeface="Arial" charset="0"/>
                <a:cs typeface="Arial" charset="0"/>
              </a:rPr>
              <a:t>&lt;</a:t>
            </a:r>
            <a:r>
              <a:rPr lang="en-US" sz="2400">
                <a:solidFill>
                  <a:srgbClr val="800000"/>
                </a:solidFill>
                <a:latin typeface="Arial" charset="0"/>
                <a:cs typeface="Arial" charset="0"/>
              </a:rPr>
              <a:t>html</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head</a:t>
            </a:r>
            <a:r>
              <a:rPr lang="en-US" sz="2400" b="0">
                <a:solidFill>
                  <a:srgbClr val="A65700"/>
                </a:solidFill>
                <a:latin typeface="Arial" charset="0"/>
                <a:cs typeface="Arial" charset="0"/>
              </a:rPr>
              <a:t>&gt;&lt;</a:t>
            </a:r>
            <a:r>
              <a:rPr lang="en-US" sz="2400">
                <a:solidFill>
                  <a:srgbClr val="800000"/>
                </a:solidFill>
                <a:latin typeface="Arial" charset="0"/>
                <a:cs typeface="Arial" charset="0"/>
              </a:rPr>
              <a:t>script</a:t>
            </a:r>
            <a:r>
              <a:rPr lang="en-US" sz="2400" b="0">
                <a:solidFill>
                  <a:srgbClr val="A65700"/>
                </a:solidFill>
                <a:latin typeface="Arial" charset="0"/>
                <a:cs typeface="Arial" charset="0"/>
              </a:rPr>
              <a:t> </a:t>
            </a:r>
            <a:r>
              <a:rPr lang="en-US" sz="2400" b="0">
                <a:solidFill>
                  <a:srgbClr val="074726"/>
                </a:solidFill>
                <a:latin typeface="Arial" charset="0"/>
                <a:cs typeface="Arial" charset="0"/>
              </a:rPr>
              <a:t>type</a:t>
            </a:r>
            <a:r>
              <a:rPr lang="en-US" sz="2400" b="0">
                <a:solidFill>
                  <a:srgbClr val="808030"/>
                </a:solidFill>
                <a:latin typeface="Arial" charset="0"/>
                <a:cs typeface="Arial" charset="0"/>
              </a:rPr>
              <a:t>=</a:t>
            </a:r>
            <a:r>
              <a:rPr lang="en-US" sz="2400" b="0">
                <a:solidFill>
                  <a:srgbClr val="0000E6"/>
                </a:solidFill>
                <a:latin typeface="Arial" charset="0"/>
                <a:cs typeface="Arial" charset="0"/>
              </a:rPr>
              <a:t>"text/javascript"</a:t>
            </a:r>
            <a:r>
              <a:rPr lang="en-US" sz="2400" b="0">
                <a:solidFill>
                  <a:srgbClr val="A65700"/>
                </a:solidFill>
                <a:latin typeface="Arial" charset="0"/>
                <a:cs typeface="Arial" charset="0"/>
              </a:rPr>
              <a:t>&gt;...&lt;/</a:t>
            </a:r>
            <a:r>
              <a:rPr lang="en-US" sz="2400">
                <a:solidFill>
                  <a:srgbClr val="800000"/>
                </a:solidFill>
                <a:latin typeface="Arial" charset="0"/>
                <a:cs typeface="Arial" charset="0"/>
              </a:rPr>
              <a:t>script</a:t>
            </a:r>
            <a:r>
              <a:rPr lang="en-US" sz="2400" b="0">
                <a:solidFill>
                  <a:srgbClr val="A65700"/>
                </a:solidFill>
                <a:latin typeface="Arial" charset="0"/>
                <a:cs typeface="Arial" charset="0"/>
              </a:rPr>
              <a:t>&gt;&lt;/</a:t>
            </a:r>
            <a:r>
              <a:rPr lang="en-US" sz="2400">
                <a:solidFill>
                  <a:srgbClr val="800000"/>
                </a:solidFill>
                <a:latin typeface="Arial" charset="0"/>
                <a:cs typeface="Arial" charset="0"/>
              </a:rPr>
              <a:t>head</a:t>
            </a:r>
            <a:r>
              <a:rPr lang="en-US" sz="2400" b="0">
                <a:solidFill>
                  <a:srgbClr val="A65700"/>
                </a:solidFill>
                <a:latin typeface="Arial" charset="0"/>
                <a:cs typeface="Arial" charset="0"/>
              </a:rPr>
              <a:t>&gt;  </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body</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p</a:t>
            </a:r>
            <a:r>
              <a:rPr lang="en-US" sz="2400" b="0">
                <a:solidFill>
                  <a:srgbClr val="A65700"/>
                </a:solidFill>
                <a:latin typeface="Arial" charset="0"/>
                <a:cs typeface="Arial" charset="0"/>
              </a:rPr>
              <a:t>&gt;First Paragraph.&lt;/</a:t>
            </a:r>
            <a:r>
              <a:rPr lang="en-US" sz="2400">
                <a:solidFill>
                  <a:srgbClr val="800000"/>
                </a:solidFill>
                <a:latin typeface="Arial" charset="0"/>
                <a:cs typeface="Arial" charset="0"/>
              </a:rPr>
              <a:t>p</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div</a:t>
            </a:r>
            <a:r>
              <a:rPr lang="en-US" sz="2400" b="0">
                <a:solidFill>
                  <a:srgbClr val="A65700"/>
                </a:solidFill>
                <a:latin typeface="Arial" charset="0"/>
                <a:cs typeface="Arial" charset="0"/>
              </a:rPr>
              <a:t> </a:t>
            </a:r>
            <a:r>
              <a:rPr lang="en-US" sz="2400" b="0">
                <a:solidFill>
                  <a:srgbClr val="074726"/>
                </a:solidFill>
                <a:latin typeface="Arial" charset="0"/>
                <a:cs typeface="Arial" charset="0"/>
              </a:rPr>
              <a:t>id</a:t>
            </a:r>
            <a:r>
              <a:rPr lang="en-US" sz="2400" b="0">
                <a:solidFill>
                  <a:srgbClr val="808030"/>
                </a:solidFill>
                <a:latin typeface="Arial" charset="0"/>
                <a:cs typeface="Arial" charset="0"/>
              </a:rPr>
              <a:t>=</a:t>
            </a:r>
            <a:r>
              <a:rPr lang="en-US" sz="2400" b="0">
                <a:solidFill>
                  <a:srgbClr val="0000E6"/>
                </a:solidFill>
                <a:latin typeface="Arial" charset="0"/>
                <a:cs typeface="Arial" charset="0"/>
              </a:rPr>
              <a:t>"d1"</a:t>
            </a:r>
            <a:r>
              <a:rPr lang="en-US" sz="2400" b="0">
                <a:solidFill>
                  <a:srgbClr val="A65700"/>
                </a:solidFill>
                <a:latin typeface="Arial" charset="0"/>
                <a:cs typeface="Arial" charset="0"/>
              </a:rPr>
              <a:t>&gt;&lt;</a:t>
            </a:r>
            <a:r>
              <a:rPr lang="en-US" sz="2400">
                <a:solidFill>
                  <a:srgbClr val="800000"/>
                </a:solidFill>
                <a:latin typeface="Arial" charset="0"/>
                <a:cs typeface="Arial" charset="0"/>
              </a:rPr>
              <a:t>p</a:t>
            </a:r>
            <a:r>
              <a:rPr lang="en-US" sz="2400" b="0">
                <a:solidFill>
                  <a:srgbClr val="A65700"/>
                </a:solidFill>
                <a:latin typeface="Arial" charset="0"/>
                <a:cs typeface="Arial" charset="0"/>
              </a:rPr>
              <a:t> </a:t>
            </a:r>
            <a:r>
              <a:rPr lang="en-US" sz="2400" b="0">
                <a:solidFill>
                  <a:srgbClr val="074726"/>
                </a:solidFill>
                <a:latin typeface="Arial" charset="0"/>
                <a:cs typeface="Arial" charset="0"/>
              </a:rPr>
              <a:t>id</a:t>
            </a:r>
            <a:r>
              <a:rPr lang="en-US" sz="2400" b="0">
                <a:solidFill>
                  <a:srgbClr val="808030"/>
                </a:solidFill>
                <a:latin typeface="Arial" charset="0"/>
                <a:cs typeface="Arial" charset="0"/>
              </a:rPr>
              <a:t>=</a:t>
            </a:r>
            <a:r>
              <a:rPr lang="en-US" sz="2400" b="0">
                <a:solidFill>
                  <a:srgbClr val="0000E6"/>
                </a:solidFill>
                <a:latin typeface="Arial" charset="0"/>
                <a:cs typeface="Arial" charset="0"/>
              </a:rPr>
              <a:t>"p1"</a:t>
            </a:r>
            <a:r>
              <a:rPr lang="en-US" sz="2400" b="0">
                <a:solidFill>
                  <a:srgbClr val="A65700"/>
                </a:solidFill>
                <a:latin typeface="Arial" charset="0"/>
                <a:cs typeface="Arial" charset="0"/>
              </a:rPr>
              <a:t>&gt;Second paragraph.&lt;/</a:t>
            </a:r>
            <a:r>
              <a:rPr lang="en-US" sz="2400">
                <a:solidFill>
                  <a:srgbClr val="800000"/>
                </a:solidFill>
                <a:latin typeface="Arial" charset="0"/>
                <a:cs typeface="Arial" charset="0"/>
              </a:rPr>
              <a:t>p</a:t>
            </a:r>
            <a:r>
              <a:rPr lang="en-US" sz="2400" b="0">
                <a:solidFill>
                  <a:srgbClr val="A65700"/>
                </a:solidFill>
                <a:latin typeface="Arial" charset="0"/>
                <a:cs typeface="Arial" charset="0"/>
              </a:rPr>
              <a:t>&gt;&lt;/</a:t>
            </a:r>
            <a:r>
              <a:rPr lang="en-US" sz="2400">
                <a:solidFill>
                  <a:srgbClr val="800000"/>
                </a:solidFill>
                <a:latin typeface="Arial" charset="0"/>
                <a:cs typeface="Arial" charset="0"/>
              </a:rPr>
              <a:t>div</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p</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input</a:t>
            </a:r>
            <a:r>
              <a:rPr lang="en-US" sz="2400" b="0">
                <a:solidFill>
                  <a:srgbClr val="A65700"/>
                </a:solidFill>
                <a:latin typeface="Arial" charset="0"/>
                <a:cs typeface="Arial" charset="0"/>
              </a:rPr>
              <a:t> </a:t>
            </a:r>
            <a:r>
              <a:rPr lang="en-US" sz="2400" b="0">
                <a:solidFill>
                  <a:srgbClr val="074726"/>
                </a:solidFill>
                <a:latin typeface="Arial" charset="0"/>
                <a:cs typeface="Arial" charset="0"/>
              </a:rPr>
              <a:t>type</a:t>
            </a:r>
            <a:r>
              <a:rPr lang="en-US" sz="2400" b="0">
                <a:solidFill>
                  <a:srgbClr val="808030"/>
                </a:solidFill>
                <a:latin typeface="Arial" charset="0"/>
                <a:cs typeface="Arial" charset="0"/>
              </a:rPr>
              <a:t>=</a:t>
            </a:r>
            <a:r>
              <a:rPr lang="en-US" sz="2400" b="0">
                <a:solidFill>
                  <a:srgbClr val="0000E6"/>
                </a:solidFill>
                <a:latin typeface="Arial" charset="0"/>
                <a:cs typeface="Arial" charset="0"/>
              </a:rPr>
              <a:t>"</a:t>
            </a:r>
            <a:r>
              <a:rPr lang="en-US" sz="2400" b="0">
                <a:solidFill>
                  <a:srgbClr val="7D0045"/>
                </a:solidFill>
                <a:latin typeface="Arial" charset="0"/>
                <a:cs typeface="Arial" charset="0"/>
              </a:rPr>
              <a:t>button</a:t>
            </a:r>
            <a:r>
              <a:rPr lang="en-US" sz="2400" b="0">
                <a:solidFill>
                  <a:srgbClr val="0000E6"/>
                </a:solidFill>
                <a:latin typeface="Arial" charset="0"/>
                <a:cs typeface="Arial" charset="0"/>
              </a:rPr>
              <a:t>"</a:t>
            </a:r>
            <a:r>
              <a:rPr lang="en-US" sz="2400" b="0">
                <a:solidFill>
                  <a:srgbClr val="A65700"/>
                </a:solidFill>
                <a:latin typeface="Arial" charset="0"/>
                <a:cs typeface="Arial" charset="0"/>
              </a:rPr>
              <a:t> </a:t>
            </a:r>
            <a:r>
              <a:rPr lang="en-US" sz="2400" b="0">
                <a:solidFill>
                  <a:srgbClr val="074726"/>
                </a:solidFill>
                <a:latin typeface="Arial" charset="0"/>
                <a:cs typeface="Arial" charset="0"/>
              </a:rPr>
              <a:t>value</a:t>
            </a:r>
            <a:r>
              <a:rPr lang="en-US" sz="2400" b="0">
                <a:solidFill>
                  <a:srgbClr val="808030"/>
                </a:solidFill>
                <a:latin typeface="Arial" charset="0"/>
                <a:cs typeface="Arial" charset="0"/>
              </a:rPr>
              <a:t>=</a:t>
            </a:r>
            <a:r>
              <a:rPr lang="en-US" sz="2400" b="0">
                <a:solidFill>
                  <a:srgbClr val="0000E6"/>
                </a:solidFill>
                <a:latin typeface="Arial" charset="0"/>
                <a:cs typeface="Arial" charset="0"/>
              </a:rPr>
              <a:t>"replace"</a:t>
            </a:r>
            <a:r>
              <a:rPr lang="en-US" sz="2400" b="0">
                <a:solidFill>
                  <a:srgbClr val="A65700"/>
                </a:solidFill>
                <a:latin typeface="Arial" charset="0"/>
                <a:cs typeface="Arial" charset="0"/>
              </a:rPr>
              <a:t>  	</a:t>
            </a:r>
            <a:r>
              <a:rPr lang="en-US" sz="2400" b="0">
                <a:solidFill>
                  <a:srgbClr val="074726"/>
                </a:solidFill>
                <a:latin typeface="Arial" charset="0"/>
                <a:cs typeface="Arial" charset="0"/>
              </a:rPr>
              <a:t>onclick</a:t>
            </a:r>
            <a:r>
              <a:rPr lang="en-US" sz="2400" b="0">
                <a:solidFill>
                  <a:srgbClr val="808030"/>
                </a:solidFill>
                <a:latin typeface="Arial" charset="0"/>
                <a:cs typeface="Arial" charset="0"/>
              </a:rPr>
              <a:t>=</a:t>
            </a:r>
            <a:r>
              <a:rPr lang="en-US" sz="2400" b="0">
                <a:solidFill>
                  <a:srgbClr val="0000E6"/>
                </a:solidFill>
                <a:latin typeface="Arial" charset="0"/>
                <a:cs typeface="Arial" charset="0"/>
              </a:rPr>
              <a:t>"</a:t>
            </a:r>
            <a:r>
              <a:rPr lang="en-US" sz="2400">
                <a:solidFill>
                  <a:srgbClr val="800000"/>
                </a:solidFill>
                <a:latin typeface="Arial" charset="0"/>
                <a:cs typeface="Arial" charset="0"/>
              </a:rPr>
              <a:t>replace</a:t>
            </a:r>
            <a:r>
              <a:rPr lang="en-US" sz="2400" b="0">
                <a:solidFill>
                  <a:srgbClr val="808030"/>
                </a:solidFill>
                <a:latin typeface="Arial" charset="0"/>
                <a:cs typeface="Arial" charset="0"/>
              </a:rPr>
              <a:t>(</a:t>
            </a:r>
            <a:r>
              <a:rPr lang="en-US" sz="2400">
                <a:solidFill>
                  <a:srgbClr val="0000FF"/>
                </a:solidFill>
                <a:latin typeface="Arial" charset="0"/>
                <a:cs typeface="Arial" charset="0"/>
              </a:rPr>
              <a:t>this</a:t>
            </a:r>
            <a:r>
              <a:rPr lang="en-US" sz="2400" b="0">
                <a:solidFill>
                  <a:srgbClr val="808030"/>
                </a:solidFill>
                <a:latin typeface="Arial" charset="0"/>
                <a:cs typeface="Arial" charset="0"/>
              </a:rPr>
              <a:t>)"</a:t>
            </a:r>
            <a:r>
              <a:rPr lang="en-US" sz="2400" b="0">
                <a:solidFill>
                  <a:srgbClr val="0000E6"/>
                </a:solidFill>
                <a:latin typeface="Arial" charset="0"/>
                <a:cs typeface="Arial" charset="0"/>
              </a:rPr>
              <a:t> </a:t>
            </a:r>
            <a:r>
              <a:rPr lang="en-US" sz="2400" b="0">
                <a:solidFill>
                  <a:srgbClr val="800000"/>
                </a:solidFill>
                <a:latin typeface="Arial" charset="0"/>
                <a:cs typeface="Arial" charset="0"/>
              </a:rPr>
              <a:t>/</a:t>
            </a:r>
            <a:r>
              <a:rPr lang="en-US" sz="2400" b="0">
                <a:solidFill>
                  <a:srgbClr val="0000E6"/>
                </a:solidFill>
                <a:latin typeface="Arial" charset="0"/>
                <a:cs typeface="Arial" charset="0"/>
              </a:rPr>
              <a:t>&gt; </a:t>
            </a:r>
            <a:endParaRPr lang="en-US" sz="2400" b="0">
              <a:solidFill>
                <a:srgbClr val="A65700"/>
              </a:solidFill>
              <a:latin typeface="Arial" charset="0"/>
              <a:cs typeface="Arial" charset="0"/>
            </a:endParaRPr>
          </a:p>
          <a:p>
            <a:r>
              <a:rPr lang="en-US" sz="2400" b="0">
                <a:solidFill>
                  <a:srgbClr val="0000E6"/>
                </a:solidFill>
                <a:latin typeface="Arial" charset="0"/>
                <a:cs typeface="Arial" charset="0"/>
              </a:rPr>
              <a:t>   </a:t>
            </a:r>
            <a:r>
              <a:rPr lang="en-US" sz="2400" b="0">
                <a:solidFill>
                  <a:srgbClr val="A65700"/>
                </a:solidFill>
                <a:latin typeface="Arial" charset="0"/>
                <a:cs typeface="Arial" charset="0"/>
              </a:rPr>
              <a:t> &lt;/</a:t>
            </a:r>
            <a:r>
              <a:rPr lang="en-US" sz="2400">
                <a:solidFill>
                  <a:srgbClr val="800000"/>
                </a:solidFill>
                <a:latin typeface="Arial" charset="0"/>
                <a:cs typeface="Arial" charset="0"/>
              </a:rPr>
              <a:t>p</a:t>
            </a:r>
            <a:r>
              <a:rPr lang="en-US" sz="2400" b="0">
                <a:solidFill>
                  <a:srgbClr val="A65700"/>
                </a:solidFill>
                <a:latin typeface="Arial" charset="0"/>
                <a:cs typeface="Arial" charset="0"/>
              </a:rPr>
              <a:t>&gt; </a:t>
            </a:r>
          </a:p>
          <a:p>
            <a:r>
              <a:rPr lang="en-US" sz="2400" b="0">
                <a:solidFill>
                  <a:srgbClr val="A65700"/>
                </a:solidFill>
                <a:latin typeface="Arial" charset="0"/>
                <a:cs typeface="Arial" charset="0"/>
              </a:rPr>
              <a:t>  &lt;/</a:t>
            </a:r>
            <a:r>
              <a:rPr lang="en-US" sz="2400">
                <a:solidFill>
                  <a:srgbClr val="800000"/>
                </a:solidFill>
                <a:latin typeface="Arial" charset="0"/>
                <a:cs typeface="Arial" charset="0"/>
              </a:rPr>
              <a:t>body</a:t>
            </a:r>
            <a:r>
              <a:rPr lang="en-US" sz="2400" b="0">
                <a:solidFill>
                  <a:srgbClr val="A65700"/>
                </a:solidFill>
                <a:latin typeface="Arial" charset="0"/>
                <a:cs typeface="Arial" charset="0"/>
              </a:rPr>
              <a:t>&gt;</a:t>
            </a:r>
          </a:p>
          <a:p>
            <a:r>
              <a:rPr lang="en-US" sz="2400" b="0">
                <a:solidFill>
                  <a:srgbClr val="A65700"/>
                </a:solidFill>
                <a:latin typeface="Arial" charset="0"/>
                <a:cs typeface="Arial" charset="0"/>
              </a:rPr>
              <a:t>&lt;/</a:t>
            </a:r>
            <a:r>
              <a:rPr lang="en-US" sz="2400">
                <a:solidFill>
                  <a:srgbClr val="800000"/>
                </a:solidFill>
                <a:latin typeface="Arial" charset="0"/>
                <a:cs typeface="Arial" charset="0"/>
              </a:rPr>
              <a:t>html</a:t>
            </a:r>
            <a:r>
              <a:rPr lang="en-US" sz="2400" b="0">
                <a:solidFill>
                  <a:srgbClr val="A65700"/>
                </a:solidFill>
                <a:latin typeface="Arial" charset="0"/>
                <a:cs typeface="Arial" charset="0"/>
              </a:rPr>
              <a:t>&gt;</a:t>
            </a:r>
          </a:p>
          <a:p>
            <a:endParaRPr lang="en-US" sz="2400" b="0">
              <a:solidFill>
                <a:srgbClr val="A65700"/>
              </a:solidFill>
              <a:latin typeface="Arial" charset="0"/>
              <a:cs typeface="Arial" charset="0"/>
            </a:endParaRPr>
          </a:p>
        </p:txBody>
      </p:sp>
      <p:sp>
        <p:nvSpPr>
          <p:cNvPr id="72709" name="Rectangle 5"/>
          <p:cNvSpPr>
            <a:spLocks noChangeArrowheads="1"/>
          </p:cNvSpPr>
          <p:nvPr/>
        </p:nvSpPr>
        <p:spPr bwMode="auto">
          <a:xfrm>
            <a:off x="762000" y="3124200"/>
            <a:ext cx="77724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710" name="Rectangle 6"/>
          <p:cNvSpPr>
            <a:spLocks noChangeArrowheads="1"/>
          </p:cNvSpPr>
          <p:nvPr/>
        </p:nvSpPr>
        <p:spPr bwMode="auto">
          <a:xfrm>
            <a:off x="838200" y="3810000"/>
            <a:ext cx="5257800" cy="762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2711" name="Rectangle 7"/>
          <p:cNvSpPr>
            <a:spLocks noChangeArrowheads="1"/>
          </p:cNvSpPr>
          <p:nvPr/>
        </p:nvSpPr>
        <p:spPr bwMode="auto">
          <a:xfrm>
            <a:off x="1752600" y="1981200"/>
            <a:ext cx="5715000" cy="4572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89556393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2711"/>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270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727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727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727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nimBg="1"/>
      <p:bldP spid="72709" grpId="1" animBg="1"/>
      <p:bldP spid="72710" grpId="0" animBg="1"/>
      <p:bldP spid="72710" grpId="1" animBg="1"/>
      <p:bldP spid="72711" grpId="0" animBg="1"/>
      <p:bldP spid="72711" grpId="1"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t>An Example (cont)</a:t>
            </a:r>
          </a:p>
        </p:txBody>
      </p:sp>
      <p:sp>
        <p:nvSpPr>
          <p:cNvPr id="73732" name="Text Box 4"/>
          <p:cNvSpPr txBox="1">
            <a:spLocks noChangeArrowheads="1"/>
          </p:cNvSpPr>
          <p:nvPr/>
        </p:nvSpPr>
        <p:spPr bwMode="auto">
          <a:xfrm>
            <a:off x="457200" y="1600200"/>
            <a:ext cx="8305800" cy="44831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400">
                <a:solidFill>
                  <a:srgbClr val="800000"/>
                </a:solidFill>
                <a:latin typeface="Arial" charset="0"/>
                <a:cs typeface="Arial" charset="0"/>
              </a:rPr>
              <a:t>function</a:t>
            </a:r>
            <a:r>
              <a:rPr lang="en-US" sz="2400">
                <a:solidFill>
                  <a:srgbClr val="0015A6"/>
                </a:solidFill>
                <a:latin typeface="Arial" charset="0"/>
                <a:cs typeface="Arial" charset="0"/>
              </a:rPr>
              <a:t> </a:t>
            </a:r>
            <a:r>
              <a:rPr lang="en-US" sz="2400">
                <a:solidFill>
                  <a:srgbClr val="800000"/>
                </a:solidFill>
                <a:latin typeface="Arial" charset="0"/>
                <a:cs typeface="Arial" charset="0"/>
              </a:rPr>
              <a:t>replace</a:t>
            </a:r>
            <a:r>
              <a:rPr lang="en-US" sz="2400">
                <a:solidFill>
                  <a:srgbClr val="808030"/>
                </a:solidFill>
                <a:latin typeface="Arial" charset="0"/>
                <a:cs typeface="Arial" charset="0"/>
              </a:rPr>
              <a:t>(</a:t>
            </a:r>
            <a:r>
              <a:rPr lang="en-US" sz="2400">
                <a:solidFill>
                  <a:srgbClr val="0015A6"/>
                </a:solidFill>
                <a:latin typeface="Arial" charset="0"/>
                <a:cs typeface="Arial" charset="0"/>
              </a:rPr>
              <a:t>button</a:t>
            </a:r>
            <a:r>
              <a:rPr lang="en-US" sz="2400">
                <a:solidFill>
                  <a:srgbClr val="808030"/>
                </a:solidFill>
                <a:latin typeface="Arial" charset="0"/>
                <a:cs typeface="Arial" charset="0"/>
              </a:rPr>
              <a:t>)</a:t>
            </a:r>
            <a:r>
              <a:rPr lang="en-US" sz="2400">
                <a:solidFill>
                  <a:srgbClr val="0015A6"/>
                </a:solidFill>
                <a:latin typeface="Arial" charset="0"/>
                <a:cs typeface="Arial" charset="0"/>
              </a:rPr>
              <a:t> </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0015A6"/>
                </a:solidFill>
                <a:latin typeface="Arial" charset="0"/>
                <a:cs typeface="Arial" charset="0"/>
              </a:rPr>
              <a:t>  d </a:t>
            </a:r>
            <a:r>
              <a:rPr lang="en-US" sz="2400">
                <a:solidFill>
                  <a:srgbClr val="808030"/>
                </a:solidFill>
                <a:latin typeface="Arial" charset="0"/>
                <a:cs typeface="Arial" charset="0"/>
              </a:rPr>
              <a:t>=</a:t>
            </a:r>
            <a:r>
              <a:rPr lang="en-US" sz="2400">
                <a:solidFill>
                  <a:srgbClr val="0015A6"/>
                </a:solidFill>
                <a:latin typeface="Arial" charset="0"/>
                <a:cs typeface="Arial" charset="0"/>
              </a:rPr>
              <a:t> document</a:t>
            </a:r>
            <a:r>
              <a:rPr lang="en-US" sz="2400">
                <a:solidFill>
                  <a:srgbClr val="808030"/>
                </a:solidFill>
                <a:latin typeface="Arial" charset="0"/>
                <a:cs typeface="Arial" charset="0"/>
              </a:rPr>
              <a:t>.</a:t>
            </a:r>
            <a:r>
              <a:rPr lang="en-US" sz="2400">
                <a:solidFill>
                  <a:srgbClr val="0015A6"/>
                </a:solidFill>
                <a:latin typeface="Arial" charset="0"/>
                <a:cs typeface="Arial" charset="0"/>
              </a:rPr>
              <a:t>getElementById</a:t>
            </a:r>
            <a:r>
              <a:rPr lang="en-US" sz="2400">
                <a:solidFill>
                  <a:srgbClr val="808030"/>
                </a:solidFill>
                <a:latin typeface="Arial" charset="0"/>
                <a:cs typeface="Arial" charset="0"/>
              </a:rPr>
              <a:t>(</a:t>
            </a:r>
            <a:r>
              <a:rPr lang="en-US" sz="2400">
                <a:solidFill>
                  <a:srgbClr val="0000E6"/>
                </a:solidFill>
                <a:latin typeface="Arial" charset="0"/>
                <a:cs typeface="Arial" charset="0"/>
              </a:rPr>
              <a:t>"d1"</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0015A6"/>
                </a:solidFill>
                <a:latin typeface="Arial" charset="0"/>
                <a:cs typeface="Arial" charset="0"/>
              </a:rPr>
              <a:t>  p </a:t>
            </a:r>
            <a:r>
              <a:rPr lang="en-US" sz="2400">
                <a:solidFill>
                  <a:srgbClr val="808030"/>
                </a:solidFill>
                <a:latin typeface="Arial" charset="0"/>
                <a:cs typeface="Arial" charset="0"/>
              </a:rPr>
              <a:t>=</a:t>
            </a:r>
            <a:r>
              <a:rPr lang="en-US" sz="2400">
                <a:solidFill>
                  <a:srgbClr val="0015A6"/>
                </a:solidFill>
                <a:latin typeface="Arial" charset="0"/>
                <a:cs typeface="Arial" charset="0"/>
              </a:rPr>
              <a:t> document</a:t>
            </a:r>
            <a:r>
              <a:rPr lang="en-US" sz="2400">
                <a:solidFill>
                  <a:srgbClr val="808030"/>
                </a:solidFill>
                <a:latin typeface="Arial" charset="0"/>
                <a:cs typeface="Arial" charset="0"/>
              </a:rPr>
              <a:t>.</a:t>
            </a:r>
            <a:r>
              <a:rPr lang="en-US" sz="2400">
                <a:solidFill>
                  <a:srgbClr val="0015A6"/>
                </a:solidFill>
                <a:latin typeface="Arial" charset="0"/>
                <a:cs typeface="Arial" charset="0"/>
              </a:rPr>
              <a:t>getElementById</a:t>
            </a:r>
            <a:r>
              <a:rPr lang="en-US" sz="2400">
                <a:solidFill>
                  <a:srgbClr val="808030"/>
                </a:solidFill>
                <a:latin typeface="Arial" charset="0"/>
                <a:cs typeface="Arial" charset="0"/>
              </a:rPr>
              <a:t>(</a:t>
            </a:r>
            <a:r>
              <a:rPr lang="en-US" sz="2400">
                <a:solidFill>
                  <a:srgbClr val="0000E6"/>
                </a:solidFill>
                <a:latin typeface="Arial" charset="0"/>
                <a:cs typeface="Arial" charset="0"/>
              </a:rPr>
              <a:t>"p1"</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endParaRPr lang="en-US" sz="2400">
              <a:solidFill>
                <a:srgbClr val="0015A6"/>
              </a:solidFill>
              <a:latin typeface="Arial" charset="0"/>
              <a:cs typeface="Arial" charset="0"/>
            </a:endParaRPr>
          </a:p>
          <a:p>
            <a:r>
              <a:rPr lang="en-US" sz="2400">
                <a:solidFill>
                  <a:srgbClr val="0015A6"/>
                </a:solidFill>
                <a:latin typeface="Arial" charset="0"/>
                <a:cs typeface="Arial" charset="0"/>
              </a:rPr>
              <a:t>  h     </a:t>
            </a:r>
            <a:r>
              <a:rPr lang="en-US" sz="2400">
                <a:solidFill>
                  <a:srgbClr val="808030"/>
                </a:solidFill>
                <a:latin typeface="Arial" charset="0"/>
                <a:cs typeface="Arial" charset="0"/>
              </a:rPr>
              <a:t>=</a:t>
            </a:r>
            <a:r>
              <a:rPr lang="en-US" sz="2400">
                <a:solidFill>
                  <a:srgbClr val="0015A6"/>
                </a:solidFill>
                <a:latin typeface="Arial" charset="0"/>
                <a:cs typeface="Arial" charset="0"/>
              </a:rPr>
              <a:t> document</a:t>
            </a:r>
            <a:r>
              <a:rPr lang="en-US" sz="2400">
                <a:solidFill>
                  <a:srgbClr val="808030"/>
                </a:solidFill>
                <a:latin typeface="Arial" charset="0"/>
                <a:cs typeface="Arial" charset="0"/>
              </a:rPr>
              <a:t>.</a:t>
            </a:r>
            <a:r>
              <a:rPr lang="en-US" sz="2400">
                <a:solidFill>
                  <a:srgbClr val="0015A6"/>
                </a:solidFill>
                <a:latin typeface="Arial" charset="0"/>
                <a:cs typeface="Arial" charset="0"/>
              </a:rPr>
              <a:t>createElement</a:t>
            </a:r>
            <a:r>
              <a:rPr lang="en-US" sz="2400">
                <a:solidFill>
                  <a:srgbClr val="808030"/>
                </a:solidFill>
                <a:latin typeface="Arial" charset="0"/>
                <a:cs typeface="Arial" charset="0"/>
              </a:rPr>
              <a:t>(</a:t>
            </a:r>
            <a:r>
              <a:rPr lang="en-US" sz="2400">
                <a:solidFill>
                  <a:srgbClr val="0000E6"/>
                </a:solidFill>
                <a:latin typeface="Arial" charset="0"/>
                <a:cs typeface="Arial" charset="0"/>
              </a:rPr>
              <a:t>"h1"</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0015A6"/>
                </a:solidFill>
                <a:latin typeface="Arial" charset="0"/>
                <a:cs typeface="Arial" charset="0"/>
              </a:rPr>
              <a:t>  text </a:t>
            </a:r>
            <a:r>
              <a:rPr lang="en-US" sz="2400">
                <a:solidFill>
                  <a:srgbClr val="808030"/>
                </a:solidFill>
                <a:latin typeface="Arial" charset="0"/>
                <a:cs typeface="Arial" charset="0"/>
              </a:rPr>
              <a:t>=</a:t>
            </a:r>
            <a:r>
              <a:rPr lang="en-US" sz="2400">
                <a:solidFill>
                  <a:srgbClr val="0015A6"/>
                </a:solidFill>
                <a:latin typeface="Arial" charset="0"/>
                <a:cs typeface="Arial" charset="0"/>
              </a:rPr>
              <a:t> document</a:t>
            </a:r>
            <a:r>
              <a:rPr lang="en-US" sz="2400">
                <a:solidFill>
                  <a:srgbClr val="808030"/>
                </a:solidFill>
                <a:latin typeface="Arial" charset="0"/>
                <a:cs typeface="Arial" charset="0"/>
              </a:rPr>
              <a:t>.</a:t>
            </a:r>
            <a:r>
              <a:rPr lang="en-US" sz="2400">
                <a:solidFill>
                  <a:srgbClr val="0015A6"/>
                </a:solidFill>
                <a:latin typeface="Arial" charset="0"/>
                <a:cs typeface="Arial" charset="0"/>
              </a:rPr>
              <a:t>createTextNode</a:t>
            </a:r>
            <a:r>
              <a:rPr lang="en-US" sz="2400">
                <a:solidFill>
                  <a:srgbClr val="808030"/>
                </a:solidFill>
                <a:latin typeface="Arial" charset="0"/>
                <a:cs typeface="Arial" charset="0"/>
              </a:rPr>
              <a:t>(</a:t>
            </a:r>
            <a:r>
              <a:rPr lang="en-US" sz="2400">
                <a:solidFill>
                  <a:srgbClr val="0000E6"/>
                </a:solidFill>
                <a:latin typeface="Arial" charset="0"/>
                <a:cs typeface="Arial" charset="0"/>
              </a:rPr>
              <a:t>"This is a header."</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0015A6"/>
                </a:solidFill>
                <a:latin typeface="Arial" charset="0"/>
                <a:cs typeface="Arial" charset="0"/>
              </a:rPr>
              <a:t>  h</a:t>
            </a:r>
            <a:r>
              <a:rPr lang="en-US" sz="2400">
                <a:solidFill>
                  <a:srgbClr val="808030"/>
                </a:solidFill>
                <a:latin typeface="Arial" charset="0"/>
                <a:cs typeface="Arial" charset="0"/>
              </a:rPr>
              <a:t>.</a:t>
            </a:r>
            <a:r>
              <a:rPr lang="en-US" sz="2400">
                <a:solidFill>
                  <a:srgbClr val="0015A6"/>
                </a:solidFill>
                <a:latin typeface="Arial" charset="0"/>
                <a:cs typeface="Arial" charset="0"/>
              </a:rPr>
              <a:t>appendChild</a:t>
            </a:r>
            <a:r>
              <a:rPr lang="en-US" sz="2400">
                <a:solidFill>
                  <a:srgbClr val="808030"/>
                </a:solidFill>
                <a:latin typeface="Arial" charset="0"/>
                <a:cs typeface="Arial" charset="0"/>
              </a:rPr>
              <a:t>(</a:t>
            </a:r>
            <a:r>
              <a:rPr lang="en-US" sz="2400">
                <a:solidFill>
                  <a:srgbClr val="0015A6"/>
                </a:solidFill>
                <a:latin typeface="Arial" charset="0"/>
                <a:cs typeface="Arial" charset="0"/>
              </a:rPr>
              <a:t>text</a:t>
            </a:r>
            <a:r>
              <a:rPr lang="en-US" sz="2400">
                <a:solidFill>
                  <a:srgbClr val="808030"/>
                </a:solidFill>
                <a:latin typeface="Arial" charset="0"/>
                <a:cs typeface="Arial" charset="0"/>
              </a:rPr>
              <a:t>)</a:t>
            </a:r>
            <a:r>
              <a:rPr lang="en-US" sz="2400">
                <a:solidFill>
                  <a:srgbClr val="800080"/>
                </a:solidFill>
                <a:latin typeface="Arial" charset="0"/>
                <a:cs typeface="Arial" charset="0"/>
              </a:rPr>
              <a:t>;</a:t>
            </a:r>
          </a:p>
          <a:p>
            <a:endParaRPr lang="en-US" sz="2400">
              <a:solidFill>
                <a:srgbClr val="0015A6"/>
              </a:solidFill>
              <a:latin typeface="Arial" charset="0"/>
              <a:cs typeface="Arial" charset="0"/>
            </a:endParaRPr>
          </a:p>
          <a:p>
            <a:r>
              <a:rPr lang="en-US" sz="2400">
                <a:solidFill>
                  <a:srgbClr val="0015A6"/>
                </a:solidFill>
                <a:latin typeface="Arial" charset="0"/>
                <a:cs typeface="Arial" charset="0"/>
              </a:rPr>
              <a:t>  d</a:t>
            </a:r>
            <a:r>
              <a:rPr lang="en-US" sz="2400">
                <a:solidFill>
                  <a:srgbClr val="808030"/>
                </a:solidFill>
                <a:latin typeface="Arial" charset="0"/>
                <a:cs typeface="Arial" charset="0"/>
              </a:rPr>
              <a:t>.</a:t>
            </a:r>
            <a:r>
              <a:rPr lang="en-US" sz="2400">
                <a:solidFill>
                  <a:srgbClr val="0015A6"/>
                </a:solidFill>
                <a:latin typeface="Arial" charset="0"/>
                <a:cs typeface="Arial" charset="0"/>
              </a:rPr>
              <a:t>replaceChild</a:t>
            </a:r>
            <a:r>
              <a:rPr lang="en-US" sz="2400">
                <a:solidFill>
                  <a:srgbClr val="808030"/>
                </a:solidFill>
                <a:latin typeface="Arial" charset="0"/>
                <a:cs typeface="Arial" charset="0"/>
              </a:rPr>
              <a:t>(</a:t>
            </a:r>
            <a:r>
              <a:rPr lang="en-US" sz="2400">
                <a:solidFill>
                  <a:srgbClr val="0015A6"/>
                </a:solidFill>
                <a:latin typeface="Arial" charset="0"/>
                <a:cs typeface="Arial" charset="0"/>
              </a:rPr>
              <a:t>h</a:t>
            </a:r>
            <a:r>
              <a:rPr lang="en-US" sz="2400">
                <a:solidFill>
                  <a:srgbClr val="808030"/>
                </a:solidFill>
                <a:latin typeface="Arial" charset="0"/>
                <a:cs typeface="Arial" charset="0"/>
              </a:rPr>
              <a:t>,</a:t>
            </a:r>
            <a:r>
              <a:rPr lang="en-US" sz="2400">
                <a:solidFill>
                  <a:srgbClr val="0015A6"/>
                </a:solidFill>
                <a:latin typeface="Arial" charset="0"/>
                <a:cs typeface="Arial" charset="0"/>
              </a:rPr>
              <a:t>p</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endParaRPr lang="en-US" sz="2400">
              <a:solidFill>
                <a:srgbClr val="0015A6"/>
              </a:solidFill>
              <a:latin typeface="Arial" charset="0"/>
              <a:cs typeface="Arial" charset="0"/>
            </a:endParaRPr>
          </a:p>
          <a:p>
            <a:r>
              <a:rPr lang="en-US" sz="2400">
                <a:solidFill>
                  <a:srgbClr val="0015A6"/>
                </a:solidFill>
                <a:latin typeface="Arial" charset="0"/>
                <a:cs typeface="Arial" charset="0"/>
              </a:rPr>
              <a:t>  button</a:t>
            </a:r>
            <a:r>
              <a:rPr lang="en-US" sz="2400">
                <a:solidFill>
                  <a:srgbClr val="808030"/>
                </a:solidFill>
                <a:latin typeface="Arial" charset="0"/>
                <a:cs typeface="Arial" charset="0"/>
              </a:rPr>
              <a:t>.</a:t>
            </a:r>
            <a:r>
              <a:rPr lang="en-US" sz="2400">
                <a:solidFill>
                  <a:srgbClr val="0015A6"/>
                </a:solidFill>
                <a:latin typeface="Arial" charset="0"/>
                <a:cs typeface="Arial" charset="0"/>
              </a:rPr>
              <a:t>disabled</a:t>
            </a:r>
            <a:r>
              <a:rPr lang="en-US" sz="2400">
                <a:solidFill>
                  <a:srgbClr val="808030"/>
                </a:solidFill>
                <a:latin typeface="Arial" charset="0"/>
                <a:cs typeface="Arial" charset="0"/>
              </a:rPr>
              <a:t>=</a:t>
            </a:r>
            <a:r>
              <a:rPr lang="en-US" sz="2400">
                <a:solidFill>
                  <a:srgbClr val="0F4D75"/>
                </a:solidFill>
                <a:latin typeface="Arial" charset="0"/>
                <a:cs typeface="Arial" charset="0"/>
              </a:rPr>
              <a:t>true</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800080"/>
                </a:solidFill>
                <a:latin typeface="Arial" charset="0"/>
                <a:cs typeface="Arial" charset="0"/>
              </a:rPr>
              <a:t>}</a:t>
            </a:r>
          </a:p>
        </p:txBody>
      </p:sp>
      <p:sp>
        <p:nvSpPr>
          <p:cNvPr id="73733" name="Rectangle 5"/>
          <p:cNvSpPr>
            <a:spLocks noChangeArrowheads="1"/>
          </p:cNvSpPr>
          <p:nvPr/>
        </p:nvSpPr>
        <p:spPr bwMode="auto">
          <a:xfrm>
            <a:off x="609600" y="3124200"/>
            <a:ext cx="56388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3734" name="Rectangle 6"/>
          <p:cNvSpPr>
            <a:spLocks noChangeArrowheads="1"/>
          </p:cNvSpPr>
          <p:nvPr/>
        </p:nvSpPr>
        <p:spPr bwMode="auto">
          <a:xfrm>
            <a:off x="609600" y="3886200"/>
            <a:ext cx="32004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3735" name="Rectangle 7"/>
          <p:cNvSpPr>
            <a:spLocks noChangeArrowheads="1"/>
          </p:cNvSpPr>
          <p:nvPr/>
        </p:nvSpPr>
        <p:spPr bwMode="auto">
          <a:xfrm>
            <a:off x="609600" y="1981200"/>
            <a:ext cx="5562600" cy="762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3736" name="Rectangle 8"/>
          <p:cNvSpPr>
            <a:spLocks noChangeArrowheads="1"/>
          </p:cNvSpPr>
          <p:nvPr/>
        </p:nvSpPr>
        <p:spPr bwMode="auto">
          <a:xfrm>
            <a:off x="609600" y="3505200"/>
            <a:ext cx="79248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3737" name="Rectangle 9"/>
          <p:cNvSpPr>
            <a:spLocks noChangeArrowheads="1"/>
          </p:cNvSpPr>
          <p:nvPr/>
        </p:nvSpPr>
        <p:spPr bwMode="auto">
          <a:xfrm>
            <a:off x="609600" y="4572000"/>
            <a:ext cx="32004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3738" name="Rectangle 10"/>
          <p:cNvSpPr>
            <a:spLocks noChangeArrowheads="1"/>
          </p:cNvSpPr>
          <p:nvPr/>
        </p:nvSpPr>
        <p:spPr bwMode="auto">
          <a:xfrm>
            <a:off x="609600" y="5257800"/>
            <a:ext cx="32766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45441970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5"/>
                                        </p:tgtEl>
                                        <p:attrNameLst>
                                          <p:attrName>style.visibility</p:attrName>
                                        </p:attrNameLst>
                                      </p:cBhvr>
                                      <p:to>
                                        <p:strVal val="visible"/>
                                      </p:to>
                                    </p:set>
                                  </p:childTnLst>
                                  <p:subTnLst>
                                    <p:set>
                                      <p:cBhvr override="childStyle">
                                        <p:cTn dur="1" fill="hold" display="0" masterRel="nextClick" afterEffect="1"/>
                                        <p:tgtEl>
                                          <p:spTgt spid="73735"/>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733"/>
                                        </p:tgtEl>
                                        <p:attrNameLst>
                                          <p:attrName>style.visibility</p:attrName>
                                        </p:attrNameLst>
                                      </p:cBhvr>
                                      <p:to>
                                        <p:strVal val="visible"/>
                                      </p:to>
                                    </p:set>
                                  </p:childTnLst>
                                  <p:subTnLst>
                                    <p:set>
                                      <p:cBhvr override="childStyle">
                                        <p:cTn dur="1" fill="hold" display="0" masterRel="nextClick" afterEffect="1"/>
                                        <p:tgtEl>
                                          <p:spTgt spid="7373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6"/>
                                        </p:tgtEl>
                                        <p:attrNameLst>
                                          <p:attrName>style.visibility</p:attrName>
                                        </p:attrNameLst>
                                      </p:cBhvr>
                                      <p:to>
                                        <p:strVal val="visible"/>
                                      </p:to>
                                    </p:set>
                                  </p:childTnLst>
                                  <p:subTnLst>
                                    <p:set>
                                      <p:cBhvr override="childStyle">
                                        <p:cTn dur="1" fill="hold" display="0" masterRel="nextClick" afterEffect="1"/>
                                        <p:tgtEl>
                                          <p:spTgt spid="73736"/>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734"/>
                                        </p:tgtEl>
                                        <p:attrNameLst>
                                          <p:attrName>style.visibility</p:attrName>
                                        </p:attrNameLst>
                                      </p:cBhvr>
                                      <p:to>
                                        <p:strVal val="visible"/>
                                      </p:to>
                                    </p:set>
                                  </p:childTnLst>
                                  <p:subTnLst>
                                    <p:set>
                                      <p:cBhvr override="childStyle">
                                        <p:cTn dur="1" fill="hold" display="0" masterRel="nextClick" afterEffect="1"/>
                                        <p:tgtEl>
                                          <p:spTgt spid="73734"/>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737"/>
                                        </p:tgtEl>
                                        <p:attrNameLst>
                                          <p:attrName>style.visibility</p:attrName>
                                        </p:attrNameLst>
                                      </p:cBhvr>
                                      <p:to>
                                        <p:strVal val="visible"/>
                                      </p:to>
                                    </p:set>
                                  </p:childTnLst>
                                  <p:subTnLst>
                                    <p:set>
                                      <p:cBhvr override="childStyle">
                                        <p:cTn dur="1" fill="hold" display="0" masterRel="nextClick" afterEffect="1"/>
                                        <p:tgtEl>
                                          <p:spTgt spid="7373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738"/>
                                        </p:tgtEl>
                                        <p:attrNameLst>
                                          <p:attrName>style.visibility</p:attrName>
                                        </p:attrNameLst>
                                      </p:cBhvr>
                                      <p:to>
                                        <p:strVal val="visible"/>
                                      </p:to>
                                    </p:set>
                                  </p:childTnLst>
                                  <p:subTnLst>
                                    <p:set>
                                      <p:cBhvr override="childStyle">
                                        <p:cTn dur="1" fill="hold" display="0" masterRel="nextClick" afterEffect="1"/>
                                        <p:tgtEl>
                                          <p:spTgt spid="7373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nimBg="1"/>
      <p:bldP spid="73734" grpId="0" animBg="1"/>
      <p:bldP spid="73735" grpId="0" animBg="1"/>
      <p:bldP spid="73736" grpId="0" animBg="1"/>
      <p:bldP spid="73737" grpId="0" animBg="1"/>
      <p:bldP spid="73738"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b="1" dirty="0"/>
              <a:t>The </a:t>
            </a:r>
            <a:r>
              <a:rPr lang="en-US" b="1" dirty="0" err="1">
                <a:latin typeface="Courier New" pitchFamily="49" charset="0"/>
                <a:cs typeface="Courier New" pitchFamily="49" charset="0"/>
              </a:rPr>
              <a:t>innerHTML</a:t>
            </a:r>
            <a:r>
              <a:rPr lang="en-US" b="1" dirty="0"/>
              <a:t> Property</a:t>
            </a:r>
          </a:p>
        </p:txBody>
      </p:sp>
      <p:sp>
        <p:nvSpPr>
          <p:cNvPr id="74755" name="Rectangle 3"/>
          <p:cNvSpPr>
            <a:spLocks noGrp="1" noChangeArrowheads="1"/>
          </p:cNvSpPr>
          <p:nvPr>
            <p:ph type="body" idx="1"/>
          </p:nvPr>
        </p:nvSpPr>
        <p:spPr/>
        <p:txBody>
          <a:bodyPr>
            <a:normAutofit/>
          </a:bodyPr>
          <a:lstStyle/>
          <a:p>
            <a:pPr algn="just"/>
            <a:r>
              <a:rPr lang="en-US" sz="2600" dirty="0"/>
              <a:t>The attribute </a:t>
            </a:r>
            <a:r>
              <a:rPr lang="en-US" sz="2600" dirty="0" err="1">
                <a:solidFill>
                  <a:srgbClr val="CC0000"/>
                </a:solidFill>
              </a:rPr>
              <a:t>innerHTML</a:t>
            </a:r>
            <a:r>
              <a:rPr lang="en-US" sz="2600" dirty="0"/>
              <a:t> attribute of an element is the HTML code embedded inside that </a:t>
            </a:r>
            <a:r>
              <a:rPr lang="en-US" sz="2600" dirty="0" smtClean="0"/>
              <a:t>element</a:t>
            </a:r>
          </a:p>
          <a:p>
            <a:pPr algn="just"/>
            <a:endParaRPr lang="en-US" sz="2600" dirty="0"/>
          </a:p>
          <a:p>
            <a:pPr algn="just"/>
            <a:r>
              <a:rPr lang="en-US" sz="2600" dirty="0"/>
              <a:t>Hence, you can replace existing content by setting this attribute:</a:t>
            </a:r>
          </a:p>
          <a:p>
            <a:pPr lvl="1" algn="just"/>
            <a:r>
              <a:rPr lang="en-US" sz="2600" i="1" dirty="0" err="1">
                <a:solidFill>
                  <a:srgbClr val="0000FF"/>
                </a:solidFill>
              </a:rPr>
              <a:t>element</a:t>
            </a:r>
            <a:r>
              <a:rPr lang="en-US" sz="2600" dirty="0" err="1">
                <a:solidFill>
                  <a:srgbClr val="0000FF"/>
                </a:solidFill>
              </a:rPr>
              <a:t>.</a:t>
            </a:r>
            <a:r>
              <a:rPr lang="en-US" sz="2600" dirty="0" err="1">
                <a:solidFill>
                  <a:srgbClr val="CC0000"/>
                </a:solidFill>
              </a:rPr>
              <a:t>innerHTML</a:t>
            </a:r>
            <a:r>
              <a:rPr lang="en-US" sz="2600" dirty="0">
                <a:solidFill>
                  <a:srgbClr val="CC0000"/>
                </a:solidFill>
              </a:rPr>
              <a:t> = "</a:t>
            </a:r>
            <a:r>
              <a:rPr lang="en-US" sz="2600" i="1" dirty="0">
                <a:solidFill>
                  <a:schemeClr val="tx1"/>
                </a:solidFill>
              </a:rPr>
              <a:t>new HTML code</a:t>
            </a:r>
            <a:r>
              <a:rPr lang="en-US" sz="2600" dirty="0">
                <a:solidFill>
                  <a:srgbClr val="CC0000"/>
                </a:solidFill>
              </a:rPr>
              <a:t>" </a:t>
            </a:r>
            <a:endParaRPr lang="en-US" sz="2600" dirty="0" smtClean="0">
              <a:solidFill>
                <a:srgbClr val="CC0000"/>
              </a:solidFill>
            </a:endParaRPr>
          </a:p>
          <a:p>
            <a:pPr lvl="1" algn="just"/>
            <a:endParaRPr lang="en-US" sz="2600" dirty="0">
              <a:solidFill>
                <a:srgbClr val="CC0000"/>
              </a:solidFill>
            </a:endParaRPr>
          </a:p>
          <a:p>
            <a:pPr algn="just"/>
            <a:r>
              <a:rPr lang="en-US" sz="2600" dirty="0"/>
              <a:t>Not recognized by W3C specifications, but supported by Web browsers</a:t>
            </a:r>
          </a:p>
        </p:txBody>
      </p:sp>
    </p:spTree>
    <p:extLst>
      <p:ext uri="{BB962C8B-B14F-4D97-AF65-F5344CB8AC3E}">
        <p14:creationId xmlns:p14="http://schemas.microsoft.com/office/powerpoint/2010/main" xmlns="" val="421571699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ormAutofit fontScale="90000"/>
          </a:bodyPr>
          <a:lstStyle/>
          <a:p>
            <a:r>
              <a:rPr lang="en-US"/>
              <a:t>Previous Example with </a:t>
            </a:r>
            <a:r>
              <a:rPr lang="en-US">
                <a:latin typeface="Courier New" pitchFamily="49" charset="0"/>
                <a:cs typeface="Courier New" pitchFamily="49" charset="0"/>
              </a:rPr>
              <a:t>innerHTML</a:t>
            </a:r>
          </a:p>
        </p:txBody>
      </p:sp>
      <p:sp>
        <p:nvSpPr>
          <p:cNvPr id="75779" name="Text Box 3"/>
          <p:cNvSpPr txBox="1">
            <a:spLocks noChangeArrowheads="1"/>
          </p:cNvSpPr>
          <p:nvPr/>
        </p:nvSpPr>
        <p:spPr bwMode="auto">
          <a:xfrm>
            <a:off x="762000" y="2143125"/>
            <a:ext cx="7772400" cy="26574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sz="2400">
                <a:solidFill>
                  <a:srgbClr val="800000"/>
                </a:solidFill>
                <a:latin typeface="Arial" charset="0"/>
                <a:cs typeface="Arial" charset="0"/>
              </a:rPr>
              <a:t>function</a:t>
            </a:r>
            <a:r>
              <a:rPr lang="en-US" sz="2400">
                <a:solidFill>
                  <a:srgbClr val="0015A6"/>
                </a:solidFill>
                <a:latin typeface="Arial" charset="0"/>
                <a:cs typeface="Arial" charset="0"/>
              </a:rPr>
              <a:t> </a:t>
            </a:r>
            <a:r>
              <a:rPr lang="en-US" sz="2400">
                <a:solidFill>
                  <a:srgbClr val="800000"/>
                </a:solidFill>
                <a:latin typeface="Arial" charset="0"/>
                <a:cs typeface="Arial" charset="0"/>
              </a:rPr>
              <a:t>replace</a:t>
            </a:r>
            <a:r>
              <a:rPr lang="en-US" sz="2400">
                <a:solidFill>
                  <a:srgbClr val="808030"/>
                </a:solidFill>
                <a:latin typeface="Arial" charset="0"/>
                <a:cs typeface="Arial" charset="0"/>
              </a:rPr>
              <a:t>(</a:t>
            </a:r>
            <a:r>
              <a:rPr lang="en-US" sz="2400">
                <a:solidFill>
                  <a:srgbClr val="0015A6"/>
                </a:solidFill>
                <a:latin typeface="Arial" charset="0"/>
                <a:cs typeface="Arial" charset="0"/>
              </a:rPr>
              <a:t>button</a:t>
            </a:r>
            <a:r>
              <a:rPr lang="en-US" sz="2400">
                <a:solidFill>
                  <a:srgbClr val="808030"/>
                </a:solidFill>
                <a:latin typeface="Arial" charset="0"/>
                <a:cs typeface="Arial" charset="0"/>
              </a:rPr>
              <a:t>)</a:t>
            </a:r>
            <a:r>
              <a:rPr lang="en-US" sz="2400">
                <a:solidFill>
                  <a:srgbClr val="0015A6"/>
                </a:solidFill>
                <a:latin typeface="Arial" charset="0"/>
                <a:cs typeface="Arial" charset="0"/>
              </a:rPr>
              <a:t> </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0015A6"/>
                </a:solidFill>
                <a:latin typeface="Arial" charset="0"/>
                <a:cs typeface="Arial" charset="0"/>
              </a:rPr>
              <a:t>	d </a:t>
            </a:r>
            <a:r>
              <a:rPr lang="en-US" sz="2400">
                <a:solidFill>
                  <a:srgbClr val="808030"/>
                </a:solidFill>
                <a:latin typeface="Arial" charset="0"/>
                <a:cs typeface="Arial" charset="0"/>
              </a:rPr>
              <a:t>=</a:t>
            </a:r>
            <a:r>
              <a:rPr lang="en-US" sz="2400">
                <a:solidFill>
                  <a:srgbClr val="0015A6"/>
                </a:solidFill>
                <a:latin typeface="Arial" charset="0"/>
                <a:cs typeface="Arial" charset="0"/>
              </a:rPr>
              <a:t> document</a:t>
            </a:r>
            <a:r>
              <a:rPr lang="en-US" sz="2400">
                <a:solidFill>
                  <a:srgbClr val="808030"/>
                </a:solidFill>
                <a:latin typeface="Arial" charset="0"/>
                <a:cs typeface="Arial" charset="0"/>
              </a:rPr>
              <a:t>.</a:t>
            </a:r>
            <a:r>
              <a:rPr lang="en-US" sz="2400">
                <a:solidFill>
                  <a:srgbClr val="0015A6"/>
                </a:solidFill>
                <a:latin typeface="Arial" charset="0"/>
                <a:cs typeface="Arial" charset="0"/>
              </a:rPr>
              <a:t>getElementById</a:t>
            </a:r>
            <a:r>
              <a:rPr lang="en-US" sz="2400">
                <a:solidFill>
                  <a:srgbClr val="808030"/>
                </a:solidFill>
                <a:latin typeface="Arial" charset="0"/>
                <a:cs typeface="Arial" charset="0"/>
              </a:rPr>
              <a:t>(</a:t>
            </a:r>
            <a:r>
              <a:rPr lang="en-US" sz="2400">
                <a:solidFill>
                  <a:srgbClr val="0000E6"/>
                </a:solidFill>
                <a:latin typeface="Arial" charset="0"/>
                <a:cs typeface="Arial" charset="0"/>
              </a:rPr>
              <a:t>"d1"</a:t>
            </a:r>
            <a:r>
              <a:rPr lang="en-US" sz="2400">
                <a:solidFill>
                  <a:srgbClr val="808030"/>
                </a:solidFill>
                <a:latin typeface="Arial" charset="0"/>
                <a:cs typeface="Arial" charset="0"/>
              </a:rPr>
              <a: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endParaRPr lang="en-US" sz="2400">
              <a:solidFill>
                <a:srgbClr val="0015A6"/>
              </a:solidFill>
              <a:latin typeface="Arial" charset="0"/>
              <a:cs typeface="Arial" charset="0"/>
            </a:endParaRPr>
          </a:p>
          <a:p>
            <a:r>
              <a:rPr lang="en-US" sz="2400">
                <a:solidFill>
                  <a:srgbClr val="0015A6"/>
                </a:solidFill>
                <a:latin typeface="Arial" charset="0"/>
                <a:cs typeface="Arial" charset="0"/>
              </a:rPr>
              <a:t>	d</a:t>
            </a:r>
            <a:r>
              <a:rPr lang="en-US" sz="2400">
                <a:solidFill>
                  <a:srgbClr val="808030"/>
                </a:solidFill>
                <a:latin typeface="Arial" charset="0"/>
                <a:cs typeface="Arial" charset="0"/>
              </a:rPr>
              <a:t>.</a:t>
            </a:r>
            <a:r>
              <a:rPr lang="en-US" sz="2400">
                <a:solidFill>
                  <a:srgbClr val="0015A6"/>
                </a:solidFill>
                <a:latin typeface="Arial" charset="0"/>
                <a:cs typeface="Arial" charset="0"/>
              </a:rPr>
              <a:t>innerHTML </a:t>
            </a:r>
            <a:r>
              <a:rPr lang="en-US" sz="2400">
                <a:solidFill>
                  <a:srgbClr val="808030"/>
                </a:solidFill>
                <a:latin typeface="Arial" charset="0"/>
                <a:cs typeface="Arial" charset="0"/>
              </a:rPr>
              <a:t>=</a:t>
            </a:r>
            <a:r>
              <a:rPr lang="en-US" sz="2400">
                <a:solidFill>
                  <a:srgbClr val="0015A6"/>
                </a:solidFill>
                <a:latin typeface="Arial" charset="0"/>
                <a:cs typeface="Arial" charset="0"/>
              </a:rPr>
              <a:t> </a:t>
            </a:r>
            <a:r>
              <a:rPr lang="en-US" sz="2400">
                <a:solidFill>
                  <a:srgbClr val="0000E6"/>
                </a:solidFill>
                <a:latin typeface="Arial" charset="0"/>
                <a:cs typeface="Arial" charset="0"/>
              </a:rPr>
              <a:t>"&lt;h1&gt;This is a header&lt;</a:t>
            </a:r>
            <a:r>
              <a:rPr lang="en-US" sz="2400">
                <a:solidFill>
                  <a:srgbClr val="0F69FF"/>
                </a:solidFill>
                <a:latin typeface="Arial" charset="0"/>
                <a:cs typeface="Arial" charset="0"/>
              </a:rPr>
              <a:t>\/</a:t>
            </a:r>
            <a:r>
              <a:rPr lang="en-US" sz="2400">
                <a:solidFill>
                  <a:srgbClr val="0000E6"/>
                </a:solidFill>
                <a:latin typeface="Arial" charset="0"/>
                <a:cs typeface="Arial" charset="0"/>
              </a:rPr>
              <a:t>h1&gt;"</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endParaRPr lang="en-US" sz="2400">
              <a:solidFill>
                <a:srgbClr val="0015A6"/>
              </a:solidFill>
              <a:latin typeface="Arial" charset="0"/>
              <a:cs typeface="Arial" charset="0"/>
            </a:endParaRPr>
          </a:p>
          <a:p>
            <a:r>
              <a:rPr lang="en-US" sz="2400">
                <a:solidFill>
                  <a:srgbClr val="0015A6"/>
                </a:solidFill>
                <a:latin typeface="Arial" charset="0"/>
                <a:cs typeface="Arial" charset="0"/>
              </a:rPr>
              <a:t>	button</a:t>
            </a:r>
            <a:r>
              <a:rPr lang="en-US" sz="2400">
                <a:solidFill>
                  <a:srgbClr val="808030"/>
                </a:solidFill>
                <a:latin typeface="Arial" charset="0"/>
                <a:cs typeface="Arial" charset="0"/>
              </a:rPr>
              <a:t>.</a:t>
            </a:r>
            <a:r>
              <a:rPr lang="en-US" sz="2400">
                <a:solidFill>
                  <a:srgbClr val="0015A6"/>
                </a:solidFill>
                <a:latin typeface="Arial" charset="0"/>
                <a:cs typeface="Arial" charset="0"/>
              </a:rPr>
              <a:t>disabled</a:t>
            </a:r>
            <a:r>
              <a:rPr lang="en-US" sz="2400">
                <a:solidFill>
                  <a:srgbClr val="808030"/>
                </a:solidFill>
                <a:latin typeface="Arial" charset="0"/>
                <a:cs typeface="Arial" charset="0"/>
              </a:rPr>
              <a:t>=</a:t>
            </a:r>
            <a:r>
              <a:rPr lang="en-US" sz="2400">
                <a:solidFill>
                  <a:srgbClr val="0F4D75"/>
                </a:solidFill>
                <a:latin typeface="Arial" charset="0"/>
                <a:cs typeface="Arial" charset="0"/>
              </a:rPr>
              <a:t>true</a:t>
            </a:r>
            <a:r>
              <a:rPr lang="en-US" sz="2400">
                <a:solidFill>
                  <a:srgbClr val="800080"/>
                </a:solidFill>
                <a:latin typeface="Arial" charset="0"/>
                <a:cs typeface="Arial" charset="0"/>
              </a:rPr>
              <a:t>;</a:t>
            </a:r>
            <a:endParaRPr lang="en-US" sz="2400">
              <a:solidFill>
                <a:srgbClr val="0015A6"/>
              </a:solidFill>
              <a:latin typeface="Arial" charset="0"/>
              <a:cs typeface="Arial" charset="0"/>
            </a:endParaRPr>
          </a:p>
          <a:p>
            <a:r>
              <a:rPr lang="en-US" sz="2400">
                <a:solidFill>
                  <a:srgbClr val="800080"/>
                </a:solidFill>
                <a:latin typeface="Arial" charset="0"/>
                <a:cs typeface="Arial" charset="0"/>
              </a:rPr>
              <a:t>}</a:t>
            </a:r>
          </a:p>
        </p:txBody>
      </p:sp>
      <p:sp>
        <p:nvSpPr>
          <p:cNvPr id="75780" name="Rectangle 4"/>
          <p:cNvSpPr>
            <a:spLocks noChangeArrowheads="1"/>
          </p:cNvSpPr>
          <p:nvPr/>
        </p:nvSpPr>
        <p:spPr bwMode="auto">
          <a:xfrm>
            <a:off x="1600200" y="3276600"/>
            <a:ext cx="6705600" cy="3810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75782" name="Rectangle 6"/>
          <p:cNvSpPr>
            <a:spLocks noChangeArrowheads="1"/>
          </p:cNvSpPr>
          <p:nvPr/>
        </p:nvSpPr>
        <p:spPr bwMode="auto">
          <a:xfrm>
            <a:off x="1676400" y="2514600"/>
            <a:ext cx="5562600" cy="457200"/>
          </a:xfrm>
          <a:prstGeom prst="rect">
            <a:avLst/>
          </a:prstGeom>
          <a:noFill/>
          <a:ln w="28575">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112344608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82"/>
                                        </p:tgtEl>
                                        <p:attrNameLst>
                                          <p:attrName>style.visibility</p:attrName>
                                        </p:attrNameLst>
                                      </p:cBhvr>
                                      <p:to>
                                        <p:strVal val="visible"/>
                                      </p:to>
                                    </p:set>
                                  </p:childTnLst>
                                  <p:subTnLst>
                                    <p:set>
                                      <p:cBhvr override="childStyle">
                                        <p:cTn dur="1" fill="hold" display="0" masterRel="nextClick" afterEffect="1"/>
                                        <p:tgtEl>
                                          <p:spTgt spid="7578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80"/>
                                        </p:tgtEl>
                                        <p:attrNameLst>
                                          <p:attrName>style.visibility</p:attrName>
                                        </p:attrNameLst>
                                      </p:cBhvr>
                                      <p:to>
                                        <p:strVal val="visible"/>
                                      </p:to>
                                    </p:set>
                                  </p:childTnLst>
                                  <p:subTnLst>
                                    <p:set>
                                      <p:cBhvr override="childStyle">
                                        <p:cTn dur="1" fill="hold" display="0" masterRel="nextClick" afterEffect="1"/>
                                        <p:tgtEl>
                                          <p:spTgt spid="7578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nimBg="1"/>
      <p:bldP spid="7578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p:txBody>
          <a:bodyPr/>
          <a:lstStyle/>
          <a:p>
            <a:r>
              <a:rPr lang="en-US"/>
              <a:t>The </a:t>
            </a:r>
            <a:r>
              <a:rPr lang="en-US" b="1">
                <a:latin typeface="Courier New" pitchFamily="49" charset="0"/>
                <a:cs typeface="Courier New" pitchFamily="49" charset="0"/>
              </a:rPr>
              <a:t>window</a:t>
            </a:r>
            <a:r>
              <a:rPr lang="en-US"/>
              <a:t> Object</a:t>
            </a:r>
          </a:p>
        </p:txBody>
      </p:sp>
    </p:spTree>
    <p:extLst>
      <p:ext uri="{BB962C8B-B14F-4D97-AF65-F5344CB8AC3E}">
        <p14:creationId xmlns:p14="http://schemas.microsoft.com/office/powerpoint/2010/main" xmlns="" val="172779537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b="1" dirty="0"/>
              <a:t>The </a:t>
            </a:r>
            <a:r>
              <a:rPr lang="en-US" b="1" dirty="0">
                <a:latin typeface="Courier New" pitchFamily="49" charset="0"/>
                <a:cs typeface="Courier New" pitchFamily="49" charset="0"/>
              </a:rPr>
              <a:t>window</a:t>
            </a:r>
            <a:r>
              <a:rPr lang="en-US" b="1" dirty="0"/>
              <a:t> Object</a:t>
            </a:r>
          </a:p>
        </p:txBody>
      </p:sp>
      <p:sp>
        <p:nvSpPr>
          <p:cNvPr id="52227" name="Rectangle 3"/>
          <p:cNvSpPr>
            <a:spLocks noGrp="1" noChangeArrowheads="1"/>
          </p:cNvSpPr>
          <p:nvPr>
            <p:ph type="body" idx="1"/>
          </p:nvPr>
        </p:nvSpPr>
        <p:spPr/>
        <p:txBody>
          <a:bodyPr>
            <a:normAutofit fontScale="92500" lnSpcReduction="10000"/>
          </a:bodyPr>
          <a:lstStyle/>
          <a:p>
            <a:r>
              <a:rPr lang="en-US" sz="2600" dirty="0"/>
              <a:t>Built-in object called </a:t>
            </a:r>
            <a:r>
              <a:rPr lang="en-US" sz="2600" dirty="0" smtClean="0">
                <a:solidFill>
                  <a:srgbClr val="0066FF"/>
                </a:solidFill>
              </a:rPr>
              <a:t>window</a:t>
            </a:r>
          </a:p>
          <a:p>
            <a:endParaRPr lang="en-US" sz="2600" dirty="0">
              <a:solidFill>
                <a:srgbClr val="0066FF"/>
              </a:solidFill>
            </a:endParaRPr>
          </a:p>
          <a:p>
            <a:r>
              <a:rPr lang="en-US" sz="2600" dirty="0"/>
              <a:t>Represents the browser window of the </a:t>
            </a:r>
            <a:r>
              <a:rPr lang="en-US" sz="2600" dirty="0">
                <a:solidFill>
                  <a:srgbClr val="0066FF"/>
                </a:solidFill>
              </a:rPr>
              <a:t>document</a:t>
            </a:r>
            <a:r>
              <a:rPr lang="en-US" sz="2600" dirty="0"/>
              <a:t> </a:t>
            </a:r>
            <a:endParaRPr lang="en-US" sz="2600" dirty="0" smtClean="0"/>
          </a:p>
          <a:p>
            <a:endParaRPr lang="en-US" sz="2600" dirty="0"/>
          </a:p>
          <a:p>
            <a:r>
              <a:rPr lang="en-US" sz="2600" dirty="0"/>
              <a:t>Several window objects may co-exist</a:t>
            </a:r>
          </a:p>
          <a:p>
            <a:pPr lvl="1"/>
            <a:r>
              <a:rPr lang="en-US" sz="2600" dirty="0"/>
              <a:t>Separate windows/tabs</a:t>
            </a:r>
          </a:p>
          <a:p>
            <a:pPr lvl="1"/>
            <a:r>
              <a:rPr lang="en-US" sz="2600" dirty="0"/>
              <a:t>Separate </a:t>
            </a:r>
            <a:r>
              <a:rPr lang="en-US" sz="2600" dirty="0" smtClean="0"/>
              <a:t>frames</a:t>
            </a:r>
          </a:p>
          <a:p>
            <a:pPr lvl="1"/>
            <a:endParaRPr lang="en-US" sz="2600" dirty="0"/>
          </a:p>
          <a:p>
            <a:r>
              <a:rPr lang="en-US" sz="2600" dirty="0"/>
              <a:t>Default object </a:t>
            </a:r>
            <a:r>
              <a:rPr lang="en-US" sz="2600" dirty="0">
                <a:latin typeface="Arial Black" pitchFamily="34" charset="0"/>
              </a:rPr>
              <a:t>– </a:t>
            </a:r>
            <a:r>
              <a:rPr lang="en-US" sz="2600" dirty="0"/>
              <a:t>need not specify</a:t>
            </a:r>
            <a:r>
              <a:rPr lang="en-US" sz="2600" dirty="0">
                <a:latin typeface="Arial Black" pitchFamily="34" charset="0"/>
              </a:rPr>
              <a:t> </a:t>
            </a:r>
            <a:r>
              <a:rPr lang="en-US" sz="2600" dirty="0">
                <a:solidFill>
                  <a:srgbClr val="0066FF"/>
                </a:solidFill>
              </a:rPr>
              <a:t>window </a:t>
            </a:r>
            <a:r>
              <a:rPr lang="en-US" sz="2600" dirty="0"/>
              <a:t>to access its properties and methods </a:t>
            </a:r>
          </a:p>
          <a:p>
            <a:pPr lvl="1"/>
            <a:r>
              <a:rPr lang="en-US" sz="2600" dirty="0" err="1">
                <a:solidFill>
                  <a:srgbClr val="0066FF"/>
                </a:solidFill>
              </a:rPr>
              <a:t>window.alert</a:t>
            </a:r>
            <a:r>
              <a:rPr lang="en-US" sz="2600" dirty="0">
                <a:solidFill>
                  <a:srgbClr val="0066FF"/>
                </a:solidFill>
              </a:rPr>
              <a:t>()</a:t>
            </a:r>
            <a:r>
              <a:rPr lang="en-US" sz="2600" dirty="0"/>
              <a:t> and </a:t>
            </a:r>
            <a:r>
              <a:rPr lang="en-US" sz="2600" dirty="0">
                <a:solidFill>
                  <a:srgbClr val="0066FF"/>
                </a:solidFill>
              </a:rPr>
              <a:t>alert()</a:t>
            </a:r>
            <a:r>
              <a:rPr lang="en-US" sz="2600" dirty="0"/>
              <a:t> are the same</a:t>
            </a:r>
          </a:p>
        </p:txBody>
      </p:sp>
    </p:spTree>
    <p:extLst>
      <p:ext uri="{BB962C8B-B14F-4D97-AF65-F5344CB8AC3E}">
        <p14:creationId xmlns:p14="http://schemas.microsoft.com/office/powerpoint/2010/main" xmlns="" val="96888430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t>Dialog Boxses</a:t>
            </a:r>
          </a:p>
        </p:txBody>
      </p:sp>
      <p:sp>
        <p:nvSpPr>
          <p:cNvPr id="93187" name="Rectangle 3"/>
          <p:cNvSpPr>
            <a:spLocks noGrp="1" noChangeArrowheads="1"/>
          </p:cNvSpPr>
          <p:nvPr>
            <p:ph type="body" idx="1"/>
          </p:nvPr>
        </p:nvSpPr>
        <p:spPr>
          <a:xfrm>
            <a:off x="457200" y="1447800"/>
            <a:ext cx="5172075" cy="4876800"/>
          </a:xfrm>
        </p:spPr>
        <p:txBody>
          <a:bodyPr/>
          <a:lstStyle/>
          <a:p>
            <a:r>
              <a:rPr lang="en-US">
                <a:solidFill>
                  <a:srgbClr val="CC0000"/>
                </a:solidFill>
              </a:rPr>
              <a:t>alert(</a:t>
            </a:r>
            <a:r>
              <a:rPr lang="en-US">
                <a:solidFill>
                  <a:srgbClr val="0000FF"/>
                </a:solidFill>
              </a:rPr>
              <a:t>"warning!!!"</a:t>
            </a:r>
            <a:r>
              <a:rPr lang="en-US">
                <a:solidFill>
                  <a:srgbClr val="CC0000"/>
                </a:solidFill>
              </a:rPr>
              <a:t>); </a:t>
            </a:r>
          </a:p>
          <a:p>
            <a:r>
              <a:rPr lang="en-US">
                <a:solidFill>
                  <a:srgbClr val="CC0000"/>
                </a:solidFill>
              </a:rPr>
              <a:t>confirm(</a:t>
            </a:r>
            <a:r>
              <a:rPr lang="en-US">
                <a:solidFill>
                  <a:srgbClr val="0000FF"/>
                </a:solidFill>
              </a:rPr>
              <a:t>"are you sure?"</a:t>
            </a:r>
            <a:r>
              <a:rPr lang="en-US">
                <a:solidFill>
                  <a:srgbClr val="CC0000"/>
                </a:solidFill>
              </a:rPr>
              <a:t>); </a:t>
            </a:r>
          </a:p>
          <a:p>
            <a:pPr lvl="1"/>
            <a:r>
              <a:rPr lang="en-US" sz="2800"/>
              <a:t>returned value is </a:t>
            </a:r>
            <a:r>
              <a:rPr lang="en-US" sz="2800">
                <a:solidFill>
                  <a:srgbClr val="9900CC"/>
                </a:solidFill>
              </a:rPr>
              <a:t>Boolean</a:t>
            </a:r>
          </a:p>
          <a:p>
            <a:r>
              <a:rPr lang="en-US">
                <a:solidFill>
                  <a:srgbClr val="CC0000"/>
                </a:solidFill>
              </a:rPr>
              <a:t>prompt(</a:t>
            </a:r>
            <a:r>
              <a:rPr lang="en-US">
                <a:solidFill>
                  <a:srgbClr val="0000FF"/>
                </a:solidFill>
              </a:rPr>
              <a:t>"enter your name"</a:t>
            </a:r>
            <a:r>
              <a:rPr lang="en-US">
                <a:solidFill>
                  <a:srgbClr val="CC0000"/>
                </a:solidFill>
              </a:rPr>
              <a:t>);</a:t>
            </a:r>
            <a:r>
              <a:rPr lang="en-US" sz="3200">
                <a:solidFill>
                  <a:srgbClr val="CC0000"/>
                </a:solidFill>
              </a:rPr>
              <a:t> </a:t>
            </a:r>
          </a:p>
          <a:p>
            <a:pPr lvl="1"/>
            <a:r>
              <a:rPr lang="en-US" sz="2800"/>
              <a:t>returned value is either a </a:t>
            </a:r>
            <a:r>
              <a:rPr lang="en-US" sz="2800">
                <a:solidFill>
                  <a:srgbClr val="9900CC"/>
                </a:solidFill>
              </a:rPr>
              <a:t>string</a:t>
            </a:r>
            <a:r>
              <a:rPr lang="en-US" sz="2800"/>
              <a:t> or a </a:t>
            </a:r>
            <a:r>
              <a:rPr lang="en-US" sz="2800">
                <a:solidFill>
                  <a:srgbClr val="9900CC"/>
                </a:solidFill>
              </a:rPr>
              <a:t>null object</a:t>
            </a:r>
            <a:endParaRPr lang="en-US" sz="2800">
              <a:solidFill>
                <a:srgbClr val="0000FF"/>
              </a:solidFill>
            </a:endParaRPr>
          </a:p>
        </p:txBody>
      </p:sp>
      <p:pic>
        <p:nvPicPr>
          <p:cNvPr id="93188"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91200" y="1371600"/>
            <a:ext cx="3000375" cy="11906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3189"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791200" y="2667000"/>
            <a:ext cx="3000375" cy="11906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3190"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791200" y="3962400"/>
            <a:ext cx="3000375" cy="14192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3191" name="Text Box 7"/>
          <p:cNvSpPr txBox="1">
            <a:spLocks noChangeArrowheads="1"/>
          </p:cNvSpPr>
          <p:nvPr/>
        </p:nvSpPr>
        <p:spPr bwMode="auto">
          <a:xfrm>
            <a:off x="762000" y="5715000"/>
            <a:ext cx="7620000" cy="7254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lnSpc>
                <a:spcPct val="130000"/>
              </a:lnSpc>
              <a:spcBef>
                <a:spcPct val="20000"/>
              </a:spcBef>
              <a:buSzPct val="100000"/>
            </a:pPr>
            <a:r>
              <a:rPr lang="en-US" sz="3200" b="0">
                <a:solidFill>
                  <a:srgbClr val="003399"/>
                </a:solidFill>
                <a:latin typeface="Arial" charset="0"/>
                <a:cs typeface="Arial" charset="0"/>
              </a:rPr>
              <a:t>Rendering stops until box closure!</a:t>
            </a:r>
          </a:p>
        </p:txBody>
      </p:sp>
    </p:spTree>
    <p:extLst>
      <p:ext uri="{BB962C8B-B14F-4D97-AF65-F5344CB8AC3E}">
        <p14:creationId xmlns:p14="http://schemas.microsoft.com/office/powerpoint/2010/main" xmlns="" val="323331407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31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7">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31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3187">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187">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319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3187">
                                            <p:txEl>
                                              <p:pRg st="4" end="4"/>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3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bldLvl="4"/>
      <p:bldP spid="93191"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An Example</a:t>
            </a:r>
          </a:p>
        </p:txBody>
      </p:sp>
      <p:sp>
        <p:nvSpPr>
          <p:cNvPr id="94211" name="Text Box 3"/>
          <p:cNvSpPr txBox="1">
            <a:spLocks noChangeArrowheads="1"/>
          </p:cNvSpPr>
          <p:nvPr/>
        </p:nvSpPr>
        <p:spPr bwMode="auto">
          <a:xfrm>
            <a:off x="76200" y="1600200"/>
            <a:ext cx="8915400" cy="4346575"/>
          </a:xfrm>
          <a:prstGeom prst="rect">
            <a:avLst/>
          </a:prstGeom>
          <a:solidFill>
            <a:schemeClr val="bg1"/>
          </a:solidFill>
          <a:ln w="28575">
            <a:solidFill>
              <a:schemeClr val="tx1"/>
            </a:solidFill>
            <a:miter lim="800000"/>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lnSpc>
                <a:spcPct val="90000"/>
              </a:lnSpc>
            </a:pPr>
            <a:r>
              <a:rPr lang="en-US" sz="2800" b="0">
                <a:solidFill>
                  <a:srgbClr val="A65700"/>
                </a:solidFill>
                <a:latin typeface="Arial" charset="0"/>
                <a:cs typeface="Arial" charset="0"/>
              </a:rPr>
              <a:t>&lt;</a:t>
            </a:r>
            <a:r>
              <a:rPr lang="en-US" sz="2800">
                <a:solidFill>
                  <a:srgbClr val="800000"/>
                </a:solidFill>
                <a:latin typeface="Arial" charset="0"/>
                <a:cs typeface="Arial" charset="0"/>
              </a:rPr>
              <a:t>script type="text/javascript"</a:t>
            </a:r>
            <a:r>
              <a:rPr lang="en-US" sz="2800" b="0">
                <a:solidFill>
                  <a:srgbClr val="A65700"/>
                </a:solidFill>
                <a:latin typeface="Arial" charset="0"/>
                <a:cs typeface="Arial" charset="0"/>
              </a:rPr>
              <a:t>&gt;</a:t>
            </a:r>
            <a:endParaRPr lang="en-US" sz="2800" b="0">
              <a:solidFill>
                <a:srgbClr val="0000FF"/>
              </a:solidFill>
              <a:latin typeface="Arial" charset="0"/>
              <a:cs typeface="Arial" charset="0"/>
            </a:endParaRPr>
          </a:p>
          <a:p>
            <a:pPr eaLnBrk="0" hangingPunct="0">
              <a:lnSpc>
                <a:spcPct val="90000"/>
              </a:lnSpc>
            </a:pPr>
            <a:r>
              <a:rPr lang="en-US" sz="2800" b="0">
                <a:solidFill>
                  <a:srgbClr val="0000FF"/>
                </a:solidFill>
                <a:latin typeface="Arial" charset="0"/>
                <a:cs typeface="Arial" charset="0"/>
              </a:rPr>
              <a:t>          </a:t>
            </a:r>
          </a:p>
          <a:p>
            <a:pPr eaLnBrk="0" hangingPunct="0">
              <a:lnSpc>
                <a:spcPct val="90000"/>
              </a:lnSpc>
            </a:pPr>
            <a:r>
              <a:rPr lang="en-US" sz="2800" b="0">
                <a:solidFill>
                  <a:srgbClr val="0000FF"/>
                </a:solidFill>
                <a:latin typeface="Arial" charset="0"/>
                <a:cs typeface="Arial" charset="0"/>
              </a:rPr>
              <a:t>    alert</a:t>
            </a:r>
            <a:r>
              <a:rPr lang="en-US" sz="2800" b="0">
                <a:solidFill>
                  <a:srgbClr val="808030"/>
                </a:solidFill>
                <a:latin typeface="Arial" charset="0"/>
                <a:cs typeface="Arial" charset="0"/>
              </a:rPr>
              <a:t>(</a:t>
            </a:r>
            <a:r>
              <a:rPr lang="en-US" sz="2800" b="0">
                <a:solidFill>
                  <a:srgbClr val="0000E6"/>
                </a:solidFill>
                <a:latin typeface="Arial" charset="0"/>
                <a:cs typeface="Arial" charset="0"/>
              </a:rPr>
              <a:t>"You are about to start"</a:t>
            </a:r>
            <a:r>
              <a:rPr lang="en-US" sz="2800" b="0">
                <a:solidFill>
                  <a:srgbClr val="808030"/>
                </a:solidFill>
                <a:latin typeface="Arial" charset="0"/>
                <a:cs typeface="Arial" charset="0"/>
              </a:rPr>
              <a:t>)</a:t>
            </a:r>
            <a:r>
              <a:rPr lang="en-US" sz="2800" b="0">
                <a:solidFill>
                  <a:srgbClr val="800080"/>
                </a:solidFill>
                <a:latin typeface="Arial" charset="0"/>
                <a:cs typeface="Arial" charset="0"/>
              </a:rPr>
              <a:t>;</a:t>
            </a:r>
            <a:r>
              <a:rPr lang="en-US" sz="2800" b="0">
                <a:solidFill>
                  <a:srgbClr val="0000FF"/>
                </a:solidFill>
                <a:latin typeface="Arial" charset="0"/>
                <a:cs typeface="Arial" charset="0"/>
              </a:rPr>
              <a:t>        </a:t>
            </a:r>
          </a:p>
          <a:p>
            <a:pPr eaLnBrk="0" hangingPunct="0">
              <a:lnSpc>
                <a:spcPct val="90000"/>
              </a:lnSpc>
            </a:pPr>
            <a:r>
              <a:rPr lang="en-US" sz="2800" b="0">
                <a:solidFill>
                  <a:srgbClr val="0000FF"/>
                </a:solidFill>
                <a:latin typeface="Arial" charset="0"/>
                <a:cs typeface="Arial" charset="0"/>
              </a:rPr>
              <a:t>    document</a:t>
            </a:r>
            <a:r>
              <a:rPr lang="en-US" sz="2800" b="0">
                <a:solidFill>
                  <a:srgbClr val="808030"/>
                </a:solidFill>
                <a:latin typeface="Arial" charset="0"/>
                <a:cs typeface="Arial" charset="0"/>
              </a:rPr>
              <a:t>.</a:t>
            </a:r>
            <a:r>
              <a:rPr lang="en-US" sz="2800" b="0">
                <a:solidFill>
                  <a:srgbClr val="0000FF"/>
                </a:solidFill>
                <a:latin typeface="Arial" charset="0"/>
                <a:cs typeface="Arial" charset="0"/>
              </a:rPr>
              <a:t>write</a:t>
            </a:r>
            <a:r>
              <a:rPr lang="en-US" sz="2800" b="0">
                <a:solidFill>
                  <a:srgbClr val="808030"/>
                </a:solidFill>
                <a:latin typeface="Arial" charset="0"/>
                <a:cs typeface="Arial" charset="0"/>
              </a:rPr>
              <a:t>(</a:t>
            </a:r>
            <a:r>
              <a:rPr lang="en-US" sz="2800" b="0">
                <a:solidFill>
                  <a:srgbClr val="0000E6"/>
                </a:solidFill>
                <a:latin typeface="Arial" charset="0"/>
                <a:cs typeface="Arial" charset="0"/>
              </a:rPr>
              <a:t>"Started&lt;br/&gt;"</a:t>
            </a:r>
            <a:r>
              <a:rPr lang="en-US" sz="2800" b="0">
                <a:solidFill>
                  <a:srgbClr val="808030"/>
                </a:solidFill>
                <a:latin typeface="Arial" charset="0"/>
                <a:cs typeface="Arial" charset="0"/>
              </a:rPr>
              <a:t>)</a:t>
            </a:r>
            <a:r>
              <a:rPr lang="en-US" sz="2800" b="0">
                <a:solidFill>
                  <a:srgbClr val="800080"/>
                </a:solidFill>
                <a:latin typeface="Arial" charset="0"/>
                <a:cs typeface="Arial" charset="0"/>
              </a:rPr>
              <a:t>;</a:t>
            </a:r>
            <a:endParaRPr lang="en-US" sz="2800" b="0">
              <a:solidFill>
                <a:srgbClr val="0000FF"/>
              </a:solidFill>
              <a:latin typeface="Arial" charset="0"/>
              <a:cs typeface="Arial" charset="0"/>
            </a:endParaRPr>
          </a:p>
          <a:p>
            <a:pPr eaLnBrk="0" hangingPunct="0">
              <a:lnSpc>
                <a:spcPct val="90000"/>
              </a:lnSpc>
            </a:pPr>
            <a:r>
              <a:rPr lang="en-US" sz="2800" b="0">
                <a:solidFill>
                  <a:srgbClr val="0000FF"/>
                </a:solidFill>
                <a:latin typeface="Arial" charset="0"/>
                <a:cs typeface="Arial" charset="0"/>
              </a:rPr>
              <a:t>        </a:t>
            </a:r>
          </a:p>
          <a:p>
            <a:pPr eaLnBrk="0" hangingPunct="0">
              <a:lnSpc>
                <a:spcPct val="90000"/>
              </a:lnSpc>
            </a:pPr>
            <a:r>
              <a:rPr lang="en-US" sz="2800" b="0">
                <a:solidFill>
                  <a:srgbClr val="0000FF"/>
                </a:solidFill>
                <a:latin typeface="Arial" charset="0"/>
                <a:cs typeface="Arial" charset="0"/>
              </a:rPr>
              <a:t>    conf </a:t>
            </a:r>
            <a:r>
              <a:rPr lang="en-US" sz="2800" b="0">
                <a:solidFill>
                  <a:srgbClr val="808030"/>
                </a:solidFill>
                <a:latin typeface="Arial" charset="0"/>
                <a:cs typeface="Arial" charset="0"/>
              </a:rPr>
              <a:t>=</a:t>
            </a:r>
            <a:r>
              <a:rPr lang="en-US" sz="2800" b="0">
                <a:solidFill>
                  <a:srgbClr val="0000FF"/>
                </a:solidFill>
                <a:latin typeface="Arial" charset="0"/>
                <a:cs typeface="Arial" charset="0"/>
              </a:rPr>
              <a:t> confirm</a:t>
            </a:r>
            <a:r>
              <a:rPr lang="en-US" sz="2800" b="0">
                <a:solidFill>
                  <a:srgbClr val="808030"/>
                </a:solidFill>
                <a:latin typeface="Arial" charset="0"/>
                <a:cs typeface="Arial" charset="0"/>
              </a:rPr>
              <a:t>(</a:t>
            </a:r>
            <a:r>
              <a:rPr lang="en-US" sz="2800" b="0">
                <a:solidFill>
                  <a:srgbClr val="0000E6"/>
                </a:solidFill>
                <a:latin typeface="Arial" charset="0"/>
                <a:cs typeface="Arial" charset="0"/>
              </a:rPr>
              <a:t>"Should I continue?"</a:t>
            </a:r>
            <a:r>
              <a:rPr lang="en-US" sz="2800" b="0">
                <a:solidFill>
                  <a:srgbClr val="808030"/>
                </a:solidFill>
                <a:latin typeface="Arial" charset="0"/>
                <a:cs typeface="Arial" charset="0"/>
              </a:rPr>
              <a:t>)</a:t>
            </a:r>
            <a:r>
              <a:rPr lang="en-US" sz="2800" b="0">
                <a:solidFill>
                  <a:srgbClr val="800080"/>
                </a:solidFill>
                <a:latin typeface="Arial" charset="0"/>
                <a:cs typeface="Arial" charset="0"/>
              </a:rPr>
              <a:t>;</a:t>
            </a:r>
            <a:r>
              <a:rPr lang="en-US" sz="2800" b="0">
                <a:solidFill>
                  <a:srgbClr val="0000FF"/>
                </a:solidFill>
                <a:latin typeface="Arial" charset="0"/>
                <a:cs typeface="Arial" charset="0"/>
              </a:rPr>
              <a:t>        </a:t>
            </a:r>
          </a:p>
          <a:p>
            <a:pPr eaLnBrk="0" hangingPunct="0">
              <a:lnSpc>
                <a:spcPct val="90000"/>
              </a:lnSpc>
            </a:pPr>
            <a:r>
              <a:rPr lang="en-US" sz="2800" b="0">
                <a:solidFill>
                  <a:srgbClr val="0000FF"/>
                </a:solidFill>
                <a:latin typeface="Arial" charset="0"/>
                <a:cs typeface="Arial" charset="0"/>
              </a:rPr>
              <a:t>    </a:t>
            </a:r>
            <a:r>
              <a:rPr lang="en-US" sz="2800">
                <a:solidFill>
                  <a:srgbClr val="800000"/>
                </a:solidFill>
                <a:latin typeface="Arial" charset="0"/>
                <a:cs typeface="Arial" charset="0"/>
              </a:rPr>
              <a:t>if</a:t>
            </a:r>
            <a:r>
              <a:rPr lang="en-US" sz="2800" b="0">
                <a:solidFill>
                  <a:srgbClr val="808030"/>
                </a:solidFill>
                <a:latin typeface="Arial" charset="0"/>
                <a:cs typeface="Arial" charset="0"/>
              </a:rPr>
              <a:t>(</a:t>
            </a:r>
            <a:r>
              <a:rPr lang="en-US" sz="2800" b="0">
                <a:solidFill>
                  <a:srgbClr val="0000FF"/>
                </a:solidFill>
                <a:latin typeface="Arial" charset="0"/>
                <a:cs typeface="Arial" charset="0"/>
              </a:rPr>
              <a:t>conf</a:t>
            </a:r>
            <a:r>
              <a:rPr lang="en-US" sz="2800" b="0">
                <a:solidFill>
                  <a:srgbClr val="808030"/>
                </a:solidFill>
                <a:latin typeface="Arial" charset="0"/>
                <a:cs typeface="Arial" charset="0"/>
              </a:rPr>
              <a:t>)</a:t>
            </a:r>
            <a:r>
              <a:rPr lang="en-US" sz="2800" b="0">
                <a:solidFill>
                  <a:srgbClr val="0000FF"/>
                </a:solidFill>
                <a:latin typeface="Arial" charset="0"/>
                <a:cs typeface="Arial" charset="0"/>
              </a:rPr>
              <a:t> </a:t>
            </a:r>
            <a:r>
              <a:rPr lang="en-US" sz="2800" b="0">
                <a:solidFill>
                  <a:srgbClr val="800080"/>
                </a:solidFill>
                <a:latin typeface="Arial" charset="0"/>
                <a:cs typeface="Arial" charset="0"/>
              </a:rPr>
              <a:t>{</a:t>
            </a:r>
            <a:endParaRPr lang="en-US" sz="2800" b="0">
              <a:solidFill>
                <a:srgbClr val="0000FF"/>
              </a:solidFill>
              <a:latin typeface="Arial" charset="0"/>
              <a:cs typeface="Arial" charset="0"/>
            </a:endParaRPr>
          </a:p>
          <a:p>
            <a:pPr eaLnBrk="0" hangingPunct="0">
              <a:lnSpc>
                <a:spcPct val="90000"/>
              </a:lnSpc>
            </a:pPr>
            <a:r>
              <a:rPr lang="en-US" sz="2800" b="0">
                <a:solidFill>
                  <a:srgbClr val="0000FF"/>
                </a:solidFill>
                <a:latin typeface="Arial" charset="0"/>
                <a:cs typeface="Arial" charset="0"/>
              </a:rPr>
              <a:t>       name </a:t>
            </a:r>
            <a:r>
              <a:rPr lang="en-US" sz="2800" b="0">
                <a:solidFill>
                  <a:srgbClr val="808030"/>
                </a:solidFill>
                <a:latin typeface="Arial" charset="0"/>
                <a:cs typeface="Arial" charset="0"/>
              </a:rPr>
              <a:t>=</a:t>
            </a:r>
            <a:r>
              <a:rPr lang="en-US" sz="2800" b="0">
                <a:solidFill>
                  <a:srgbClr val="0000FF"/>
                </a:solidFill>
                <a:latin typeface="Arial" charset="0"/>
                <a:cs typeface="Arial" charset="0"/>
              </a:rPr>
              <a:t> prompt</a:t>
            </a:r>
            <a:r>
              <a:rPr lang="en-US" sz="2800" b="0">
                <a:solidFill>
                  <a:srgbClr val="808030"/>
                </a:solidFill>
                <a:latin typeface="Arial" charset="0"/>
                <a:cs typeface="Arial" charset="0"/>
              </a:rPr>
              <a:t>(</a:t>
            </a:r>
            <a:r>
              <a:rPr lang="en-US" sz="2800" b="0">
                <a:solidFill>
                  <a:srgbClr val="0000E6"/>
                </a:solidFill>
                <a:latin typeface="Arial" charset="0"/>
                <a:cs typeface="Arial" charset="0"/>
              </a:rPr>
              <a:t>"Enrer your name"</a:t>
            </a:r>
            <a:r>
              <a:rPr lang="en-US" sz="2800" b="0">
                <a:solidFill>
                  <a:srgbClr val="808030"/>
                </a:solidFill>
                <a:latin typeface="Arial" charset="0"/>
                <a:cs typeface="Arial" charset="0"/>
              </a:rPr>
              <a:t>)</a:t>
            </a:r>
            <a:endParaRPr lang="en-US" sz="2800" b="0">
              <a:solidFill>
                <a:srgbClr val="0000FF"/>
              </a:solidFill>
              <a:latin typeface="Arial" charset="0"/>
              <a:cs typeface="Arial" charset="0"/>
            </a:endParaRPr>
          </a:p>
          <a:p>
            <a:pPr eaLnBrk="0" hangingPunct="0">
              <a:lnSpc>
                <a:spcPct val="90000"/>
              </a:lnSpc>
            </a:pPr>
            <a:r>
              <a:rPr lang="en-US" sz="2800" b="0">
                <a:solidFill>
                  <a:srgbClr val="0000FF"/>
                </a:solidFill>
                <a:latin typeface="Arial" charset="0"/>
                <a:cs typeface="Arial" charset="0"/>
              </a:rPr>
              <a:t>       document</a:t>
            </a:r>
            <a:r>
              <a:rPr lang="en-US" sz="2800" b="0">
                <a:solidFill>
                  <a:srgbClr val="808030"/>
                </a:solidFill>
                <a:latin typeface="Arial" charset="0"/>
                <a:cs typeface="Arial" charset="0"/>
              </a:rPr>
              <a:t>.</a:t>
            </a:r>
            <a:r>
              <a:rPr lang="en-US" sz="2800" b="0">
                <a:solidFill>
                  <a:srgbClr val="0000FF"/>
                </a:solidFill>
                <a:latin typeface="Arial" charset="0"/>
                <a:cs typeface="Arial" charset="0"/>
              </a:rPr>
              <a:t>write</a:t>
            </a:r>
            <a:r>
              <a:rPr lang="en-US" sz="2800" b="0">
                <a:solidFill>
                  <a:srgbClr val="808030"/>
                </a:solidFill>
                <a:latin typeface="Arial" charset="0"/>
                <a:cs typeface="Arial" charset="0"/>
              </a:rPr>
              <a:t>(</a:t>
            </a:r>
            <a:r>
              <a:rPr lang="en-US" sz="2800" b="0">
                <a:solidFill>
                  <a:srgbClr val="0000E6"/>
                </a:solidFill>
                <a:latin typeface="Arial" charset="0"/>
                <a:cs typeface="Arial" charset="0"/>
              </a:rPr>
              <a:t>"Your name is "</a:t>
            </a:r>
            <a:r>
              <a:rPr lang="en-US" sz="2800" b="0">
                <a:solidFill>
                  <a:srgbClr val="0000FF"/>
                </a:solidFill>
                <a:latin typeface="Arial" charset="0"/>
                <a:cs typeface="Arial" charset="0"/>
              </a:rPr>
              <a:t> </a:t>
            </a:r>
            <a:r>
              <a:rPr lang="en-US" sz="2800" b="0">
                <a:solidFill>
                  <a:srgbClr val="808030"/>
                </a:solidFill>
                <a:latin typeface="Arial" charset="0"/>
                <a:cs typeface="Arial" charset="0"/>
              </a:rPr>
              <a:t>+</a:t>
            </a:r>
            <a:r>
              <a:rPr lang="en-US" sz="2800" b="0">
                <a:solidFill>
                  <a:srgbClr val="0000FF"/>
                </a:solidFill>
                <a:latin typeface="Arial" charset="0"/>
                <a:cs typeface="Arial" charset="0"/>
              </a:rPr>
              <a:t> name </a:t>
            </a:r>
            <a:r>
              <a:rPr lang="en-US" sz="2800" b="0">
                <a:solidFill>
                  <a:srgbClr val="808030"/>
                </a:solidFill>
                <a:latin typeface="Arial" charset="0"/>
                <a:cs typeface="Arial" charset="0"/>
              </a:rPr>
              <a:t>+"</a:t>
            </a:r>
            <a:r>
              <a:rPr lang="en-US" sz="2800" b="0">
                <a:solidFill>
                  <a:srgbClr val="0000E6"/>
                </a:solidFill>
                <a:latin typeface="Arial" charset="0"/>
                <a:cs typeface="Arial" charset="0"/>
              </a:rPr>
              <a:t>.&lt;br/&gt;"</a:t>
            </a:r>
            <a:r>
              <a:rPr lang="en-US" sz="2800" b="0">
                <a:solidFill>
                  <a:srgbClr val="808030"/>
                </a:solidFill>
                <a:latin typeface="Arial" charset="0"/>
                <a:cs typeface="Arial" charset="0"/>
              </a:rPr>
              <a:t>)</a:t>
            </a:r>
            <a:r>
              <a:rPr lang="en-US" sz="2800" b="0">
                <a:solidFill>
                  <a:srgbClr val="800080"/>
                </a:solidFill>
                <a:latin typeface="Arial" charset="0"/>
                <a:cs typeface="Arial" charset="0"/>
              </a:rPr>
              <a:t>;</a:t>
            </a:r>
            <a:endParaRPr lang="en-US" sz="2800" b="0">
              <a:solidFill>
                <a:srgbClr val="0000FF"/>
              </a:solidFill>
              <a:latin typeface="Arial" charset="0"/>
              <a:cs typeface="Arial" charset="0"/>
            </a:endParaRPr>
          </a:p>
          <a:p>
            <a:pPr eaLnBrk="0" hangingPunct="0">
              <a:lnSpc>
                <a:spcPct val="90000"/>
              </a:lnSpc>
            </a:pPr>
            <a:r>
              <a:rPr lang="en-US" sz="2800" b="0">
                <a:solidFill>
                  <a:srgbClr val="0000FF"/>
                </a:solidFill>
                <a:latin typeface="Arial" charset="0"/>
                <a:cs typeface="Arial" charset="0"/>
              </a:rPr>
              <a:t>    </a:t>
            </a:r>
            <a:r>
              <a:rPr lang="en-US" sz="2800" b="0">
                <a:solidFill>
                  <a:srgbClr val="800080"/>
                </a:solidFill>
                <a:latin typeface="Arial" charset="0"/>
                <a:cs typeface="Arial" charset="0"/>
              </a:rPr>
              <a:t>}</a:t>
            </a:r>
            <a:endParaRPr lang="en-US" sz="2800" b="0">
              <a:solidFill>
                <a:srgbClr val="0000FF"/>
              </a:solidFill>
              <a:latin typeface="Arial" charset="0"/>
              <a:cs typeface="Arial" charset="0"/>
            </a:endParaRPr>
          </a:p>
          <a:p>
            <a:pPr eaLnBrk="0" hangingPunct="0">
              <a:lnSpc>
                <a:spcPct val="90000"/>
              </a:lnSpc>
            </a:pPr>
            <a:r>
              <a:rPr lang="en-US" sz="2800" b="0">
                <a:solidFill>
                  <a:srgbClr val="A65700"/>
                </a:solidFill>
                <a:latin typeface="Arial" charset="0"/>
                <a:cs typeface="Arial" charset="0"/>
              </a:rPr>
              <a:t>&lt;/</a:t>
            </a:r>
            <a:r>
              <a:rPr lang="en-US" sz="2800">
                <a:solidFill>
                  <a:srgbClr val="800000"/>
                </a:solidFill>
                <a:latin typeface="Arial" charset="0"/>
                <a:cs typeface="Arial" charset="0"/>
              </a:rPr>
              <a:t>script</a:t>
            </a:r>
            <a:r>
              <a:rPr lang="en-US" sz="2800" b="0">
                <a:solidFill>
                  <a:srgbClr val="A65700"/>
                </a:solidFill>
                <a:latin typeface="Arial" charset="0"/>
                <a:cs typeface="Arial" charset="0"/>
              </a:rPr>
              <a:t>&gt;</a:t>
            </a:r>
          </a:p>
        </p:txBody>
      </p:sp>
      <p:sp>
        <p:nvSpPr>
          <p:cNvPr id="94212" name="Rectangle 4"/>
          <p:cNvSpPr>
            <a:spLocks noChangeArrowheads="1"/>
          </p:cNvSpPr>
          <p:nvPr/>
        </p:nvSpPr>
        <p:spPr bwMode="auto">
          <a:xfrm>
            <a:off x="533400" y="2362200"/>
            <a:ext cx="4800600" cy="533400"/>
          </a:xfrm>
          <a:prstGeom prst="rect">
            <a:avLst/>
          </a:prstGeom>
          <a:noFill/>
          <a:ln w="38100">
            <a:solidFill>
              <a:srgbClr val="CC0000"/>
            </a:solidFill>
            <a:miter lim="800000"/>
            <a:headEnd type="none" w="sm" len="sm"/>
            <a:tailEnd type="none" w="sm" len="sm"/>
          </a:ln>
          <a:effectLst/>
          <a:extLst>
            <a:ext uri="{909E8E84-426E-40DD-AFC4-6F175D3DCCD1}">
              <a14:hiddenFill xmlns:a14="http://schemas.microsoft.com/office/drawing/2010/main" xmlns="">
                <a:solidFill>
                  <a:srgbClr val="CCFF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94213" name="Rectangle 5"/>
          <p:cNvSpPr>
            <a:spLocks noChangeArrowheads="1"/>
          </p:cNvSpPr>
          <p:nvPr/>
        </p:nvSpPr>
        <p:spPr bwMode="auto">
          <a:xfrm>
            <a:off x="533400" y="3505200"/>
            <a:ext cx="5867400" cy="533400"/>
          </a:xfrm>
          <a:prstGeom prst="rect">
            <a:avLst/>
          </a:prstGeom>
          <a:noFill/>
          <a:ln w="38100">
            <a:solidFill>
              <a:srgbClr val="CC0000"/>
            </a:solidFill>
            <a:miter lim="800000"/>
            <a:headEnd type="none" w="sm" len="sm"/>
            <a:tailEnd type="none" w="sm" len="sm"/>
          </a:ln>
          <a:effectLst/>
          <a:extLst>
            <a:ext uri="{909E8E84-426E-40DD-AFC4-6F175D3DCCD1}">
              <a14:hiddenFill xmlns:a14="http://schemas.microsoft.com/office/drawing/2010/main" xmlns="">
                <a:solidFill>
                  <a:srgbClr val="CCFF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94214" name="Rectangle 6"/>
          <p:cNvSpPr>
            <a:spLocks noChangeArrowheads="1"/>
          </p:cNvSpPr>
          <p:nvPr/>
        </p:nvSpPr>
        <p:spPr bwMode="auto">
          <a:xfrm>
            <a:off x="533400" y="3962400"/>
            <a:ext cx="1295400" cy="457200"/>
          </a:xfrm>
          <a:prstGeom prst="rect">
            <a:avLst/>
          </a:prstGeom>
          <a:noFill/>
          <a:ln w="38100">
            <a:solidFill>
              <a:srgbClr val="CC0000"/>
            </a:solidFill>
            <a:miter lim="800000"/>
            <a:headEnd type="none" w="sm" len="sm"/>
            <a:tailEnd type="none" w="sm" len="sm"/>
          </a:ln>
          <a:effectLst/>
          <a:extLst>
            <a:ext uri="{909E8E84-426E-40DD-AFC4-6F175D3DCCD1}">
              <a14:hiddenFill xmlns:a14="http://schemas.microsoft.com/office/drawing/2010/main" xmlns="">
                <a:solidFill>
                  <a:srgbClr val="CCFF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94215" name="Rectangle 7"/>
          <p:cNvSpPr>
            <a:spLocks noChangeArrowheads="1"/>
          </p:cNvSpPr>
          <p:nvPr/>
        </p:nvSpPr>
        <p:spPr bwMode="auto">
          <a:xfrm>
            <a:off x="685800" y="4343400"/>
            <a:ext cx="5715000" cy="457200"/>
          </a:xfrm>
          <a:prstGeom prst="rect">
            <a:avLst/>
          </a:prstGeom>
          <a:noFill/>
          <a:ln w="38100">
            <a:solidFill>
              <a:srgbClr val="CC0000"/>
            </a:solidFill>
            <a:miter lim="800000"/>
            <a:headEnd type="none" w="sm" len="sm"/>
            <a:tailEnd type="none" w="sm" len="sm"/>
          </a:ln>
          <a:effectLst/>
          <a:extLst>
            <a:ext uri="{909E8E84-426E-40DD-AFC4-6F175D3DCCD1}">
              <a14:hiddenFill xmlns:a14="http://schemas.microsoft.com/office/drawing/2010/main" xmlns="">
                <a:solidFill>
                  <a:srgbClr val="CCFF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xmlns="" val="194902542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12"/>
                                        </p:tgtEl>
                                        <p:attrNameLst>
                                          <p:attrName>style.visibility</p:attrName>
                                        </p:attrNameLst>
                                      </p:cBhvr>
                                      <p:to>
                                        <p:strVal val="visible"/>
                                      </p:to>
                                    </p:set>
                                  </p:childTnLst>
                                  <p:subTnLst>
                                    <p:set>
                                      <p:cBhvr override="childStyle">
                                        <p:cTn dur="1" fill="hold" display="0" masterRel="nextClick" afterEffect="1"/>
                                        <p:tgtEl>
                                          <p:spTgt spid="9421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4213"/>
                                        </p:tgtEl>
                                        <p:attrNameLst>
                                          <p:attrName>style.visibility</p:attrName>
                                        </p:attrNameLst>
                                      </p:cBhvr>
                                      <p:to>
                                        <p:strVal val="visible"/>
                                      </p:to>
                                    </p:set>
                                  </p:childTnLst>
                                  <p:subTnLst>
                                    <p:set>
                                      <p:cBhvr override="childStyle">
                                        <p:cTn dur="1" fill="hold" display="0" masterRel="nextClick" afterEffect="1"/>
                                        <p:tgtEl>
                                          <p:spTgt spid="9421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4214"/>
                                        </p:tgtEl>
                                        <p:attrNameLst>
                                          <p:attrName>style.visibility</p:attrName>
                                        </p:attrNameLst>
                                      </p:cBhvr>
                                      <p:to>
                                        <p:strVal val="visible"/>
                                      </p:to>
                                    </p:set>
                                  </p:childTnLst>
                                  <p:subTnLst>
                                    <p:set>
                                      <p:cBhvr override="childStyle">
                                        <p:cTn dur="1" fill="hold" display="0" masterRel="nextClick" afterEffect="1"/>
                                        <p:tgtEl>
                                          <p:spTgt spid="9421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4215"/>
                                        </p:tgtEl>
                                        <p:attrNameLst>
                                          <p:attrName>style.visibility</p:attrName>
                                        </p:attrNameLst>
                                      </p:cBhvr>
                                      <p:to>
                                        <p:strVal val="visible"/>
                                      </p:to>
                                    </p:set>
                                  </p:childTnLst>
                                  <p:subTnLst>
                                    <p:set>
                                      <p:cBhvr override="childStyle">
                                        <p:cTn dur="1" fill="hold" display="0" masterRel="nextClick" afterEffect="1"/>
                                        <p:tgtEl>
                                          <p:spTgt spid="9421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nimBg="1"/>
      <p:bldP spid="94213" grpId="0" animBg="1"/>
      <p:bldP spid="94214" grpId="0" animBg="1"/>
      <p:bldP spid="9421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dirty="0"/>
              <a:t>The </a:t>
            </a:r>
            <a:r>
              <a:rPr lang="en-US" dirty="0">
                <a:latin typeface="Courier New" pitchFamily="49" charset="0"/>
                <a:cs typeface="Courier New" pitchFamily="49" charset="0"/>
              </a:rPr>
              <a:t>location</a:t>
            </a:r>
            <a:r>
              <a:rPr lang="en-US" dirty="0"/>
              <a:t> Object</a:t>
            </a:r>
          </a:p>
        </p:txBody>
      </p:sp>
      <p:sp>
        <p:nvSpPr>
          <p:cNvPr id="95235" name="Rectangle 3"/>
          <p:cNvSpPr>
            <a:spLocks noGrp="1" noChangeArrowheads="1"/>
          </p:cNvSpPr>
          <p:nvPr>
            <p:ph type="body" idx="1"/>
          </p:nvPr>
        </p:nvSpPr>
        <p:spPr/>
        <p:txBody>
          <a:bodyPr>
            <a:normAutofit fontScale="92500" lnSpcReduction="10000"/>
          </a:bodyPr>
          <a:lstStyle/>
          <a:p>
            <a:r>
              <a:rPr lang="en-US" sz="2600" dirty="0"/>
              <a:t>The object </a:t>
            </a:r>
            <a:r>
              <a:rPr lang="en-US" sz="2600" dirty="0" err="1">
                <a:solidFill>
                  <a:srgbClr val="0000FF"/>
                </a:solidFill>
              </a:rPr>
              <a:t>window.location</a:t>
            </a:r>
            <a:r>
              <a:rPr lang="en-US" sz="2600" dirty="0">
                <a:solidFill>
                  <a:srgbClr val="0000FF"/>
                </a:solidFill>
              </a:rPr>
              <a:t> </a:t>
            </a:r>
            <a:r>
              <a:rPr lang="en-US" sz="2600" dirty="0"/>
              <a:t>represents the current URL of the </a:t>
            </a:r>
            <a:r>
              <a:rPr lang="en-US" sz="2600" dirty="0" smtClean="0"/>
              <a:t>window</a:t>
            </a:r>
          </a:p>
          <a:p>
            <a:endParaRPr lang="en-US" sz="2600" dirty="0"/>
          </a:p>
          <a:p>
            <a:r>
              <a:rPr lang="en-US" sz="2600" dirty="0"/>
              <a:t>For example:</a:t>
            </a:r>
          </a:p>
          <a:p>
            <a:pPr lvl="1"/>
            <a:r>
              <a:rPr lang="en-US" sz="2600" dirty="0" err="1">
                <a:solidFill>
                  <a:srgbClr val="0000FF"/>
                </a:solidFill>
              </a:rPr>
              <a:t>location.</a:t>
            </a:r>
            <a:r>
              <a:rPr lang="en-US" sz="2600" dirty="0" err="1">
                <a:solidFill>
                  <a:srgbClr val="CC0000"/>
                </a:solidFill>
              </a:rPr>
              <a:t>href</a:t>
            </a:r>
            <a:r>
              <a:rPr lang="en-US" sz="2600" dirty="0">
                <a:solidFill>
                  <a:srgbClr val="0000FF"/>
                </a:solidFill>
              </a:rPr>
              <a:t> </a:t>
            </a:r>
            <a:r>
              <a:rPr lang="en-US" sz="2600" dirty="0"/>
              <a:t>- the current URL (can be changed!)</a:t>
            </a:r>
          </a:p>
          <a:p>
            <a:pPr lvl="1"/>
            <a:r>
              <a:rPr lang="en-US" sz="2600" dirty="0" err="1">
                <a:solidFill>
                  <a:srgbClr val="0000FF"/>
                </a:solidFill>
              </a:rPr>
              <a:t>location.</a:t>
            </a:r>
            <a:r>
              <a:rPr lang="en-US" sz="2600" dirty="0" err="1">
                <a:solidFill>
                  <a:srgbClr val="CC0000"/>
                </a:solidFill>
              </a:rPr>
              <a:t>hostname</a:t>
            </a:r>
            <a:r>
              <a:rPr lang="en-US" sz="2600" dirty="0"/>
              <a:t> </a:t>
            </a:r>
            <a:r>
              <a:rPr lang="en-US" sz="2600" dirty="0">
                <a:solidFill>
                  <a:srgbClr val="CC0000"/>
                </a:solidFill>
              </a:rPr>
              <a:t> </a:t>
            </a:r>
            <a:endParaRPr lang="en-US" sz="2600" dirty="0"/>
          </a:p>
          <a:p>
            <a:pPr lvl="1"/>
            <a:r>
              <a:rPr lang="en-US" sz="2600" dirty="0" err="1">
                <a:solidFill>
                  <a:srgbClr val="0000FF"/>
                </a:solidFill>
              </a:rPr>
              <a:t>location.</a:t>
            </a:r>
            <a:r>
              <a:rPr lang="en-US" sz="2600" dirty="0" err="1">
                <a:solidFill>
                  <a:srgbClr val="CC0000"/>
                </a:solidFill>
              </a:rPr>
              <a:t>pathname</a:t>
            </a:r>
            <a:r>
              <a:rPr lang="en-US" sz="2600" dirty="0">
                <a:solidFill>
                  <a:srgbClr val="CC0000"/>
                </a:solidFill>
              </a:rPr>
              <a:t> </a:t>
            </a:r>
            <a:endParaRPr lang="en-US" sz="2600" dirty="0" smtClean="0">
              <a:solidFill>
                <a:srgbClr val="CC0000"/>
              </a:solidFill>
            </a:endParaRPr>
          </a:p>
          <a:p>
            <a:pPr lvl="1"/>
            <a:endParaRPr lang="en-US" sz="2600" dirty="0">
              <a:solidFill>
                <a:srgbClr val="CC0000"/>
              </a:solidFill>
            </a:endParaRPr>
          </a:p>
          <a:p>
            <a:r>
              <a:rPr lang="en-US" sz="2600" dirty="0"/>
              <a:t>Also has methods:</a:t>
            </a:r>
            <a:r>
              <a:rPr lang="en-US" sz="2600" dirty="0">
                <a:solidFill>
                  <a:srgbClr val="0000FF"/>
                </a:solidFill>
              </a:rPr>
              <a:t> </a:t>
            </a:r>
          </a:p>
          <a:p>
            <a:pPr lvl="1"/>
            <a:r>
              <a:rPr lang="en-US" sz="2600" dirty="0" err="1">
                <a:solidFill>
                  <a:srgbClr val="0000FF"/>
                </a:solidFill>
              </a:rPr>
              <a:t>location.</a:t>
            </a:r>
            <a:r>
              <a:rPr lang="en-US" sz="2600" dirty="0" err="1">
                <a:solidFill>
                  <a:srgbClr val="CC0000"/>
                </a:solidFill>
              </a:rPr>
              <a:t>reload</a:t>
            </a:r>
            <a:r>
              <a:rPr lang="en-US" sz="2600" dirty="0">
                <a:solidFill>
                  <a:srgbClr val="CC0000"/>
                </a:solidFill>
              </a:rPr>
              <a:t>()</a:t>
            </a:r>
            <a:r>
              <a:rPr lang="en-US" sz="2600" dirty="0"/>
              <a:t>, </a:t>
            </a:r>
          </a:p>
          <a:p>
            <a:pPr lvl="1"/>
            <a:r>
              <a:rPr lang="en-US" sz="2600" dirty="0" err="1">
                <a:solidFill>
                  <a:srgbClr val="0000FF"/>
                </a:solidFill>
              </a:rPr>
              <a:t>location.</a:t>
            </a:r>
            <a:r>
              <a:rPr lang="en-US" sz="2600" dirty="0" err="1">
                <a:solidFill>
                  <a:srgbClr val="CC0000"/>
                </a:solidFill>
              </a:rPr>
              <a:t>replace</a:t>
            </a:r>
            <a:r>
              <a:rPr lang="en-US" sz="2600" dirty="0">
                <a:solidFill>
                  <a:srgbClr val="CC0000"/>
                </a:solidFill>
              </a:rPr>
              <a:t>(‘</a:t>
            </a:r>
            <a:r>
              <a:rPr lang="en-US" sz="2600" i="1" dirty="0">
                <a:solidFill>
                  <a:srgbClr val="0066FF"/>
                </a:solidFill>
              </a:rPr>
              <a:t>URL</a:t>
            </a:r>
            <a:r>
              <a:rPr lang="en-US" sz="2600" dirty="0">
                <a:solidFill>
                  <a:srgbClr val="CC0000"/>
                </a:solidFill>
              </a:rPr>
              <a:t>’)</a:t>
            </a:r>
          </a:p>
        </p:txBody>
      </p:sp>
    </p:spTree>
    <p:extLst>
      <p:ext uri="{BB962C8B-B14F-4D97-AF65-F5344CB8AC3E}">
        <p14:creationId xmlns:p14="http://schemas.microsoft.com/office/powerpoint/2010/main" xmlns="" val="258327984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Opening New Windows</a:t>
            </a:r>
          </a:p>
        </p:txBody>
      </p:sp>
      <p:sp>
        <p:nvSpPr>
          <p:cNvPr id="55299" name="Rectangle 3"/>
          <p:cNvSpPr>
            <a:spLocks noGrp="1" noChangeArrowheads="1"/>
          </p:cNvSpPr>
          <p:nvPr>
            <p:ph type="body" idx="1"/>
          </p:nvPr>
        </p:nvSpPr>
        <p:spPr/>
        <p:txBody>
          <a:bodyPr>
            <a:normAutofit/>
          </a:bodyPr>
          <a:lstStyle/>
          <a:p>
            <a:r>
              <a:rPr lang="en-US" sz="2600" dirty="0" err="1">
                <a:solidFill>
                  <a:srgbClr val="0000FF"/>
                </a:solidFill>
              </a:rPr>
              <a:t>window.</a:t>
            </a:r>
            <a:r>
              <a:rPr lang="en-US" sz="2600" dirty="0" err="1">
                <a:solidFill>
                  <a:srgbClr val="CC0000"/>
                </a:solidFill>
              </a:rPr>
              <a:t>open</a:t>
            </a:r>
            <a:r>
              <a:rPr lang="en-US" sz="2600" dirty="0">
                <a:solidFill>
                  <a:srgbClr val="0000FF"/>
                </a:solidFill>
              </a:rPr>
              <a:t>("</a:t>
            </a:r>
            <a:r>
              <a:rPr lang="en-US" sz="2600" i="1" dirty="0">
                <a:solidFill>
                  <a:srgbClr val="0000FF"/>
                </a:solidFill>
              </a:rPr>
              <a:t>URL</a:t>
            </a:r>
            <a:r>
              <a:rPr lang="en-US" sz="2600" dirty="0">
                <a:solidFill>
                  <a:srgbClr val="0000FF"/>
                </a:solidFill>
              </a:rPr>
              <a:t>") - </a:t>
            </a:r>
            <a:r>
              <a:rPr lang="en-US" sz="2600" dirty="0"/>
              <a:t>opens</a:t>
            </a:r>
            <a:r>
              <a:rPr lang="en-US" sz="2600" dirty="0">
                <a:solidFill>
                  <a:srgbClr val="0000FF"/>
                </a:solidFill>
              </a:rPr>
              <a:t> URL</a:t>
            </a:r>
            <a:r>
              <a:rPr lang="en-US" sz="2600" dirty="0"/>
              <a:t> in a new </a:t>
            </a:r>
            <a:r>
              <a:rPr lang="en-US" sz="2600" dirty="0" smtClean="0"/>
              <a:t>window</a:t>
            </a:r>
          </a:p>
          <a:p>
            <a:endParaRPr lang="en-US" sz="2600" dirty="0"/>
          </a:p>
          <a:p>
            <a:pPr lvl="1"/>
            <a:r>
              <a:rPr lang="en-US" sz="2600" dirty="0"/>
              <a:t>you can specify other properties, like size, whether it is resizable, etc.</a:t>
            </a:r>
          </a:p>
          <a:p>
            <a:pPr lvl="1"/>
            <a:r>
              <a:rPr lang="en-US" sz="2600" dirty="0"/>
              <a:t>returns the new </a:t>
            </a:r>
            <a:r>
              <a:rPr lang="en-US" sz="2600" dirty="0">
                <a:solidFill>
                  <a:srgbClr val="0000FF"/>
                </a:solidFill>
              </a:rPr>
              <a:t>window</a:t>
            </a:r>
            <a:r>
              <a:rPr lang="en-US" sz="2600" dirty="0"/>
              <a:t> object</a:t>
            </a:r>
          </a:p>
          <a:p>
            <a:pPr lvl="1"/>
            <a:endParaRPr lang="en-US" sz="2600" dirty="0"/>
          </a:p>
        </p:txBody>
      </p:sp>
    </p:spTree>
    <p:extLst>
      <p:ext uri="{BB962C8B-B14F-4D97-AF65-F5344CB8AC3E}">
        <p14:creationId xmlns:p14="http://schemas.microsoft.com/office/powerpoint/2010/main" xmlns="" val="216021621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Accessing Window Frames</a:t>
            </a:r>
          </a:p>
        </p:txBody>
      </p:sp>
      <p:sp>
        <p:nvSpPr>
          <p:cNvPr id="57347" name="Rectangle 3"/>
          <p:cNvSpPr>
            <a:spLocks noGrp="1" noChangeArrowheads="1"/>
          </p:cNvSpPr>
          <p:nvPr>
            <p:ph type="body" idx="1"/>
          </p:nvPr>
        </p:nvSpPr>
        <p:spPr/>
        <p:txBody>
          <a:bodyPr>
            <a:normAutofit/>
          </a:bodyPr>
          <a:lstStyle/>
          <a:p>
            <a:r>
              <a:rPr lang="en-US" sz="2600" dirty="0" err="1">
                <a:solidFill>
                  <a:srgbClr val="0000FF"/>
                </a:solidFill>
              </a:rPr>
              <a:t>window.</a:t>
            </a:r>
            <a:r>
              <a:rPr lang="en-US" sz="2600" dirty="0" err="1">
                <a:solidFill>
                  <a:srgbClr val="CC0000"/>
                </a:solidFill>
              </a:rPr>
              <a:t>top</a:t>
            </a:r>
            <a:r>
              <a:rPr lang="en-US" sz="2600" dirty="0">
                <a:solidFill>
                  <a:srgbClr val="0000FF"/>
                </a:solidFill>
              </a:rPr>
              <a:t> -</a:t>
            </a:r>
            <a:r>
              <a:rPr lang="en-US" sz="2600" dirty="0"/>
              <a:t> the topmost </a:t>
            </a:r>
            <a:r>
              <a:rPr lang="en-US" sz="2600" dirty="0" smtClean="0"/>
              <a:t>window</a:t>
            </a:r>
          </a:p>
          <a:p>
            <a:endParaRPr lang="en-US" sz="2600" dirty="0"/>
          </a:p>
          <a:p>
            <a:r>
              <a:rPr lang="en-US" sz="2600" dirty="0" err="1">
                <a:solidFill>
                  <a:srgbClr val="0000FF"/>
                </a:solidFill>
              </a:rPr>
              <a:t>window.</a:t>
            </a:r>
            <a:r>
              <a:rPr lang="en-US" sz="2600" dirty="0" err="1">
                <a:solidFill>
                  <a:srgbClr val="CC0000"/>
                </a:solidFill>
              </a:rPr>
              <a:t>frames</a:t>
            </a:r>
            <a:r>
              <a:rPr lang="en-US" sz="2600" dirty="0">
                <a:solidFill>
                  <a:srgbClr val="0000FF"/>
                </a:solidFill>
              </a:rPr>
              <a:t> - </a:t>
            </a:r>
            <a:r>
              <a:rPr lang="en-US" sz="2600" dirty="0"/>
              <a:t>a collection of the frames in the </a:t>
            </a:r>
            <a:r>
              <a:rPr lang="en-US" sz="2600" dirty="0" smtClean="0"/>
              <a:t>window</a:t>
            </a:r>
          </a:p>
          <a:p>
            <a:endParaRPr lang="en-US" sz="2600" dirty="0"/>
          </a:p>
          <a:p>
            <a:r>
              <a:rPr lang="en-US" sz="2600" dirty="0"/>
              <a:t>For example, in a specific frame, use </a:t>
            </a:r>
            <a:r>
              <a:rPr lang="en-US" sz="2600" dirty="0" err="1">
                <a:solidFill>
                  <a:srgbClr val="0000FF"/>
                </a:solidFill>
              </a:rPr>
              <a:t>window.</a:t>
            </a:r>
            <a:r>
              <a:rPr lang="en-US" sz="2600" dirty="0" err="1">
                <a:solidFill>
                  <a:srgbClr val="CC0000"/>
                </a:solidFill>
              </a:rPr>
              <a:t>top</a:t>
            </a:r>
            <a:r>
              <a:rPr lang="en-US" sz="2600" dirty="0" err="1">
                <a:solidFill>
                  <a:srgbClr val="0000FF"/>
                </a:solidFill>
              </a:rPr>
              <a:t>.</a:t>
            </a:r>
            <a:r>
              <a:rPr lang="en-US" sz="2600" dirty="0" err="1">
                <a:solidFill>
                  <a:srgbClr val="CC0000"/>
                </a:solidFill>
              </a:rPr>
              <a:t>frames</a:t>
            </a:r>
            <a:r>
              <a:rPr lang="en-US" sz="2600" dirty="0">
                <a:solidFill>
                  <a:srgbClr val="0000FF"/>
                </a:solidFill>
              </a:rPr>
              <a:t>[</a:t>
            </a:r>
            <a:r>
              <a:rPr lang="en-US" sz="2600" dirty="0" err="1">
                <a:solidFill>
                  <a:srgbClr val="0000FF"/>
                </a:solidFill>
              </a:rPr>
              <a:t>i</a:t>
            </a:r>
            <a:r>
              <a:rPr lang="en-US" sz="2600" dirty="0">
                <a:solidFill>
                  <a:srgbClr val="0000FF"/>
                </a:solidFill>
              </a:rPr>
              <a:t>] </a:t>
            </a:r>
            <a:r>
              <a:rPr lang="en-US" sz="2600" dirty="0"/>
              <a:t>to get to another frame</a:t>
            </a:r>
          </a:p>
        </p:txBody>
      </p:sp>
    </p:spTree>
    <p:extLst>
      <p:ext uri="{BB962C8B-B14F-4D97-AF65-F5344CB8AC3E}">
        <p14:creationId xmlns:p14="http://schemas.microsoft.com/office/powerpoint/2010/main" xmlns="" val="87214081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The </a:t>
            </a:r>
            <a:r>
              <a:rPr lang="en-US">
                <a:latin typeface="Courier New" pitchFamily="49" charset="0"/>
                <a:cs typeface="Courier New" pitchFamily="49" charset="0"/>
              </a:rPr>
              <a:t>navigator</a:t>
            </a:r>
            <a:r>
              <a:rPr lang="en-US"/>
              <a:t> Object</a:t>
            </a:r>
          </a:p>
        </p:txBody>
      </p:sp>
      <p:sp>
        <p:nvSpPr>
          <p:cNvPr id="59395" name="Rectangle 3"/>
          <p:cNvSpPr>
            <a:spLocks noGrp="1" noChangeArrowheads="1"/>
          </p:cNvSpPr>
          <p:nvPr>
            <p:ph type="body" idx="1"/>
          </p:nvPr>
        </p:nvSpPr>
        <p:spPr/>
        <p:txBody>
          <a:bodyPr>
            <a:normAutofit/>
          </a:bodyPr>
          <a:lstStyle/>
          <a:p>
            <a:r>
              <a:rPr lang="en-US" sz="2600" dirty="0"/>
              <a:t>The object </a:t>
            </a:r>
            <a:r>
              <a:rPr lang="en-US" sz="2600" dirty="0" err="1">
                <a:solidFill>
                  <a:srgbClr val="0000FF"/>
                </a:solidFill>
              </a:rPr>
              <a:t>window.navigator</a:t>
            </a:r>
            <a:r>
              <a:rPr lang="en-US" sz="2600" dirty="0">
                <a:solidFill>
                  <a:srgbClr val="0000FF"/>
                </a:solidFill>
              </a:rPr>
              <a:t> </a:t>
            </a:r>
            <a:r>
              <a:rPr lang="en-US" sz="2600" dirty="0"/>
              <a:t>contains information about the </a:t>
            </a:r>
            <a:r>
              <a:rPr lang="en-US" sz="2600" dirty="0" smtClean="0"/>
              <a:t>browser</a:t>
            </a:r>
          </a:p>
          <a:p>
            <a:endParaRPr lang="en-US" sz="2600" dirty="0"/>
          </a:p>
          <a:p>
            <a:r>
              <a:rPr lang="en-US" sz="2600" dirty="0"/>
              <a:t>For example:</a:t>
            </a:r>
          </a:p>
          <a:p>
            <a:pPr lvl="1"/>
            <a:r>
              <a:rPr lang="en-US" sz="2600" dirty="0" err="1">
                <a:solidFill>
                  <a:srgbClr val="0000FF"/>
                </a:solidFill>
              </a:rPr>
              <a:t>navigator.</a:t>
            </a:r>
            <a:r>
              <a:rPr lang="en-US" sz="2600" dirty="0" err="1">
                <a:solidFill>
                  <a:srgbClr val="CC0000"/>
                </a:solidFill>
              </a:rPr>
              <a:t>appName</a:t>
            </a:r>
            <a:r>
              <a:rPr lang="en-US" sz="2600" dirty="0">
                <a:solidFill>
                  <a:srgbClr val="0000FF"/>
                </a:solidFill>
              </a:rPr>
              <a:t> </a:t>
            </a:r>
            <a:r>
              <a:rPr lang="en-US" sz="2600" dirty="0"/>
              <a:t>- the name of the browser</a:t>
            </a:r>
          </a:p>
          <a:p>
            <a:pPr lvl="1"/>
            <a:r>
              <a:rPr lang="en-US" sz="2600" dirty="0" err="1">
                <a:solidFill>
                  <a:srgbClr val="0000FF"/>
                </a:solidFill>
              </a:rPr>
              <a:t>navigator.</a:t>
            </a:r>
            <a:r>
              <a:rPr lang="en-US" sz="2600" dirty="0" err="1">
                <a:solidFill>
                  <a:srgbClr val="CC0000"/>
                </a:solidFill>
              </a:rPr>
              <a:t>appVersion</a:t>
            </a:r>
            <a:r>
              <a:rPr lang="en-US" sz="2600" dirty="0">
                <a:solidFill>
                  <a:srgbClr val="CC0000"/>
                </a:solidFill>
              </a:rPr>
              <a:t> </a:t>
            </a:r>
            <a:r>
              <a:rPr lang="en-US" sz="2600" dirty="0"/>
              <a:t>- the version of the browser</a:t>
            </a:r>
          </a:p>
          <a:p>
            <a:pPr lvl="1"/>
            <a:r>
              <a:rPr lang="en-US" sz="2600" dirty="0" err="1">
                <a:solidFill>
                  <a:srgbClr val="0000FF"/>
                </a:solidFill>
              </a:rPr>
              <a:t>navigator.</a:t>
            </a:r>
            <a:r>
              <a:rPr lang="en-US" sz="2600" dirty="0" err="1">
                <a:solidFill>
                  <a:srgbClr val="CC0000"/>
                </a:solidFill>
              </a:rPr>
              <a:t>cookieEnabled</a:t>
            </a:r>
            <a:endParaRPr lang="en-US" sz="2600" dirty="0">
              <a:solidFill>
                <a:srgbClr val="CC0000"/>
              </a:solidFill>
            </a:endParaRPr>
          </a:p>
          <a:p>
            <a:pPr lvl="1"/>
            <a:r>
              <a:rPr lang="en-US" sz="2600" dirty="0" err="1">
                <a:solidFill>
                  <a:srgbClr val="0000FF"/>
                </a:solidFill>
              </a:rPr>
              <a:t>navigator.</a:t>
            </a:r>
            <a:r>
              <a:rPr lang="en-US" sz="2600" dirty="0" err="1">
                <a:solidFill>
                  <a:srgbClr val="CC0000"/>
                </a:solidFill>
              </a:rPr>
              <a:t>platform</a:t>
            </a:r>
            <a:r>
              <a:rPr lang="en-US" sz="2600" dirty="0">
                <a:solidFill>
                  <a:srgbClr val="CC0000"/>
                </a:solidFill>
              </a:rPr>
              <a:t> </a:t>
            </a:r>
            <a:r>
              <a:rPr lang="en-US" sz="2600" dirty="0"/>
              <a:t>- the OS name</a:t>
            </a:r>
          </a:p>
        </p:txBody>
      </p:sp>
    </p:spTree>
    <p:extLst>
      <p:ext uri="{BB962C8B-B14F-4D97-AF65-F5344CB8AC3E}">
        <p14:creationId xmlns:p14="http://schemas.microsoft.com/office/powerpoint/2010/main" xmlns="" val="227172601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The </a:t>
            </a:r>
            <a:r>
              <a:rPr lang="en-US">
                <a:latin typeface="Courier New" pitchFamily="49" charset="0"/>
                <a:cs typeface="Courier New" pitchFamily="49" charset="0"/>
              </a:rPr>
              <a:t>history</a:t>
            </a:r>
            <a:r>
              <a:rPr lang="en-US"/>
              <a:t> Object</a:t>
            </a:r>
          </a:p>
        </p:txBody>
      </p:sp>
      <p:sp>
        <p:nvSpPr>
          <p:cNvPr id="62467" name="Rectangle 3"/>
          <p:cNvSpPr>
            <a:spLocks noGrp="1" noChangeArrowheads="1"/>
          </p:cNvSpPr>
          <p:nvPr>
            <p:ph type="body" idx="1"/>
          </p:nvPr>
        </p:nvSpPr>
        <p:spPr/>
        <p:txBody>
          <a:bodyPr>
            <a:normAutofit/>
          </a:bodyPr>
          <a:lstStyle/>
          <a:p>
            <a:r>
              <a:rPr lang="en-US" sz="2600" dirty="0"/>
              <a:t>The object </a:t>
            </a:r>
            <a:r>
              <a:rPr lang="en-US" sz="2600" dirty="0" err="1">
                <a:solidFill>
                  <a:srgbClr val="0000FF"/>
                </a:solidFill>
              </a:rPr>
              <a:t>window.history</a:t>
            </a:r>
            <a:r>
              <a:rPr lang="en-US" sz="2600" dirty="0">
                <a:solidFill>
                  <a:srgbClr val="0000FF"/>
                </a:solidFill>
              </a:rPr>
              <a:t> </a:t>
            </a:r>
            <a:r>
              <a:rPr lang="en-US" sz="2600" dirty="0"/>
              <a:t>enables navigation according to the navigation history </a:t>
            </a:r>
            <a:endParaRPr lang="en-US" sz="2600" dirty="0" smtClean="0"/>
          </a:p>
          <a:p>
            <a:endParaRPr lang="en-US" sz="2600" dirty="0"/>
          </a:p>
          <a:p>
            <a:r>
              <a:rPr lang="en-US" sz="2600" dirty="0"/>
              <a:t>For example:</a:t>
            </a:r>
          </a:p>
          <a:p>
            <a:pPr lvl="1"/>
            <a:r>
              <a:rPr lang="en-US" sz="2600" dirty="0" err="1">
                <a:solidFill>
                  <a:srgbClr val="0000FF"/>
                </a:solidFill>
              </a:rPr>
              <a:t>history.</a:t>
            </a:r>
            <a:r>
              <a:rPr lang="en-US" sz="2600" dirty="0" err="1">
                <a:solidFill>
                  <a:srgbClr val="CC0000"/>
                </a:solidFill>
              </a:rPr>
              <a:t>back</a:t>
            </a:r>
            <a:r>
              <a:rPr lang="en-US" sz="2600" dirty="0">
                <a:solidFill>
                  <a:srgbClr val="CC0000"/>
                </a:solidFill>
              </a:rPr>
              <a:t>()</a:t>
            </a:r>
            <a:r>
              <a:rPr lang="en-US" sz="2600" dirty="0">
                <a:solidFill>
                  <a:srgbClr val="0000FF"/>
                </a:solidFill>
              </a:rPr>
              <a:t> </a:t>
            </a:r>
            <a:r>
              <a:rPr lang="en-US" sz="2600" dirty="0"/>
              <a:t>- same as clicking the </a:t>
            </a:r>
            <a:r>
              <a:rPr lang="en-US" sz="2600" dirty="0">
                <a:solidFill>
                  <a:srgbClr val="9966FF"/>
                </a:solidFill>
              </a:rPr>
              <a:t>back</a:t>
            </a:r>
            <a:r>
              <a:rPr lang="en-US" sz="2600" dirty="0"/>
              <a:t> button</a:t>
            </a:r>
          </a:p>
          <a:p>
            <a:pPr lvl="1"/>
            <a:r>
              <a:rPr lang="en-US" sz="2600" dirty="0" err="1">
                <a:solidFill>
                  <a:srgbClr val="0000FF"/>
                </a:solidFill>
              </a:rPr>
              <a:t>history.</a:t>
            </a:r>
            <a:r>
              <a:rPr lang="en-US" sz="2600" dirty="0" err="1">
                <a:solidFill>
                  <a:srgbClr val="CC0000"/>
                </a:solidFill>
              </a:rPr>
              <a:t>forward</a:t>
            </a:r>
            <a:r>
              <a:rPr lang="en-US" sz="2600" dirty="0">
                <a:solidFill>
                  <a:srgbClr val="CC0000"/>
                </a:solidFill>
              </a:rPr>
              <a:t>() </a:t>
            </a:r>
            <a:r>
              <a:rPr lang="en-US" sz="2600" dirty="0"/>
              <a:t>- same as clicking the </a:t>
            </a:r>
            <a:r>
              <a:rPr lang="en-US" sz="2600" dirty="0">
                <a:solidFill>
                  <a:srgbClr val="9966FF"/>
                </a:solidFill>
              </a:rPr>
              <a:t>forward</a:t>
            </a:r>
            <a:r>
              <a:rPr lang="en-US" sz="2600" dirty="0"/>
              <a:t> button</a:t>
            </a:r>
          </a:p>
          <a:p>
            <a:pPr lvl="1"/>
            <a:r>
              <a:rPr lang="en-US" sz="2600" dirty="0" err="1">
                <a:solidFill>
                  <a:srgbClr val="0000FF"/>
                </a:solidFill>
              </a:rPr>
              <a:t>history.</a:t>
            </a:r>
            <a:r>
              <a:rPr lang="en-US" sz="2600" dirty="0" err="1">
                <a:solidFill>
                  <a:srgbClr val="CC0000"/>
                </a:solidFill>
              </a:rPr>
              <a:t>go</a:t>
            </a:r>
            <a:r>
              <a:rPr lang="en-US" sz="2600" dirty="0">
                <a:solidFill>
                  <a:srgbClr val="CC0000"/>
                </a:solidFill>
              </a:rPr>
              <a:t>(</a:t>
            </a:r>
            <a:r>
              <a:rPr lang="en-US" sz="2600" i="1" dirty="0" err="1">
                <a:solidFill>
                  <a:srgbClr val="0066FF"/>
                </a:solidFill>
              </a:rPr>
              <a:t>i</a:t>
            </a:r>
            <a:r>
              <a:rPr lang="en-US" sz="2600" dirty="0">
                <a:solidFill>
                  <a:srgbClr val="CC0000"/>
                </a:solidFill>
              </a:rPr>
              <a:t>) </a:t>
            </a:r>
            <a:r>
              <a:rPr lang="en-US" sz="2600" dirty="0"/>
              <a:t>- go </a:t>
            </a:r>
            <a:r>
              <a:rPr lang="en-US" sz="2600" dirty="0">
                <a:solidFill>
                  <a:srgbClr val="9966FF"/>
                </a:solidFill>
              </a:rPr>
              <a:t>forward</a:t>
            </a:r>
            <a:r>
              <a:rPr lang="en-US" sz="2600" dirty="0"/>
              <a:t> </a:t>
            </a:r>
            <a:r>
              <a:rPr lang="en-US" sz="2600" i="1" dirty="0" err="1">
                <a:solidFill>
                  <a:srgbClr val="0066FF"/>
                </a:solidFill>
              </a:rPr>
              <a:t>i</a:t>
            </a:r>
            <a:r>
              <a:rPr lang="en-US" sz="2600" i="1" dirty="0">
                <a:solidFill>
                  <a:srgbClr val="0066FF"/>
                </a:solidFill>
              </a:rPr>
              <a:t> </a:t>
            </a:r>
            <a:r>
              <a:rPr lang="en-US" sz="2600" dirty="0"/>
              <a:t>times </a:t>
            </a:r>
          </a:p>
          <a:p>
            <a:pPr lvl="2"/>
            <a:r>
              <a:rPr lang="en-US" sz="2600" dirty="0"/>
              <a:t>If </a:t>
            </a:r>
            <a:r>
              <a:rPr lang="en-US" sz="2600" i="1" dirty="0" err="1">
                <a:solidFill>
                  <a:srgbClr val="0066FF"/>
                </a:solidFill>
              </a:rPr>
              <a:t>i</a:t>
            </a:r>
            <a:r>
              <a:rPr lang="en-US" sz="2600" i="1" dirty="0">
                <a:solidFill>
                  <a:srgbClr val="0066FF"/>
                </a:solidFill>
              </a:rPr>
              <a:t> </a:t>
            </a:r>
            <a:r>
              <a:rPr lang="en-US" sz="2600" dirty="0"/>
              <a:t>is negative, go back</a:t>
            </a:r>
            <a:r>
              <a:rPr lang="en-US" sz="2600" i="1" dirty="0">
                <a:solidFill>
                  <a:srgbClr val="0066FF"/>
                </a:solidFill>
              </a:rPr>
              <a:t> -</a:t>
            </a:r>
            <a:r>
              <a:rPr lang="en-US" sz="2600" i="1" dirty="0" err="1">
                <a:solidFill>
                  <a:srgbClr val="0066FF"/>
                </a:solidFill>
              </a:rPr>
              <a:t>i</a:t>
            </a:r>
            <a:r>
              <a:rPr lang="en-US" sz="2600" dirty="0"/>
              <a:t> times</a:t>
            </a:r>
          </a:p>
        </p:txBody>
      </p:sp>
    </p:spTree>
    <p:extLst>
      <p:ext uri="{BB962C8B-B14F-4D97-AF65-F5344CB8AC3E}">
        <p14:creationId xmlns:p14="http://schemas.microsoft.com/office/powerpoint/2010/main" xmlns="" val="386921919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TotalTime>
  <Words>9398</Words>
  <Application>Microsoft Office PowerPoint</Application>
  <PresentationFormat>On-screen Show (4:3)</PresentationFormat>
  <Paragraphs>1568</Paragraphs>
  <Slides>132</Slides>
  <Notes>7</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132</vt:i4>
      </vt:variant>
    </vt:vector>
  </HeadingPairs>
  <TitlesOfParts>
    <vt:vector size="134" baseType="lpstr">
      <vt:lpstr>Office Theme</vt:lpstr>
      <vt:lpstr>Visio</vt:lpstr>
      <vt:lpstr>JavaScript  &amp; DOM – Document Object Model</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 DOM Introduction</vt:lpstr>
      <vt:lpstr> DOM Introduction cont’d</vt:lpstr>
      <vt:lpstr>Slide 39</vt:lpstr>
      <vt:lpstr>Slide 40</vt:lpstr>
      <vt:lpstr>DOM Introduction – cont’d</vt:lpstr>
      <vt:lpstr>Slide 42</vt:lpstr>
      <vt:lpstr>Slide 43</vt:lpstr>
      <vt:lpstr>Slide 44</vt:lpstr>
      <vt:lpstr>Slide 45</vt:lpstr>
      <vt:lpstr>Slide 46</vt:lpstr>
      <vt:lpstr>DOM</vt:lpstr>
      <vt:lpstr>DOM Example</vt:lpstr>
      <vt:lpstr>Slide 49</vt:lpstr>
      <vt:lpstr>Slide 50</vt:lpstr>
      <vt:lpstr>Slide 51</vt:lpstr>
      <vt:lpstr>HTML DOM</vt:lpstr>
      <vt:lpstr>HTML DOM</vt:lpstr>
      <vt:lpstr>DOM and JavaScript</vt:lpstr>
      <vt:lpstr>Accessing HTML Elements </vt:lpstr>
      <vt:lpstr>HTML DOM Tree</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DOM Events </vt:lpstr>
      <vt:lpstr>Slide 71</vt:lpstr>
      <vt:lpstr>Slide 72</vt:lpstr>
      <vt:lpstr>Slide 73</vt:lpstr>
      <vt:lpstr>Slide 74</vt:lpstr>
      <vt:lpstr>Slide 75</vt:lpstr>
      <vt:lpstr>Slide 76</vt:lpstr>
      <vt:lpstr>onkeydown Event </vt:lpstr>
      <vt:lpstr>Slide 78</vt:lpstr>
      <vt:lpstr>Slide 79</vt:lpstr>
      <vt:lpstr>Slide 80</vt:lpstr>
      <vt:lpstr>onkeyup Event </vt:lpstr>
      <vt:lpstr>Slide 82</vt:lpstr>
      <vt:lpstr>Slide 83</vt:lpstr>
      <vt:lpstr>Frame/Object Events </vt:lpstr>
      <vt:lpstr>Slide 85</vt:lpstr>
      <vt:lpstr>Slide 86</vt:lpstr>
      <vt:lpstr>Slide 87</vt:lpstr>
      <vt:lpstr>Slide 88</vt:lpstr>
      <vt:lpstr>Slide 89</vt:lpstr>
      <vt:lpstr>Slide 90</vt:lpstr>
      <vt:lpstr>"onresize" event</vt:lpstr>
      <vt:lpstr>Slide 92</vt:lpstr>
      <vt:lpstr>Slide 93</vt:lpstr>
      <vt:lpstr>onunload event</vt:lpstr>
      <vt:lpstr>Slide 95</vt:lpstr>
      <vt:lpstr>Form Events</vt:lpstr>
      <vt:lpstr>Slide 97</vt:lpstr>
      <vt:lpstr>onblur Event</vt:lpstr>
      <vt:lpstr>Slide 99</vt:lpstr>
      <vt:lpstr>Slide 100</vt:lpstr>
      <vt:lpstr>Slide 101</vt:lpstr>
      <vt:lpstr>onfocus Event</vt:lpstr>
      <vt:lpstr>Slide 103</vt:lpstr>
      <vt:lpstr>Slide 104</vt:lpstr>
      <vt:lpstr>onfocusin Event </vt:lpstr>
      <vt:lpstr>Slide 106</vt:lpstr>
      <vt:lpstr>onfocusout Event </vt:lpstr>
      <vt:lpstr>Slide 108</vt:lpstr>
      <vt:lpstr>Slide 109</vt:lpstr>
      <vt:lpstr>oninput Event</vt:lpstr>
      <vt:lpstr>Slide 111</vt:lpstr>
      <vt:lpstr>Slide 112</vt:lpstr>
      <vt:lpstr>onsubmit Event</vt:lpstr>
      <vt:lpstr>Slide 114</vt:lpstr>
      <vt:lpstr>Slide 115</vt:lpstr>
      <vt:lpstr>Manipulating the Document Structure</vt:lpstr>
      <vt:lpstr>Structure Manipulation</vt:lpstr>
      <vt:lpstr>DOM Tree Manipulation</vt:lpstr>
      <vt:lpstr>DOM Tree Manipulation (cont)</vt:lpstr>
      <vt:lpstr>An Example</vt:lpstr>
      <vt:lpstr>An Example (cont)</vt:lpstr>
      <vt:lpstr>The innerHTML Property</vt:lpstr>
      <vt:lpstr>Previous Example with innerHTML</vt:lpstr>
      <vt:lpstr>The window Object</vt:lpstr>
      <vt:lpstr>The window Object</vt:lpstr>
      <vt:lpstr>Dialog Boxses</vt:lpstr>
      <vt:lpstr>An Example</vt:lpstr>
      <vt:lpstr>The location Object</vt:lpstr>
      <vt:lpstr>Opening New Windows</vt:lpstr>
      <vt:lpstr>Accessing Window Frames</vt:lpstr>
      <vt:lpstr>The navigator Object</vt:lpstr>
      <vt:lpstr>The history Object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pahire</cp:lastModifiedBy>
  <cp:revision>47</cp:revision>
  <dcterms:created xsi:type="dcterms:W3CDTF">2006-08-16T00:00:00Z</dcterms:created>
  <dcterms:modified xsi:type="dcterms:W3CDTF">2020-06-07T04:50:25Z</dcterms:modified>
</cp:coreProperties>
</file>